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2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3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5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6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7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b137e892e7490a" /><Relationship Type="http://schemas.openxmlformats.org/officeDocument/2006/relationships/extended-properties" Target="/docProps/app.xml" Id="Re3ede94839214b7c" /><Relationship Type="http://schemas.openxmlformats.org/officeDocument/2006/relationships/officeDocument" Target="/ppt/presentation.xml" Id="Re0fda547aa094d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7156c29c664b1b"/>
  </p:sldMasterIdLst>
  <p:notesMasterIdLst>
    <p:notesMasterId xmlns:r="http://schemas.openxmlformats.org/officeDocument/2006/relationships" r:id="R39ca33b10c1c4e95"/>
  </p:notesMasterIdLst>
  <p:sldIdLst>
    <p:sldId xmlns:r="http://schemas.openxmlformats.org/officeDocument/2006/relationships" id="256" r:id="Ra16fc499b6e54ff7"/>
    <p:sldId xmlns:r="http://schemas.openxmlformats.org/officeDocument/2006/relationships" id="257" r:id="R808cf36961c54bd3"/>
    <p:sldId xmlns:r="http://schemas.openxmlformats.org/officeDocument/2006/relationships" id="258" r:id="R73caf26ec8c4452e"/>
    <p:sldId xmlns:r="http://schemas.openxmlformats.org/officeDocument/2006/relationships" id="259" r:id="R6085f51f549c40dc"/>
    <p:sldId xmlns:r="http://schemas.openxmlformats.org/officeDocument/2006/relationships" id="260" r:id="R496bf9da11794478"/>
    <p:sldId xmlns:r="http://schemas.openxmlformats.org/officeDocument/2006/relationships" id="261" r:id="R6a2acd88ae2f4958"/>
    <p:sldId xmlns:r="http://schemas.openxmlformats.org/officeDocument/2006/relationships" id="262" r:id="R94fd6e9ac4bd4432"/>
    <p:sldId xmlns:r="http://schemas.openxmlformats.org/officeDocument/2006/relationships" id="263" r:id="Rbeda8d30c4ae472e"/>
    <p:sldId xmlns:r="http://schemas.openxmlformats.org/officeDocument/2006/relationships" id="264" r:id="Re144c67df62a4aca"/>
    <p:sldId xmlns:r="http://schemas.openxmlformats.org/officeDocument/2006/relationships" id="265" r:id="Rd01278349e5c4ce4"/>
    <p:sldId xmlns:r="http://schemas.openxmlformats.org/officeDocument/2006/relationships" id="266" r:id="R6e40475818b44b2f"/>
    <p:sldId xmlns:r="http://schemas.openxmlformats.org/officeDocument/2006/relationships" id="267" r:id="Ra9d8659e1cb24405"/>
    <p:sldId xmlns:r="http://schemas.openxmlformats.org/officeDocument/2006/relationships" id="268" r:id="R5d0285b670274c97"/>
    <p:sldId xmlns:r="http://schemas.openxmlformats.org/officeDocument/2006/relationships" id="269" r:id="R2545a20db4af4c38"/>
    <p:sldId xmlns:r="http://schemas.openxmlformats.org/officeDocument/2006/relationships" id="270" r:id="Rb88e1dfb542f4e17"/>
    <p:sldId xmlns:r="http://schemas.openxmlformats.org/officeDocument/2006/relationships" id="271" r:id="Rfa454037043a46f2"/>
    <p:sldId xmlns:r="http://schemas.openxmlformats.org/officeDocument/2006/relationships" id="272" r:id="R8e25db86337243ff"/>
    <p:sldId xmlns:r="http://schemas.openxmlformats.org/officeDocument/2006/relationships" id="273" r:id="R0079412d83c8451b"/>
    <p:sldId xmlns:r="http://schemas.openxmlformats.org/officeDocument/2006/relationships" id="274" r:id="R6928627b5b4d4ddd"/>
    <p:sldId xmlns:r="http://schemas.openxmlformats.org/officeDocument/2006/relationships" id="275" r:id="R9e72a752298d496c"/>
    <p:sldId xmlns:r="http://schemas.openxmlformats.org/officeDocument/2006/relationships" id="276" r:id="R31ccbc565005413e"/>
    <p:sldId xmlns:r="http://schemas.openxmlformats.org/officeDocument/2006/relationships" id="277" r:id="R93f9a72382a24130"/>
    <p:sldId xmlns:r="http://schemas.openxmlformats.org/officeDocument/2006/relationships" id="278" r:id="Ra539d0d1bdb9449f"/>
    <p:sldId xmlns:r="http://schemas.openxmlformats.org/officeDocument/2006/relationships" id="279" r:id="Rccec50e9c5a849de"/>
    <p:sldId xmlns:r="http://schemas.openxmlformats.org/officeDocument/2006/relationships" id="280" r:id="R3e3637b9626e4acf"/>
    <p:sldId xmlns:r="http://schemas.openxmlformats.org/officeDocument/2006/relationships" id="281" r:id="R406fdb520d774e32"/>
    <p:sldId xmlns:r="http://schemas.openxmlformats.org/officeDocument/2006/relationships" id="282" r:id="Rec858dab54a64e0f"/>
    <p:sldId xmlns:r="http://schemas.openxmlformats.org/officeDocument/2006/relationships" id="283" r:id="R2841804b19a14024"/>
    <p:sldId xmlns:r="http://schemas.openxmlformats.org/officeDocument/2006/relationships" id="284" r:id="R94e9bae1a76945aa"/>
    <p:sldId xmlns:r="http://schemas.openxmlformats.org/officeDocument/2006/relationships" id="285" r:id="Rfd50c32f359244dd"/>
    <p:sldId xmlns:r="http://schemas.openxmlformats.org/officeDocument/2006/relationships" id="286" r:id="Ree8acea55a514db9"/>
    <p:sldId xmlns:r="http://schemas.openxmlformats.org/officeDocument/2006/relationships" id="287" r:id="R5fb80ca1cb60409e"/>
    <p:sldId xmlns:r="http://schemas.openxmlformats.org/officeDocument/2006/relationships" id="288" r:id="R17afa8950b3d4c96"/>
    <p:sldId xmlns:r="http://schemas.openxmlformats.org/officeDocument/2006/relationships" id="289" r:id="R10a077d476fc4794"/>
    <p:sldId xmlns:r="http://schemas.openxmlformats.org/officeDocument/2006/relationships" id="290" r:id="R1a0528b43dce4130"/>
    <p:sldId xmlns:r="http://schemas.openxmlformats.org/officeDocument/2006/relationships" id="291" r:id="Raaf44ca64a614c27"/>
    <p:sldId xmlns:r="http://schemas.openxmlformats.org/officeDocument/2006/relationships" id="292" r:id="Rd6525effbdfe4eef"/>
    <p:sldId xmlns:r="http://schemas.openxmlformats.org/officeDocument/2006/relationships" id="293" r:id="Rc51b5655c48644ca"/>
    <p:sldId xmlns:r="http://schemas.openxmlformats.org/officeDocument/2006/relationships" id="294" r:id="R86cf2241ab594511"/>
    <p:sldId xmlns:r="http://schemas.openxmlformats.org/officeDocument/2006/relationships" id="295" r:id="R385eac68cef54e9e"/>
    <p:sldId xmlns:r="http://schemas.openxmlformats.org/officeDocument/2006/relationships" id="296" r:id="R03daecc6954e48b3"/>
    <p:sldId xmlns:r="http://schemas.openxmlformats.org/officeDocument/2006/relationships" id="297" r:id="Rb1a93e3f119b45f6"/>
    <p:sldId xmlns:r="http://schemas.openxmlformats.org/officeDocument/2006/relationships" id="298" r:id="R2325479ef1eb4dec"/>
    <p:sldId xmlns:r="http://schemas.openxmlformats.org/officeDocument/2006/relationships" id="299" r:id="Rd806796a370f4554"/>
    <p:sldId xmlns:r="http://schemas.openxmlformats.org/officeDocument/2006/relationships" id="300" r:id="R7443df1dc52c4861"/>
    <p:sldId xmlns:r="http://schemas.openxmlformats.org/officeDocument/2006/relationships" id="301" r:id="R6f1b4ead4acd4093"/>
    <p:sldId xmlns:r="http://schemas.openxmlformats.org/officeDocument/2006/relationships" id="302" r:id="Rdebed81392c94c4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91683b9ab64e7c" /><Relationship Type="http://schemas.openxmlformats.org/officeDocument/2006/relationships/slideMaster" Target="/ppt/slideMasters/slideMaster1.xml" Id="Rb57156c29c664b1b" /><Relationship Type="http://schemas.openxmlformats.org/officeDocument/2006/relationships/notesMaster" Target="/ppt/notesMasters/notesMaster1.xml" Id="R39ca33b10c1c4e95" /><Relationship Type="http://schemas.openxmlformats.org/officeDocument/2006/relationships/presProps" Target="/ppt/presProps.xml" Id="R5199f2aae8444fec" /><Relationship Type="http://schemas.openxmlformats.org/officeDocument/2006/relationships/viewProps" Target="/ppt/viewProps.xml" Id="R25d354e2170d4b28" /><Relationship Type="http://schemas.openxmlformats.org/officeDocument/2006/relationships/tableStyles" Target="/ppt/tableStyles.xml" Id="R1726c8dd192e461f" /><Relationship Type="http://schemas.openxmlformats.org/officeDocument/2006/relationships/slide" Target="/ppt/slides/slide1.xml" Id="Ra16fc499b6e54ff7" /><Relationship Type="http://schemas.openxmlformats.org/officeDocument/2006/relationships/slide" Target="/ppt/slides/slide2.xml" Id="R808cf36961c54bd3" /><Relationship Type="http://schemas.openxmlformats.org/officeDocument/2006/relationships/slide" Target="/ppt/slides/slide3.xml" Id="R73caf26ec8c4452e" /><Relationship Type="http://schemas.openxmlformats.org/officeDocument/2006/relationships/slide" Target="/ppt/slides/slide4.xml" Id="R6085f51f549c40dc" /><Relationship Type="http://schemas.openxmlformats.org/officeDocument/2006/relationships/slide" Target="/ppt/slides/slide5.xml" Id="R496bf9da11794478" /><Relationship Type="http://schemas.openxmlformats.org/officeDocument/2006/relationships/slide" Target="/ppt/slides/slide6.xml" Id="R6a2acd88ae2f4958" /><Relationship Type="http://schemas.openxmlformats.org/officeDocument/2006/relationships/slide" Target="/ppt/slides/slide7.xml" Id="R94fd6e9ac4bd4432" /><Relationship Type="http://schemas.openxmlformats.org/officeDocument/2006/relationships/slide" Target="/ppt/slides/slide8.xml" Id="Rbeda8d30c4ae472e" /><Relationship Type="http://schemas.openxmlformats.org/officeDocument/2006/relationships/slide" Target="/ppt/slides/slide9.xml" Id="Re144c67df62a4aca" /><Relationship Type="http://schemas.openxmlformats.org/officeDocument/2006/relationships/slide" Target="/ppt/slides/slide10.xml" Id="Rd01278349e5c4ce4" /><Relationship Type="http://schemas.openxmlformats.org/officeDocument/2006/relationships/slide" Target="/ppt/slides/slide11.xml" Id="R6e40475818b44b2f" /><Relationship Type="http://schemas.openxmlformats.org/officeDocument/2006/relationships/slide" Target="/ppt/slides/slide12.xml" Id="Ra9d8659e1cb24405" /><Relationship Type="http://schemas.openxmlformats.org/officeDocument/2006/relationships/slide" Target="/ppt/slides/slide13.xml" Id="R5d0285b670274c97" /><Relationship Type="http://schemas.openxmlformats.org/officeDocument/2006/relationships/slide" Target="/ppt/slides/slide14.xml" Id="R2545a20db4af4c38" /><Relationship Type="http://schemas.openxmlformats.org/officeDocument/2006/relationships/slide" Target="/ppt/slides/slide15.xml" Id="Rb88e1dfb542f4e17" /><Relationship Type="http://schemas.openxmlformats.org/officeDocument/2006/relationships/slide" Target="/ppt/slides/slide16.xml" Id="Rfa454037043a46f2" /><Relationship Type="http://schemas.openxmlformats.org/officeDocument/2006/relationships/slide" Target="/ppt/slides/slide17.xml" Id="R8e25db86337243ff" /><Relationship Type="http://schemas.openxmlformats.org/officeDocument/2006/relationships/slide" Target="/ppt/slides/slide18.xml" Id="R0079412d83c8451b" /><Relationship Type="http://schemas.openxmlformats.org/officeDocument/2006/relationships/slide" Target="/ppt/slides/slide19.xml" Id="R6928627b5b4d4ddd" /><Relationship Type="http://schemas.openxmlformats.org/officeDocument/2006/relationships/slide" Target="/ppt/slides/slide20.xml" Id="R9e72a752298d496c" /><Relationship Type="http://schemas.openxmlformats.org/officeDocument/2006/relationships/slide" Target="/ppt/slides/slide21.xml" Id="R31ccbc565005413e" /><Relationship Type="http://schemas.openxmlformats.org/officeDocument/2006/relationships/slide" Target="/ppt/slides/slide22.xml" Id="R93f9a72382a24130" /><Relationship Type="http://schemas.openxmlformats.org/officeDocument/2006/relationships/slide" Target="/ppt/slides/slide23.xml" Id="Ra539d0d1bdb9449f" /><Relationship Type="http://schemas.openxmlformats.org/officeDocument/2006/relationships/slide" Target="/ppt/slides/slide24.xml" Id="Rccec50e9c5a849de" /><Relationship Type="http://schemas.openxmlformats.org/officeDocument/2006/relationships/slide" Target="/ppt/slides/slide25.xml" Id="R3e3637b9626e4acf" /><Relationship Type="http://schemas.openxmlformats.org/officeDocument/2006/relationships/slide" Target="/ppt/slides/slide26.xml" Id="R406fdb520d774e32" /><Relationship Type="http://schemas.openxmlformats.org/officeDocument/2006/relationships/slide" Target="/ppt/slides/slide27.xml" Id="Rec858dab54a64e0f" /><Relationship Type="http://schemas.openxmlformats.org/officeDocument/2006/relationships/slide" Target="/ppt/slides/slide28.xml" Id="R2841804b19a14024" /><Relationship Type="http://schemas.openxmlformats.org/officeDocument/2006/relationships/slide" Target="/ppt/slides/slide29.xml" Id="R94e9bae1a76945aa" /><Relationship Type="http://schemas.openxmlformats.org/officeDocument/2006/relationships/slide" Target="/ppt/slides/slide30.xml" Id="Rfd50c32f359244dd" /><Relationship Type="http://schemas.openxmlformats.org/officeDocument/2006/relationships/slide" Target="/ppt/slides/slide31.xml" Id="Ree8acea55a514db9" /><Relationship Type="http://schemas.openxmlformats.org/officeDocument/2006/relationships/slide" Target="/ppt/slides/slide32.xml" Id="R5fb80ca1cb60409e" /><Relationship Type="http://schemas.openxmlformats.org/officeDocument/2006/relationships/slide" Target="/ppt/slides/slide33.xml" Id="R17afa8950b3d4c96" /><Relationship Type="http://schemas.openxmlformats.org/officeDocument/2006/relationships/slide" Target="/ppt/slides/slide34.xml" Id="R10a077d476fc4794" /><Relationship Type="http://schemas.openxmlformats.org/officeDocument/2006/relationships/slide" Target="/ppt/slides/slide35.xml" Id="R1a0528b43dce4130" /><Relationship Type="http://schemas.openxmlformats.org/officeDocument/2006/relationships/slide" Target="/ppt/slides/slide36.xml" Id="Raaf44ca64a614c27" /><Relationship Type="http://schemas.openxmlformats.org/officeDocument/2006/relationships/slide" Target="/ppt/slides/slide37.xml" Id="Rd6525effbdfe4eef" /><Relationship Type="http://schemas.openxmlformats.org/officeDocument/2006/relationships/slide" Target="/ppt/slides/slide38.xml" Id="Rc51b5655c48644ca" /><Relationship Type="http://schemas.openxmlformats.org/officeDocument/2006/relationships/slide" Target="/ppt/slides/slide39.xml" Id="R86cf2241ab594511" /><Relationship Type="http://schemas.openxmlformats.org/officeDocument/2006/relationships/slide" Target="/ppt/slides/slide40.xml" Id="R385eac68cef54e9e" /><Relationship Type="http://schemas.openxmlformats.org/officeDocument/2006/relationships/slide" Target="/ppt/slides/slide41.xml" Id="R03daecc6954e48b3" /><Relationship Type="http://schemas.openxmlformats.org/officeDocument/2006/relationships/slide" Target="/ppt/slides/slide42.xml" Id="Rb1a93e3f119b45f6" /><Relationship Type="http://schemas.openxmlformats.org/officeDocument/2006/relationships/slide" Target="/ppt/slides/slide43.xml" Id="R2325479ef1eb4dec" /><Relationship Type="http://schemas.openxmlformats.org/officeDocument/2006/relationships/slide" Target="/ppt/slides/slide44.xml" Id="Rd806796a370f4554" /><Relationship Type="http://schemas.openxmlformats.org/officeDocument/2006/relationships/slide" Target="/ppt/slides/slide45.xml" Id="R7443df1dc52c4861" /><Relationship Type="http://schemas.openxmlformats.org/officeDocument/2006/relationships/slide" Target="/ppt/slides/slide46.xml" Id="R6f1b4ead4acd4093" /><Relationship Type="http://schemas.openxmlformats.org/officeDocument/2006/relationships/slide" Target="/ppt/slides/slide47.xml" Id="Rdebed81392c94c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b43e78564f4f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002878b66741c0" /><Relationship Type="http://schemas.openxmlformats.org/officeDocument/2006/relationships/notesMaster" Target="/ppt/notesMasters/notesMaster1.xml" Id="R3f659e7dd8524f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8fcad6d4f3466d" /><Relationship Type="http://schemas.openxmlformats.org/officeDocument/2006/relationships/notesMaster" Target="/ppt/notesMasters/notesMaster1.xml" Id="R0d9b4b48ba5546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2254ad7dc54bf3" /><Relationship Type="http://schemas.openxmlformats.org/officeDocument/2006/relationships/notesMaster" Target="/ppt/notesMasters/notesMaster1.xml" Id="R8b3d63927a9341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53a01f05924b7a" /><Relationship Type="http://schemas.openxmlformats.org/officeDocument/2006/relationships/notesMaster" Target="/ppt/notesMasters/notesMaster1.xml" Id="R5e7bfaa447bd4e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ee21d22d384db1" /><Relationship Type="http://schemas.openxmlformats.org/officeDocument/2006/relationships/notesMaster" Target="/ppt/notesMasters/notesMaster1.xml" Id="Rc9e3cefea26541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750c4e23ae4e4b" /><Relationship Type="http://schemas.openxmlformats.org/officeDocument/2006/relationships/notesMaster" Target="/ppt/notesMasters/notesMaster1.xml" Id="Ra5a12a12c9df420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0a43f29b744171" /><Relationship Type="http://schemas.openxmlformats.org/officeDocument/2006/relationships/notesMaster" Target="/ppt/notesMasters/notesMaster1.xml" Id="R06aa679120404b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087a08ec334d50" /><Relationship Type="http://schemas.openxmlformats.org/officeDocument/2006/relationships/notesMaster" Target="/ppt/notesMasters/notesMaster1.xml" Id="Rcd04a17c9abd47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27eb0635c047d2" /><Relationship Type="http://schemas.openxmlformats.org/officeDocument/2006/relationships/notesMaster" Target="/ppt/notesMasters/notesMaster1.xml" Id="R8f62ba2770854d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5aa96a11cd4440" /><Relationship Type="http://schemas.openxmlformats.org/officeDocument/2006/relationships/notesMaster" Target="/ppt/notesMasters/notesMaster1.xml" Id="Ra4684f8d536b4e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39b000f443490c" /><Relationship Type="http://schemas.openxmlformats.org/officeDocument/2006/relationships/notesMaster" Target="/ppt/notesMasters/notesMaster1.xml" Id="R0475dc4399ba41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311c8477514100" /><Relationship Type="http://schemas.openxmlformats.org/officeDocument/2006/relationships/notesMaster" Target="/ppt/notesMasters/notesMaster1.xml" Id="Re521640f8cab4fa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e136dbcc3a4754" /><Relationship Type="http://schemas.openxmlformats.org/officeDocument/2006/relationships/notesMaster" Target="/ppt/notesMasters/notesMaster1.xml" Id="R8b3aaaf8283e4c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5ab0f81c2d84ce1" /><Relationship Type="http://schemas.openxmlformats.org/officeDocument/2006/relationships/notesMaster" Target="/ppt/notesMasters/notesMaster1.xml" Id="Ra38059e2907d4d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b672f74564448e1" /><Relationship Type="http://schemas.openxmlformats.org/officeDocument/2006/relationships/notesMaster" Target="/ppt/notesMasters/notesMaster1.xml" Id="R2d7bb7b36dbf4e9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08200ac12c949eb" /><Relationship Type="http://schemas.openxmlformats.org/officeDocument/2006/relationships/notesMaster" Target="/ppt/notesMasters/notesMaster1.xml" Id="R745e6c310a214a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54d7f86c914875" /><Relationship Type="http://schemas.openxmlformats.org/officeDocument/2006/relationships/notesMaster" Target="/ppt/notesMasters/notesMaster1.xml" Id="Rf2b3880bb63b477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fe0f423b234159" /><Relationship Type="http://schemas.openxmlformats.org/officeDocument/2006/relationships/notesMaster" Target="/ppt/notesMasters/notesMaster1.xml" Id="Ra3369f81ac96415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12763c85694126" /><Relationship Type="http://schemas.openxmlformats.org/officeDocument/2006/relationships/notesMaster" Target="/ppt/notesMasters/notesMaster1.xml" Id="R38e4b6117352461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b5be69c66c64651" /><Relationship Type="http://schemas.openxmlformats.org/officeDocument/2006/relationships/notesMaster" Target="/ppt/notesMasters/notesMaster1.xml" Id="Rf37362e545004c7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064f3798213471c" /><Relationship Type="http://schemas.openxmlformats.org/officeDocument/2006/relationships/notesMaster" Target="/ppt/notesMasters/notesMaster1.xml" Id="R9350186308904ab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b7825b6288f4621" /><Relationship Type="http://schemas.openxmlformats.org/officeDocument/2006/relationships/notesMaster" Target="/ppt/notesMasters/notesMaster1.xml" Id="Rfe8bcb6b9703438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fad5dc8b0434d21" /><Relationship Type="http://schemas.openxmlformats.org/officeDocument/2006/relationships/notesMaster" Target="/ppt/notesMasters/notesMaster1.xml" Id="R73590eeaab6d4c0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54424aec295499f" /><Relationship Type="http://schemas.openxmlformats.org/officeDocument/2006/relationships/notesMaster" Target="/ppt/notesMasters/notesMaster1.xml" Id="R6f0283792f8f4b5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087790225c84b25" /><Relationship Type="http://schemas.openxmlformats.org/officeDocument/2006/relationships/notesMaster" Target="/ppt/notesMasters/notesMaster1.xml" Id="Rcf32401bd82f4e6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15934b77661481b" /><Relationship Type="http://schemas.openxmlformats.org/officeDocument/2006/relationships/notesMaster" Target="/ppt/notesMasters/notesMaster1.xml" Id="Rdbf51e93713c44a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d8ffaddec5f47da" /><Relationship Type="http://schemas.openxmlformats.org/officeDocument/2006/relationships/notesMaster" Target="/ppt/notesMasters/notesMaster1.xml" Id="R64caaba572ac40f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d99bd1e41dd43e2" /><Relationship Type="http://schemas.openxmlformats.org/officeDocument/2006/relationships/notesMaster" Target="/ppt/notesMasters/notesMaster1.xml" Id="R9ff6a4d413aa485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5b17743c1dd46d6" /><Relationship Type="http://schemas.openxmlformats.org/officeDocument/2006/relationships/notesMaster" Target="/ppt/notesMasters/notesMaster1.xml" Id="R5680d48c949449e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ea3fca58e1c40ca" /><Relationship Type="http://schemas.openxmlformats.org/officeDocument/2006/relationships/notesMaster" Target="/ppt/notesMasters/notesMaster1.xml" Id="R41e2d863d1a4467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d018a05082b4b12" /><Relationship Type="http://schemas.openxmlformats.org/officeDocument/2006/relationships/notesMaster" Target="/ppt/notesMasters/notesMaster1.xml" Id="R86b3b150b5c3411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eee4f4a03854093" /><Relationship Type="http://schemas.openxmlformats.org/officeDocument/2006/relationships/notesMaster" Target="/ppt/notesMasters/notesMaster1.xml" Id="Rac9ad7e83e694c6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02cbc88a7e04559" /><Relationship Type="http://schemas.openxmlformats.org/officeDocument/2006/relationships/notesMaster" Target="/ppt/notesMasters/notesMaster1.xml" Id="R6138d2bc37f64cf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477d037d15d4555" /><Relationship Type="http://schemas.openxmlformats.org/officeDocument/2006/relationships/notesMaster" Target="/ppt/notesMasters/notesMaster1.xml" Id="R667b2f3b00c44e3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44af65ff0db4b49" /><Relationship Type="http://schemas.openxmlformats.org/officeDocument/2006/relationships/notesMaster" Target="/ppt/notesMasters/notesMaster1.xml" Id="R6cd8cc8d30894df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1aa3fc2c3f84812" /><Relationship Type="http://schemas.openxmlformats.org/officeDocument/2006/relationships/notesMaster" Target="/ppt/notesMasters/notesMaster1.xml" Id="R65e5b911f40a4226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80bf915855d42c2" /><Relationship Type="http://schemas.openxmlformats.org/officeDocument/2006/relationships/notesMaster" Target="/ppt/notesMasters/notesMaster1.xml" Id="Rda583aac016e452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5a28bc109c5443c" /><Relationship Type="http://schemas.openxmlformats.org/officeDocument/2006/relationships/notesMaster" Target="/ppt/notesMasters/notesMaster1.xml" Id="Rbd8f6e4dd7774d2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3c9f9817045422a" /><Relationship Type="http://schemas.openxmlformats.org/officeDocument/2006/relationships/notesMaster" Target="/ppt/notesMasters/notesMaster1.xml" Id="R806efa5c3a0b445d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397b04863d48c0" /><Relationship Type="http://schemas.openxmlformats.org/officeDocument/2006/relationships/notesMaster" Target="/ppt/notesMasters/notesMaster1.xml" Id="R9a47b3d2bf05480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e12da7ac6de4d77" /><Relationship Type="http://schemas.openxmlformats.org/officeDocument/2006/relationships/notesMaster" Target="/ppt/notesMasters/notesMaster1.xml" Id="R9526691d02b2452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f45bf4d6cb9457f" /><Relationship Type="http://schemas.openxmlformats.org/officeDocument/2006/relationships/notesMaster" Target="/ppt/notesMasters/notesMaster1.xml" Id="R7aef157b9b334e8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d502442b02b483b" /><Relationship Type="http://schemas.openxmlformats.org/officeDocument/2006/relationships/notesMaster" Target="/ppt/notesMasters/notesMaster1.xml" Id="R827956b0ea9a42a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33c6452f2c814e99" /><Relationship Type="http://schemas.openxmlformats.org/officeDocument/2006/relationships/notesMaster" Target="/ppt/notesMasters/notesMaster1.xml" Id="Rb1448032989c4d5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f35f8a68ab24ac4" /><Relationship Type="http://schemas.openxmlformats.org/officeDocument/2006/relationships/notesMaster" Target="/ppt/notesMasters/notesMaster1.xml" Id="Re012c895e68a4e9f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6c090b63e044582" /><Relationship Type="http://schemas.openxmlformats.org/officeDocument/2006/relationships/notesMaster" Target="/ppt/notesMasters/notesMaster1.xml" Id="R5d35195ff51a421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0453a58e282461b" /><Relationship Type="http://schemas.openxmlformats.org/officeDocument/2006/relationships/notesMaster" Target="/ppt/notesMasters/notesMaster1.xml" Id="R685e295342be48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IBM Applied Data Science Capstone. Nicholas Yap. Analysis of historical Falcon 9 launches.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Executive summary and project question</a:t>
            </a:r>
            <a:endParaRPr/>
          </a:p>
          <a:p xmlns:a="http://schemas.openxmlformats.org/drawingml/2006/main">
            <a:r>
              <a:t>Data collection and analytical methods</a:t>
            </a:r>
            <a:endParaRPr/>
          </a:p>
          <a:p xmlns:a="http://schemas.openxmlformats.org/drawingml/2006/main">
            <a:r>
              <a:t>EDA, SQL, interactive maps and dashboard</a:t>
            </a:r>
            <a:endParaRPr/>
          </a:p>
          <a:p xmlns:a="http://schemas.openxmlformats.org/drawingml/2006/main">
            <a:r>
              <a:t>Classification results, conclusions and sources</a:t>
            </a:r>
            <a:endParaRPr/>
          </a:p>
          <a:p xmlns:a="http://schemas.openxmlformats.org/drawingml/2006/main"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90 Falcon 9 launches form the modeling sample. The course label marks 60 successes (66.7%).</a:t>
            </a:r>
          </a:p>
          <a:p xmlns:a="http://schemas.openxmlformats.org/drawingml/2006/main">
            <a: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>Small samples, changing technology and preprocessing leakage limit generalization.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results. 72 training rows; 18 test rows; 12 test positives. Tree params: gini, max_depth=8, max_features=sqrt, min_samples_leaf=2, min_samples_split=10, splitter=best.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Matrix transcribed from saved decision-tree output: [[3,3],[0,12]]. Actual rows, predicted columns. Half of six actual Class 0 outcomes become false positives. The tree is selected by highest CV, with tied test accuracy.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Decision tree is selected by highest 10-fold cross-validation score, not by a unique test result. Exact saved CV values: logistic regression 0.8464285714285713, SVM 0.8482142857142856, decision tree 0.8767857142857143, KNN 0.8482142857142858. All test scores 15/18. These lab results use pre-split StandardScaler.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>Next evaluation: fit preprocessing within training folds, remove features unavailable before launch, and use a later time period for testing.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>Compare launch sites, payload, orbit and experience, then evaluate four classification models.</a:t>
            </a:r>
          </a:p>
          <a:p xmlns:a="http://schemas.openxmlformats.org/drawingml/2006/main">
            <a:r>
              <a:t>Scope: historical course snapshots. A successful mission and a successful first-stage outcome measure different events.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Collect historical launch records from a SpaceX API snapshot and a Wikipedia launch-table snapshot.</a:t>
            </a:r>
            <a:endParaRPr/>
          </a:p>
          <a:p xmlns:a="http://schemas.openxmlformats.org/drawingml/2006/main">
            <a:pPr marL="0" indent="0">
              <a:buNone/>
            </a:pPr>
            <a:r>
              <a:t>Clean outcomes and missing payloads. Use 90 launch records and 83 encoded features for classification.</a:t>
            </a:r>
            <a:endParaRPr/>
          </a:p>
          <a:p xmlns:a="http://schemas.openxmlformats.org/drawingml/2006/main">
            <a:pPr marL="0" indent="0">
              <a:buNone/>
            </a:pPr>
            <a:r>
              <a:t>Explore relationships with charts and SQLite queries. Add Folium maps and a Dash dashboard.</a:t>
            </a:r>
            <a:endParaRPr/>
          </a:p>
          <a:p xmlns:a="http://schemas.openxmlformats.org/drawingml/2006/main">
            <a:pPr marL="0" indent="0">
              <a:buNone/>
            </a:pPr>
            <a:r>
              <a:t>Compare tuned classifiers using 10-fold cross-validation and the saved 18-launch test split.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modeling sample n=90. SQL sample n=101. Wikipedia scrape n=121. These are separate snapshots; no row-by-row merge is claimed.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provenance: https://api.spacexdata.com/v4/launches/past . Archived response supplied by IBM in API_call_spacex_api.json. Enriched feature data comes from the supplied dataset_part_1.csv, not a newly executed online enrichment.</a:t>
            </a:r>
          </a:p>
          <a:p xmlns:a="http://schemas.openxmlformats.org/drawingml/2006/main">
            <a:r>
              <a:t>Sources: https://github.com/nicholas-yap/spacex-data-science-capstone/blob/main/notebooks/01-data-collection.ipynb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outputs report 121 rows and 11 columns. Wikipedia archived revision: https://en.wikipedia.org/w/index.php?title=List_of_Falcon_9_and_Falcon_Heavy_launches&amp;oldid=1027686922</a:t>
            </a:r>
          </a:p>
          <a:p xmlns:a="http://schemas.openxmlformats.org/drawingml/2006/main">
            <a:r>
              <a:t>Sources: https://github.com/nicholas-yap/spacex-data-science-capstone/blob/main/notebooks/jupyter-labs-webscraping.ipynb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 mapping verified against dataset_part_2.csv. The five True Ocean rows count as Class 1. Payload mean imputation is already present in supplied data.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>Orbit success bars show rates with launch counts so small groups remain visible.</a:t>
            </a:r>
          </a:p>
          <a:p xmlns:a="http://schemas.openxmlformats.org/drawingml/2006/main">
            <a:r>
              <a:t>The yearly line chart shows changes in outcome rate, with year-specific denominators.</a:t>
            </a:r>
          </a:p>
          <a:p xmlns:a="http://schemas.openxmlformats.org/drawingml/2006/main">
            <a:r>
              <a:t>Charts describe associations. Site, orbit, payload and technology changed together over time.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DISTINCT and LIKE identify launch-site labels and the first five CCA records.</a:t>
            </a:r>
          </a:p>
          <a:p xmlns:a="http://schemas.openxmlformats.org/drawingml/2006/main">
            <a:r>
              <a:t>SUM, AVG and MAX summarize payload mass and the boosters carrying the maximum.</a:t>
            </a:r>
          </a:p>
          <a:p xmlns:a="http://schemas.openxmlformats.org/drawingml/2006/main">
            <a: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>GROUP BY and COUNT summarize mission results and rank landing outcomes for the specified period.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Site circles and labels locate the three modeled launch facilities on a continental map.</a:t>
            </a:r>
          </a:p>
          <a:p xmlns:a="http://schemas.openxmlformats.org/drawingml/2006/main">
            <a:r>
              <a:t>A MarkerCluster groups overlapping launches. Green marks Class 1 and red marks Class 0.</a:t>
            </a:r>
          </a:p>
          <a:p xmlns:a="http://schemas.openxmlformats.org/drawingml/2006/main">
            <a: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>Lines connect CCAFS SLC 40 to selected road, rail and coastline points. Haversine distance gives approximate straight-line separation.</a:t>
            </a:r>
          </a:p>
          <a:p xmlns:a="http://schemas.openxmlformats.org/drawingml/2006/main">
            <a:r>
              <a:t>Sources: https://github.com/nicholas-yap/spacex-data-science-capstone/blob/main/notebooks/03-interactive-maps.ipynb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site dropdown switches between all launches and a selected facility.</a:t>
            </a:r>
          </a:p>
          <a:p xmlns:a="http://schemas.openxmlformats.org/drawingml/2006/main">
            <a: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>The payload range slider filters the outcome scatter plot. Color identifies booster block.</a:t>
            </a:r>
          </a:p>
          <a:p xmlns:a="http://schemas.openxmlformats.org/drawingml/2006/main">
            <a:r>
              <a:t>Hover details reveal launch date, flight number and outcome. The dashboard uses the same 90-row sample as the EDA.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reproduced from saved notebook outputs. Pre-split scaling exposes test distribution to preprocessing. GridSearchCV has 10 folds; no claim of a leakage-free evaluation.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EDA: outcome rates differ across sites, orbit groups and launch years.</a:t>
            </a:r>
            <a:endParaRPr/>
          </a:p>
          <a:p xmlns:a="http://schemas.openxmlformats.org/drawingml/2006/main">
            <a:pPr marL="0" indent="0">
              <a:buNone/>
            </a:pPr>
            <a:r>
              <a:t>SQL: 101 missions include 100 mission successes and one failure. NASA (CRS) payload totals 45,596 kg.</a:t>
            </a:r>
            <a:endParaRPr/>
          </a:p>
          <a:p xmlns:a="http://schemas.openxmlformats.org/drawingml/2006/main">
            <a:pPr marL="0" indent="0">
              <a:buNone/>
            </a:pPr>
            <a:r>
              <a:t>Interactive views: coastal launch sites and payload filters help inspect individual records.</a:t>
            </a:r>
            <a:endParaRPr/>
          </a:p>
          <a:p xmlns:a="http://schemas.openxmlformats.org/drawingml/2006/main">
            <a:pPr marL="0" indent="0">
              <a:buNone/>
            </a:pPr>
            <a:r>
              <a:t>Prediction: each model correctly classifies 15 of 18 test launches. The test scores do not establish a unique winner.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Later launches show more Class 1 outcomes. Site and flight sequence overlap, so the plot cannot isolate a site effect.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CCAFS SLC 40 covers the broadest history. Both outcome classes occur across payload ranges, and some payload values are mean-imputed.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Orbit rates use Class means. Count labels show sample sizes.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VLEO launches cluster late in the sample. Differences by orbit may partly reflect changes in booster technology and experience.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GTO has 14/27 Class 1 outcomes (51.9%). VLEO has 12/14 (85.7%). Payload alone does not explain the difference.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Yearly means of the course Class label; this is not mission success rate. Years with no observations are omitted.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ORDER BY Launch_Site;</a:t>
            </a:r>
          </a:p>
          <a:p xmlns:a="http://schemas.openxmlformats.org/drawingml/2006/main">
            <a:r>
              <a:t>Result: [["CCAFS LC-40"],["CCAFS SLC-40"],["KSC LC-39A"],["VAFB SLC-4E"]]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*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Launch_Site LIKE 'CCA%'</a:t>
            </a:r>
          </a:p>
          <a:p xmlns:a="http://schemas.openxmlformats.org/drawingml/2006/main">
            <a:r>
              <a:t>ORDER BY Date, "Time (UTC)"</a:t>
            </a:r>
          </a:p>
          <a:p xmlns:a="http://schemas.openxmlformats.org/drawingml/2006/main">
            <a:r>
              <a:t>LIMIT 5;</a:t>
            </a:r>
          </a:p>
          <a:p xmlns:a="http://schemas.openxmlformats.org/drawingml/2006/main">
            <a:r>
              <a:t>Result: [["2010-06-04","18:45:00","F9 v1.0  B0003","CCAFS LC-40","Dragon Spacecraft Qualification Unit",0,"LEO","SpaceX","Success","Failure (parachute)"],["2010-12-08","15:43:00","F9 v1.0  B0004","CCAFS LC-40","Dragon demo flight C1, two CubeSats, barrel of Brouere cheese",0,"LEO (ISS)","NASA (COTS) NRO","Success","Failure (parachute)"],["2012-05-22","7:44:00","F9 v1.0  B0005","CCAFS LC-40","Dragon demo flight C2",525,"LEO (ISS)","NASA (COTS)","Success","No attempt"],["2012-10-08","0:35:00","F9 v1.0  B0006","CCAFS LC-40","SpaceX CRS-1",500,"LEO (ISS)","NASA (CRS)","Success","No attempt"],["2013-03-01","15:10:00","F9 v1.0  B0007","CCAFS LC-40","SpaceX CRS-2",677,"LEO (ISS)","NASA (CRS)","Success","No attempt"]]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SUM(PAYLOAD_MASS__KG_) AS Total_Payload_Mass_KG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Customer = 'NASA (CRS)';</a:t>
            </a:r>
          </a:p>
          <a:p xmlns:a="http://schemas.openxmlformats.org/drawingml/2006/main">
            <a:r>
              <a:t>Result: [[45596]]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Match the exact booster-version label specified in the assignment.</a:t>
            </a:r>
          </a:p>
          <a:p xmlns:a="http://schemas.openxmlformats.org/drawingml/2006/main">
            <a:r>
              <a:t>SELECT AVG(PAYLOAD_MASS__KG_) AS Average_Payload_Mass_KG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Booster_Version = 'F9 v1.1';</a:t>
            </a:r>
          </a:p>
          <a:p xmlns:a="http://schemas.openxmlformats.org/drawingml/2006/main">
            <a:r>
              <a:t>Result: [[2928.4]]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MIN(Date) AS First_Successful_Ground_Pad_Landing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(ground pad)';</a:t>
            </a:r>
          </a:p>
          <a:p xmlns:a="http://schemas.openxmlformats.org/drawingml/2006/main">
            <a:r>
              <a:t>Result: [["2015-12-22"]]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(drone ship)'</a:t>
            </a:r>
          </a:p>
          <a:p xmlns:a="http://schemas.openxmlformats.org/drawingml/2006/main">
            <a:r>
              <a:t>  AND PAYLOAD_MASS__KG_ &gt; 4000</a:t>
            </a:r>
          </a:p>
          <a:p xmlns:a="http://schemas.openxmlformats.org/drawingml/2006/main">
            <a:r>
              <a:t>  AND PAYLOAD_MASS__KG_ &lt; 6000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FT  B1021.2"],["F9 FT  B1031.2"],["F9 FT B1022"],["F9 FT B1026"]]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Count mission outcomes, which are distinct from booster landing outcomes.</a:t>
            </a:r>
          </a:p>
          <a:p xmlns:a="http://schemas.openxmlformats.org/drawingml/2006/main">
            <a:r>
              <a:t>-- Include "Success (payload status unclear)" in the success category.</a:t>
            </a:r>
          </a:p>
          <a:p xmlns:a="http://schemas.openxmlformats.org/drawingml/2006/main">
            <a:r>
              <a:t>SELECT CASE</a:t>
            </a:r>
          </a:p>
          <a:p xmlns:a="http://schemas.openxmlformats.org/drawingml/2006/main">
            <a:r>
              <a:t>           WHEN TRIM(Mission_Outcome) LIKE 'Success%' THEN 'Success'</a:t>
            </a:r>
          </a:p>
          <a:p xmlns:a="http://schemas.openxmlformats.org/drawingml/2006/main">
            <a:r>
              <a:t>           WHEN TRIM(Mission_Outcome) LIKE 'Failure%' THEN 'Failure'</a:t>
            </a:r>
          </a:p>
          <a:p xmlns:a="http://schemas.openxmlformats.org/drawingml/2006/main">
            <a:r>
              <a:t>           ELSE 'Other'</a:t>
            </a:r>
          </a:p>
          <a:p xmlns:a="http://schemas.openxmlformats.org/drawingml/2006/main">
            <a:r>
              <a:t>       END AS Mission_Result,</a:t>
            </a:r>
          </a:p>
          <a:p xmlns:a="http://schemas.openxmlformats.org/drawingml/2006/main">
            <a:r>
              <a:t>       COUNT(*) AS Total_Missions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GROUP BY Mission_Result</a:t>
            </a:r>
          </a:p>
          <a:p xmlns:a="http://schemas.openxmlformats.org/drawingml/2006/main">
            <a:r>
              <a:t>ORDER BY Total_Missions DESC;</a:t>
            </a:r>
          </a:p>
          <a:p xmlns:a="http://schemas.openxmlformats.org/drawingml/2006/main">
            <a:r>
              <a:t>Result: [["Success",100],["Failure",1]]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Booster_Version,</a:t>
            </a:r>
          </a:p>
          <a:p xmlns:a="http://schemas.openxmlformats.org/drawingml/2006/main">
            <a:r>
              <a:t>       PAYLOAD_MASS__KG_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PAYLOAD_MASS__KG_ = (</a:t>
            </a:r>
          </a:p>
          <a:p xmlns:a="http://schemas.openxmlformats.org/drawingml/2006/main">
            <a:r>
              <a:t>    SELECT MAX(PAYLOAD_MASS__KG_)</a:t>
            </a:r>
          </a:p>
          <a:p xmlns:a="http://schemas.openxmlformats.org/drawingml/2006/main">
            <a:r>
              <a:t>    FROM SPACEXTABLE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B5 B1048.4",15600],["F9 B5 B1048.5",15600],["F9 B5 B1049.4",15600],["F9 B5 B1049.5",15600],["F9 B5 B1049.7",15600],["F9 B5 B1051.3",15600],["F9 B5 B1051.4",15600],["F9 B5 B1051.6",15600],["F9 B5 B1056.4",15600],["F9 B5 B1058.3",15600],["F9 B5 B1060.2",15600],["F9 B5 B1060.3",15600]]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CASE SUBSTR(Date, 6, 2)</a:t>
            </a:r>
          </a:p>
          <a:p xmlns:a="http://schemas.openxmlformats.org/drawingml/2006/main">
            <a:r>
              <a:t>           WHEN '01' THEN 'January'</a:t>
            </a:r>
          </a:p>
          <a:p xmlns:a="http://schemas.openxmlformats.org/drawingml/2006/main">
            <a:r>
              <a:t>           WHEN '02' THEN 'February'</a:t>
            </a:r>
          </a:p>
          <a:p xmlns:a="http://schemas.openxmlformats.org/drawingml/2006/main">
            <a:r>
              <a:t>           WHEN '03' THEN 'March'</a:t>
            </a:r>
          </a:p>
          <a:p xmlns:a="http://schemas.openxmlformats.org/drawingml/2006/main">
            <a:r>
              <a:t>           WHEN '04' THEN 'April'</a:t>
            </a:r>
          </a:p>
          <a:p xmlns:a="http://schemas.openxmlformats.org/drawingml/2006/main">
            <a:r>
              <a:t>           WHEN '05' THEN 'May'</a:t>
            </a:r>
          </a:p>
          <a:p xmlns:a="http://schemas.openxmlformats.org/drawingml/2006/main">
            <a:r>
              <a:t>           WHEN '06' THEN 'June'</a:t>
            </a:r>
          </a:p>
          <a:p xmlns:a="http://schemas.openxmlformats.org/drawingml/2006/main">
            <a:r>
              <a:t>           WHEN '07' THEN 'July'</a:t>
            </a:r>
          </a:p>
          <a:p xmlns:a="http://schemas.openxmlformats.org/drawingml/2006/main">
            <a:r>
              <a:t>           WHEN '08' THEN 'August'</a:t>
            </a:r>
          </a:p>
          <a:p xmlns:a="http://schemas.openxmlformats.org/drawingml/2006/main">
            <a:r>
              <a:t>           WHEN '09' THEN 'September'</a:t>
            </a:r>
          </a:p>
          <a:p xmlns:a="http://schemas.openxmlformats.org/drawingml/2006/main">
            <a:r>
              <a:t>           WHEN '10' THEN 'October'</a:t>
            </a:r>
          </a:p>
          <a:p xmlns:a="http://schemas.openxmlformats.org/drawingml/2006/main">
            <a:r>
              <a:t>           WHEN '11' THEN 'November'</a:t>
            </a:r>
          </a:p>
          <a:p xmlns:a="http://schemas.openxmlformats.org/drawingml/2006/main">
            <a:r>
              <a:t>           WHEN '12' THEN 'December'</a:t>
            </a:r>
          </a:p>
          <a:p xmlns:a="http://schemas.openxmlformats.org/drawingml/2006/main">
            <a:r>
              <a:t>       END AS Month,</a:t>
            </a:r>
          </a:p>
          <a:p xmlns:a="http://schemas.openxmlformats.org/drawingml/2006/main">
            <a:r>
              <a:t>       Landing_Outcome,</a:t>
            </a:r>
          </a:p>
          <a:p xmlns:a="http://schemas.openxmlformats.org/drawingml/2006/main">
            <a:r>
              <a:t>       TRIM(Booster_Version) AS Booster_Version,</a:t>
            </a:r>
          </a:p>
          <a:p xmlns:a="http://schemas.openxmlformats.org/drawingml/2006/main">
            <a:r>
              <a:t>      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SUBSTR(Date, 1, 4) = '2015'</a:t>
            </a:r>
          </a:p>
          <a:p xmlns:a="http://schemas.openxmlformats.org/drawingml/2006/main">
            <a:r>
              <a:t>  AND TRIM(Landing_Outcome) = 'Failure (drone ship)'</a:t>
            </a:r>
          </a:p>
          <a:p xmlns:a="http://schemas.openxmlformats.org/drawingml/2006/main">
            <a:r>
              <a:t>ORDER BY Date;</a:t>
            </a:r>
          </a:p>
          <a:p xmlns:a="http://schemas.openxmlformats.org/drawingml/2006/main">
            <a:r>
              <a:t>Result: [["January","Failure (drone ship)","F9 v1.1 B1012","CCAFS LC-40"],["April","Failure (drone ship)","F9 v1.1 B1015","CCAFS LC-40"]]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TRIM(Landing_Outcome) AS Landing_Outcome,</a:t>
            </a:r>
          </a:p>
          <a:p xmlns:a="http://schemas.openxmlformats.org/drawingml/2006/main">
            <a:r>
              <a:t>       COUNT(*) AS Outcome_Count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Date BETWEEN '2010-06-04' AND '2017-03-20'</a:t>
            </a:r>
          </a:p>
          <a:p xmlns:a="http://schemas.openxmlformats.org/drawingml/2006/main">
            <a:r>
              <a:t>GROUP BY TRIM(Landing_Outcome)</a:t>
            </a:r>
          </a:p>
          <a:p xmlns:a="http://schemas.openxmlformats.org/drawingml/2006/main">
            <a:r>
              <a:t>ORDER BY Outcome_Count DESC, Landing_Outcome;</a:t>
            </a:r>
          </a:p>
          <a:p xmlns:a="http://schemas.openxmlformats.org/drawingml/2006/main">
            <a:r>
              <a:t>Result: [["No attempt",10],["Failure (drone ship)",5],["Success (drone ship)",5],["Controlled (ocean)",3],["Success (ground pad)",3],["Failure (parachute)",2],["Uncontrolled (ocean)",2],["Precluded (drone ship)",1]]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screenshot. Basemap © OpenStreetMap contributors, https://www.openstreetmap.org/copyright . Dataset coordinates.</a:t>
            </a:r>
          </a:p>
          <a:p xmlns:a="http://schemas.openxmlformats.org/drawingml/2006/main">
            <a:r>
              <a:t>Sources: https://github.com/nicholas-yap/spacex-data-science-capstone/blob/main/maps/launch_sites.html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MarkerCluster spiderfy screenshot. Green Class 1, red Class 0. OSM basemap attribution.</a:t>
            </a:r>
          </a:p>
          <a:p xmlns:a="http://schemas.openxmlformats.org/drawingml/2006/main">
            <a:r>
              <a:t>Sources: https://github.com/nicholas-yap/spacex-data-science-capstone/blob/main/maps/launch_outcomes.html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Haversine distances with Earth radius 6371 km. Selected points: [{"name":"Coastline sample","latitude":28.563,"longitude":-80.5675,"km":0.9718793646856646},{"name":"Road sample","latitude":28.5631,"longitude":-80.5829,"km":0.557852641160271},{"name":"Rail sample","latitude":28.5721,"longitude":-80.5854,"km":1.383039420705225}]. OSM basemap.</a:t>
            </a:r>
          </a:p>
          <a:p xmlns:a="http://schemas.openxmlformats.org/drawingml/2006/main">
            <a:r>
              <a:t>Sources: https://github.com/nicholas-yap/spacex-data-science-capstone/blob/main/maps/proximity.html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running Dash dashboard screenshot. Same 90-launch course dataset.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selected-site Dash screenshot. KSC 17/22, VAFB 10/13, CCAFS 33/55.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Dash screenshots for all sites with 0–5000 kg and 5000–16000 kg payload ranges.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contains the completed deck and supporting files. Dataset scope and methodological limitations are described in README.md.</a:t>
            </a:r>
            <a:endParaRPr/>
          </a:p>
          <a:p xmlns:a="http://schemas.openxmlformats.org/drawingml/2006/main">
            <a:r>
              <a:t>Sources: https://github.com/nicholas-yap/spacex-data-science-capstone/blob/main/README.md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of presentation. Supplied template closing artwork retained.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1670906e314f5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e43feb608c44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751c7ad6a748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f45115d1a743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1058885b1641e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cc2b8b50a4b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9b76136d94c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b4c0967bb4b2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7c5f4bc82d4b2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8831fbc6ad47f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06aa89b5bb473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3ae7531070455e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e2214bdb1049d6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0">
  <p:cSld name="1_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CFAE000F-83F2-4D1B-991C-D85C551E9B2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ctr">
              <a:buNone/>
              <a:defRPr sz="48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1902D5C-A22F-4A5C-A9BD-230D7DADD2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31f1be1cda4c7e" /><Relationship Type="http://schemas.openxmlformats.org/officeDocument/2006/relationships/slideLayout" Target="/ppt/slideLayouts/slideLayout1.xml" Id="Ra7e93a03b2204b97" /><Relationship Type="http://schemas.openxmlformats.org/officeDocument/2006/relationships/slideLayout" Target="/ppt/slideLayouts/slideLayout2.xml" Id="Rf4c5e06ed2f84e4f" /><Relationship Type="http://schemas.openxmlformats.org/officeDocument/2006/relationships/slideLayout" Target="/ppt/slideLayouts/slideLayout3.xml" Id="R7d96c781aa7748f8" /><Relationship Type="http://schemas.openxmlformats.org/officeDocument/2006/relationships/slideLayout" Target="/ppt/slideLayouts/slideLayout4.xml" Id="Rfd51076d010a41b2" /><Relationship Type="http://schemas.openxmlformats.org/officeDocument/2006/relationships/slideLayout" Target="/ppt/slideLayouts/slideLayout5.xml" Id="R6cbe26a94ddc4345" /><Relationship Type="http://schemas.openxmlformats.org/officeDocument/2006/relationships/slideLayout" Target="/ppt/slideLayouts/slideLayout6.xml" Id="R21f793321f374801" /><Relationship Type="http://schemas.openxmlformats.org/officeDocument/2006/relationships/slideLayout" Target="/ppt/slideLayouts/slideLayout7.xml" Id="Redf6573ba17847d2" /><Relationship Type="http://schemas.openxmlformats.org/officeDocument/2006/relationships/slideLayout" Target="/ppt/slideLayouts/slideLayout8.xml" Id="R42dcfe0e92b547a9" /><Relationship Type="http://schemas.openxmlformats.org/officeDocument/2006/relationships/slideLayout" Target="/ppt/slideLayouts/slideLayout9.xml" Id="Refe01e26a3cf4050" /><Relationship Type="http://schemas.openxmlformats.org/officeDocument/2006/relationships/slideLayout" Target="/ppt/slideLayouts/slideLayout10.xml" Id="Rcb81bdded905434f" /><Relationship Type="http://schemas.openxmlformats.org/officeDocument/2006/relationships/slideLayout" Target="/ppt/slideLayouts/slideLayout11.xml" Id="R4380931d081c4632" /><Relationship Type="http://schemas.openxmlformats.org/officeDocument/2006/relationships/slideLayout" Target="/ppt/slideLayouts/slideLayout12.xml" Id="R068a82a075cb4432" /><Relationship Type="http://schemas.openxmlformats.org/officeDocument/2006/relationships/slideLayout" Target="/ppt/slideLayouts/slideLayout13.xml" Id="Rd202ea8e1bc94c0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14772" y="6025573"/>
            <a:ext cx="2743200" cy="4016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600">
                <a:solidFill>
                  <a:srgbClr val="1C7DDB"/>
                </a:solidFill>
                <a:latin typeface="Abadi"/>
                <a:ea typeface="Abadi"/>
                <a:cs typeface="Abadi"/>
              </a:defRPr>
            </a:lvl1pPr>
          </a:lstStyle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e93a03b2204b97"/>
    <p:sldLayoutId xmlns:r="http://schemas.openxmlformats.org/officeDocument/2006/relationships" id="2147483650" r:id="Rf4c5e06ed2f84e4f"/>
    <p:sldLayoutId xmlns:r="http://schemas.openxmlformats.org/officeDocument/2006/relationships" id="2147483651" r:id="R7d96c781aa7748f8"/>
    <p:sldLayoutId xmlns:r="http://schemas.openxmlformats.org/officeDocument/2006/relationships" id="2147483652" r:id="Rfd51076d010a41b2"/>
    <p:sldLayoutId xmlns:r="http://schemas.openxmlformats.org/officeDocument/2006/relationships" id="2147483653" r:id="R6cbe26a94ddc4345"/>
    <p:sldLayoutId xmlns:r="http://schemas.openxmlformats.org/officeDocument/2006/relationships" id="2147483654" r:id="R21f793321f374801"/>
    <p:sldLayoutId xmlns:r="http://schemas.openxmlformats.org/officeDocument/2006/relationships" id="2147483655" r:id="Redf6573ba17847d2"/>
    <p:sldLayoutId xmlns:r="http://schemas.openxmlformats.org/officeDocument/2006/relationships" id="2147483656" r:id="R42dcfe0e92b547a9"/>
    <p:sldLayoutId xmlns:r="http://schemas.openxmlformats.org/officeDocument/2006/relationships" id="2147483657" r:id="Refe01e26a3cf4050"/>
    <p:sldLayoutId xmlns:r="http://schemas.openxmlformats.org/officeDocument/2006/relationships" id="2147483658" r:id="Rcb81bdded905434f"/>
    <p:sldLayoutId xmlns:r="http://schemas.openxmlformats.org/officeDocument/2006/relationships" id="2147483659" r:id="R4380931d081c4632"/>
    <p:sldLayoutId xmlns:r="http://schemas.openxmlformats.org/officeDocument/2006/relationships" id="2147483660" r:id="R068a82a075cb4432"/>
    <p:sldLayoutId xmlns:r="http://schemas.openxmlformats.org/officeDocument/2006/relationships" id="2147483661" r:id="Rd202ea8e1bc94c0a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974757cd6d6486e" /><Relationship Type="http://schemas.openxmlformats.org/officeDocument/2006/relationships/image" Target="/ppt/media/image.jpeg" Id="Rf1c3add15a14492d" /><Relationship Type="http://schemas.openxmlformats.org/officeDocument/2006/relationships/image" Target="/ppt/media/image.png" Id="Rf5fe89437ee64658" /><Relationship Type="http://schemas.openxmlformats.org/officeDocument/2006/relationships/notesSlide" Target="/ppt/notesSlides/notesSlide1.xml" Id="R6b844e04705149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aaffb7faa4935" /><Relationship Type="http://schemas.openxmlformats.org/officeDocument/2006/relationships/image" Target="/ppt/media/image2.png" Id="Redde43f0aeb246b7" /><Relationship Type="http://schemas.openxmlformats.org/officeDocument/2006/relationships/notesSlide" Target="/ppt/notesSlides/notesSlide2.xml" Id="Rdec79d5c5a0741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efb7a2b784ee2" /><Relationship Type="http://schemas.openxmlformats.org/officeDocument/2006/relationships/image" Target="/ppt/media/image2.png" Id="R9baa50f90f054206" /><Relationship Type="http://schemas.openxmlformats.org/officeDocument/2006/relationships/notesSlide" Target="/ppt/notesSlides/notesSlide3.xml" Id="R83a7e4f6be1740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8ef4584f4476d" /><Relationship Type="http://schemas.openxmlformats.org/officeDocument/2006/relationships/image" Target="/ppt/media/image2.png" Id="Rb8d8015ab63744cf" /><Relationship Type="http://schemas.openxmlformats.org/officeDocument/2006/relationships/chart" Target="/ppt/slides/charts/chart1.xml" Id="R22348e6cd777431c" /><Relationship Type="http://schemas.openxmlformats.org/officeDocument/2006/relationships/notesSlide" Target="/ppt/notesSlides/notesSlide4.xml" Id="R627835e896234f1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2b3eb7b254bdd" /><Relationship Type="http://schemas.openxmlformats.org/officeDocument/2006/relationships/image" Target="/ppt/media/image2.png" Id="Rd76718c1ae554be6" /><Relationship Type="http://schemas.openxmlformats.org/officeDocument/2006/relationships/notesSlide" Target="/ppt/notesSlides/notesSlide5.xml" Id="R07ba29334bae4f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a5d3375594e1c" /><Relationship Type="http://schemas.openxmlformats.org/officeDocument/2006/relationships/notesSlide" Target="/ppt/notesSlides/notesSlide6.xml" Id="R0336a4adb9f344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62cdf38064af0" /><Relationship Type="http://schemas.openxmlformats.org/officeDocument/2006/relationships/image" Target="/ppt/media/image2.png" Id="R4f66c795fa0d482f" /><Relationship Type="http://schemas.openxmlformats.org/officeDocument/2006/relationships/notesSlide" Target="/ppt/notesSlides/notesSlide7.xml" Id="R8ba26f85a04446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67936b58a4e87" /><Relationship Type="http://schemas.openxmlformats.org/officeDocument/2006/relationships/image" Target="/ppt/media/image2.png" Id="Ra41e377526be4dfe" /><Relationship Type="http://schemas.openxmlformats.org/officeDocument/2006/relationships/notesSlide" Target="/ppt/notesSlides/notesSlide8.xml" Id="R5fa6c315a30b41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26de7dcf75c4845" /><Relationship Type="http://schemas.openxmlformats.org/officeDocument/2006/relationships/image" Target="/ppt/media/image2.jpeg" Id="R4919b61dcf6b4d16" /><Relationship Type="http://schemas.openxmlformats.org/officeDocument/2006/relationships/notesSlide" Target="/ppt/notesSlides/notesSlide9.xml" Id="R19f41060cdbc43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2a1c7da044fac" /><Relationship Type="http://schemas.openxmlformats.org/officeDocument/2006/relationships/image" Target="/ppt/media/image2.png" Id="R0a9a6816c7d44523" /><Relationship Type="http://schemas.openxmlformats.org/officeDocument/2006/relationships/notesSlide" Target="/ppt/notesSlides/notesSlide10.xml" Id="Rbf20a2ed46544c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ceeb0bc874f2e" /><Relationship Type="http://schemas.openxmlformats.org/officeDocument/2006/relationships/image" Target="/ppt/media/image2.png" Id="R1ed6e1a553ef45a5" /><Relationship Type="http://schemas.openxmlformats.org/officeDocument/2006/relationships/notesSlide" Target="/ppt/notesSlides/notesSlide11.xml" Id="R525c4df2e1ed470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b26794cddb4cad" /><Relationship Type="http://schemas.openxmlformats.org/officeDocument/2006/relationships/image" Target="/ppt/media/image2.png" Id="Ra9167f9f2f704e63" /><Relationship Type="http://schemas.openxmlformats.org/officeDocument/2006/relationships/notesSlide" Target="/ppt/notesSlides/notesSlide12.xml" Id="R4bf11fa233e64a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a74d61e2b4cd8" /><Relationship Type="http://schemas.openxmlformats.org/officeDocument/2006/relationships/image" Target="/ppt/media/image2.png" Id="R32f7502565144642" /><Relationship Type="http://schemas.openxmlformats.org/officeDocument/2006/relationships/notesSlide" Target="/ppt/notesSlides/notesSlide13.xml" Id="R3869e079435c4b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92e01dd984542" /><Relationship Type="http://schemas.openxmlformats.org/officeDocument/2006/relationships/image" Target="/ppt/media/image2.png" Id="Rcc8a25f0ad4d4b53" /><Relationship Type="http://schemas.openxmlformats.org/officeDocument/2006/relationships/notesSlide" Target="/ppt/notesSlides/notesSlide14.xml" Id="Rf0f6242e42d34ab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040a3496f463a" /><Relationship Type="http://schemas.openxmlformats.org/officeDocument/2006/relationships/image" Target="/ppt/media/image2.png" Id="Rd76ed02a50044ffc" /><Relationship Type="http://schemas.openxmlformats.org/officeDocument/2006/relationships/notesSlide" Target="/ppt/notesSlides/notesSlide15.xml" Id="R2b38c4d942804c7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11498ab245a2" /><Relationship Type="http://schemas.openxmlformats.org/officeDocument/2006/relationships/image" Target="/ppt/media/image2.png" Id="R0d0f987f76bc4cc9" /><Relationship Type="http://schemas.openxmlformats.org/officeDocument/2006/relationships/notesSlide" Target="/ppt/notesSlides/notesSlide16.xml" Id="R29dadea9ab2e4a0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70cc41cdd4b6f" /><Relationship Type="http://schemas.openxmlformats.org/officeDocument/2006/relationships/image" Target="/ppt/media/image2.png" Id="R4ac37974919345dd" /><Relationship Type="http://schemas.openxmlformats.org/officeDocument/2006/relationships/notesSlide" Target="/ppt/notesSlides/notesSlide17.xml" Id="R4b3165c246a249a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369be0c5c4ea9" /><Relationship Type="http://schemas.openxmlformats.org/officeDocument/2006/relationships/image" Target="/ppt/media/image2.png" Id="R67f26b19ac9449bc" /><Relationship Type="http://schemas.openxmlformats.org/officeDocument/2006/relationships/notesSlide" Target="/ppt/notesSlides/notesSlide18.xml" Id="R48e531d45791452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70138b5194e1e" /><Relationship Type="http://schemas.openxmlformats.org/officeDocument/2006/relationships/image" Target="/ppt/media/image2.png" Id="R88ee54f49b7046ce" /><Relationship Type="http://schemas.openxmlformats.org/officeDocument/2006/relationships/notesSlide" Target="/ppt/notesSlides/notesSlide19.xml" Id="R2165c9a10cb845b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5e26387ce450a" /><Relationship Type="http://schemas.openxmlformats.org/officeDocument/2006/relationships/image" Target="/ppt/media/image2.png" Id="R880679b6250c4eb0" /><Relationship Type="http://schemas.openxmlformats.org/officeDocument/2006/relationships/notesSlide" Target="/ppt/notesSlides/notesSlide20.xml" Id="Ra20d1e624380449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cf2117065e4229" /><Relationship Type="http://schemas.openxmlformats.org/officeDocument/2006/relationships/image" Target="/ppt/media/image3.png" Id="R5a240765a8f54d7c" /><Relationship Type="http://schemas.openxmlformats.org/officeDocument/2006/relationships/notesSlide" Target="/ppt/notesSlides/notesSlide21.xml" Id="Rd0f283fe89d8407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424bc5aeb46c9" /><Relationship Type="http://schemas.openxmlformats.org/officeDocument/2006/relationships/image" Target="/ppt/media/image2.png" Id="Rf5986b1b083846e5" /><Relationship Type="http://schemas.openxmlformats.org/officeDocument/2006/relationships/chart" Target="/ppt/slides/charts/chart2.xml" Id="R2e5b013a58c44d6e" /><Relationship Type="http://schemas.openxmlformats.org/officeDocument/2006/relationships/notesSlide" Target="/ppt/notesSlides/notesSlide22.xml" Id="Raad2ef37ba35482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5c7c73ebc4b0f" /><Relationship Type="http://schemas.openxmlformats.org/officeDocument/2006/relationships/image" Target="/ppt/media/image2.png" Id="Rfc6cb87fc9204e65" /><Relationship Type="http://schemas.openxmlformats.org/officeDocument/2006/relationships/chart" Target="/ppt/slides/charts/chart3.xml" Id="R93d0288337624406" /><Relationship Type="http://schemas.openxmlformats.org/officeDocument/2006/relationships/notesSlide" Target="/ppt/notesSlides/notesSlide23.xml" Id="Rabae1b5da5a841f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39e303b814e6b" /><Relationship Type="http://schemas.openxmlformats.org/officeDocument/2006/relationships/image" Target="/ppt/media/image2.png" Id="R12ca99e479c74cce" /><Relationship Type="http://schemas.openxmlformats.org/officeDocument/2006/relationships/chart" Target="/ppt/slides/charts/chart4.xml" Id="R4333ff7a74774d21" /><Relationship Type="http://schemas.openxmlformats.org/officeDocument/2006/relationships/notesSlide" Target="/ppt/notesSlides/notesSlide24.xml" Id="R5635ce8f8a3f4db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2b5d3cac44936" /><Relationship Type="http://schemas.openxmlformats.org/officeDocument/2006/relationships/image" Target="/ppt/media/image2.png" Id="Rfe3098f5bce34a5f" /><Relationship Type="http://schemas.openxmlformats.org/officeDocument/2006/relationships/chart" Target="/ppt/slides/charts/chart5.xml" Id="Rf4083b81affc4d80" /><Relationship Type="http://schemas.openxmlformats.org/officeDocument/2006/relationships/notesSlide" Target="/ppt/notesSlides/notesSlide25.xml" Id="R837c8ed74d8b495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96592d2a84f7b" /><Relationship Type="http://schemas.openxmlformats.org/officeDocument/2006/relationships/image" Target="/ppt/media/image2.png" Id="R39c974ede0414dca" /><Relationship Type="http://schemas.openxmlformats.org/officeDocument/2006/relationships/chart" Target="/ppt/slides/charts/chart6.xml" Id="R4e7868aa40d949c0" /><Relationship Type="http://schemas.openxmlformats.org/officeDocument/2006/relationships/notesSlide" Target="/ppt/notesSlides/notesSlide26.xml" Id="R39e1d3f62e9943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6ce87d91f24113" /><Relationship Type="http://schemas.openxmlformats.org/officeDocument/2006/relationships/image" Target="/ppt/media/image2.png" Id="Ra0a6b37a3f604189" /><Relationship Type="http://schemas.openxmlformats.org/officeDocument/2006/relationships/chart" Target="/ppt/slides/charts/chart7.xml" Id="Rfcc5b1b49f29481a" /><Relationship Type="http://schemas.openxmlformats.org/officeDocument/2006/relationships/notesSlide" Target="/ppt/notesSlides/notesSlide27.xml" Id="Rdc0ef12ae7354b7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1108918324de5" /><Relationship Type="http://schemas.openxmlformats.org/officeDocument/2006/relationships/image" Target="/ppt/media/image2.png" Id="R771be8294de7418f" /><Relationship Type="http://schemas.openxmlformats.org/officeDocument/2006/relationships/notesSlide" Target="/ppt/notesSlides/notesSlide28.xml" Id="Rb393f23b5e9e4ec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6f9fdef404af4" /><Relationship Type="http://schemas.openxmlformats.org/officeDocument/2006/relationships/image" Target="/ppt/media/image2.png" Id="Re9f95282a78b4b8a" /><Relationship Type="http://schemas.openxmlformats.org/officeDocument/2006/relationships/notesSlide" Target="/ppt/notesSlides/notesSlide29.xml" Id="Rbf1c96d1902f415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b510e852a446f" /><Relationship Type="http://schemas.openxmlformats.org/officeDocument/2006/relationships/image" Target="/ppt/media/image2.png" Id="Rb360ae8803f646df" /><Relationship Type="http://schemas.openxmlformats.org/officeDocument/2006/relationships/notesSlide" Target="/ppt/notesSlides/notesSlide30.xml" Id="Rf1a64742df11449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1b016bb2d49a9" /><Relationship Type="http://schemas.openxmlformats.org/officeDocument/2006/relationships/image" Target="/ppt/media/image2.png" Id="R0bbafc1a3a6b4946" /><Relationship Type="http://schemas.openxmlformats.org/officeDocument/2006/relationships/notesSlide" Target="/ppt/notesSlides/notesSlide31.xml" Id="R26d11fcb7d5f40f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52451f73d497d" /><Relationship Type="http://schemas.openxmlformats.org/officeDocument/2006/relationships/image" Target="/ppt/media/image2.png" Id="Rca29ee8ce6b847ba" /><Relationship Type="http://schemas.openxmlformats.org/officeDocument/2006/relationships/notesSlide" Target="/ppt/notesSlides/notesSlide32.xml" Id="Re1313c3bc87b446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0e482425a450a" /><Relationship Type="http://schemas.openxmlformats.org/officeDocument/2006/relationships/image" Target="/ppt/media/image2.png" Id="Rc2aa6e493d994d77" /><Relationship Type="http://schemas.openxmlformats.org/officeDocument/2006/relationships/notesSlide" Target="/ppt/notesSlides/notesSlide33.xml" Id="Rcc9d3b96540f47c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40e9977074a1d" /><Relationship Type="http://schemas.openxmlformats.org/officeDocument/2006/relationships/image" Target="/ppt/media/image2.png" Id="R343f9b2918da40d0" /><Relationship Type="http://schemas.openxmlformats.org/officeDocument/2006/relationships/notesSlide" Target="/ppt/notesSlides/notesSlide34.xml" Id="R8ad0275d8a1c4f6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06d2cd0824623" /><Relationship Type="http://schemas.openxmlformats.org/officeDocument/2006/relationships/image" Target="/ppt/media/image2.png" Id="Rc0dcc0c28bd94629" /><Relationship Type="http://schemas.openxmlformats.org/officeDocument/2006/relationships/notesSlide" Target="/ppt/notesSlides/notesSlide35.xml" Id="Rdb3c5f6b88ee4fe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994e890d64ce9" /><Relationship Type="http://schemas.openxmlformats.org/officeDocument/2006/relationships/image" Target="/ppt/media/image2.png" Id="Reb3fe7ed94464057" /><Relationship Type="http://schemas.openxmlformats.org/officeDocument/2006/relationships/notesSlide" Target="/ppt/notesSlides/notesSlide36.xml" Id="Rbe1a91f8c6c047e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c79aec5ef4923" /><Relationship Type="http://schemas.openxmlformats.org/officeDocument/2006/relationships/image" Target="/ppt/media/image2.png" Id="R6457896fc1ba4003" /><Relationship Type="http://schemas.openxmlformats.org/officeDocument/2006/relationships/notesSlide" Target="/ppt/notesSlides/notesSlide37.xml" Id="Rda32505269cf428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33dc6087fd417a" /><Relationship Type="http://schemas.openxmlformats.org/officeDocument/2006/relationships/image" Target="/ppt/media/image4.png" Id="Rfd83b2c8b7fb40d4" /><Relationship Type="http://schemas.openxmlformats.org/officeDocument/2006/relationships/notesSlide" Target="/ppt/notesSlides/notesSlide38.xml" Id="R82a873b8f8d2476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b7b0c92f24607" /><Relationship Type="http://schemas.openxmlformats.org/officeDocument/2006/relationships/image" Target="/ppt/media/image2.png" Id="R8f5e5d06cb574f14" /><Relationship Type="http://schemas.openxmlformats.org/officeDocument/2006/relationships/image" Target="/ppt/media/image3.jpeg" Id="R483057b4c2c84bbf" /><Relationship Type="http://schemas.openxmlformats.org/officeDocument/2006/relationships/notesSlide" Target="/ppt/notesSlides/notesSlide39.xml" Id="Rc6f344cdd62d4e2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81cb80b3cc4759" /><Relationship Type="http://schemas.openxmlformats.org/officeDocument/2006/relationships/image" Target="/ppt/media/image2.png" Id="R1f559e9e10264693" /><Relationship Type="http://schemas.openxmlformats.org/officeDocument/2006/relationships/image" Target="/ppt/media/image4.jpeg" Id="R0c76f0e9ad654bdd" /><Relationship Type="http://schemas.openxmlformats.org/officeDocument/2006/relationships/notesSlide" Target="/ppt/notesSlides/notesSlide40.xml" Id="R9f67a688d3594ab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197f357f4c4851" /><Relationship Type="http://schemas.openxmlformats.org/officeDocument/2006/relationships/image" Target="/ppt/media/image2.png" Id="R13f4d28f39284df1" /><Relationship Type="http://schemas.openxmlformats.org/officeDocument/2006/relationships/image" Target="/ppt/media/image5.jpeg" Id="Rcc921428eede459b" /><Relationship Type="http://schemas.openxmlformats.org/officeDocument/2006/relationships/notesSlide" Target="/ppt/notesSlides/notesSlide41.xml" Id="Re6fb5612bbec49a8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0b17c4cc94872" /><Relationship Type="http://schemas.openxmlformats.org/officeDocument/2006/relationships/image" Target="/ppt/media/image6.jpeg" Id="R6cd42d5d473f411b" /><Relationship Type="http://schemas.openxmlformats.org/officeDocument/2006/relationships/notesSlide" Target="/ppt/notesSlides/notesSlide42.xml" Id="Rebab01f3c85b496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66ea98e80431a" /><Relationship Type="http://schemas.openxmlformats.org/officeDocument/2006/relationships/image" Target="/ppt/media/image2.png" Id="Rac7309a62e2c4bd3" /><Relationship Type="http://schemas.openxmlformats.org/officeDocument/2006/relationships/image" Target="/ppt/media/image7.jpeg" Id="Re9104669b34b42ab" /><Relationship Type="http://schemas.openxmlformats.org/officeDocument/2006/relationships/notesSlide" Target="/ppt/notesSlides/notesSlide43.xml" Id="R9df46ebc5c554f2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4b3d17d56438c" /><Relationship Type="http://schemas.openxmlformats.org/officeDocument/2006/relationships/image" Target="/ppt/media/image2.png" Id="Rd410a133390c41d0" /><Relationship Type="http://schemas.openxmlformats.org/officeDocument/2006/relationships/image" Target="/ppt/media/image8.jpeg" Id="R936757ed1a264b3b" /><Relationship Type="http://schemas.openxmlformats.org/officeDocument/2006/relationships/notesSlide" Target="/ppt/notesSlides/notesSlide44.xml" Id="R4541a38ecc4144c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129d186984db7" /><Relationship Type="http://schemas.openxmlformats.org/officeDocument/2006/relationships/image" Target="/ppt/media/image2.png" Id="Rc83b273a7c964858" /><Relationship Type="http://schemas.openxmlformats.org/officeDocument/2006/relationships/image" Target="/ppt/media/image9.jpeg" Id="R56bfe29827514188" /><Relationship Type="http://schemas.openxmlformats.org/officeDocument/2006/relationships/image" Target="/ppt/media/image10.jpeg" Id="Rfaa91e9b6cd04820" /><Relationship Type="http://schemas.openxmlformats.org/officeDocument/2006/relationships/notesSlide" Target="/ppt/notesSlides/notesSlide45.xml" Id="Rc9d9c52babf0437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b42d496db43f9" /><Relationship Type="http://schemas.openxmlformats.org/officeDocument/2006/relationships/image" Target="/ppt/media/image2.png" Id="Rf9469c611b1e4f8d" /><Relationship Type="http://schemas.openxmlformats.org/officeDocument/2006/relationships/notesSlide" Target="/ppt/notesSlides/notesSlide46.xml" Id="R625ead74223d457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5f6a907850804111" /><Relationship Type="http://schemas.openxmlformats.org/officeDocument/2006/relationships/image" Target="/ppt/media/image11.jpeg" Id="Rfdb58d01cf274673" /><Relationship Type="http://schemas.openxmlformats.org/officeDocument/2006/relationships/notesSlide" Target="/ppt/notesSlides/notesSlide47.xml" Id="R48d80d18bdb24ce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10-fold CV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0.8464285714</c:v>
                </c:pt>
                <c:pt idx="1">
                  <c:v>0.8482142857</c:v>
                </c:pt>
                <c:pt idx="2">
                  <c:v>0.8767857143</c:v>
                </c:pt>
                <c:pt idx="3">
                  <c:v>0.8482142857</c:v>
                </c:pt>
              </c:numCache>
            </c:numRef>
          </c:val>
        </c:ser>
        <c:ser>
          <c:idx val="1"/>
          <c:order val="1"/>
          <c:tx>
            <c:v>Test</c:v>
          </c:tx>
          <c:spPr>
            <a:solidFill xmlns:a="http://schemas.openxmlformats.org/drawingml/2006/main">
              <a:srgbClr val="F1A54B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Data'!$D$2:$D$5</c:f>
              <c:numCache>
                <c:formatCode>0%</c:formatCode>
                <c:ptCount val="4"/>
                <c:pt idx="0">
                  <c:v>0.83333333333333</c:v>
                </c:pt>
                <c:pt idx="1">
                  <c:v>0.83333333333333</c:v>
                </c:pt>
                <c:pt idx="2">
                  <c:v>0.83333333333333</c:v>
                </c:pt>
                <c:pt idx="3">
                  <c:v>0.83333333333333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  <a:ln xmlns:a="http://schemas.openxmlformats.org/drawingml/2006/main" w="0">
              <a:noFill/>
            </a:ln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  <a:ln xmlns:a="http://schemas.openxmlformats.org/drawingml/2006/main" w="0">
              <a:noFill/>
            </a:ln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Success rate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Data'!$A$2:$A$12</c:f>
              <c:strCache>
                <c:ptCount val="11"/>
                <c:pt idx="0">
                  <c:v>ES-L1 (n=1)</c:v>
                </c:pt>
                <c:pt idx="1">
                  <c:v>GEO (n=1)</c:v>
                </c:pt>
                <c:pt idx="2">
                  <c:v>GTO (n=27)</c:v>
                </c:pt>
                <c:pt idx="3">
                  <c:v>HEO (n=1)</c:v>
                </c:pt>
                <c:pt idx="4">
                  <c:v>ISS (n=21)</c:v>
                </c:pt>
                <c:pt idx="5">
                  <c:v>LEO (n=7)</c:v>
                </c:pt>
                <c:pt idx="6">
                  <c:v>MEO (n=3)</c:v>
                </c:pt>
                <c:pt idx="7">
                  <c:v>PO (n=9)</c:v>
                </c:pt>
                <c:pt idx="8">
                  <c:v>SO (n=1)</c:v>
                </c:pt>
                <c:pt idx="9">
                  <c:v>SSO (n=5)</c:v>
                </c:pt>
                <c:pt idx="10">
                  <c:v>VLEO (n=14)</c:v>
                </c:pt>
              </c:strCache>
            </c:strRef>
          </c:cat>
          <c:val>
            <c:numRef>
              <c:f>'Chart Data'!$B$2:$B$12</c:f>
              <c:numCache>
                <c:formatCode>0%</c:formatCode>
                <c:ptCount val="11"/>
                <c:pt idx="0">
                  <c:v>1</c:v>
                </c:pt>
                <c:pt idx="1">
                  <c:v>1</c:v>
                </c:pt>
                <c:pt idx="2">
                  <c:v>0.51851851851852</c:v>
                </c:pt>
                <c:pt idx="3">
                  <c:v>1</c:v>
                </c:pt>
                <c:pt idx="4">
                  <c:v>0.61904761904762</c:v>
                </c:pt>
                <c:pt idx="5">
                  <c:v>0.71428571428571</c:v>
                </c:pt>
                <c:pt idx="6">
                  <c:v>0.66666666666667</c:v>
                </c:pt>
                <c:pt idx="7">
                  <c:v>0.66666666666667</c:v>
                </c:pt>
                <c:pt idx="8">
                  <c:v>0</c:v>
                </c:pt>
                <c:pt idx="9">
                  <c:v>1</c:v>
                </c:pt>
                <c:pt idx="10">
                  <c:v>0.85714285714286</c:v>
                </c:pt>
              </c:numCache>
            </c:numRef>
          </c:val>
        </c:ser>
        <c:dLbls>
          <c:numFmt formatCode="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15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  <a:ln xmlns:a="http://schemas.openxmlformats.org/drawingml/2006/main" w="0">
              <a:noFill/>
            </a:ln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  <a:ln xmlns:a="http://schemas.openxmlformats.org/drawingml/2006/main" w="0">
              <a:noFill/>
            </a:ln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Class 1 rate</c:v>
          </c:tx>
          <c:spPr>
            <a:ln xmlns:a="http://schemas.openxmlformats.org/drawingml/2006/main" w="28575">
              <a:solidFill>
                <a:srgbClr val="0B49CB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0B49CB"/>
              </a:solidFill>
            </c:spPr>
          </c:marker>
          <c:cat>
            <c:strRef>
              <c:f>'Chart Data'!$A$2:$A$11</c:f>
              <c:strCache>
                <c:ptCount val="10"/>
                <c:pt idx="0">
                  <c:v>2010 (n=1)</c:v>
                </c:pt>
                <c:pt idx="1">
                  <c:v>2012 (n=1)</c:v>
                </c:pt>
                <c:pt idx="2">
                  <c:v>2013 (n=3)</c:v>
                </c:pt>
                <c:pt idx="3">
                  <c:v>2014 (n=6)</c:v>
                </c:pt>
                <c:pt idx="4">
                  <c:v>2015 (n=6)</c:v>
                </c:pt>
                <c:pt idx="5">
                  <c:v>2016 (n=8)</c:v>
                </c:pt>
                <c:pt idx="6">
                  <c:v>2017 (n=18)</c:v>
                </c:pt>
                <c:pt idx="7">
                  <c:v>2018 (n=18)</c:v>
                </c:pt>
                <c:pt idx="8">
                  <c:v>2019 (n=10)</c:v>
                </c:pt>
                <c:pt idx="9">
                  <c:v>2020 (n=19)</c:v>
                </c:pt>
              </c:strCache>
            </c:str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0.33333333333333</c:v>
                </c:pt>
                <c:pt idx="4">
                  <c:v>0.33333333333333</c:v>
                </c:pt>
                <c:pt idx="5">
                  <c:v>0.625</c:v>
                </c:pt>
                <c:pt idx="6">
                  <c:v>0.83333333333333</c:v>
                </c:pt>
                <c:pt idx="7">
                  <c:v>0.61111111111111</c:v>
                </c:pt>
                <c:pt idx="8">
                  <c:v>0.9</c:v>
                </c:pt>
                <c:pt idx="9">
                  <c:v>0.84210526315789</c:v>
                </c:pt>
              </c:numCache>
            </c:numRef>
          </c:val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1c3add15a14492d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587" y="4568762"/>
            <a:ext cx="3810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Nicholas Yap</a:t>
            </a:r>
          </a:p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12 October 2026</a:t>
            </a:r>
          </a:p>
        </p:txBody>
      </p:sp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884742CE-E2D2-4D63-A54F-4B7B196881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e89437ee646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9820" y="676828"/>
            <a:ext cx="2104103" cy="62918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7FEB1-117E-4FA3-9715-70D46BB1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57212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FFFFFF"/>
                </a:solidFill>
              </a:defRPr>
            </a:pPr>
            <a:r>
              <a:rPr sz="1425">
                <a:solidFill>
                  <a:srgbClr val="FFFFFF"/>
                </a:solidFill>
              </a:rPr>
              <a:t>https://github.com/nicholas-yap/spacex-data-science-capstone</a:t>
            </a:r>
          </a:p>
        </p:txBody>
      </p:sp>
    </p:spTree>
    <p:extLst>
      <p:ext uri="{BB962C8B-B14F-4D97-AF65-F5344CB8AC3E}">
        <p14:creationId xmlns:p14="http://schemas.microsoft.com/office/powerpoint/2010/main" val="1277611629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dde43f0aeb246b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Outline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1DD955-C461-49D6-8B1A-C0BA1A2C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Executive summary</a:t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Model evaluation, confusion matrix and selection</a:t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Conclusions</a:t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Project background and methods</a:t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EDA, SQL, maps, dashboard and sources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baa50f90f05420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202359C0-8A7A-196E-DD58-8E6569619F09}" type="slidenum">
              <a:t>3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Executive Summary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45AF2-A15B-42CF-BC31-5CED9D98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90 Falcon 9 launches form the modeling sample. The course label marks 60 successes (66.7%).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Small samples, changing technology and preprocessing leakage limit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8d8015ab63744c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Classification Accuracy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BA5B3BCA-F1B0-46BA-8CC7-E9D8CB1A5142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2348e6cd777431c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8AC593-170A-4EB2-AC5B-E318DE68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models tie at 83.33% on the test set. The decision tree leads CV at 87.68%. The always-Class-1 test baseline is 66.67%.</a:t>
            </a: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76718c1ae554be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Decision Tree Confusion Matrix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4051D-5C8A-4525-8E42-E8721E1E6D41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667000"/>
                <a:gridCol w="2667000"/>
              </a:tblGrid>
              <a:tr h="762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Actual / Predicted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A89CB-EA75-4972-9421-9ED3A79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1047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15/18 correct (83.33%)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Class 1 precision: 12/15 = 80%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Class 1 recall: 12/12 = 100%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3 of 6 actual Class 0 outcomes are false positives</a:t>
            </a: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1F3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25555-C52B-4D83-81DD-3A3420C1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</a:rPr>
              <a:t>Model Evaluation and Selection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85F7A4-04BA-47F1-BB1E-0CFD74068381}"/>
              </a:ext>
            </a:extLst>
          </p:cNvPr>
          <p:cNvGraphicFramePr/>
          <p:nvPr/>
        </p:nvGraphicFramePr>
        <p:xfrm>
          <a:off xmlns:a="http://schemas.openxmlformats.org/drawingml/2006/main" x="857250" y="1714500"/>
          <a:ext xmlns:a="http://schemas.openxmlformats.org/drawingml/2006/main" cx="10477500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3143250"/>
                <a:gridCol w="3143250"/>
              </a:tblGrid>
              <a:tr h="438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10-fold CV accuracy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Test accuracy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Logistic regression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84.64%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83.33%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Support vector machine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84.82%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83.33%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Decision tree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87.68%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83.33%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K-nearest neighbors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84.82%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83.33%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2E444-5724-4A10-8B38-0585380A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10477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Decision tree is selected for its highest cross-validation accuracy: 87.68%. All four models tie at 83.33% on 18 test launches.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Split: 72 train, 18 test. Small samples and preprocessing leakage limit confidence.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D3A5A2-375A-4ED9-87FB-616B7786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notebooks/SpaceX-Machine-Learning-Prediction-Part-5-v1.ipynb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5AAB9-771A-41EB-86FE-227D91DC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6025610"/>
            <a:ext cx="428625" cy="401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00">
                <a:solidFill>
                  <a:srgbClr val="1C7DDB"/>
                </a:solidFill>
              </a:defRPr>
            </a:defPPr>
          </a:lstStyle>
          <a:p xmlns:a="http://schemas.openxmlformats.org/drawingml/2006/main">
            <a:pPr>
              <a:defRPr sz="1600">
                <a:solidFill>
                  <a:srgbClr val="1C7DDB"/>
                </a:solidFill>
              </a:defRPr>
            </a:pPr>
            <a:r>
              <a:rPr sz="1600">
                <a:solidFill>
                  <a:srgbClr val="1C7DD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f66c795fa0d482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Conclusions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5C1B4A-E6DC-429E-8EC6-DA4D7E1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Next evaluation: fit preprocessing within training folds, remove features unavailable before launch, and use a later time period for testing.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41e377526be4df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BA58DA2A-B818-18A9-29C1-B697728D5BCE}" type="slidenum">
              <a:t>8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Introduction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80989-579B-42D4-A0E1-E9BB6A6ED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launch sites, payload, orbit and experience, then evaluate four classification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Scope: historical course snapshots. A successful mission and a successful first-stage outcome measure different events.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919b61dcf6b4d16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4488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13" y="2812774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a9a6816c7d4452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13" name="Title 1">
            <a:extLst xmlns:a="http://schemas.openxmlformats.org/drawingml/2006/main"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Methodology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A38AE-EA13-4AC8-91A3-B46069E4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Collect historical launch records from a SpaceX API snapshot and a Wikipedia launch-table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Clean outcomes and missing payloads. Use 90 launch records and 83 encoded features for classification.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Explore relationships with charts and SQLite queries. Add Folium maps and a Dash dashboard.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tuned classifiers using 10-fold cross-validation and the saved 18-launch test split.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ed6e1a553ef45a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8CF81-D71B-4492-B9A0-238F0717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API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EFEF7-D164-4F27-AC27-954DC987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296578-9B96-4ED4-B2C9-1A913368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Enriched course CSV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Falcon 9 launches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EF13F-369B-4C86-964A-187BC7E1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5EFD43-CABA-4EA1-AB0A-27DEE6D3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Analysis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EDA and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BA3948-4C69-4A4D-A5D8-AB37A122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separate Wikipedia scrape contains 121 launches. The SQL snapshot contains 101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These sources have different coverage and labels. Results retain their source-specific denominators.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9167f9f2f704e6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SpaceX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AF0C3-BA7C-4A0D-B9A0-C94F0463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GET launches/past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Archived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7ACFC-7E28-48CA-B05D-5FCA8F85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2667B-A163-4A6B-8549-EC85BA3A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Filter single core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and single payload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1BA73-F24E-446E-9FF0-C94E69BA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54219-B903-4C91-9E63-F900A103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Resolve IDs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Rocket, pad, 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DB8CD-3BAC-4E1F-BD9C-EF650002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471E8-9442-473D-9A65-6E23B783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Falcon 9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saved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78F0B-4F62-4D44-8BEE-B146D44B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104775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archived launch response supports reproducible inspection. The supplied course CSV contains the enriched rocket, launchpad, payload and core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companion notebook validates the snapshot and the 90-row feature table without claiming a fresh API extraction.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79EC83-32B3-44F0-8D04-E0A10FD15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notebooks/01-data-collection.ipynb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2f7502565144642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11" y="538650"/>
            <a:ext cx="10515600" cy="54904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2500" lnSpcReduction="2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endParaRPr>
              <a:solidFill>
                <a:srgbClr val="1C7DDB"/>
              </a:solidFill>
              <a:latin typeface="Abadi"/>
              <a:ea typeface="Abadi"/>
              <a:cs typeface="Abadi"/>
            </a:endParaRPr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Web Scraping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EC294-08AA-46EE-8876-9F1744A8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Wikipedia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Revision 1027686922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39AB43-8743-4BD3-987C-251F3069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1D9C8-17AC-4188-96DA-DD5112CB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BeautifulSoup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tables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A2786-120A-43E2-BDAD-0A152B32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5C3923-D3E6-4BE2-9A94-CCFF5E93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Parse cells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Dates, payload, orbit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2E063-00CD-4755-B830-8ED26A29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156DCB-5151-4BD2-B169-E6535DF6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and export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121 rows, 11 columns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D72126-1BBC-4D9E-93D6-63A1DB57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completed notebook extracts numbered launch rows and checks flight IDs, dates and times.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June 2021 page snapshot extends beyond the 90-row modeling sample. The scraped table remains a separate source.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BC300F-ECA5-450A-B9AF-5BD52115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notebooks/jupyter-labs-webscraping.ipynb</a:t>
            </a: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c8a25f0ad4d4b5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Wrangling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07FEF-12D2-4336-BB92-065B7D94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schema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 and flight 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5CE81F-1B1D-4131-94CF-394CA88F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D304A-DD09-427B-9FDF-846E69597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Payload mass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Mean-imputed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1EC2E6-6E84-43F4-B368-E1752804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3E85D-C34F-4984-9326-0EFC2721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Outcome label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60 class 1, 30 class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9E4413-6744-410D-A626-F686CE3D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88DBF-2DB2-49A3-91CD-8FA4B605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One-hot encoding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model features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B82650-55A8-4CD4-BF34-2270026E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includes True ASDS, True RTLS and True Ocean. Class 0 includes failed, missing and no-attempt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Controlled ocean outcomes do not establish booster recovery. Keep this distinction when interpreting “success.”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5739CD-F4D3-47D5-95BD-8503DBA8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notebooks/02-wrangling-eda.ipynb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76ed02a50044ff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Data Visualization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332DC-8DAC-463E-96D0-19900844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Orbit success bars show rates with launch counts so small groups remain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yearly line chart shows changes in outcome rate, with year-specific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Charts describe associations. Site, orbit, payload and technology changed together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0D7C0-F069-4274-B8EC-A8C242A1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notebooks/02-wrangling-eda.ipynb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d0f987f76bc4cc9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SQL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17FED-E943-4C1F-99E5-D09E8F86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DISTINCT and LIKE identify launch-site labels and the first five CCA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SUM, AVG and MAX summarize payload mass and the boosters carrying the maximum.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GROUP BY and COUNT summarize mission results and rank landing outcomes for the specified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0CE766-5527-462D-B34B-4E2F2412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notebooks/jupyter-labs-eda-sql-coursera_sqllite.ipynb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ac37974919345d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Interactive Map with Folium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EAF93-6D3A-4B35-A3EC-EF21337E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Site circles and labels locate the three modeled launch facilities on a continental map.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MarkerCluster groups overlapping launches. Green marks Class 1 and red marks Class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Lines connect CCAFS SLC 40 to selected road, rail and coastline points. Haversine distance gives approximate straight-line separation.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B53673-0033-4DD1-B38C-F4CCF10AC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notebooks/03-interactive-maps.ipynb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</p:sld>
</file>

<file path=ppt/slides/slide1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7f26b19ac9449b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 with Plotly Dash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0DD6A-ED66-4D87-856A-92F37FBA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site dropdown switches between all launches and a selected facility.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payload range slider filters the outcome scatter plot. Color identifies booster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Hover details reveal launch date, flight number and outcome. The dashboard uses the same 90-row sample as the EDA.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84A94-B6AE-4685-AF2C-C883CC4A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spacex_dashboard.py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</p:sld>
</file>

<file path=ppt/slides/slide1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8ee54f49b7046c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Predictive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492515-6DAA-47C8-A187-1B7E61C1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input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StandardScaler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9B5B6E-C815-43F7-ADC6-E5F30F87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4468A-217D-4DB9-986C-1644794F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80/20 split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72 train, 18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D5A7A9-F023-4882-A34B-08404679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44868-5F9A-4E39-BADD-31F3F461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GridSearchCV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10 folds,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A9BBE-881C-446E-823A-1D5DCC4B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58A33-8B81-42A1-9725-D388E031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Four classifiers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Score and compare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51A9E-72B2-4730-8552-041BF6CC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Logistic regression, SVM, decision tree and KNN use the saved lab configuration. random_state=2 fixes the train/test split.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lab scales all 90 rows before splitting. Future evaluation should fit preprocessing inside each training fold and use a chronological holdout.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5EE6B-9D3F-4C3D-B48E-36657507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notebooks/SpaceX-Machine-Learning-Prediction-Part-5-v1.ipynb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</p:sld>
</file>

<file path=ppt/slides/slide2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80679b6250c4eb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7" name="Title 1">
            <a:extLst xmlns:a="http://schemas.openxmlformats.org/drawingml/2006/main"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Results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16349A-4219-43CE-A1FF-E593A36A7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EDA: outcome rates differ across sites, orbit groups and launch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SQL: 101 missions include 100 mission successes and one failure. NASA (CRS) payload totals 45,596 kg.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Interactive views: coastal launch sites and payload filters help inspect individual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Prediction: each model correctly classifies 15 of 18 test launches. The test scores do not establish a unique winner.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</p:sld>
</file>

<file path=ppt/slides/slide2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a240765a8f54d7c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</p:sld>
</file>

<file path=ppt/slides/slide2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5986b1b083846e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Launch Site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0760554C-A69A-4C2C-8816-B82B7FAA954D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5b013a58c44d6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2661A-470C-4D34-B2A0-DC2333BB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CD444-D1C2-46D7-8A11-A17AA103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Later launches show more Class 1 outcomes. Site and flight sequence overlap, so the plot cannot isolate a site effect.</a:t>
            </a: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</p:sld>
</file>

<file path=ppt/slides/slide2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c6cb87fc9204e6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Launch Site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650970A-2B77-4AC5-9433-4A9FDDF6A4A1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d028833762440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A412F-EC04-4DAB-98B8-54326B8A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A2F52-F7E9-4281-B395-88D3C99C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CCAFS SLC 40 covers the broadest history. Both outcome classes occur across payload ranges, and some payload values are mean-imputed.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</p:sld>
</file>

<file path=ppt/slides/slide2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2ca99e479c74cc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Success Rate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6F906727-5045-44CB-99F1-EB81B4972AA9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33ff7a74774d2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2D7844-8258-487C-9F0D-C5636D8C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SSO records 5/5 successes. GEO, HEO and ES-L1 each have only one launch, so their 100% rates provide little evidence.</a:t>
            </a: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</p:sld>
</file>

<file path=ppt/slides/slide2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e3098f5bce34a5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F4322E01-9E90-4896-8F68-085C6182D915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083b81affc4d80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910011-BDAC-4495-8667-1227001D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3810B-E6B3-4CB7-86BF-C1AE9BA1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VLEO launches cluster late in the sample. Differences by orbit may partly reflect changes in booster technology and experience.</a:t>
            </a: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</p:sld>
</file>

<file path=ppt/slides/slide2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9c974ede0414dc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1093733-5122-4043-BEFA-014429D1DEEF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7868aa40d949c0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6D239-18B6-4E86-BF7D-1AEDE0F0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854C6-EA37-444B-B282-19B7345D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GTO has 14/27 Class 1 outcomes (51.9%). VLEO has 12/14 (85.7%). Payload alone does not explain the difference.</a:t>
            </a: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</p:sld>
</file>

<file path=ppt/slides/slide2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0a6b37a3f604189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Yearly Outcome Trend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54511FB-26F5-484D-BD6E-B9FD7426F349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c5b1b49f29481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1E578-ED1A-4756-9D23-36D58507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rate rises from 0% in early years to 84.2% in 2020, with a dip in 2018. The sample contains no 2011 launch.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</p:sld>
</file>

<file path=ppt/slides/slide2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71be8294de7418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All Launch Site Names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157E9-C531-4BFA-B2DD-9DF198626CD4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Launch 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SLC-40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KSC LC-39A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VAFB SLC-4E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8E5F9A-91EE-46D0-9AEC-0429DA48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SQL source contains four labels. CCAFS LC-40 and CCAFS SLC-40 appear separately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</p:sld>
</file>

<file path=ppt/slides/slide2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9f95282a78b4b8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Beginning with ‘CCA’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138EE-A21B-4BE0-974C-B93BCCC245DA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  <a:gridCol w="2619375"/>
                <a:gridCol w="2619375"/>
              </a:tblGrid>
              <a:tr h="508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2010-06-04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2010-12-08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2012-05-22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525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2012-10-08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2013-03-01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677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131EC6-4648-4D77-AFE6-73FA2109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earliest five CCA records span June 2010 to March 2013. The query orders by date and UTC time before LIMIT 5.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360ae8803f646d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Total NASA (CRS) Payload Mass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76EF16-D8EA-4810-883E-ADDEFB3F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45,596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65A1E-641D-4F8D-9E33-FAFD9417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SUM(PAYLOAD_MASS__KG_)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Customer = 'NASA (CRS)'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49E06-9A27-4995-920C-72842FE5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NASA Commercial Resupply Services subset. It does not include every customer label containing NASA.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</p:sld>
</file>

<file path=ppt/slides/slide3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bbafc1a3a6b494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72A7C5-A0CC-7B36-F236-345181E6AD72}" type="slidenum">
              <a:t>31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Average Payload Mass for F9 v1.1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55408-6790-4E96-9B04-35CCAC4E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2,928.4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50BD9-9FC6-4D67-AD35-AEA790D0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AVG(PAYLOAD_MASS__KG_)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Booster_Version = 'F9 v1.1'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2E091-64F4-4A01-B3F9-FCB25879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exact version label matches five rows. Including every label beginning with F9 v1.1 would answer a different query.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</p:sld>
</file>

<file path=ppt/slides/slide3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a29ee8ce6b847b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6C3428B-053E-6B4E-39FF-75B44F3F33F6}" type="slidenum">
              <a:t>32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First Successful Ground Landing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8B301-BA86-4C45-B4CC-F61A5D41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4875">
                <a:solidFill>
                  <a:srgbClr val="0B49CB"/>
                </a:solidFill>
              </a:defRPr>
            </a:pPr>
            <a:r>
              <a:rPr sz="4875">
                <a:solidFill>
                  <a:srgbClr val="0B49CB"/>
                </a:solidFill>
              </a:rPr>
              <a:t>22 December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25D07-4011-429A-A752-D0956630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MIN(Date)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WHERE TRIM(Landing_Outcome) = 'Success (ground pad)'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2971CE-7521-4D8D-AE0D-C1F8C174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earliest successful ground-pad landing recorded in the SQL snapshot.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</p:sld>
</file>

<file path=ppt/slides/slide3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2aa6e493d994d7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9F9B2FD-F323-2D0A-D581-D6E61055F9A8}" type="slidenum">
              <a:t>33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Landings at 4,000–6,000 kg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53603-FBD2-4114-B0A4-6613E97BF8A3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B1021.2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B1031.2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F5D44-AEC7-42FC-AB39-38B21E78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Four boosters meet both conditions: successful drone ship landing and payload strictly above 4,000 kg and below 6,000 kg.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</p:sld>
</file>

<file path=ppt/slides/slide3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43f9b2918da40d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6C2EC43-E3B9-C9B0-67FF-5447EB7F3925}" type="slidenum">
              <a:t>34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Mission Outcomes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155C1-919A-4E92-B258-BD5AAC95A84F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0"/>
                <a:gridCol w="2857500"/>
              </a:tblGrid>
              <a:tr h="603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 result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Missions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4B989F-CB88-48D0-B55B-DCD0F7CA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100/101 missions count as successful. “Success (payload status unclear)” is included. Mission results differ from landing outcomes.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</p:sld>
</file>

<file path=ppt/slides/slide3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0dcc0c28bd94629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4FA566-8B12-6DD2-DDB5-FA6393938FB6}" type="slidenum">
              <a:t>35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Boosters Carrying the Maximum Payload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404014-2952-486D-8D54-7ED9822D1DA7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905000"/>
                <a:gridCol w="3333750"/>
                <a:gridCol w="19050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B1056.4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B1058.3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9D201-C13E-4B7C-9BFB-DBC4FD9E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Twelve booster-flight labels share the maximum payload of 15,600 kg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</p:sld>
</file>

<file path=ppt/slides/slide3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b3fe7ed9446405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39A338D-B192-3127-EB9A-53A2665A0BB7}" type="slidenum">
              <a:t>36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 Failures in 2015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DDE8E-1777-43F7-82A9-E50952853CB8}"/>
              </a:ext>
            </a:extLst>
          </p:cNvPr>
          <p:cNvGraphicFramePr/>
          <p:nvPr/>
        </p:nvGraphicFramePr>
        <p:xfrm>
          <a:off xmlns:a="http://schemas.openxmlformats.org/drawingml/2006/main" x="857250" y="1952625"/>
          <a:ext xmlns:a="http://schemas.openxmlformats.org/drawingml/2006/main" cx="104775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143250"/>
                <a:gridCol w="2857500"/>
                <a:gridCol w="295275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Month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January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April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A8B20-8490-4E88-9EDB-858DDA70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2015 records show failed drone ship landings: January (B1012) and April (B1015), both at CCAFS LC-40.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</p:sld>
</file>

<file path=ppt/slides/slide3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457896fc1ba400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D334276-4C85-190E-BA41-5CA1CBB04E4E}" type="slidenum">
              <a:t>37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Landing Outcome Ranking, 2010–2017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A8779-88D0-4148-8987-4A447FAA800D}"/>
              </a:ext>
            </a:extLst>
          </p:cNvPr>
          <p:cNvGraphicFramePr/>
          <p:nvPr/>
        </p:nvGraphicFramePr>
        <p:xfrm>
          <a:off xmlns:a="http://schemas.openxmlformats.org/drawingml/2006/main" x="857250" y="1666875"/>
          <a:ext xmlns:a="http://schemas.openxmlformats.org/drawingml/2006/main" cx="1047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0"/>
                <a:gridCol w="2381250"/>
              </a:tblGrid>
              <a:tr h="38629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No attempt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Controlled (ocean)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(ground pad)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(parachute)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Uncontrolled (ocean)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Precluded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4ECBE-664C-405D-9F5D-E187B495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Inclusive period: 4 June 2010 to 20 March 2017. No attempt is most frequent (10). Drone ship successes and failures tie at five.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</p:sld>
</file>

<file path=ppt/slides/slide3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d83b2c8b7fb40d4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</p:sld>
</file>

<file path=ppt/slides/slide3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f5e5d06cb574f14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66C477-A387-35CF-F492-F54B4FA4FEC9}" type="slidenum">
              <a:t>39</a:t>
            </a:fld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on the US Coasts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7CD5D-CB20-4DB2-83C4-20901482E7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057b4c2c84bbf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30674D-0463-4F1B-97AD-531EC3D6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52625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Florida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CCAFS SLC 40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California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VAFB SLC 4E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2B075E-85A5-4253-8BCE-7DB43604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three facilities are coastal. The two Florida pads lie close together. Location alone does not explain landing performance.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</p:sld>
</file>

<file path=ppt/slides/slide4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f559e9e1026469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0C89EF0-BE71-8D92-BDDF-FF7D05F0AC04}" type="slidenum">
              <a:t>40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Outcomes at CCAFS SLC 40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19269-0F76-4171-8F2C-B3E919C67C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6f0e9ad654bdd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59B08-FEA6-4F49-8719-20118D65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55 launches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33 Class 1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60.0%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93E3B6-A421-4B79-B270-8B29E10D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Expanded markers separate overlapping records around the same launch site. Their displayed offsets are not actual launch locations.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</p:sld>
</file>

<file path=ppt/slides/slide4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3f4d28f39284df1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CAEC632-A9E6-82AB-6034-3014BC3905A0}" type="slidenum">
              <a:t>41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CCAFS SLC 40 and Nearby Features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058E81-36E7-4D35-85CA-047D21BC02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921428eede459b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9D51FC-F375-49ED-9744-2CE7C231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Selected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Coast: 0.97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Road: 0.56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Rail: 1.38 km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9AA2D-C1B4-43E1-9F5D-0D12D773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Approximate straight-line distances to selected map points. These are not surveyed minimum distances or safety clearances.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</p:sld>
</file>

<file path=ppt/slides/slide4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cd42d5d473f411b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</p:sld>
</file>

<file path=ppt/slides/slide4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c7309a62e2c4bd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70EE3B2-1325-F8E9-D276-8EA80C32ED19}" type="slidenum">
              <a:t>43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Successful Outcomes by Site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F5026-2711-4AAD-BE9C-4E7C4C0D02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04669b34b42ab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FFE7D-1F24-408E-87BB-AFD18BFB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60 successes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CCAFS: 33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KSC: 17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VAFB: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 contributes 55% of successes.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19836-6F91-4621-BD91-EE770949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pie compares successful-outcome counts. A larger slice does not imply a higher success rate.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</p:sld>
</file>

<file path=ppt/slides/slide4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410a133390c41d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110800D-D5E6-B48B-B335-F070B0EAA3B9}" type="slidenum">
              <a:t>44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Highest Observed Site Rate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EBDFD-455E-4957-B34B-084648FFBC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6757ed1a264b3b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B37F4-3FC6-42F6-A0B0-969B76EF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17 successes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77.3% success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launches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92CB5-E8D6-43B2-911A-9E114F59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KSC narrowly exceeds VAFB’s 76.9% (10/13). These small samples do not establish a reliable ranking of site quality.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</p:sld>
</file>

<file path=ppt/slides/slide4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83b273a7c964858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E060EEA-E29B-CF3D-E7B7-BE01DFE3A2D2}" type="slidenum">
              <a:t>45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Payload Range Filters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0C1B8-9D1C-4B44-97F8-9F31CD59C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bfe29827514188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809625" y="1571625"/>
            <a:ext cx="5238750" cy="3476625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500D2-772D-4801-AF01-216A12C8FA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91e9b6cd04820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6191250" y="1571625"/>
            <a:ext cx="5238750" cy="3476625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9440BC-B0DA-4E32-A908-2A80D0DB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slider selections isolate different payload bands. Booster block and flight date also vary, so a payload association is not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</p:sld>
</file>

<file path=ppt/slides/slide4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9469c611b1e4f8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72DB7CE-501A-BBF4-0CAD-B084CE0A592C}" type="slidenum">
              <a:t>46</a:t>
            </a:fld>
            <a:endParaRPr/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Appendix and Reproducible Sources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86AD2E-6254-44B0-B25D-21CE4E17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2400">
                <a:solidFill>
                  <a:srgbClr val="0B49CB"/>
                </a:solidFill>
              </a:defRPr>
            </a:pPr>
            <a:r>
              <a:rPr sz="2400">
                <a:solidFill>
                  <a:srgbClr val="0B49CB"/>
                </a:solidFill>
              </a:rPr>
              <a:t>Public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BEF86-4886-408B-8FF0-2B780995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0B49CB"/>
                </a:solidFill>
              </a:defRPr>
            </a:pPr>
            <a:r>
              <a:rPr sz="1875">
                <a:solidFill>
                  <a:srgbClr val="0B49CB"/>
                </a:solidFill>
              </a:rPr>
              <a:t>https://github.com/nicholas-yap/spacex-data-science-capstone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2670A-8D17-45C7-9212-9D3F183D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notebooks/    Collection, scraping, wrangling, EDA, SQL, maps and classification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data/             Historical course snapshots and scraped records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maps/           Interactive HTML maps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spacex_dashboard.py    Runnable dashboard on port 8051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</p:sld>
</file>

<file path=ppt/slides/slide4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db58d01cf274673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A9827-F223-4004-8359-7FB34C6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67375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FFFFFF"/>
                </a:solidFill>
              </a:defRPr>
            </a:pPr>
            <a:r>
              <a:rPr sz="2200">
                <a:solidFill>
                  <a:srgbClr val="FFFFFF"/>
                </a:solidFill>
              </a:rPr>
              <a:t>Nicholas Yap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2026-10-13T07:54:33.5890000Z</dcterms:created>
  <dcterms:modified xsi:type="dcterms:W3CDTF">2026-10-13T07:54:33.5890000Z</dcterms:modified>
</coreProperties>
</file>