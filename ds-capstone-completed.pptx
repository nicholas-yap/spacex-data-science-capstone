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slides/charts/chart1.xml" ContentType="application/vnd.openxmlformats-officedocument.drawingml.chart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slides/charts/chart2.xml" ContentType="application/vnd.openxmlformats-officedocument.drawingml.chart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slides/charts/chart3.xml" ContentType="application/vnd.openxmlformats-officedocument.drawingml.chart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slides/charts/chart4.xml" ContentType="application/vnd.openxmlformats-officedocument.drawingml.chart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slides/charts/chart5.xml" ContentType="application/vnd.openxmlformats-officedocument.drawingml.chart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slides/charts/chart6.xml" ContentType="application/vnd.openxmlformats-officedocument.drawingml.chart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  <Override PartName="/ppt/slides/slide41.xml" ContentType="application/vnd.openxmlformats-officedocument.presentationml.slide+xml"/>
  <Override PartName="/ppt/notesSlides/notesSlide41.xml" ContentType="application/vnd.openxmlformats-officedocument.presentationml.notesSlide+xml"/>
  <Override PartName="/ppt/slides/slide42.xml" ContentType="application/vnd.openxmlformats-officedocument.presentationml.slide+xml"/>
  <Override PartName="/ppt/notesSlides/notesSlide42.xml" ContentType="application/vnd.openxmlformats-officedocument.presentationml.notesSlide+xml"/>
  <Override PartName="/ppt/slides/slide43.xml" ContentType="application/vnd.openxmlformats-officedocument.presentationml.slide+xml"/>
  <Override PartName="/ppt/slides/charts/chart7.xml" ContentType="application/vnd.openxmlformats-officedocument.drawingml.chart+xml"/>
  <Override PartName="/ppt/notesSlides/notesSlide43.xml" ContentType="application/vnd.openxmlformats-officedocument.presentationml.notesSlide+xml"/>
  <Override PartName="/ppt/slides/slide44.xml" ContentType="application/vnd.openxmlformats-officedocument.presentationml.slide+xml"/>
  <Override PartName="/ppt/notesSlides/notesSlide44.xml" ContentType="application/vnd.openxmlformats-officedocument.presentationml.notesSlide+xml"/>
  <Override PartName="/ppt/slides/slide45.xml" ContentType="application/vnd.openxmlformats-officedocument.presentationml.slide+xml"/>
  <Override PartName="/ppt/notesSlides/notesSlide45.xml" ContentType="application/vnd.openxmlformats-officedocument.presentationml.notesSlide+xml"/>
  <Override PartName="/ppt/slides/slide46.xml" ContentType="application/vnd.openxmlformats-officedocument.presentationml.slide+xml"/>
  <Override PartName="/ppt/notesSlides/notesSlide46.xml" ContentType="application/vnd.openxmlformats-officedocument.presentationml.notesSlide+xml"/>
  <Override PartName="/ppt/slides/slide47.xml" ContentType="application/vnd.openxmlformats-officedocument.presentationml.slide+xml"/>
  <Override PartName="/ppt/notesSlides/notesSlide47.xml" ContentType="application/vnd.openxmlformats-officedocument.presentationml.notesSlide+xml"/>
  <Default Extension="xlsx" ContentType="application/vnd.openxmlformats-officedocument.spreadsheetml.sheet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9b42518d3f74447e" /><Relationship Type="http://schemas.openxmlformats.org/officeDocument/2006/relationships/extended-properties" Target="/docProps/app.xml" Id="Rd5c03cfee1734bb0" /><Relationship Type="http://schemas.openxmlformats.org/officeDocument/2006/relationships/officeDocument" Target="/ppt/presentation.xml" Id="R19416d33c144448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e19fa99189f3446b"/>
  </p:sldMasterIdLst>
  <p:notesMasterIdLst>
    <p:notesMasterId xmlns:r="http://schemas.openxmlformats.org/officeDocument/2006/relationships" r:id="R22f6d993169345eb"/>
  </p:notesMasterIdLst>
  <p:sldIdLst>
    <p:sldId xmlns:r="http://schemas.openxmlformats.org/officeDocument/2006/relationships" id="256" r:id="Rb7129995d8bd4bd7"/>
    <p:sldId xmlns:r="http://schemas.openxmlformats.org/officeDocument/2006/relationships" id="257" r:id="R0286eed3875345e7"/>
    <p:sldId xmlns:r="http://schemas.openxmlformats.org/officeDocument/2006/relationships" id="258" r:id="Ra58e62f1d3614f70"/>
    <p:sldId xmlns:r="http://schemas.openxmlformats.org/officeDocument/2006/relationships" id="259" r:id="Re05dde5d2ec14c54"/>
    <p:sldId xmlns:r="http://schemas.openxmlformats.org/officeDocument/2006/relationships" id="260" r:id="Rb045369c28234e26"/>
    <p:sldId xmlns:r="http://schemas.openxmlformats.org/officeDocument/2006/relationships" id="261" r:id="R63e1f2c52ab74f0f"/>
    <p:sldId xmlns:r="http://schemas.openxmlformats.org/officeDocument/2006/relationships" id="262" r:id="R4071cfe3396c4278"/>
    <p:sldId xmlns:r="http://schemas.openxmlformats.org/officeDocument/2006/relationships" id="263" r:id="R3dfe6b709fbc4ff4"/>
    <p:sldId xmlns:r="http://schemas.openxmlformats.org/officeDocument/2006/relationships" id="264" r:id="R38b5d96d3ac84640"/>
    <p:sldId xmlns:r="http://schemas.openxmlformats.org/officeDocument/2006/relationships" id="265" r:id="Rd9f789d9cb584774"/>
    <p:sldId xmlns:r="http://schemas.openxmlformats.org/officeDocument/2006/relationships" id="266" r:id="R701ba977c52e4fcd"/>
    <p:sldId xmlns:r="http://schemas.openxmlformats.org/officeDocument/2006/relationships" id="267" r:id="R44328b44fb67415e"/>
    <p:sldId xmlns:r="http://schemas.openxmlformats.org/officeDocument/2006/relationships" id="268" r:id="Rd48f361d68ed450d"/>
    <p:sldId xmlns:r="http://schemas.openxmlformats.org/officeDocument/2006/relationships" id="269" r:id="Rcb4496d3affd47a7"/>
    <p:sldId xmlns:r="http://schemas.openxmlformats.org/officeDocument/2006/relationships" id="270" r:id="R95cd91175c98412e"/>
    <p:sldId xmlns:r="http://schemas.openxmlformats.org/officeDocument/2006/relationships" id="271" r:id="R334f8e0678854582"/>
    <p:sldId xmlns:r="http://schemas.openxmlformats.org/officeDocument/2006/relationships" id="272" r:id="Rd70aeff4d39c47eb"/>
    <p:sldId xmlns:r="http://schemas.openxmlformats.org/officeDocument/2006/relationships" id="273" r:id="R4b98cb2f1cb8422a"/>
    <p:sldId xmlns:r="http://schemas.openxmlformats.org/officeDocument/2006/relationships" id="274" r:id="Rd3da9ee452b84248"/>
    <p:sldId xmlns:r="http://schemas.openxmlformats.org/officeDocument/2006/relationships" id="275" r:id="Ra81cf6a4eed84b09"/>
    <p:sldId xmlns:r="http://schemas.openxmlformats.org/officeDocument/2006/relationships" id="276" r:id="R762ca38ea27e405b"/>
    <p:sldId xmlns:r="http://schemas.openxmlformats.org/officeDocument/2006/relationships" id="277" r:id="R6bfa003d211948e0"/>
    <p:sldId xmlns:r="http://schemas.openxmlformats.org/officeDocument/2006/relationships" id="278" r:id="R96d02706cc9b4c07"/>
    <p:sldId xmlns:r="http://schemas.openxmlformats.org/officeDocument/2006/relationships" id="279" r:id="R0dcf537d636a4f92"/>
    <p:sldId xmlns:r="http://schemas.openxmlformats.org/officeDocument/2006/relationships" id="280" r:id="Rdd06c25c36134a0e"/>
    <p:sldId xmlns:r="http://schemas.openxmlformats.org/officeDocument/2006/relationships" id="281" r:id="R85544e40c05e401d"/>
    <p:sldId xmlns:r="http://schemas.openxmlformats.org/officeDocument/2006/relationships" id="282" r:id="R2a12763bbfe74b56"/>
    <p:sldId xmlns:r="http://schemas.openxmlformats.org/officeDocument/2006/relationships" id="283" r:id="Rf347e7419eb54f6b"/>
    <p:sldId xmlns:r="http://schemas.openxmlformats.org/officeDocument/2006/relationships" id="284" r:id="R4eb756fc42d348e1"/>
    <p:sldId xmlns:r="http://schemas.openxmlformats.org/officeDocument/2006/relationships" id="285" r:id="Re832b0411c204b6f"/>
    <p:sldId xmlns:r="http://schemas.openxmlformats.org/officeDocument/2006/relationships" id="286" r:id="R0056c054acd34e9c"/>
    <p:sldId xmlns:r="http://schemas.openxmlformats.org/officeDocument/2006/relationships" id="287" r:id="R67ff1e7e8f664958"/>
    <p:sldId xmlns:r="http://schemas.openxmlformats.org/officeDocument/2006/relationships" id="288" r:id="R1a078c9be94d45c5"/>
    <p:sldId xmlns:r="http://schemas.openxmlformats.org/officeDocument/2006/relationships" id="289" r:id="R87997cccae034ef4"/>
    <p:sldId xmlns:r="http://schemas.openxmlformats.org/officeDocument/2006/relationships" id="290" r:id="Rd3b2066c3b0746d7"/>
    <p:sldId xmlns:r="http://schemas.openxmlformats.org/officeDocument/2006/relationships" id="291" r:id="Rd47aae8cdb4042a8"/>
    <p:sldId xmlns:r="http://schemas.openxmlformats.org/officeDocument/2006/relationships" id="292" r:id="R47df4002d50a4c90"/>
    <p:sldId xmlns:r="http://schemas.openxmlformats.org/officeDocument/2006/relationships" id="293" r:id="Rf50a58594d054f3b"/>
    <p:sldId xmlns:r="http://schemas.openxmlformats.org/officeDocument/2006/relationships" id="294" r:id="Rc753a1727eec4eac"/>
    <p:sldId xmlns:r="http://schemas.openxmlformats.org/officeDocument/2006/relationships" id="295" r:id="Rc181e1ef6e3f4255"/>
    <p:sldId xmlns:r="http://schemas.openxmlformats.org/officeDocument/2006/relationships" id="296" r:id="R640172e7acc74f04"/>
    <p:sldId xmlns:r="http://schemas.openxmlformats.org/officeDocument/2006/relationships" id="297" r:id="R495522ddefa549d4"/>
    <p:sldId xmlns:r="http://schemas.openxmlformats.org/officeDocument/2006/relationships" id="298" r:id="Ra922b80f6ba642f9"/>
    <p:sldId xmlns:r="http://schemas.openxmlformats.org/officeDocument/2006/relationships" id="299" r:id="Rf032406d95194ace"/>
    <p:sldId xmlns:r="http://schemas.openxmlformats.org/officeDocument/2006/relationships" id="300" r:id="R41caa99107df4072"/>
    <p:sldId xmlns:r="http://schemas.openxmlformats.org/officeDocument/2006/relationships" id="301" r:id="Rd890c3ee8b6c4774"/>
    <p:sldId xmlns:r="http://schemas.openxmlformats.org/officeDocument/2006/relationships" id="302" r:id="Ree10f50d5fad4f1b"/>
  </p:sldIdLst>
  <p:sldSz cx="12192000" cy="6858000"/>
  <p:notesSz cx="6858000" cy="9144000"/>
  <p:defaultTextStyle>
    <a:defPPr xmlns:a="http://schemas.openxmlformats.org/drawingml/2006/main">
      <a:buNone/>
    </a:defPPr>
    <a:lvl1pPr xmlns:a="http://schemas.openxmlformats.org/drawingml/2006/main" marL="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1pPr>
    <a:lvl2pPr xmlns:a="http://schemas.openxmlformats.org/drawingml/2006/main" marL="457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2pPr>
    <a:lvl3pPr xmlns:a="http://schemas.openxmlformats.org/drawingml/2006/main" marL="914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3pPr>
    <a:lvl4pPr xmlns:a="http://schemas.openxmlformats.org/drawingml/2006/main" marL="1371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4pPr>
    <a:lvl5pPr xmlns:a="http://schemas.openxmlformats.org/drawingml/2006/main" marL="18288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5pPr>
    <a:lvl6pPr xmlns:a="http://schemas.openxmlformats.org/drawingml/2006/main" marL="22860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6pPr>
    <a:lvl7pPr xmlns:a="http://schemas.openxmlformats.org/drawingml/2006/main" marL="27432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7pPr>
    <a:lvl8pPr xmlns:a="http://schemas.openxmlformats.org/drawingml/2006/main" marL="32004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8pPr>
    <a:lvl9pPr xmlns:a="http://schemas.openxmlformats.org/drawingml/2006/main" marL="3657600" algn="l" defTabSz="914400">
      <a:buNone/>
      <a:defRPr sz="1800" kern="1200">
        <a:solidFill>
          <a:schemeClr val="tx1"/>
        </a:solidFill>
        <a:latin typeface="+mn-lt"/>
        <a:ea typeface="+mn-lt"/>
        <a:cs typeface="+mn-lt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793D81CF-94F2-401A-BA57-92F5A7B2D0C5}" styleName="Medium Styl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dk1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bc08ade93464036" /><Relationship Type="http://schemas.openxmlformats.org/officeDocument/2006/relationships/slideMaster" Target="/ppt/slideMasters/slideMaster1.xml" Id="Re19fa99189f3446b" /><Relationship Type="http://schemas.openxmlformats.org/officeDocument/2006/relationships/notesMaster" Target="/ppt/notesMasters/notesMaster1.xml" Id="R22f6d993169345eb" /><Relationship Type="http://schemas.openxmlformats.org/officeDocument/2006/relationships/presProps" Target="/ppt/presProps.xml" Id="Rbed5ed02c3804f60" /><Relationship Type="http://schemas.openxmlformats.org/officeDocument/2006/relationships/viewProps" Target="/ppt/viewProps.xml" Id="R9d815e34d08b4264" /><Relationship Type="http://schemas.openxmlformats.org/officeDocument/2006/relationships/tableStyles" Target="/ppt/tableStyles.xml" Id="Rb312b18f50604c8b" /><Relationship Type="http://schemas.openxmlformats.org/officeDocument/2006/relationships/slide" Target="/ppt/slides/slide1.xml" Id="Rb7129995d8bd4bd7" /><Relationship Type="http://schemas.openxmlformats.org/officeDocument/2006/relationships/slide" Target="/ppt/slides/slide2.xml" Id="R0286eed3875345e7" /><Relationship Type="http://schemas.openxmlformats.org/officeDocument/2006/relationships/slide" Target="/ppt/slides/slide3.xml" Id="Ra58e62f1d3614f70" /><Relationship Type="http://schemas.openxmlformats.org/officeDocument/2006/relationships/slide" Target="/ppt/slides/slide4.xml" Id="Re05dde5d2ec14c54" /><Relationship Type="http://schemas.openxmlformats.org/officeDocument/2006/relationships/slide" Target="/ppt/slides/slide5.xml" Id="Rb045369c28234e26" /><Relationship Type="http://schemas.openxmlformats.org/officeDocument/2006/relationships/slide" Target="/ppt/slides/slide6.xml" Id="R63e1f2c52ab74f0f" /><Relationship Type="http://schemas.openxmlformats.org/officeDocument/2006/relationships/slide" Target="/ppt/slides/slide7.xml" Id="R4071cfe3396c4278" /><Relationship Type="http://schemas.openxmlformats.org/officeDocument/2006/relationships/slide" Target="/ppt/slides/slide8.xml" Id="R3dfe6b709fbc4ff4" /><Relationship Type="http://schemas.openxmlformats.org/officeDocument/2006/relationships/slide" Target="/ppt/slides/slide9.xml" Id="R38b5d96d3ac84640" /><Relationship Type="http://schemas.openxmlformats.org/officeDocument/2006/relationships/slide" Target="/ppt/slides/slide10.xml" Id="Rd9f789d9cb584774" /><Relationship Type="http://schemas.openxmlformats.org/officeDocument/2006/relationships/slide" Target="/ppt/slides/slide11.xml" Id="R701ba977c52e4fcd" /><Relationship Type="http://schemas.openxmlformats.org/officeDocument/2006/relationships/slide" Target="/ppt/slides/slide12.xml" Id="R44328b44fb67415e" /><Relationship Type="http://schemas.openxmlformats.org/officeDocument/2006/relationships/slide" Target="/ppt/slides/slide13.xml" Id="Rd48f361d68ed450d" /><Relationship Type="http://schemas.openxmlformats.org/officeDocument/2006/relationships/slide" Target="/ppt/slides/slide14.xml" Id="Rcb4496d3affd47a7" /><Relationship Type="http://schemas.openxmlformats.org/officeDocument/2006/relationships/slide" Target="/ppt/slides/slide15.xml" Id="R95cd91175c98412e" /><Relationship Type="http://schemas.openxmlformats.org/officeDocument/2006/relationships/slide" Target="/ppt/slides/slide16.xml" Id="R334f8e0678854582" /><Relationship Type="http://schemas.openxmlformats.org/officeDocument/2006/relationships/slide" Target="/ppt/slides/slide17.xml" Id="Rd70aeff4d39c47eb" /><Relationship Type="http://schemas.openxmlformats.org/officeDocument/2006/relationships/slide" Target="/ppt/slides/slide18.xml" Id="R4b98cb2f1cb8422a" /><Relationship Type="http://schemas.openxmlformats.org/officeDocument/2006/relationships/slide" Target="/ppt/slides/slide19.xml" Id="Rd3da9ee452b84248" /><Relationship Type="http://schemas.openxmlformats.org/officeDocument/2006/relationships/slide" Target="/ppt/slides/slide20.xml" Id="Ra81cf6a4eed84b09" /><Relationship Type="http://schemas.openxmlformats.org/officeDocument/2006/relationships/slide" Target="/ppt/slides/slide21.xml" Id="R762ca38ea27e405b" /><Relationship Type="http://schemas.openxmlformats.org/officeDocument/2006/relationships/slide" Target="/ppt/slides/slide22.xml" Id="R6bfa003d211948e0" /><Relationship Type="http://schemas.openxmlformats.org/officeDocument/2006/relationships/slide" Target="/ppt/slides/slide23.xml" Id="R96d02706cc9b4c07" /><Relationship Type="http://schemas.openxmlformats.org/officeDocument/2006/relationships/slide" Target="/ppt/slides/slide24.xml" Id="R0dcf537d636a4f92" /><Relationship Type="http://schemas.openxmlformats.org/officeDocument/2006/relationships/slide" Target="/ppt/slides/slide25.xml" Id="Rdd06c25c36134a0e" /><Relationship Type="http://schemas.openxmlformats.org/officeDocument/2006/relationships/slide" Target="/ppt/slides/slide26.xml" Id="R85544e40c05e401d" /><Relationship Type="http://schemas.openxmlformats.org/officeDocument/2006/relationships/slide" Target="/ppt/slides/slide27.xml" Id="R2a12763bbfe74b56" /><Relationship Type="http://schemas.openxmlformats.org/officeDocument/2006/relationships/slide" Target="/ppt/slides/slide28.xml" Id="Rf347e7419eb54f6b" /><Relationship Type="http://schemas.openxmlformats.org/officeDocument/2006/relationships/slide" Target="/ppt/slides/slide29.xml" Id="R4eb756fc42d348e1" /><Relationship Type="http://schemas.openxmlformats.org/officeDocument/2006/relationships/slide" Target="/ppt/slides/slide30.xml" Id="Re832b0411c204b6f" /><Relationship Type="http://schemas.openxmlformats.org/officeDocument/2006/relationships/slide" Target="/ppt/slides/slide31.xml" Id="R0056c054acd34e9c" /><Relationship Type="http://schemas.openxmlformats.org/officeDocument/2006/relationships/slide" Target="/ppt/slides/slide32.xml" Id="R67ff1e7e8f664958" /><Relationship Type="http://schemas.openxmlformats.org/officeDocument/2006/relationships/slide" Target="/ppt/slides/slide33.xml" Id="R1a078c9be94d45c5" /><Relationship Type="http://schemas.openxmlformats.org/officeDocument/2006/relationships/slide" Target="/ppt/slides/slide34.xml" Id="R87997cccae034ef4" /><Relationship Type="http://schemas.openxmlformats.org/officeDocument/2006/relationships/slide" Target="/ppt/slides/slide35.xml" Id="Rd3b2066c3b0746d7" /><Relationship Type="http://schemas.openxmlformats.org/officeDocument/2006/relationships/slide" Target="/ppt/slides/slide36.xml" Id="Rd47aae8cdb4042a8" /><Relationship Type="http://schemas.openxmlformats.org/officeDocument/2006/relationships/slide" Target="/ppt/slides/slide37.xml" Id="R47df4002d50a4c90" /><Relationship Type="http://schemas.openxmlformats.org/officeDocument/2006/relationships/slide" Target="/ppt/slides/slide38.xml" Id="Rf50a58594d054f3b" /><Relationship Type="http://schemas.openxmlformats.org/officeDocument/2006/relationships/slide" Target="/ppt/slides/slide39.xml" Id="Rc753a1727eec4eac" /><Relationship Type="http://schemas.openxmlformats.org/officeDocument/2006/relationships/slide" Target="/ppt/slides/slide40.xml" Id="Rc181e1ef6e3f4255" /><Relationship Type="http://schemas.openxmlformats.org/officeDocument/2006/relationships/slide" Target="/ppt/slides/slide41.xml" Id="R640172e7acc74f04" /><Relationship Type="http://schemas.openxmlformats.org/officeDocument/2006/relationships/slide" Target="/ppt/slides/slide42.xml" Id="R495522ddefa549d4" /><Relationship Type="http://schemas.openxmlformats.org/officeDocument/2006/relationships/slide" Target="/ppt/slides/slide43.xml" Id="Ra922b80f6ba642f9" /><Relationship Type="http://schemas.openxmlformats.org/officeDocument/2006/relationships/slide" Target="/ppt/slides/slide44.xml" Id="Rf032406d95194ace" /><Relationship Type="http://schemas.openxmlformats.org/officeDocument/2006/relationships/slide" Target="/ppt/slides/slide45.xml" Id="R41caa99107df4072" /><Relationship Type="http://schemas.openxmlformats.org/officeDocument/2006/relationships/slide" Target="/ppt/slides/slide46.xml" Id="Rd890c3ee8b6c4774" /><Relationship Type="http://schemas.openxmlformats.org/officeDocument/2006/relationships/slide" Target="/ppt/slides/slide47.xml" Id="Ree10f50d5fad4f1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d8fa7e35d06949f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96a51062efc465a" /><Relationship Type="http://schemas.openxmlformats.org/officeDocument/2006/relationships/notesMaster" Target="/ppt/notesMasters/notesMaster1.xml" Id="R748caa9efce3494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37f6e346eb0483b" /><Relationship Type="http://schemas.openxmlformats.org/officeDocument/2006/relationships/notesMaster" Target="/ppt/notesMasters/notesMaster1.xml" Id="R7c8c557decf14eb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e76ccd99449d4f1f" /><Relationship Type="http://schemas.openxmlformats.org/officeDocument/2006/relationships/notesMaster" Target="/ppt/notesMasters/notesMaster1.xml" Id="Rb741690277e24604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7da22766fc524281" /><Relationship Type="http://schemas.openxmlformats.org/officeDocument/2006/relationships/notesMaster" Target="/ppt/notesMasters/notesMaster1.xml" Id="R73e8a17b937d4cf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d7506046574a20" /><Relationship Type="http://schemas.openxmlformats.org/officeDocument/2006/relationships/notesMaster" Target="/ppt/notesMasters/notesMaster1.xml" Id="R56832f8b1a344fb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450bf8ed3d14e7b" /><Relationship Type="http://schemas.openxmlformats.org/officeDocument/2006/relationships/notesMaster" Target="/ppt/notesMasters/notesMaster1.xml" Id="R4026d5153084489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e6a3786b3114cf1" /><Relationship Type="http://schemas.openxmlformats.org/officeDocument/2006/relationships/notesMaster" Target="/ppt/notesMasters/notesMaster1.xml" Id="R557bf84d83404d5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493c02333954ac7" /><Relationship Type="http://schemas.openxmlformats.org/officeDocument/2006/relationships/notesMaster" Target="/ppt/notesMasters/notesMaster1.xml" Id="R8e06de8082f94ec0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02e228b60e648c6" /><Relationship Type="http://schemas.openxmlformats.org/officeDocument/2006/relationships/notesMaster" Target="/ppt/notesMasters/notesMaster1.xml" Id="R2a000af8695d4144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16ee431fefa64791" /><Relationship Type="http://schemas.openxmlformats.org/officeDocument/2006/relationships/notesMaster" Target="/ppt/notesMasters/notesMaster1.xml" Id="R5d0a886e614a48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c3ee41f961c748c4" /><Relationship Type="http://schemas.openxmlformats.org/officeDocument/2006/relationships/notesMaster" Target="/ppt/notesMasters/notesMaster1.xml" Id="R47b5c5a150b34a92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1b2eb405f46c4c0f" /><Relationship Type="http://schemas.openxmlformats.org/officeDocument/2006/relationships/notesMaster" Target="/ppt/notesMasters/notesMaster1.xml" Id="Rc8a4fc9efdbd4dc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19536477adb470a" /><Relationship Type="http://schemas.openxmlformats.org/officeDocument/2006/relationships/notesMaster" Target="/ppt/notesMasters/notesMaster1.xml" Id="R192f02fd478c44c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b35f921338554689" /><Relationship Type="http://schemas.openxmlformats.org/officeDocument/2006/relationships/notesMaster" Target="/ppt/notesMasters/notesMaster1.xml" Id="R29fb699910c54d57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dcc47f1d1485470a" /><Relationship Type="http://schemas.openxmlformats.org/officeDocument/2006/relationships/notesMaster" Target="/ppt/notesMasters/notesMaster1.xml" Id="R21f51c3060944b5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72472c1bfe44ea1" /><Relationship Type="http://schemas.openxmlformats.org/officeDocument/2006/relationships/notesMaster" Target="/ppt/notesMasters/notesMaster1.xml" Id="R2a5651a3a0954aa9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b09b0ec3d194883" /><Relationship Type="http://schemas.openxmlformats.org/officeDocument/2006/relationships/notesMaster" Target="/ppt/notesMasters/notesMaster1.xml" Id="R7c8d782f99d744b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214bd71720e94261" /><Relationship Type="http://schemas.openxmlformats.org/officeDocument/2006/relationships/notesMaster" Target="/ppt/notesMasters/notesMaster1.xml" Id="Rfd12e1481f564599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ae6f22d8440241b4" /><Relationship Type="http://schemas.openxmlformats.org/officeDocument/2006/relationships/notesMaster" Target="/ppt/notesMasters/notesMaster1.xml" Id="Rc4392f152f9a4959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90886f2cc73f4f96" /><Relationship Type="http://schemas.openxmlformats.org/officeDocument/2006/relationships/notesMaster" Target="/ppt/notesMasters/notesMaster1.xml" Id="Rd571f17d143c450a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23f2901a71e4dbd" /><Relationship Type="http://schemas.openxmlformats.org/officeDocument/2006/relationships/notesMaster" Target="/ppt/notesMasters/notesMaster1.xml" Id="R5fcb08d4c7084c1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735f1b527fc540c1" /><Relationship Type="http://schemas.openxmlformats.org/officeDocument/2006/relationships/notesMaster" Target="/ppt/notesMasters/notesMaster1.xml" Id="Rb6da063abfba43a4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b88390aac9784e36" /><Relationship Type="http://schemas.openxmlformats.org/officeDocument/2006/relationships/notesMaster" Target="/ppt/notesMasters/notesMaster1.xml" Id="R8d44cbd436e64331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9e5d26314d4b474b" /><Relationship Type="http://schemas.openxmlformats.org/officeDocument/2006/relationships/notesMaster" Target="/ppt/notesMasters/notesMaster1.xml" Id="R9838a4fb97804a2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1d36b78132494121" /><Relationship Type="http://schemas.openxmlformats.org/officeDocument/2006/relationships/notesMaster" Target="/ppt/notesMasters/notesMaster1.xml" Id="Re08208ce4a58495c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cf740b41a39546d6" /><Relationship Type="http://schemas.openxmlformats.org/officeDocument/2006/relationships/notesMaster" Target="/ppt/notesMasters/notesMaster1.xml" Id="Rbc012cd3b6ac4db1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70eea8afac2c4edf" /><Relationship Type="http://schemas.openxmlformats.org/officeDocument/2006/relationships/notesMaster" Target="/ppt/notesMasters/notesMaster1.xml" Id="R29bbd427b4824d58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770e5cf6ac464f6a" /><Relationship Type="http://schemas.openxmlformats.org/officeDocument/2006/relationships/notesMaster" Target="/ppt/notesMasters/notesMaster1.xml" Id="Rabc2a9f70a834eb3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6312940a9fb04dda" /><Relationship Type="http://schemas.openxmlformats.org/officeDocument/2006/relationships/notesMaster" Target="/ppt/notesMasters/notesMaster1.xml" Id="Rb5f30a4e7ed0488f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6cfbca8baf374879" /><Relationship Type="http://schemas.openxmlformats.org/officeDocument/2006/relationships/notesMaster" Target="/ppt/notesMasters/notesMaster1.xml" Id="R82d7a355c4ee4f44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dbdefd7e32b74e3f" /><Relationship Type="http://schemas.openxmlformats.org/officeDocument/2006/relationships/notesMaster" Target="/ppt/notesMasters/notesMaster1.xml" Id="R4385de3601584430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c050d3fd98f14efc" /><Relationship Type="http://schemas.openxmlformats.org/officeDocument/2006/relationships/notesMaster" Target="/ppt/notesMasters/notesMaster1.xml" Id="R387b4c0493984981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b63bd5b9bf3f4894" /><Relationship Type="http://schemas.openxmlformats.org/officeDocument/2006/relationships/notesMaster" Target="/ppt/notesMasters/notesMaster1.xml" Id="Rc487a283e81b4898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00415a0220fc43d9" /><Relationship Type="http://schemas.openxmlformats.org/officeDocument/2006/relationships/notesMaster" Target="/ppt/notesMasters/notesMaster1.xml" Id="Re5ab8c88efce4027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04db6c3418b44828" /><Relationship Type="http://schemas.openxmlformats.org/officeDocument/2006/relationships/notesMaster" Target="/ppt/notesMasters/notesMaster1.xml" Id="R20a9300c34e446d8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f0bb41b3d2244a4a" /><Relationship Type="http://schemas.openxmlformats.org/officeDocument/2006/relationships/notesMaster" Target="/ppt/notesMasters/notesMaster1.xml" Id="R43cb529f86574071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271db01071854549" /><Relationship Type="http://schemas.openxmlformats.org/officeDocument/2006/relationships/notesMaster" Target="/ppt/notesMasters/notesMaster1.xml" Id="R11b5eabdfbf54860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b72d3b4676f742d5" /><Relationship Type="http://schemas.openxmlformats.org/officeDocument/2006/relationships/notesMaster" Target="/ppt/notesMasters/notesMaster1.xml" Id="Rf62f98fa08194bd7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744b35890e704018" /><Relationship Type="http://schemas.openxmlformats.org/officeDocument/2006/relationships/notesMaster" Target="/ppt/notesMasters/notesMaster1.xml" Id="R40ba7b7ee17d4a0c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3a04418bf2844a01" /><Relationship Type="http://schemas.openxmlformats.org/officeDocument/2006/relationships/notesMaster" Target="/ppt/notesMasters/notesMaster1.xml" Id="R394d3a0448a94a3c" /></Relationships>
</file>

<file path=ppt/notesSlides/_rels/notesSlide41.xml.rels>&#65279;<?xml version="1.0" encoding="utf-8"?><Relationships xmlns="http://schemas.openxmlformats.org/package/2006/relationships"><Relationship Type="http://schemas.openxmlformats.org/officeDocument/2006/relationships/slide" Target="/ppt/slides/slide41.xml" Id="R221c8d19232a4945" /><Relationship Type="http://schemas.openxmlformats.org/officeDocument/2006/relationships/notesMaster" Target="/ppt/notesMasters/notesMaster1.xml" Id="Rd556564f070842c5" /></Relationships>
</file>

<file path=ppt/notesSlides/_rels/notesSlide42.xml.rels>&#65279;<?xml version="1.0" encoding="utf-8"?><Relationships xmlns="http://schemas.openxmlformats.org/package/2006/relationships"><Relationship Type="http://schemas.openxmlformats.org/officeDocument/2006/relationships/slide" Target="/ppt/slides/slide42.xml" Id="R17da7929707f4ca8" /><Relationship Type="http://schemas.openxmlformats.org/officeDocument/2006/relationships/notesMaster" Target="/ppt/notesMasters/notesMaster1.xml" Id="Rf5582fab321c4850" /></Relationships>
</file>

<file path=ppt/notesSlides/_rels/notesSlide43.xml.rels>&#65279;<?xml version="1.0" encoding="utf-8"?><Relationships xmlns="http://schemas.openxmlformats.org/package/2006/relationships"><Relationship Type="http://schemas.openxmlformats.org/officeDocument/2006/relationships/slide" Target="/ppt/slides/slide43.xml" Id="R137f267877934923" /><Relationship Type="http://schemas.openxmlformats.org/officeDocument/2006/relationships/notesMaster" Target="/ppt/notesMasters/notesMaster1.xml" Id="R1c36a62330044f31" /></Relationships>
</file>

<file path=ppt/notesSlides/_rels/notesSlide44.xml.rels>&#65279;<?xml version="1.0" encoding="utf-8"?><Relationships xmlns="http://schemas.openxmlformats.org/package/2006/relationships"><Relationship Type="http://schemas.openxmlformats.org/officeDocument/2006/relationships/slide" Target="/ppt/slides/slide44.xml" Id="Rcdf1a8e095424d66" /><Relationship Type="http://schemas.openxmlformats.org/officeDocument/2006/relationships/notesMaster" Target="/ppt/notesMasters/notesMaster1.xml" Id="Rf25bb28bfb864b23" /></Relationships>
</file>

<file path=ppt/notesSlides/_rels/notesSlide45.xml.rels>&#65279;<?xml version="1.0" encoding="utf-8"?><Relationships xmlns="http://schemas.openxmlformats.org/package/2006/relationships"><Relationship Type="http://schemas.openxmlformats.org/officeDocument/2006/relationships/slide" Target="/ppt/slides/slide45.xml" Id="R2ade8b506ed24749" /><Relationship Type="http://schemas.openxmlformats.org/officeDocument/2006/relationships/notesMaster" Target="/ppt/notesMasters/notesMaster1.xml" Id="Rdcbf0a429cd345e7" /></Relationships>
</file>

<file path=ppt/notesSlides/_rels/notesSlide46.xml.rels>&#65279;<?xml version="1.0" encoding="utf-8"?><Relationships xmlns="http://schemas.openxmlformats.org/package/2006/relationships"><Relationship Type="http://schemas.openxmlformats.org/officeDocument/2006/relationships/slide" Target="/ppt/slides/slide46.xml" Id="Rcabba26b41dc4a31" /><Relationship Type="http://schemas.openxmlformats.org/officeDocument/2006/relationships/notesMaster" Target="/ppt/notesMasters/notesMaster1.xml" Id="Rfeb341969b9c40be" /></Relationships>
</file>

<file path=ppt/notesSlides/_rels/notesSlide47.xml.rels>&#65279;<?xml version="1.0" encoding="utf-8"?><Relationships xmlns="http://schemas.openxmlformats.org/package/2006/relationships"><Relationship Type="http://schemas.openxmlformats.org/officeDocument/2006/relationships/slide" Target="/ppt/slides/slide47.xml" Id="Rfc3b783bce254619" /><Relationship Type="http://schemas.openxmlformats.org/officeDocument/2006/relationships/notesMaster" Target="/ppt/notesMasters/notesMaster1.xml" Id="R72e69a26d7ee4417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IBM Applied Data Science Capstone. Nicholas Yap. Analysis of historical Falcon 9 launches.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Executive summary and project question</a:t>
            </a:r>
            <a:endParaRPr/>
          </a:p>
          <a:p xmlns:a="http://schemas.openxmlformats.org/drawingml/2006/main">
            <a:r>
              <a:t>Data collection and analytical methods</a:t>
            </a:r>
            <a:endParaRPr/>
          </a:p>
          <a:p xmlns:a="http://schemas.openxmlformats.org/drawingml/2006/main">
            <a:r>
              <a:t>EDA, SQL, interactive maps and dashboard</a:t>
            </a:r>
            <a:endParaRPr/>
          </a:p>
          <a:p xmlns:a="http://schemas.openxmlformats.org/drawingml/2006/main">
            <a:r>
              <a:t>Classification results, conclusions and sources</a:t>
            </a:r>
            <a:endParaRPr/>
          </a:p>
          <a:p xmlns:a="http://schemas.openxmlformats.org/drawingml/2006/main">
            <a:r>
              <a:t>Sources: https://github.com/nicholas-yap/spacex-data-science-capstone/blob/main/data/dataset_part_2.csv</a:t>
            </a:r>
            <a:endParaRPr/>
          </a:p>
          <a:p xmlns:a="http://schemas.openxmlformats.org/drawingml/2006/main"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90 Falcon 9 launches form the modeling sample. The course label marks 60 successes (66.7%).</a:t>
            </a:r>
          </a:p>
          <a:p xmlns:a="http://schemas.openxmlformats.org/drawingml/2006/main">
            <a:r>
              <a:t>KSC LC 39A has the highest observed site rate: 77.3% (17/22). CCAFS SLC 40 contributes 33 of 60 successes.</a:t>
            </a:r>
          </a:p>
          <a:p xmlns:a="http://schemas.openxmlformats.org/drawingml/2006/main">
            <a:r>
              <a:t>All four models score 83.33% on 18 test launches. The decision tree leads cross-validation at 87.68%.</a:t>
            </a:r>
          </a:p>
          <a:p xmlns:a="http://schemas.openxmlformats.org/drawingml/2006/main">
            <a:r>
              <a:t>Small samples, changing technology and preprocessing leakage limit generalization.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Business question: how can historical launch characteristics help estimate the chance of a successful first-stage outcome?</a:t>
            </a:r>
          </a:p>
          <a:p xmlns:a="http://schemas.openxmlformats.org/drawingml/2006/main">
            <a:r>
              <a:t>Reusable boosters create a reason to study landing outcomes. This project predicts the course outcome label, not launch price or cost savings.</a:t>
            </a:r>
          </a:p>
          <a:p xmlns:a="http://schemas.openxmlformats.org/drawingml/2006/main">
            <a:r>
              <a:t>Compare launch sites, payload, orbit and experience, then evaluate four classification models.</a:t>
            </a:r>
          </a:p>
          <a:p xmlns:a="http://schemas.openxmlformats.org/drawingml/2006/main">
            <a:r>
              <a:t>Scope: historical course snapshots. A successful mission and a successful first-stage outcome measure different events.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Collect historical launch records from a SpaceX API snapshot and a Wikipedia launch-table snapshot.</a:t>
            </a:r>
            <a:endParaRPr/>
          </a:p>
          <a:p xmlns:a="http://schemas.openxmlformats.org/drawingml/2006/main">
            <a:pPr marL="0" indent="0">
              <a:buNone/>
            </a:pPr>
            <a:r>
              <a:t>Clean outcomes and missing payloads. Use 90 launch records and 83 encoded features for classification.</a:t>
            </a:r>
            <a:endParaRPr/>
          </a:p>
          <a:p xmlns:a="http://schemas.openxmlformats.org/drawingml/2006/main">
            <a:pPr marL="0" indent="0">
              <a:buNone/>
            </a:pPr>
            <a:r>
              <a:t>Explore relationships with charts and SQLite queries. Add Folium maps and a Dash dashboard.</a:t>
            </a:r>
            <a:endParaRPr/>
          </a:p>
          <a:p xmlns:a="http://schemas.openxmlformats.org/drawingml/2006/main">
            <a:pPr marL="0" indent="0">
              <a:buNone/>
            </a:pPr>
            <a:r>
              <a:t>Compare tuned classifiers using 10-fold cross-validation and the saved 18-launch test split.</a:t>
            </a:r>
            <a:endParaRPr/>
          </a:p>
          <a:p xmlns:a="http://schemas.openxmlformats.org/drawingml/2006/main">
            <a:pPr marL="0" indent="0">
              <a:buNone/>
            </a:pPr>
            <a:r>
              <a:t>Sources: https://github.com/nicholas-yap/spacex-data-science-capstone/blob/main/data/dataset_part_2.csv</a:t>
            </a:r>
            <a:endParaRPr/>
          </a:p>
          <a:p xmlns:a="http://schemas.openxmlformats.org/drawingml/2006/main">
            <a:pPr marL="0" indent="0">
              <a:buNone/>
            </a:pPr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API modeling sample n=90. SQL sample n=101. Wikipedia scrape n=121. These are separate snapshots; no row-by-row merge is claimed.</a:t>
            </a:r>
          </a:p>
          <a:p xmlns:a="http://schemas.openxmlformats.org/drawingml/2006/main">
            <a:r>
              <a:t>Sources: https://github.com/nicholas-yap/spacex-data-science-capstone/blob/main/README.md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API provenance: https://api.spacexdata.com/v4/launches/past . Archived response supplied by IBM in API_call_spacex_api.json. Enriched feature data comes from the supplied dataset_part_1.csv, not a newly executed online enrichment.</a:t>
            </a:r>
          </a:p>
          <a:p xmlns:a="http://schemas.openxmlformats.org/drawingml/2006/main">
            <a:r>
              <a:t>Sources: https://github.com/nicholas-yap/spacex-data-science-capstone/blob/main/notebooks/01-data-collection.ipynb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Saved notebook outputs report 121 rows and 11 columns. Wikipedia archived revision: https://en.wikipedia.org/w/index.php?title=List_of_Falcon_9_and_Falcon_Heavy_launches&amp;oldid=1027686922</a:t>
            </a:r>
          </a:p>
          <a:p xmlns:a="http://schemas.openxmlformats.org/drawingml/2006/main">
            <a:r>
              <a:t>Sources: https://github.com/nicholas-yap/spacex-data-science-capstone/blob/main/notebooks/jupyter-labs-webscraping.ipynb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Outcome mapping verified against dataset_part_2.csv. The five True Ocean rows count as Class 1. Payload mean imputation is already present in supplied data.</a:t>
            </a:r>
          </a:p>
          <a:p xmlns:a="http://schemas.openxmlformats.org/drawingml/2006/main">
            <a:r>
              <a:t>Sources: https://github.com/nicholas-yap/spacex-data-science-capstone/blob/main/notebooks/02-wrangling-eda.ipynb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Scatter plots compare flight number and payload with launch site and orbit. Color separates the two outcome classes.</a:t>
            </a:r>
          </a:p>
          <a:p xmlns:a="http://schemas.openxmlformats.org/drawingml/2006/main">
            <a:r>
              <a:t>Orbit success bars show rates with launch counts so small groups remain visible.</a:t>
            </a:r>
          </a:p>
          <a:p xmlns:a="http://schemas.openxmlformats.org/drawingml/2006/main">
            <a:r>
              <a:t>The yearly line chart shows changes in outcome rate, with year-specific denominators.</a:t>
            </a:r>
          </a:p>
          <a:p xmlns:a="http://schemas.openxmlformats.org/drawingml/2006/main">
            <a:r>
              <a:t>Charts describe associations. Site, orbit, payload and technology changed together over time.</a:t>
            </a:r>
          </a:p>
          <a:p xmlns:a="http://schemas.openxmlformats.org/drawingml/2006/main">
            <a:r>
              <a:t>Sources: https://github.com/nicholas-yap/spacex-data-science-capstone/blob/main/notebooks/02-wrangling-eda.ipynb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DISTINCT and LIKE identify launch-site labels and the first five CCA records.</a:t>
            </a:r>
          </a:p>
          <a:p xmlns:a="http://schemas.openxmlformats.org/drawingml/2006/main">
            <a:r>
              <a:t>SUM, AVG and MAX summarize payload mass and the boosters carrying the maximum.</a:t>
            </a:r>
          </a:p>
          <a:p xmlns:a="http://schemas.openxmlformats.org/drawingml/2006/main">
            <a:r>
              <a:t>Date and outcome filters identify the first ground landing, drone ship landings and failures in 2015.</a:t>
            </a:r>
          </a:p>
          <a:p xmlns:a="http://schemas.openxmlformats.org/drawingml/2006/main">
            <a:r>
              <a:t>GROUP BY and COUNT summarize mission results and rank landing outcomes for the specified period.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Site circles and labels locate the three modeled launch facilities on a continental map.</a:t>
            </a:r>
          </a:p>
          <a:p xmlns:a="http://schemas.openxmlformats.org/drawingml/2006/main">
            <a:r>
              <a:t>A MarkerCluster groups overlapping launches. Green marks Class 1 and red marks Class 0.</a:t>
            </a:r>
          </a:p>
          <a:p xmlns:a="http://schemas.openxmlformats.org/drawingml/2006/main">
            <a:r>
              <a:t>Popup details show flight, date, payload and outcome. Expanding a cluster separates markers for inspection.</a:t>
            </a:r>
          </a:p>
          <a:p xmlns:a="http://schemas.openxmlformats.org/drawingml/2006/main">
            <a:r>
              <a:t>Lines connect CCAFS SLC 40 to selected road, rail and coastline points. Haversine distance gives approximate straight-line separation.</a:t>
            </a:r>
          </a:p>
          <a:p xmlns:a="http://schemas.openxmlformats.org/drawingml/2006/main">
            <a:r>
              <a:t>Sources: https://github.com/nicholas-yap/spacex-data-science-capstone/blob/main/notebooks/03-interactive-maps.ipynb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site dropdown switches between all launches and a selected facility.</a:t>
            </a:r>
          </a:p>
          <a:p xmlns:a="http://schemas.openxmlformats.org/drawingml/2006/main">
            <a:r>
              <a:t>The all-sites pie chart shows each site’s contribution to successful outcomes. A selected-site pie shows its success ratio.</a:t>
            </a:r>
          </a:p>
          <a:p xmlns:a="http://schemas.openxmlformats.org/drawingml/2006/main">
            <a:r>
              <a:t>The payload range slider filters the outcome scatter plot. Color identifies booster block.</a:t>
            </a:r>
          </a:p>
          <a:p xmlns:a="http://schemas.openxmlformats.org/drawingml/2006/main">
            <a:r>
              <a:t>Hover details reveal launch date, flight number and outcome. The dashboard uses the same 90-row sample as the EDA.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Results reproduced from saved notebook outputs. Pre-split scaling exposes test distribution to preprocessing. GridSearchCV has 10 folds; no claim of a leakage-free evaluation.</a:t>
            </a:r>
          </a:p>
          <a:p xmlns:a="http://schemas.openxmlformats.org/drawingml/2006/main">
            <a:r>
              <a:t>Sources: https://github.com/nicholas-yap/spacex-data-science-capstone/blob/main/notebooks/SpaceX-Machine-Learning-Prediction-Part-5-v1.ipynb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marL="0" indent="0">
              <a:buNone/>
            </a:pPr>
            <a:r>
              <a:t>EDA: outcome rates differ across sites, orbit groups and launch years.</a:t>
            </a:r>
            <a:endParaRPr/>
          </a:p>
          <a:p xmlns:a="http://schemas.openxmlformats.org/drawingml/2006/main">
            <a:pPr marL="0" indent="0">
              <a:buNone/>
            </a:pPr>
            <a:r>
              <a:t>SQL: 101 missions include 100 mission successes and one failure. NASA (CRS) payload totals 45,596 kg.</a:t>
            </a:r>
            <a:endParaRPr/>
          </a:p>
          <a:p xmlns:a="http://schemas.openxmlformats.org/drawingml/2006/main">
            <a:pPr marL="0" indent="0">
              <a:buNone/>
            </a:pPr>
            <a:r>
              <a:t>Interactive views: coastal launch sites and payload filters help inspect individual records.</a:t>
            </a:r>
            <a:endParaRPr/>
          </a:p>
          <a:p xmlns:a="http://schemas.openxmlformats.org/drawingml/2006/main">
            <a:pPr marL="0" indent="0">
              <a:buNone/>
            </a:pPr>
            <a:r>
              <a:t>Prediction: each model correctly classifies 15 of 18 test launches. The test scores do not establish a unique winner.</a:t>
            </a:r>
            <a:endParaRPr/>
          </a:p>
          <a:p xmlns:a="http://schemas.openxmlformats.org/drawingml/2006/main">
            <a:pPr marL="0" indent="0">
              <a:buNone/>
            </a:pPr>
            <a:r>
              <a:t>Sources: https://github.com/nicholas-yap/spacex-data-science-capstone/blob/main/data/dataset_part_2.csv</a:t>
            </a:r>
            <a:endParaRPr/>
          </a:p>
          <a:p xmlns:a="http://schemas.openxmlformats.org/drawingml/2006/main">
            <a:pPr marL="0" indent="0">
              <a:buNone/>
            </a:pPr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Later launches show more Class 1 outcomes. Site and flight sequence overlap, so the plot cannot isolate a site effect. Category codes: CCAFS SLC 40, KSC LC 39A, VAFB SLC 4E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CCAFS SLC 40 covers the broadest history. Both outcome classes occur across payload ranges, and some payload values are mean-imputed. Category codes: CCAFS SLC 40, KSC LC 39A, VAFB SLC 4E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Orbit rates use Class means. Count labels show sample sizes.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VLEO launches cluster late in the sample. Differences by orbit may partly reflect changes in booster technology and experience. Category codes: ES-L1, GEO, GTO, HEO, ISS, LEO, MEO, PO, SO, SSO, VLEO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GTO has 14/27 Class 1 outcomes (51.9%). VLEO has 12/14 (85.7%). Payload alone does not explain the difference. Category codes: ES-L1, GEO, GTO, HEO, ISS, LEO, MEO, PO, SO, SSO, VLEO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Yearly means of the course Class label; this is not mission success rate. Years with no observations are omitted.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DISTINCT Launch_Site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ORDER BY Launch_Site;</a:t>
            </a:r>
          </a:p>
          <a:p xmlns:a="http://schemas.openxmlformats.org/drawingml/2006/main">
            <a:r>
              <a:t>Result: [["CCAFS LC-40"],["CCAFS SLC-40"],["KSC LC-39A"],["VAFB SLC-4E"]]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*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Launch_Site LIKE 'CCA%'</a:t>
            </a:r>
          </a:p>
          <a:p xmlns:a="http://schemas.openxmlformats.org/drawingml/2006/main">
            <a:r>
              <a:t>ORDER BY Date, "Time (UTC)"</a:t>
            </a:r>
          </a:p>
          <a:p xmlns:a="http://schemas.openxmlformats.org/drawingml/2006/main">
            <a:r>
              <a:t>LIMIT 5;</a:t>
            </a:r>
          </a:p>
          <a:p xmlns:a="http://schemas.openxmlformats.org/drawingml/2006/main">
            <a:r>
              <a:t>Result: [["2010-06-04","18:45:00","F9 v1.0  B0003","CCAFS LC-40","Dragon Spacecraft Qualification Unit",0,"LEO","SpaceX","Success","Failure (parachute)"],["2010-12-08","15:43:00","F9 v1.0  B0004","CCAFS LC-40","Dragon demo flight C1, two CubeSats, barrel of Brouere cheese",0,"LEO (ISS)","NASA (COTS) NRO","Success","Failure (parachute)"],["2012-05-22","7:44:00","F9 v1.0  B0005","CCAFS LC-40","Dragon demo flight C2",525,"LEO (ISS)","NASA (COTS)","Success","No attempt"],["2012-10-08","0:35:00","F9 v1.0  B0006","CCAFS LC-40","SpaceX CRS-1",500,"LEO (ISS)","NASA (CRS)","Success","No attempt"],["2013-03-01","15:10:00","F9 v1.0  B0007","CCAFS LC-40","SpaceX CRS-2",677,"LEO (ISS)","NASA (CRS)","Success","No attempt"]]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SUM(PAYLOAD_MASS__KG_) AS Total_Payload_Mass_KG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Customer = 'NASA (CRS)';</a:t>
            </a:r>
          </a:p>
          <a:p xmlns:a="http://schemas.openxmlformats.org/drawingml/2006/main">
            <a:r>
              <a:t>Result: [[45596]]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-- Match the exact booster-version label specified in the assignment.</a:t>
            </a:r>
          </a:p>
          <a:p xmlns:a="http://schemas.openxmlformats.org/drawingml/2006/main">
            <a:r>
              <a:t>SELECT AVG(PAYLOAD_MASS__KG_) AS Average_Payload_Mass_KG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Booster_Version = 'F9 v1.1';</a:t>
            </a:r>
          </a:p>
          <a:p xmlns:a="http://schemas.openxmlformats.org/drawingml/2006/main">
            <a:r>
              <a:t>Result: [[2928.4]]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MIN(Date) AS First_Successful_Ground_Pad_Landing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TRIM(Landing_Outcome) = 'Success (ground pad)';</a:t>
            </a:r>
          </a:p>
          <a:p xmlns:a="http://schemas.openxmlformats.org/drawingml/2006/main">
            <a:r>
              <a:t>Result: [["2015-12-22"]]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DISTINCT TRIM(Booster_Version) AS Booster_Version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TRIM(Landing_Outcome) = 'Success (drone ship)'</a:t>
            </a:r>
          </a:p>
          <a:p xmlns:a="http://schemas.openxmlformats.org/drawingml/2006/main">
            <a:r>
              <a:t>  AND PAYLOAD_MASS__KG_ &gt; 4000</a:t>
            </a:r>
          </a:p>
          <a:p xmlns:a="http://schemas.openxmlformats.org/drawingml/2006/main">
            <a:r>
              <a:t>  AND PAYLOAD_MASS__KG_ &lt; 6000</a:t>
            </a:r>
          </a:p>
          <a:p xmlns:a="http://schemas.openxmlformats.org/drawingml/2006/main">
            <a:r>
              <a:t>ORDER BY Booster_Version;</a:t>
            </a:r>
          </a:p>
          <a:p xmlns:a="http://schemas.openxmlformats.org/drawingml/2006/main">
            <a:r>
              <a:t>Result: [["F9 FT  B1021.2"],["F9 FT  B1031.2"],["F9 FT B1022"],["F9 FT B1026"]]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-- Count mission outcomes, which are distinct from booster landing outcomes.</a:t>
            </a:r>
          </a:p>
          <a:p xmlns:a="http://schemas.openxmlformats.org/drawingml/2006/main">
            <a:r>
              <a:t>-- Include "Success (payload status unclear)" in the success category.</a:t>
            </a:r>
          </a:p>
          <a:p xmlns:a="http://schemas.openxmlformats.org/drawingml/2006/main">
            <a:r>
              <a:t>SELECT CASE</a:t>
            </a:r>
          </a:p>
          <a:p xmlns:a="http://schemas.openxmlformats.org/drawingml/2006/main">
            <a:r>
              <a:t>           WHEN TRIM(Mission_Outcome) LIKE 'Success%' THEN 'Success'</a:t>
            </a:r>
          </a:p>
          <a:p xmlns:a="http://schemas.openxmlformats.org/drawingml/2006/main">
            <a:r>
              <a:t>           WHEN TRIM(Mission_Outcome) LIKE 'Failure%' THEN 'Failure'</a:t>
            </a:r>
          </a:p>
          <a:p xmlns:a="http://schemas.openxmlformats.org/drawingml/2006/main">
            <a:r>
              <a:t>           ELSE 'Other'</a:t>
            </a:r>
          </a:p>
          <a:p xmlns:a="http://schemas.openxmlformats.org/drawingml/2006/main">
            <a:r>
              <a:t>       END AS Mission_Result,</a:t>
            </a:r>
          </a:p>
          <a:p xmlns:a="http://schemas.openxmlformats.org/drawingml/2006/main">
            <a:r>
              <a:t>       COUNT(*) AS Total_Missions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GROUP BY Mission_Result</a:t>
            </a:r>
          </a:p>
          <a:p xmlns:a="http://schemas.openxmlformats.org/drawingml/2006/main">
            <a:r>
              <a:t>ORDER BY Total_Missions DESC;</a:t>
            </a:r>
          </a:p>
          <a:p xmlns:a="http://schemas.openxmlformats.org/drawingml/2006/main">
            <a:r>
              <a:t>Result: [["Success",100],["Failure",1]]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DISTINCT TRIM(Booster_Version) AS Booster_Version,</a:t>
            </a:r>
          </a:p>
          <a:p xmlns:a="http://schemas.openxmlformats.org/drawingml/2006/main">
            <a:r>
              <a:t>       PAYLOAD_MASS__KG_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PAYLOAD_MASS__KG_ = (</a:t>
            </a:r>
          </a:p>
          <a:p xmlns:a="http://schemas.openxmlformats.org/drawingml/2006/main">
            <a:r>
              <a:t>    SELECT MAX(PAYLOAD_MASS__KG_)</a:t>
            </a:r>
          </a:p>
          <a:p xmlns:a="http://schemas.openxmlformats.org/drawingml/2006/main">
            <a:r>
              <a:t>    FROM SPACEXTABLE</a:t>
            </a:r>
          </a:p>
          <a:p xmlns:a="http://schemas.openxmlformats.org/drawingml/2006/main">
            <a:r>
              <a:t>)</a:t>
            </a:r>
          </a:p>
          <a:p xmlns:a="http://schemas.openxmlformats.org/drawingml/2006/main">
            <a:r>
              <a:t>ORDER BY Booster_Version;</a:t>
            </a:r>
          </a:p>
          <a:p xmlns:a="http://schemas.openxmlformats.org/drawingml/2006/main">
            <a:r>
              <a:t>Result: [["F9 B5 B1048.4",15600],["F9 B5 B1048.5",15600],["F9 B5 B1049.4",15600],["F9 B5 B1049.5",15600],["F9 B5 B1049.7",15600],["F9 B5 B1051.3",15600],["F9 B5 B1051.4",15600],["F9 B5 B1051.6",15600],["F9 B5 B1056.4",15600],["F9 B5 B1058.3",15600],["F9 B5 B1060.2",15600],["F9 B5 B1060.3",15600]]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CASE SUBSTR(Date, 6, 2)</a:t>
            </a:r>
          </a:p>
          <a:p xmlns:a="http://schemas.openxmlformats.org/drawingml/2006/main">
            <a:r>
              <a:t>           WHEN '01' THEN 'January'</a:t>
            </a:r>
          </a:p>
          <a:p xmlns:a="http://schemas.openxmlformats.org/drawingml/2006/main">
            <a:r>
              <a:t>           WHEN '02' THEN 'February'</a:t>
            </a:r>
          </a:p>
          <a:p xmlns:a="http://schemas.openxmlformats.org/drawingml/2006/main">
            <a:r>
              <a:t>           WHEN '03' THEN 'March'</a:t>
            </a:r>
          </a:p>
          <a:p xmlns:a="http://schemas.openxmlformats.org/drawingml/2006/main">
            <a:r>
              <a:t>           WHEN '04' THEN 'April'</a:t>
            </a:r>
          </a:p>
          <a:p xmlns:a="http://schemas.openxmlformats.org/drawingml/2006/main">
            <a:r>
              <a:t>           WHEN '05' THEN 'May'</a:t>
            </a:r>
          </a:p>
          <a:p xmlns:a="http://schemas.openxmlformats.org/drawingml/2006/main">
            <a:r>
              <a:t>           WHEN '06' THEN 'June'</a:t>
            </a:r>
          </a:p>
          <a:p xmlns:a="http://schemas.openxmlformats.org/drawingml/2006/main">
            <a:r>
              <a:t>           WHEN '07' THEN 'July'</a:t>
            </a:r>
          </a:p>
          <a:p xmlns:a="http://schemas.openxmlformats.org/drawingml/2006/main">
            <a:r>
              <a:t>           WHEN '08' THEN 'August'</a:t>
            </a:r>
          </a:p>
          <a:p xmlns:a="http://schemas.openxmlformats.org/drawingml/2006/main">
            <a:r>
              <a:t>           WHEN '09' THEN 'September'</a:t>
            </a:r>
          </a:p>
          <a:p xmlns:a="http://schemas.openxmlformats.org/drawingml/2006/main">
            <a:r>
              <a:t>           WHEN '10' THEN 'October'</a:t>
            </a:r>
          </a:p>
          <a:p xmlns:a="http://schemas.openxmlformats.org/drawingml/2006/main">
            <a:r>
              <a:t>           WHEN '11' THEN 'November'</a:t>
            </a:r>
          </a:p>
          <a:p xmlns:a="http://schemas.openxmlformats.org/drawingml/2006/main">
            <a:r>
              <a:t>           WHEN '12' THEN 'December'</a:t>
            </a:r>
          </a:p>
          <a:p xmlns:a="http://schemas.openxmlformats.org/drawingml/2006/main">
            <a:r>
              <a:t>       END AS Month,</a:t>
            </a:r>
          </a:p>
          <a:p xmlns:a="http://schemas.openxmlformats.org/drawingml/2006/main">
            <a:r>
              <a:t>       Landing_Outcome,</a:t>
            </a:r>
          </a:p>
          <a:p xmlns:a="http://schemas.openxmlformats.org/drawingml/2006/main">
            <a:r>
              <a:t>       TRIM(Booster_Version) AS Booster_Version,</a:t>
            </a:r>
          </a:p>
          <a:p xmlns:a="http://schemas.openxmlformats.org/drawingml/2006/main">
            <a:r>
              <a:t>       Launch_Site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SUBSTR(Date, 1, 4) = '2015'</a:t>
            </a:r>
          </a:p>
          <a:p xmlns:a="http://schemas.openxmlformats.org/drawingml/2006/main">
            <a:r>
              <a:t>  AND TRIM(Landing_Outcome) = 'Failure (drone ship)'</a:t>
            </a:r>
          </a:p>
          <a:p xmlns:a="http://schemas.openxmlformats.org/drawingml/2006/main">
            <a:r>
              <a:t>ORDER BY Date;</a:t>
            </a:r>
          </a:p>
          <a:p xmlns:a="http://schemas.openxmlformats.org/drawingml/2006/main">
            <a:r>
              <a:t>Result: [["January","Failure (drone ship)","F9 v1.1 B1012","CCAFS LC-40"],["April","Failure (drone ship)","F9 v1.1 B1015","CCAFS LC-40"]]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SELECT TRIM(Landing_Outcome) AS Landing_Outcome,</a:t>
            </a:r>
          </a:p>
          <a:p xmlns:a="http://schemas.openxmlformats.org/drawingml/2006/main">
            <a:r>
              <a:t>       COUNT(*) AS Outcome_Count</a:t>
            </a:r>
          </a:p>
          <a:p xmlns:a="http://schemas.openxmlformats.org/drawingml/2006/main">
            <a:r>
              <a:t>FROM SPACEXTABLE</a:t>
            </a:r>
          </a:p>
          <a:p xmlns:a="http://schemas.openxmlformats.org/drawingml/2006/main">
            <a:r>
              <a:t>WHERE Date BETWEEN '2010-06-04' AND '2017-03-20'</a:t>
            </a:r>
          </a:p>
          <a:p xmlns:a="http://schemas.openxmlformats.org/drawingml/2006/main">
            <a:r>
              <a:t>GROUP BY TRIM(Landing_Outcome)</a:t>
            </a:r>
          </a:p>
          <a:p xmlns:a="http://schemas.openxmlformats.org/drawingml/2006/main">
            <a:r>
              <a:t>ORDER BY Outcome_Count DESC, Landing_Outcome;</a:t>
            </a:r>
          </a:p>
          <a:p xmlns:a="http://schemas.openxmlformats.org/drawingml/2006/main">
            <a:r>
              <a:t>Result: [["No attempt",10],["Failure (drone ship)",5],["Success (drone ship)",5],["Controlled (ocean)",3],["Success (ground pad)",3],["Failure (parachute)",2],["Uncontrolled (ocean)",2],["Precluded (drone ship)",1]]</a:t>
            </a:r>
          </a:p>
          <a:p xmlns:a="http://schemas.openxmlformats.org/drawingml/2006/main">
            <a:r>
              <a:t>Sources: https://github.com/nicholas-yap/spacex-data-science-capstone/blob/main/notebooks/jupyter-labs-eda-sql-coursera_sqllite.ipynb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Folium screenshot. Basemap © OpenStreetMap contributors, https://www.openstreetmap.org/copyright . Dataset coordinates.</a:t>
            </a:r>
          </a:p>
          <a:p xmlns:a="http://schemas.openxmlformats.org/drawingml/2006/main">
            <a:r>
              <a:t>Sources: https://github.com/nicholas-yap/spacex-data-science-capstone/blob/main/maps/launch_sites.html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Folium MarkerCluster spiderfy screenshot. Green Class 1, red Class 0. OSM basemap attribution.</a:t>
            </a:r>
          </a:p>
          <a:p xmlns:a="http://schemas.openxmlformats.org/drawingml/2006/main">
            <a:r>
              <a:t>Sources: https://github.com/nicholas-yap/spacex-data-science-capstone/blob/main/maps/launch_outcomes.html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Haversine distances with Earth radius 6371 km. Selected points: [{"name":"Coastline sample","latitude":28.563,"longitude":-80.5675,"km":0.9718793646856646},{"name":"Road sample","latitude":28.5631,"longitude":-80.5829,"km":0.557852641160271},{"name":"Rail sample","latitude":28.5721,"longitude":-80.5854,"km":1.383039420705225}]. OSM basemap.</a:t>
            </a:r>
          </a:p>
          <a:p xmlns:a="http://schemas.openxmlformats.org/drawingml/2006/main">
            <a:r>
              <a:t>Sources: https://github.com/nicholas-yap/spacex-data-science-capstone/blob/main/maps/proximity.html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running Dash dashboard screenshot. Same 90-launch course dataset.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selected-site Dash screenshot. KSC 17/22, VAFB 10/13, CCAFS 33/55.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Actual Dash screenshots for all sites with 0–5000 kg and 5000–16000 kg payload ranges.</a:t>
            </a:r>
          </a:p>
          <a:p xmlns:a="http://schemas.openxmlformats.org/drawingml/2006/main">
            <a:r>
              <a:t>Sources: https://github.com/nicholas-yap/spacex-data-science-capstone/blob/main/spacex_dashboard.py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Saved notebook results. 72 training rows; 18 test rows; 12 test positives. Tree params: gini, max_depth=8, max_features=sqrt, min_samples_leaf=2, min_samples_split=10, splitter=best.</a:t>
            </a:r>
          </a:p>
          <a:p xmlns:a="http://schemas.openxmlformats.org/drawingml/2006/main">
            <a:r>
              <a:t>Sources: https://github.com/nicholas-yap/spacex-data-science-capstone/blob/main/notebooks/SpaceX-Machine-Learning-Prediction-Part-5-v1.ipynb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Matrix transcribed from saved decision-tree output: [[3,3],[0,12]]. Actual rows, predicted columns. Half of six actual Class 0 outcomes become false positives. The tree is selected by highest CV, with tied test accuracy.</a:t>
            </a:r>
          </a:p>
          <a:p xmlns:a="http://schemas.openxmlformats.org/drawingml/2006/main">
            <a:r>
              <a:t>Sources: https://github.com/nicholas-yap/spacex-data-science-capstone/blob/main/notebooks/SpaceX-Machine-Learning-Prediction-Part-5-v1.ipynb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Successful first-stage outcomes become more common over the study period, but progress is uneven across years.</a:t>
            </a:r>
          </a:p>
          <a:p xmlns:a="http://schemas.openxmlformats.org/drawingml/2006/main">
            <a:r>
              <a:t>KSC has the highest observed site rate. CCAFS contributes the most successes. Orbit and payload patterns depend on mission mix.</a:t>
            </a:r>
          </a:p>
          <a:p xmlns:a="http://schemas.openxmlformats.org/drawingml/2006/main">
            <a:r>
              <a:t>Four classifiers tie on the small test set. The tree’s CV lead does not establish better future performance.</a:t>
            </a:r>
          </a:p>
          <a:p xmlns:a="http://schemas.openxmlformats.org/drawingml/2006/main">
            <a:r>
              <a:t>Next evaluation: fit preprocessing within training folds, remove features unavailable before launch, and use a later time period for testing.</a:t>
            </a:r>
          </a:p>
          <a:p xmlns:a="http://schemas.openxmlformats.org/drawingml/2006/main">
            <a:r>
              <a:t>Sources: https://github.com/nicholas-yap/spacex-data-science-capstone/blob/main/data/dataset_part_2.csv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Repository contains the completed deck and supporting files. Dataset scope and methodological limitations are described in README.md.</a:t>
            </a:r>
            <a:endParaRPr/>
          </a:p>
          <a:p xmlns:a="http://schemas.openxmlformats.org/drawingml/2006/main">
            <a:r>
              <a:t>Sources: https://github.com/nicholas-yap/spacex-data-science-capstone/blob/main/README.md</a:t>
            </a:r>
            <a:endParaRPr/>
          </a:p>
          <a:p xmlns:a="http://schemas.openxmlformats.org/drawingml/2006/main">
            <a:r>
              <a:t>Course datasets are historical snapshots, not current SpaceX operational data.</a:t>
            </a:r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End of presentation. Supplied template closing artwork retained.</a:t>
            </a:r>
          </a:p>
          <a:p xmlns:a="http://schemas.openxmlformats.org/drawingml/2006/main">
            <a:r>
              <a:t>Sources: https://github.com/nicholas-yap/spacex-data-science-capstone/blob/main/README.md</a:t>
            </a:r>
          </a:p>
          <a:p xmlns:a="http://schemas.openxmlformats.org/drawingml/2006/main">
            <a:r>
              <a:t>Course datasets are historical snapshots, not current SpaceX operational data.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fefeb1be802452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8244d61b254568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35171bf84a4710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06575d66144337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d6fc43cc7914383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8d67b72743942c9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5da340a470a45ce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93f2182dee34caf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cd1180652d7435b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713f7eb695471d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d6f92e23a2743cc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944c05fa6f8480e" /></Relationships>
</file>

<file path=ppt/slideLayouts/_rels/slideLayout1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51a451aa1c54784" /></Relationships>
</file>

<file path=ppt/slideLayouts/slideLayout1.xml><?xml version="1.0" encoding="utf-8"?>
<p:sldLayout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92FDF747-B622-7F48-9215-C3A606BDEB9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CCCE525-4063-4C4F-8334-FBA02DB6937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B14EC97-9D34-BE48-9367-02F3BA14827A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EBB8E19-FEF2-7A4B-8575-5AFEB134BC5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513A4E28-3138-784C-8CBB-8586D8EE030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BFB07D0F-3645-6B43-9AD7-762199572C6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8B63CE8-FC8A-B648-971E-6DC96997A7A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1850" y="1709738"/>
            <a:ext cx="10515600" cy="285273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60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634958-58AE-3F4E-8C00-440B25A937A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1850" y="4589463"/>
            <a:ext cx="10515600" cy="1500187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5872462-6007-A64A-86E6-F5ED46C8726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99D379FD-EE00-8243-9FA5-BC4C116FAB7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1E72C754-6A4A-424A-B972-C341147C4E0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0EB8FC9-14F0-064F-BEB7-9DA0B582216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9F565333-3885-5246-9997-584B944334CC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838200" y="1825625"/>
            <a:ext cx="5181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32A3D495-0AB7-4245-BD03-FEF725EE8B3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6172200" y="1825625"/>
            <a:ext cx="5181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F7A3532B-22A8-4948-8614-690AB67FC7F6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BE45A5D6-868E-4849-A5DA-84702CEDFE8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7D682E35-43FC-E946-AA84-7E00546A24B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6E14121-1457-7D45-BFFD-BECD664974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CE09A76-C125-0945-BCD8-FF2A0498A56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9788" y="1681163"/>
            <a:ext cx="5157787" cy="82391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5B142CC-BC3F-664E-A6C2-3854B8D4E8C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839788" y="2505075"/>
            <a:ext cx="5157787" cy="3684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D2FA8D54-9ED9-E345-B69E-FF5D485B134B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6172200" y="1681163"/>
            <a:ext cx="5183188" cy="823912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009B295F-F3C2-5646-A5F3-194FE6EFEB29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6172200" y="2505075"/>
            <a:ext cx="5183188" cy="3684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00516157-5FC9-E841-A6FC-14EBCFDEC67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3544E072-D5B7-D647-82C0-40BEAE857D43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7A73D6E-2A82-7344-BB8C-513E6DA4E143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6099B4CE-9E7B-564C-A6C3-DCABF996FBD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CF8A31D-92A5-DF47-9C3A-9F9C1CF8FC6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FE7EADA-8BC4-974C-BBA1-7390F15FD5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89EC0A8-C281-FF40-A774-EAF6089BB00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FF027EBC-C9EC-5844-B3BF-5151B2F70EA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A9F664BF-C7CE-DC46-9D6D-A9335EE9D8B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A1AAD4E-B732-E349-8793-C20A3D6B70A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E73A651-FEEA-2140-82D8-9C06A36F929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04D2DAEA-C881-354D-A17E-2A95857F0CA4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02148C2-62EB-B446-BB7C-69F5E480649F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2114D069-D155-9141-9045-DB41904753A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2C0EE34C-EABB-6848-A341-7CA0C293798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C0C04AAD-C125-DD44-8102-9F28820805F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8BD611A-FFDF-C848-A433-C5B125C402E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9788" y="457200"/>
            <a:ext cx="3932237" cy="16002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/>
          <a:lstStyle xmlns:a="http://schemas.openxmlformats.org/drawingml/2006/main">
            <a:lvl1pPr>
              <a:buNone/>
              <a:defRPr sz="3200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296C0E97-AC3D-784B-96B7-0D18B5A35AE1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5183188" y="987425"/>
            <a:ext cx="6172200" cy="48736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86B37986-0214-C348-AB5F-D54BF288107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839788" y="2057400"/>
            <a:ext cx="3932237" cy="38115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EF6860A9-8610-9347-BAE7-F23CCA13E55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14249D7C-BCAA-DE44-AE89-5178DA8D82A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355319C3-A65D-764B-BD49-57D0082AE9A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8DDD383-EB92-5540-96BB-199B7760EF4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38200" y="365125"/>
            <a:ext cx="10515600" cy="13255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FE9FED7B-4DA5-4346-B7E2-D18782430F68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1825625"/>
            <a:ext cx="10515600" cy="43513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E2B5F2C-52A9-3047-A473-9FFC051518A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AC041C9-0677-664D-B2BB-69B0A6A7093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0B34EA4-D670-2C41-9EF4-392023D22E4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BD05DB93-A58E-714C-BD6E-76F1D21AEA0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8724900" y="365125"/>
            <a:ext cx="2628900" cy="58118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9DF83819-F149-7645-A0DD-B53DD9D8483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DFB065F-A67E-EF4E-A12F-EB30F584E49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>
          <a:xfrm xmlns:a="http://schemas.openxmlformats.org/drawingml/2006/main">
            <a:off x="838200" y="6356350"/>
            <a:ext cx="27432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E4E5C39-FE1E-4048-9E78-68F07A4195FB}" type="datetimeFigureOut">
              <a:t>1/27/22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6E9D5F-8CC5-8740-9426-35E9D812FC6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DBB1DE0B-93CB-5C41-B581-C00D0F9F7CC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</p:sldLayout>
</file>

<file path=ppt/slideLayouts/slideLayout12.xml><?xml version="1.0" encoding="utf-8"?>
<p:sldLayout xmlns:p="http://schemas.openxmlformats.org/presentationml/2006/main" showMasterSp="0">
  <p:cSld name="1_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9255B7AD-0F4F-4201-AF5B-AE917FB36F74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1524000" y="1122363"/>
            <a:ext cx="9144000" cy="23876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b">
            <a:normAutofit/>
          </a:bodyPr>
          <a:lstStyle xmlns:a="http://schemas.openxmlformats.org/drawingml/2006/main">
            <a:lvl1pPr algn="ctr">
              <a:buNone/>
              <a:defRPr sz="48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2" name="Footer Placeholder 1">
            <a:extLst xmlns:a="http://schemas.openxmlformats.org/drawingml/2006/main">
              <a:ext uri="{FF2B5EF4-FFF2-40B4-BE49-F238E27FC236}">
                <a16:creationId xmlns:a16="http://schemas.microsoft.com/office/drawing/2014/main" id="{FD30FDD2-E0CC-3E4C-A49E-91BE8BE0367F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13.xml><?xml version="1.0" encoding="utf-8"?>
<p:sldLayout xmlns:p="http://schemas.openxmlformats.org/presentationml/2006/main" userDrawn="1">
  <p:cSld name="1_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8DCC7091-9221-428D-B0B7-62C08121B5DE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838200" y="365125"/>
            <a:ext cx="7734300" cy="58118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AA119083-F06C-6F4F-9852-321B8C953CC2}"/>
              </a:ext>
            </a:extLst>
          </p:cNvPr>
          <p:cNvSpPr>
            <a:spLocks xmlns:a="http://schemas.openxmlformats.org/drawingml/2006/main" noGrp="1"/>
          </p:cNvSpPr>
          <p:nvPr>
            <p:ph type="ftr" idx="10"/>
          </p:nvPr>
        </p:nvSpPr>
        <p:spPr>
          <a:xfrm xmlns:a="http://schemas.openxmlformats.org/drawingml/2006/main">
            <a:off x="4038600" y="6356350"/>
            <a:ext cx="41148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a34544fd54ea4ae8" /><Relationship Type="http://schemas.openxmlformats.org/officeDocument/2006/relationships/slideLayout" Target="/ppt/slideLayouts/slideLayout1.xml" Id="R3bef654cbb994d1d" /><Relationship Type="http://schemas.openxmlformats.org/officeDocument/2006/relationships/slideLayout" Target="/ppt/slideLayouts/slideLayout2.xml" Id="Re983be5ff3ec46c2" /><Relationship Type="http://schemas.openxmlformats.org/officeDocument/2006/relationships/slideLayout" Target="/ppt/slideLayouts/slideLayout3.xml" Id="R04e9e67794af4c5b" /><Relationship Type="http://schemas.openxmlformats.org/officeDocument/2006/relationships/slideLayout" Target="/ppt/slideLayouts/slideLayout4.xml" Id="R7c02c76d8e524383" /><Relationship Type="http://schemas.openxmlformats.org/officeDocument/2006/relationships/slideLayout" Target="/ppt/slideLayouts/slideLayout5.xml" Id="R72da515f29334c5e" /><Relationship Type="http://schemas.openxmlformats.org/officeDocument/2006/relationships/slideLayout" Target="/ppt/slideLayouts/slideLayout6.xml" Id="R5e0586a5a0f24ee6" /><Relationship Type="http://schemas.openxmlformats.org/officeDocument/2006/relationships/slideLayout" Target="/ppt/slideLayouts/slideLayout7.xml" Id="R569ea3dbdef44042" /><Relationship Type="http://schemas.openxmlformats.org/officeDocument/2006/relationships/slideLayout" Target="/ppt/slideLayouts/slideLayout8.xml" Id="R706dde45b8704367" /><Relationship Type="http://schemas.openxmlformats.org/officeDocument/2006/relationships/slideLayout" Target="/ppt/slideLayouts/slideLayout9.xml" Id="R8b8bc601d4a54ec8" /><Relationship Type="http://schemas.openxmlformats.org/officeDocument/2006/relationships/slideLayout" Target="/ppt/slideLayouts/slideLayout10.xml" Id="Re88fd2f8184749b6" /><Relationship Type="http://schemas.openxmlformats.org/officeDocument/2006/relationships/slideLayout" Target="/ppt/slideLayouts/slideLayout11.xml" Id="Rcd335f4465284433" /><Relationship Type="http://schemas.openxmlformats.org/officeDocument/2006/relationships/slideLayout" Target="/ppt/slideLayouts/slideLayout12.xml" Id="Rad501117fc4b4124" /><Relationship Type="http://schemas.openxmlformats.org/officeDocument/2006/relationships/slideLayout" Target="/ppt/slideLayouts/slideLayout13.xml" Id="R53e1bb5c5c8c402b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A0D5B246-E282-3742-BD72-B1BCDC5A64B4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8714772" y="6025573"/>
            <a:ext cx="2743200" cy="40163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600">
                <a:solidFill>
                  <a:srgbClr val="1C7DDB"/>
                </a:solidFill>
                <a:latin typeface="Abadi"/>
                <a:ea typeface="Abadi"/>
                <a:cs typeface="Abadi"/>
              </a:defRPr>
            </a:lvl1pPr>
          </a:lstStyle>
          <a:p xmlns:a="http://schemas.openxmlformats.org/drawingml/2006/main">
            <a:fld id="{A190C97C-0095-2443-AC12-FA4CBA4ACD4D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bef654cbb994d1d"/>
    <p:sldLayoutId xmlns:r="http://schemas.openxmlformats.org/officeDocument/2006/relationships" id="2147483650" r:id="Re983be5ff3ec46c2"/>
    <p:sldLayoutId xmlns:r="http://schemas.openxmlformats.org/officeDocument/2006/relationships" id="2147483651" r:id="R04e9e67794af4c5b"/>
    <p:sldLayoutId xmlns:r="http://schemas.openxmlformats.org/officeDocument/2006/relationships" id="2147483652" r:id="R7c02c76d8e524383"/>
    <p:sldLayoutId xmlns:r="http://schemas.openxmlformats.org/officeDocument/2006/relationships" id="2147483653" r:id="R72da515f29334c5e"/>
    <p:sldLayoutId xmlns:r="http://schemas.openxmlformats.org/officeDocument/2006/relationships" id="2147483654" r:id="R5e0586a5a0f24ee6"/>
    <p:sldLayoutId xmlns:r="http://schemas.openxmlformats.org/officeDocument/2006/relationships" id="2147483655" r:id="R569ea3dbdef44042"/>
    <p:sldLayoutId xmlns:r="http://schemas.openxmlformats.org/officeDocument/2006/relationships" id="2147483656" r:id="R706dde45b8704367"/>
    <p:sldLayoutId xmlns:r="http://schemas.openxmlformats.org/officeDocument/2006/relationships" id="2147483657" r:id="R8b8bc601d4a54ec8"/>
    <p:sldLayoutId xmlns:r="http://schemas.openxmlformats.org/officeDocument/2006/relationships" id="2147483658" r:id="Re88fd2f8184749b6"/>
    <p:sldLayoutId xmlns:r="http://schemas.openxmlformats.org/officeDocument/2006/relationships" id="2147483659" r:id="Rcd335f4465284433"/>
    <p:sldLayoutId xmlns:r="http://schemas.openxmlformats.org/officeDocument/2006/relationships" id="2147483660" r:id="Rad501117fc4b4124"/>
    <p:sldLayoutId xmlns:r="http://schemas.openxmlformats.org/officeDocument/2006/relationships" id="2147483661" r:id="R53e1bb5c5c8c402b"/>
  </p:sldLayoutIdLst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30ac197275a24c40" /><Relationship Type="http://schemas.openxmlformats.org/officeDocument/2006/relationships/image" Target="/ppt/media/image.jpeg" Id="R7b701d6baf0442a8" /><Relationship Type="http://schemas.openxmlformats.org/officeDocument/2006/relationships/image" Target="/ppt/media/image.png" Id="Reebbe4fea54540b0" /><Relationship Type="http://schemas.openxmlformats.org/officeDocument/2006/relationships/notesSlide" Target="/ppt/notesSlides/notesSlide1.xml" Id="Rdc75cf88013d47e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6a8fb3c37b49f6" /><Relationship Type="http://schemas.openxmlformats.org/officeDocument/2006/relationships/image" Target="/ppt/media/image2.png" Id="Rf1be6a53584a422d" /><Relationship Type="http://schemas.openxmlformats.org/officeDocument/2006/relationships/notesSlide" Target="/ppt/notesSlides/notesSlide2.xml" Id="R29eceb4d20c446ab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e02c750290a4c14" /><Relationship Type="http://schemas.openxmlformats.org/officeDocument/2006/relationships/image" Target="/ppt/media/image2.png" Id="R304ca85a77174ce9" /><Relationship Type="http://schemas.openxmlformats.org/officeDocument/2006/relationships/notesSlide" Target="/ppt/notesSlides/notesSlide3.xml" Id="R9c64ffe6600140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0c6dc41068344c9" /><Relationship Type="http://schemas.openxmlformats.org/officeDocument/2006/relationships/image" Target="/ppt/media/image2.png" Id="R4d9e19bf2df345c3" /><Relationship Type="http://schemas.openxmlformats.org/officeDocument/2006/relationships/notesSlide" Target="/ppt/notesSlides/notesSlide4.xml" Id="Ra79cc7f9dd6a412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5e93f40aed14fa1" /><Relationship Type="http://schemas.openxmlformats.org/officeDocument/2006/relationships/image" Target="/ppt/media/image2.jpeg" Id="R9e7316e586384e49" /><Relationship Type="http://schemas.openxmlformats.org/officeDocument/2006/relationships/notesSlide" Target="/ppt/notesSlides/notesSlide5.xml" Id="Rba3e21635a34406b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e65bb89cd20426f" /><Relationship Type="http://schemas.openxmlformats.org/officeDocument/2006/relationships/image" Target="/ppt/media/image2.png" Id="R5d673def12f94d8f" /><Relationship Type="http://schemas.openxmlformats.org/officeDocument/2006/relationships/notesSlide" Target="/ppt/notesSlides/notesSlide6.xml" Id="R7d4fde7fe62f43f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3f0b55f23014f26" /><Relationship Type="http://schemas.openxmlformats.org/officeDocument/2006/relationships/image" Target="/ppt/media/image2.png" Id="Re7a9c677669c4ffd" /><Relationship Type="http://schemas.openxmlformats.org/officeDocument/2006/relationships/notesSlide" Target="/ppt/notesSlides/notesSlide7.xml" Id="Rd4ea66d6fc224534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ed67a174c434898" /><Relationship Type="http://schemas.openxmlformats.org/officeDocument/2006/relationships/image" Target="/ppt/media/image2.png" Id="R4a261c73fe8943c8" /><Relationship Type="http://schemas.openxmlformats.org/officeDocument/2006/relationships/hyperlink" Target="https://github.com/nicholas-yap/spacex-data-science-capstone/blob/main/notebooks/01-data-collection.ipynb" TargetMode="External" Id="R8449747e4c3c44d5" /><Relationship Type="http://schemas.openxmlformats.org/officeDocument/2006/relationships/notesSlide" Target="/ppt/notesSlides/notesSlide8.xml" Id="Rceabcece1dff4f8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90924ef1b484e80" /><Relationship Type="http://schemas.openxmlformats.org/officeDocument/2006/relationships/image" Target="/ppt/media/image2.png" Id="Ref27cd5e9dc74a28" /><Relationship Type="http://schemas.openxmlformats.org/officeDocument/2006/relationships/hyperlink" Target="https://github.com/nicholas-yap/spacex-data-science-capstone/blob/main/notebooks/jupyter-labs-webscraping.ipynb" TargetMode="External" Id="R0b68e012db7e49b1" /><Relationship Type="http://schemas.openxmlformats.org/officeDocument/2006/relationships/notesSlide" Target="/ppt/notesSlides/notesSlide9.xml" Id="Rd07510d104ff43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7b00f7394a349d8" /><Relationship Type="http://schemas.openxmlformats.org/officeDocument/2006/relationships/image" Target="/ppt/media/image2.png" Id="R08d6174225e0464e" /><Relationship Type="http://schemas.openxmlformats.org/officeDocument/2006/relationships/hyperlink" Target="https://github.com/nicholas-yap/spacex-data-science-capstone/blob/main/notebooks/02-wrangling-eda.ipynb" TargetMode="External" Id="R4db6836c883b46ea" /><Relationship Type="http://schemas.openxmlformats.org/officeDocument/2006/relationships/notesSlide" Target="/ppt/notesSlides/notesSlide10.xml" Id="R3f8576be8bce4906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3e80c8df2a4fd9" /><Relationship Type="http://schemas.openxmlformats.org/officeDocument/2006/relationships/image" Target="/ppt/media/image2.png" Id="R66591d06f98d475a" /><Relationship Type="http://schemas.openxmlformats.org/officeDocument/2006/relationships/hyperlink" Target="https://github.com/nicholas-yap/spacex-data-science-capstone/blob/main/notebooks/02-wrangling-eda.ipynb" TargetMode="External" Id="R1ea597a8ca2e4e3b" /><Relationship Type="http://schemas.openxmlformats.org/officeDocument/2006/relationships/notesSlide" Target="/ppt/notesSlides/notesSlide11.xml" Id="Rc1a84a2497b044af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0a7f8b2b4f48d8" /><Relationship Type="http://schemas.openxmlformats.org/officeDocument/2006/relationships/image" Target="/ppt/media/image2.png" Id="Rf750f8b09cfd49d6" /><Relationship Type="http://schemas.openxmlformats.org/officeDocument/2006/relationships/hyperlink" Target="https://github.com/nicholas-yap/spacex-data-science-capstone/blob/main/notebooks/jupyter-labs-eda-sql-coursera_sqllite.ipynb" TargetMode="External" Id="Rf14c0578c6934052" /><Relationship Type="http://schemas.openxmlformats.org/officeDocument/2006/relationships/notesSlide" Target="/ppt/notesSlides/notesSlide12.xml" Id="R040e9bd340bc46e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ce6c30030c4237" /><Relationship Type="http://schemas.openxmlformats.org/officeDocument/2006/relationships/image" Target="/ppt/media/image2.png" Id="R34b46134030d4674" /><Relationship Type="http://schemas.openxmlformats.org/officeDocument/2006/relationships/hyperlink" Target="https://github.com/nicholas-yap/spacex-data-science-capstone/blob/main/notebooks/03-interactive-maps.ipynb" TargetMode="External" Id="R2a50e49f98194df1" /><Relationship Type="http://schemas.openxmlformats.org/officeDocument/2006/relationships/notesSlide" Target="/ppt/notesSlides/notesSlide13.xml" Id="Rb21a35f0e176491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a460908fd4977" /><Relationship Type="http://schemas.openxmlformats.org/officeDocument/2006/relationships/image" Target="/ppt/media/image2.png" Id="R9ab77c8ce20549dd" /><Relationship Type="http://schemas.openxmlformats.org/officeDocument/2006/relationships/hyperlink" Target="https://github.com/nicholas-yap/spacex-data-science-capstone/blob/main/spacex_dashboard.py" TargetMode="External" Id="R06b831116522446e" /><Relationship Type="http://schemas.openxmlformats.org/officeDocument/2006/relationships/notesSlide" Target="/ppt/notesSlides/notesSlide14.xml" Id="Re492e89f23eb4fa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39c6cd310bf4611" /><Relationship Type="http://schemas.openxmlformats.org/officeDocument/2006/relationships/image" Target="/ppt/media/image2.png" Id="R380eac88c7bf453e" /><Relationship Type="http://schemas.openxmlformats.org/officeDocument/2006/relationships/hyperlink" Target="https://github.com/nicholas-yap/spacex-data-science-capstone/blob/main/notebooks/SpaceX-Machine-Learning-Prediction-Part-5-v1.ipynb" TargetMode="External" Id="Ree4a646a6199426f" /><Relationship Type="http://schemas.openxmlformats.org/officeDocument/2006/relationships/notesSlide" Target="/ppt/notesSlides/notesSlide15.xml" Id="R55d41881de4345e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a893aa458444c47" /><Relationship Type="http://schemas.openxmlformats.org/officeDocument/2006/relationships/image" Target="/ppt/media/image2.png" Id="Rb3e80cad05954995" /><Relationship Type="http://schemas.openxmlformats.org/officeDocument/2006/relationships/notesSlide" Target="/ppt/notesSlides/notesSlide16.xml" Id="R61f3da16b3fb4d9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df6c00928cf44e0" /><Relationship Type="http://schemas.openxmlformats.org/officeDocument/2006/relationships/image" Target="/ppt/media/image3.png" Id="Rb957ebfc10454e29" /><Relationship Type="http://schemas.openxmlformats.org/officeDocument/2006/relationships/notesSlide" Target="/ppt/notesSlides/notesSlide17.xml" Id="Rbc5263354dad449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3d377d06a84855" /><Relationship Type="http://schemas.openxmlformats.org/officeDocument/2006/relationships/image" Target="/ppt/media/image2.png" Id="R1354694286f144aa" /><Relationship Type="http://schemas.openxmlformats.org/officeDocument/2006/relationships/chart" Target="/ppt/slides/charts/chart1.xml" Id="Rcad787862bcc49a4" /><Relationship Type="http://schemas.openxmlformats.org/officeDocument/2006/relationships/notesSlide" Target="/ppt/notesSlides/notesSlide18.xml" Id="Reaa9e59aea244d2c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02dd8561d94acf" /><Relationship Type="http://schemas.openxmlformats.org/officeDocument/2006/relationships/image" Target="/ppt/media/image2.png" Id="R143c4ae9c8ef4c22" /><Relationship Type="http://schemas.openxmlformats.org/officeDocument/2006/relationships/chart" Target="/ppt/slides/charts/chart2.xml" Id="R9905cb45af3f41c1" /><Relationship Type="http://schemas.openxmlformats.org/officeDocument/2006/relationships/notesSlide" Target="/ppt/notesSlides/notesSlide19.xml" Id="R5a728cc4a2ab480f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74232a13ec4d28" /><Relationship Type="http://schemas.openxmlformats.org/officeDocument/2006/relationships/image" Target="/ppt/media/image2.png" Id="Rb931326c89d54064" /><Relationship Type="http://schemas.openxmlformats.org/officeDocument/2006/relationships/chart" Target="/ppt/slides/charts/chart3.xml" Id="Rb4d5e79021de4fc8" /><Relationship Type="http://schemas.openxmlformats.org/officeDocument/2006/relationships/notesSlide" Target="/ppt/notesSlides/notesSlide20.xml" Id="R8843dae2827946da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0081030ba84265" /><Relationship Type="http://schemas.openxmlformats.org/officeDocument/2006/relationships/image" Target="/ppt/media/image2.png" Id="R7ad7715e370c4a2e" /><Relationship Type="http://schemas.openxmlformats.org/officeDocument/2006/relationships/chart" Target="/ppt/slides/charts/chart4.xml" Id="R8141f9f556cc40fb" /><Relationship Type="http://schemas.openxmlformats.org/officeDocument/2006/relationships/notesSlide" Target="/ppt/notesSlides/notesSlide21.xml" Id="Rb558595cc79843d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7eb9db7224e48" /><Relationship Type="http://schemas.openxmlformats.org/officeDocument/2006/relationships/image" Target="/ppt/media/image2.png" Id="R1791c8917c3f400d" /><Relationship Type="http://schemas.openxmlformats.org/officeDocument/2006/relationships/chart" Target="/ppt/slides/charts/chart5.xml" Id="R5c4936948b304b0a" /><Relationship Type="http://schemas.openxmlformats.org/officeDocument/2006/relationships/notesSlide" Target="/ppt/notesSlides/notesSlide22.xml" Id="R85ee80ddaa844033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8d83d73191445d" /><Relationship Type="http://schemas.openxmlformats.org/officeDocument/2006/relationships/image" Target="/ppt/media/image2.png" Id="R130aeb22b5324bcf" /><Relationship Type="http://schemas.openxmlformats.org/officeDocument/2006/relationships/chart" Target="/ppt/slides/charts/chart6.xml" Id="R4352c364657e4392" /><Relationship Type="http://schemas.openxmlformats.org/officeDocument/2006/relationships/notesSlide" Target="/ppt/notesSlides/notesSlide23.xml" Id="R20be40f6881a4093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de9ef06b4064bc0" /><Relationship Type="http://schemas.openxmlformats.org/officeDocument/2006/relationships/image" Target="/ppt/media/image2.png" Id="Re9f065b207034bde" /><Relationship Type="http://schemas.openxmlformats.org/officeDocument/2006/relationships/notesSlide" Target="/ppt/notesSlides/notesSlide24.xml" Id="Rcd60b43c1ac344b4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5451ee561334f08" /><Relationship Type="http://schemas.openxmlformats.org/officeDocument/2006/relationships/image" Target="/ppt/media/image2.png" Id="R394e50a66c1f4465" /><Relationship Type="http://schemas.openxmlformats.org/officeDocument/2006/relationships/notesSlide" Target="/ppt/notesSlides/notesSlide25.xml" Id="R26a521df88e548ad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c334de54c984600" /><Relationship Type="http://schemas.openxmlformats.org/officeDocument/2006/relationships/image" Target="/ppt/media/image2.png" Id="Rc8c85e55c8a04ed6" /><Relationship Type="http://schemas.openxmlformats.org/officeDocument/2006/relationships/notesSlide" Target="/ppt/notesSlides/notesSlide26.xml" Id="R5a892c45a69c442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bb9ee0fbdb94d6c" /><Relationship Type="http://schemas.openxmlformats.org/officeDocument/2006/relationships/image" Target="/ppt/media/image2.png" Id="R090e3aca8a7e464e" /><Relationship Type="http://schemas.openxmlformats.org/officeDocument/2006/relationships/notesSlide" Target="/ppt/notesSlides/notesSlide27.xml" Id="Re87c5eda73a74134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c06f83cebb4ca7" /><Relationship Type="http://schemas.openxmlformats.org/officeDocument/2006/relationships/image" Target="/ppt/media/image2.png" Id="R24b92070bc6e4bfe" /><Relationship Type="http://schemas.openxmlformats.org/officeDocument/2006/relationships/notesSlide" Target="/ppt/notesSlides/notesSlide28.xml" Id="R59c881301f2a4317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ae5758f97284c9a" /><Relationship Type="http://schemas.openxmlformats.org/officeDocument/2006/relationships/image" Target="/ppt/media/image2.png" Id="R2f2f286b1ed141bc" /><Relationship Type="http://schemas.openxmlformats.org/officeDocument/2006/relationships/notesSlide" Target="/ppt/notesSlides/notesSlide29.xml" Id="R525512999d1b4567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42be598eef34bd9" /><Relationship Type="http://schemas.openxmlformats.org/officeDocument/2006/relationships/image" Target="/ppt/media/image2.png" Id="Rb8ba8f2cb0d74a80" /><Relationship Type="http://schemas.openxmlformats.org/officeDocument/2006/relationships/notesSlide" Target="/ppt/notesSlides/notesSlide30.xml" Id="R2aaa79c1edc34206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509f1d07c9488a" /><Relationship Type="http://schemas.openxmlformats.org/officeDocument/2006/relationships/image" Target="/ppt/media/image2.png" Id="Rbc94cbab3bc144fc" /><Relationship Type="http://schemas.openxmlformats.org/officeDocument/2006/relationships/notesSlide" Target="/ppt/notesSlides/notesSlide31.xml" Id="R276797e0295d4bee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45474e9592e4043" /><Relationship Type="http://schemas.openxmlformats.org/officeDocument/2006/relationships/image" Target="/ppt/media/image2.png" Id="R4d274d0f84f74a2c" /><Relationship Type="http://schemas.openxmlformats.org/officeDocument/2006/relationships/notesSlide" Target="/ppt/notesSlides/notesSlide32.xml" Id="R36584e8f8a184a59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45e823ed22a4be4" /><Relationship Type="http://schemas.openxmlformats.org/officeDocument/2006/relationships/image" Target="/ppt/media/image2.png" Id="Rba2198b9ab634aee" /><Relationship Type="http://schemas.openxmlformats.org/officeDocument/2006/relationships/notesSlide" Target="/ppt/notesSlides/notesSlide33.xml" Id="Rd0d68487e6c84305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a71228d23c43d1" /><Relationship Type="http://schemas.openxmlformats.org/officeDocument/2006/relationships/image" Target="/ppt/media/image4.png" Id="Radb3ba7cf5cf408f" /><Relationship Type="http://schemas.openxmlformats.org/officeDocument/2006/relationships/notesSlide" Target="/ppt/notesSlides/notesSlide34.xml" Id="R9ef87209ad934bff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9a4a4f0f134b85" /><Relationship Type="http://schemas.openxmlformats.org/officeDocument/2006/relationships/image" Target="/ppt/media/image2.png" Id="Rf005677aaa2f43ee" /><Relationship Type="http://schemas.openxmlformats.org/officeDocument/2006/relationships/image" Target="/ppt/media/image3.jpeg" Id="Rd38c5b6a7be1413e" /><Relationship Type="http://schemas.openxmlformats.org/officeDocument/2006/relationships/notesSlide" Target="/ppt/notesSlides/notesSlide35.xml" Id="Rcfa4b9ee30e04bde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e290eb70eeb44fc" /><Relationship Type="http://schemas.openxmlformats.org/officeDocument/2006/relationships/image" Target="/ppt/media/image2.png" Id="R268e2e8c308a46cc" /><Relationship Type="http://schemas.openxmlformats.org/officeDocument/2006/relationships/image" Target="/ppt/media/image4.jpeg" Id="R12ed0e6b74c64f85" /><Relationship Type="http://schemas.openxmlformats.org/officeDocument/2006/relationships/notesSlide" Target="/ppt/notesSlides/notesSlide36.xml" Id="R8ac20f00232c48c8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aff52aa9ea443d5" /><Relationship Type="http://schemas.openxmlformats.org/officeDocument/2006/relationships/image" Target="/ppt/media/image2.png" Id="R3cfc1f73278642d3" /><Relationship Type="http://schemas.openxmlformats.org/officeDocument/2006/relationships/image" Target="/ppt/media/image5.jpeg" Id="R41060771e5f44063" /><Relationship Type="http://schemas.openxmlformats.org/officeDocument/2006/relationships/notesSlide" Target="/ppt/notesSlides/notesSlide37.xml" Id="R1fc6af22e2584539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777caf27cab4f77" /><Relationship Type="http://schemas.openxmlformats.org/officeDocument/2006/relationships/image" Target="/ppt/media/image6.jpeg" Id="Rf09f8cdd0a834d96" /><Relationship Type="http://schemas.openxmlformats.org/officeDocument/2006/relationships/notesSlide" Target="/ppt/notesSlides/notesSlide38.xml" Id="R15c5d21859594be4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37a32b970aa4e0c" /><Relationship Type="http://schemas.openxmlformats.org/officeDocument/2006/relationships/image" Target="/ppt/media/image2.png" Id="R99912853c5f648da" /><Relationship Type="http://schemas.openxmlformats.org/officeDocument/2006/relationships/image" Target="/ppt/media/image7.jpeg" Id="R15598fb94d3b453c" /><Relationship Type="http://schemas.openxmlformats.org/officeDocument/2006/relationships/notesSlide" Target="/ppt/notesSlides/notesSlide39.xml" Id="Rbd9ef1ef4f5141e1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e48811478de48ab" /><Relationship Type="http://schemas.openxmlformats.org/officeDocument/2006/relationships/image" Target="/ppt/media/image2.png" Id="R82813bf5f9c84245" /><Relationship Type="http://schemas.openxmlformats.org/officeDocument/2006/relationships/image" Target="/ppt/media/image8.jpeg" Id="R6bef48f040eb4642" /><Relationship Type="http://schemas.openxmlformats.org/officeDocument/2006/relationships/notesSlide" Target="/ppt/notesSlides/notesSlide40.xml" Id="R8e6fde540d2d47b8" /></Relationships>
</file>

<file path=ppt/slides/_rels/slide4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8e365581b340ff" /><Relationship Type="http://schemas.openxmlformats.org/officeDocument/2006/relationships/image" Target="/ppt/media/image2.png" Id="R7283c20779334377" /><Relationship Type="http://schemas.openxmlformats.org/officeDocument/2006/relationships/image" Target="/ppt/media/image9.jpeg" Id="Rf217a2f2f1044587" /><Relationship Type="http://schemas.openxmlformats.org/officeDocument/2006/relationships/image" Target="/ppt/media/image10.jpeg" Id="Re3fe0bc7727749d5" /><Relationship Type="http://schemas.openxmlformats.org/officeDocument/2006/relationships/notesSlide" Target="/ppt/notesSlides/notesSlide41.xml" Id="R9504bfac34994e73" /></Relationships>
</file>

<file path=ppt/slides/_rels/slide4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6ad81ff80425c" /><Relationship Type="http://schemas.openxmlformats.org/officeDocument/2006/relationships/image" Target="/ppt/media/image11.jpeg" Id="R0e126892af254f62" /><Relationship Type="http://schemas.openxmlformats.org/officeDocument/2006/relationships/notesSlide" Target="/ppt/notesSlides/notesSlide42.xml" Id="R797a1755826c40b7" /></Relationships>
</file>

<file path=ppt/slides/_rels/slide4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0cb70625e9a4ab7" /><Relationship Type="http://schemas.openxmlformats.org/officeDocument/2006/relationships/image" Target="/ppt/media/image2.png" Id="R5b8ce0715c13485d" /><Relationship Type="http://schemas.openxmlformats.org/officeDocument/2006/relationships/chart" Target="/ppt/slides/charts/chart7.xml" Id="R899d7db921bc41f0" /><Relationship Type="http://schemas.openxmlformats.org/officeDocument/2006/relationships/notesSlide" Target="/ppt/notesSlides/notesSlide43.xml" Id="Rc4e0d43f2e874ae7" /></Relationships>
</file>

<file path=ppt/slides/_rels/slide4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0b7c5103ad64873" /><Relationship Type="http://schemas.openxmlformats.org/officeDocument/2006/relationships/image" Target="/ppt/media/image2.png" Id="Rf6ba452bf6ab4df0" /><Relationship Type="http://schemas.openxmlformats.org/officeDocument/2006/relationships/notesSlide" Target="/ppt/notesSlides/notesSlide44.xml" Id="R987ec8c7d2b14198" /></Relationships>
</file>

<file path=ppt/slides/_rels/slide4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85e30f5f8654876" /><Relationship Type="http://schemas.openxmlformats.org/officeDocument/2006/relationships/image" Target="/ppt/media/image2.png" Id="R5cc43a597513485e" /><Relationship Type="http://schemas.openxmlformats.org/officeDocument/2006/relationships/notesSlide" Target="/ppt/notesSlides/notesSlide45.xml" Id="Rca3d01cc310648d3" /></Relationships>
</file>

<file path=ppt/slides/_rels/slide4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f37e1ef0376408c" /><Relationship Type="http://schemas.openxmlformats.org/officeDocument/2006/relationships/image" Target="/ppt/media/image2.png" Id="R799218af9b094747" /><Relationship Type="http://schemas.openxmlformats.org/officeDocument/2006/relationships/notesSlide" Target="/ppt/notesSlides/notesSlide46.xml" Id="R72935c59c8d04064" /></Relationships>
</file>

<file path=ppt/slides/_rels/slide4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3.xml" Id="R67b168430a03418f" /><Relationship Type="http://schemas.openxmlformats.org/officeDocument/2006/relationships/image" Target="/ppt/media/image12.jpeg" Id="R3b01294c43cc4d24" /><Relationship Type="http://schemas.openxmlformats.org/officeDocument/2006/relationships/notesSlide" Target="/ppt/notesSlides/notesSlide47.xml" Id="Ra0452910faf4493f" /></Relationships>
</file>

<file path=ppt/slides/charts/_rels/chart1.xml.rels><Relationships xmlns="http://schemas.openxmlformats.org/package/2006/relationships"><Relationship Id="rIdChartSnapshot1" Type="http://schemas.openxmlformats.org/officeDocument/2006/relationships/package" Target="../../embeddings/chart-data-snapshot-001.xlsx"/></Relationships>
</file>

<file path=ppt/slides/charts/_rels/chart2.xml.rels><Relationships xmlns="http://schemas.openxmlformats.org/package/2006/relationships"><Relationship Id="rIdChartSnapshot1" Type="http://schemas.openxmlformats.org/officeDocument/2006/relationships/package" Target="../../embeddings/chart-data-snapshot-002.xlsx"/></Relationships>
</file>

<file path=ppt/slides/charts/_rels/chart3.xml.rels><Relationships xmlns="http://schemas.openxmlformats.org/package/2006/relationships"><Relationship Id="rIdChartSnapshot1" Type="http://schemas.openxmlformats.org/officeDocument/2006/relationships/package" Target="../../embeddings/chart-data-snapshot-003.xlsx"/></Relationships>
</file>

<file path=ppt/slides/charts/_rels/chart4.xml.rels><Relationships xmlns="http://schemas.openxmlformats.org/package/2006/relationships"><Relationship Id="rIdChartSnapshot1" Type="http://schemas.openxmlformats.org/officeDocument/2006/relationships/package" Target="../../embeddings/chart-data-snapshot-004.xlsx"/></Relationships>
</file>

<file path=ppt/slides/charts/_rels/chart5.xml.rels><Relationships xmlns="http://schemas.openxmlformats.org/package/2006/relationships"><Relationship Id="rIdChartSnapshot1" Type="http://schemas.openxmlformats.org/officeDocument/2006/relationships/package" Target="../../embeddings/chart-data-snapshot-005.xlsx"/></Relationships>
</file>

<file path=ppt/slides/charts/_rels/chart6.xml.rels><Relationships xmlns="http://schemas.openxmlformats.org/package/2006/relationships"><Relationship Id="rIdChartSnapshot1" Type="http://schemas.openxmlformats.org/officeDocument/2006/relationships/package" Target="../../embeddings/chart-data-snapshot-006.xlsx"/></Relationships>
</file>

<file path=ppt/slides/charts/_rels/chart7.xml.rels><Relationships xmlns="http://schemas.openxmlformats.org/package/2006/relationships"><Relationship Id="rIdChartSnapshot1" Type="http://schemas.openxmlformats.org/officeDocument/2006/relationships/package" Target="../../embeddings/chart-data-snapshot-007.xlsx"/></Relationships>
</file>

<file path=ppt/slides/charts/chart1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14</c:v>
                </c:pt>
                <c:pt idx="11">
                  <c:v>15</c:v>
                </c:pt>
                <c:pt idx="12">
                  <c:v>16</c:v>
                </c:pt>
                <c:pt idx="13">
                  <c:v>18</c:v>
                </c:pt>
                <c:pt idx="14">
                  <c:v>19</c:v>
                </c:pt>
                <c:pt idx="15">
                  <c:v>25</c:v>
                </c:pt>
                <c:pt idx="16">
                  <c:v>28</c:v>
                </c:pt>
                <c:pt idx="17">
                  <c:v>31</c:v>
                </c:pt>
                <c:pt idx="18">
                  <c:v>35</c:v>
                </c:pt>
                <c:pt idx="19">
                  <c:v>46</c:v>
                </c:pt>
                <c:pt idx="20">
                  <c:v>47</c:v>
                </c:pt>
                <c:pt idx="21">
                  <c:v>48</c:v>
                </c:pt>
                <c:pt idx="22">
                  <c:v>51</c:v>
                </c:pt>
                <c:pt idx="23">
                  <c:v>52</c:v>
                </c:pt>
                <c:pt idx="24">
                  <c:v>60</c:v>
                </c:pt>
                <c:pt idx="25">
                  <c:v>61</c:v>
                </c:pt>
                <c:pt idx="26">
                  <c:v>68</c:v>
                </c:pt>
                <c:pt idx="27">
                  <c:v>73</c:v>
                </c:pt>
                <c:pt idx="28">
                  <c:v>75</c:v>
                </c:pt>
                <c:pt idx="29">
                  <c:v>77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3</c:v>
                </c:pt>
                <c:pt idx="14">
                  <c:v>1</c:v>
                </c:pt>
                <c:pt idx="15">
                  <c:v>1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1</c:v>
                </c:pt>
                <c:pt idx="20">
                  <c:v>3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2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7</c:v>
                </c:pt>
                <c:pt idx="1">
                  <c:v>8</c:v>
                </c:pt>
                <c:pt idx="2">
                  <c:v>13</c:v>
                </c:pt>
                <c:pt idx="3">
                  <c:v>17</c:v>
                </c:pt>
                <c:pt idx="4">
                  <c:v>20</c:v>
                </c:pt>
                <c:pt idx="5">
                  <c:v>21</c:v>
                </c:pt>
                <c:pt idx="6">
                  <c:v>22</c:v>
                </c:pt>
                <c:pt idx="7">
                  <c:v>23</c:v>
                </c:pt>
                <c:pt idx="8">
                  <c:v>24</c:v>
                </c:pt>
                <c:pt idx="9">
                  <c:v>26</c:v>
                </c:pt>
                <c:pt idx="10">
                  <c:v>27</c:v>
                </c:pt>
                <c:pt idx="11">
                  <c:v>29</c:v>
                </c:pt>
                <c:pt idx="12">
                  <c:v>30</c:v>
                </c:pt>
                <c:pt idx="13">
                  <c:v>32</c:v>
                </c:pt>
                <c:pt idx="14">
                  <c:v>33</c:v>
                </c:pt>
                <c:pt idx="15">
                  <c:v>34</c:v>
                </c:pt>
                <c:pt idx="16">
                  <c:v>36</c:v>
                </c:pt>
                <c:pt idx="17">
                  <c:v>37</c:v>
                </c:pt>
                <c:pt idx="18">
                  <c:v>38</c:v>
                </c:pt>
                <c:pt idx="19">
                  <c:v>39</c:v>
                </c:pt>
                <c:pt idx="20">
                  <c:v>40</c:v>
                </c:pt>
                <c:pt idx="21">
                  <c:v>41</c:v>
                </c:pt>
                <c:pt idx="22">
                  <c:v>42</c:v>
                </c:pt>
                <c:pt idx="23">
                  <c:v>43</c:v>
                </c:pt>
                <c:pt idx="24">
                  <c:v>44</c:v>
                </c:pt>
                <c:pt idx="25">
                  <c:v>45</c:v>
                </c:pt>
                <c:pt idx="26">
                  <c:v>49</c:v>
                </c:pt>
                <c:pt idx="27">
                  <c:v>50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62</c:v>
                </c:pt>
                <c:pt idx="36">
                  <c:v>63</c:v>
                </c:pt>
                <c:pt idx="37">
                  <c:v>64</c:v>
                </c:pt>
                <c:pt idx="38">
                  <c:v>65</c:v>
                </c:pt>
                <c:pt idx="39">
                  <c:v>66</c:v>
                </c:pt>
                <c:pt idx="40">
                  <c:v>67</c:v>
                </c:pt>
                <c:pt idx="41">
                  <c:v>69</c:v>
                </c:pt>
                <c:pt idx="42">
                  <c:v>70</c:v>
                </c:pt>
                <c:pt idx="43">
                  <c:v>71</c:v>
                </c:pt>
                <c:pt idx="44">
                  <c:v>72</c:v>
                </c:pt>
                <c:pt idx="45">
                  <c:v>74</c:v>
                </c:pt>
                <c:pt idx="46">
                  <c:v>76</c:v>
                </c:pt>
                <c:pt idx="47">
                  <c:v>78</c:v>
                </c:pt>
                <c:pt idx="48">
                  <c:v>79</c:v>
                </c:pt>
                <c:pt idx="49">
                  <c:v>80</c:v>
                </c:pt>
                <c:pt idx="50">
                  <c:v>81</c:v>
                </c:pt>
                <c:pt idx="51">
                  <c:v>82</c:v>
                </c:pt>
                <c:pt idx="52">
                  <c:v>83</c:v>
                </c:pt>
                <c:pt idx="53">
                  <c:v>84</c:v>
                </c:pt>
                <c:pt idx="54">
                  <c:v>85</c:v>
                </c:pt>
                <c:pt idx="55">
                  <c:v>86</c:v>
                </c:pt>
                <c:pt idx="56">
                  <c:v>87</c:v>
                </c:pt>
                <c:pt idx="57">
                  <c:v>88</c:v>
                </c:pt>
                <c:pt idx="58">
                  <c:v>89</c:v>
                </c:pt>
                <c:pt idx="59">
                  <c:v>90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3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  <c:pt idx="15">
                  <c:v>3</c:v>
                </c:pt>
                <c:pt idx="16">
                  <c:v>2</c:v>
                </c:pt>
                <c:pt idx="17">
                  <c:v>3</c:v>
                </c:pt>
                <c:pt idx="18">
                  <c:v>2</c:v>
                </c:pt>
                <c:pt idx="19">
                  <c:v>3</c:v>
                </c:pt>
                <c:pt idx="20">
                  <c:v>2</c:v>
                </c:pt>
                <c:pt idx="21">
                  <c:v>2</c:v>
                </c:pt>
                <c:pt idx="22">
                  <c:v>1</c:v>
                </c:pt>
                <c:pt idx="23">
                  <c:v>3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3</c:v>
                </c:pt>
                <c:pt idx="30">
                  <c:v>1</c:v>
                </c:pt>
                <c:pt idx="31">
                  <c:v>1</c:v>
                </c:pt>
                <c:pt idx="32">
                  <c:v>3</c:v>
                </c:pt>
                <c:pt idx="33">
                  <c:v>2</c:v>
                </c:pt>
                <c:pt idx="34">
                  <c:v>3</c:v>
                </c:pt>
                <c:pt idx="35">
                  <c:v>3</c:v>
                </c:pt>
                <c:pt idx="36">
                  <c:v>2</c:v>
                </c:pt>
                <c:pt idx="37">
                  <c:v>1</c:v>
                </c:pt>
                <c:pt idx="38">
                  <c:v>1</c:v>
                </c:pt>
                <c:pt idx="39">
                  <c:v>3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2</c:v>
                </c:pt>
                <c:pt idx="48">
                  <c:v>2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2</c:v>
                </c:pt>
                <c:pt idx="56">
                  <c:v>2</c:v>
                </c:pt>
                <c:pt idx="57">
                  <c:v>2</c:v>
                </c:pt>
                <c:pt idx="58">
                  <c:v>1</c:v>
                </c:pt>
                <c:pt idx="59">
                  <c:v>1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4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Site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Flight number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2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6104.9594117647</c:v>
                </c:pt>
                <c:pt idx="1">
                  <c:v>525</c:v>
                </c:pt>
                <c:pt idx="2">
                  <c:v>677</c:v>
                </c:pt>
                <c:pt idx="3">
                  <c:v>500</c:v>
                </c:pt>
                <c:pt idx="4">
                  <c:v>3170</c:v>
                </c:pt>
                <c:pt idx="5">
                  <c:v>3325</c:v>
                </c:pt>
                <c:pt idx="6">
                  <c:v>4535</c:v>
                </c:pt>
                <c:pt idx="7">
                  <c:v>4428</c:v>
                </c:pt>
                <c:pt idx="8">
                  <c:v>2216</c:v>
                </c:pt>
                <c:pt idx="9">
                  <c:v>2395</c:v>
                </c:pt>
                <c:pt idx="10">
                  <c:v>1898</c:v>
                </c:pt>
                <c:pt idx="11">
                  <c:v>4707</c:v>
                </c:pt>
                <c:pt idx="12">
                  <c:v>2477</c:v>
                </c:pt>
                <c:pt idx="13">
                  <c:v>553</c:v>
                </c:pt>
                <c:pt idx="14">
                  <c:v>5271</c:v>
                </c:pt>
                <c:pt idx="15">
                  <c:v>5500</c:v>
                </c:pt>
                <c:pt idx="16">
                  <c:v>5600</c:v>
                </c:pt>
                <c:pt idx="17">
                  <c:v>6070</c:v>
                </c:pt>
                <c:pt idx="18">
                  <c:v>6761</c:v>
                </c:pt>
                <c:pt idx="19">
                  <c:v>6092</c:v>
                </c:pt>
                <c:pt idx="20">
                  <c:v>9600</c:v>
                </c:pt>
                <c:pt idx="21">
                  <c:v>2760</c:v>
                </c:pt>
                <c:pt idx="22">
                  <c:v>5383.85</c:v>
                </c:pt>
                <c:pt idx="23">
                  <c:v>2410</c:v>
                </c:pt>
                <c:pt idx="24">
                  <c:v>2573</c:v>
                </c:pt>
                <c:pt idx="25">
                  <c:v>4400</c:v>
                </c:pt>
                <c:pt idx="26">
                  <c:v>6500</c:v>
                </c:pt>
                <c:pt idx="27">
                  <c:v>6104.9594117647</c:v>
                </c:pt>
                <c:pt idx="28">
                  <c:v>15400</c:v>
                </c:pt>
                <c:pt idx="29">
                  <c:v>15600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3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1</c:v>
                </c:pt>
                <c:pt idx="10">
                  <c:v>1</c:v>
                </c:pt>
                <c:pt idx="11">
                  <c:v>1</c:v>
                </c:pt>
                <c:pt idx="12">
                  <c:v>1</c:v>
                </c:pt>
                <c:pt idx="13">
                  <c:v>3</c:v>
                </c:pt>
                <c:pt idx="14">
                  <c:v>1</c:v>
                </c:pt>
                <c:pt idx="15">
                  <c:v>1</c:v>
                </c:pt>
                <c:pt idx="16">
                  <c:v>2</c:v>
                </c:pt>
                <c:pt idx="17">
                  <c:v>2</c:v>
                </c:pt>
                <c:pt idx="18">
                  <c:v>2</c:v>
                </c:pt>
                <c:pt idx="19">
                  <c:v>1</c:v>
                </c:pt>
                <c:pt idx="20">
                  <c:v>3</c:v>
                </c:pt>
                <c:pt idx="21">
                  <c:v>1</c:v>
                </c:pt>
                <c:pt idx="22">
                  <c:v>1</c:v>
                </c:pt>
                <c:pt idx="23">
                  <c:v>1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2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2296</c:v>
                </c:pt>
                <c:pt idx="1">
                  <c:v>1316</c:v>
                </c:pt>
                <c:pt idx="2">
                  <c:v>570</c:v>
                </c:pt>
                <c:pt idx="3">
                  <c:v>2034</c:v>
                </c:pt>
                <c:pt idx="4">
                  <c:v>3136</c:v>
                </c:pt>
                <c:pt idx="5">
                  <c:v>4696</c:v>
                </c:pt>
                <c:pt idx="6">
                  <c:v>3100</c:v>
                </c:pt>
                <c:pt idx="7">
                  <c:v>2257</c:v>
                </c:pt>
                <c:pt idx="8">
                  <c:v>4600</c:v>
                </c:pt>
                <c:pt idx="9">
                  <c:v>9600</c:v>
                </c:pt>
                <c:pt idx="10">
                  <c:v>2490</c:v>
                </c:pt>
                <c:pt idx="11">
                  <c:v>5300</c:v>
                </c:pt>
                <c:pt idx="12">
                  <c:v>6104.9594117647</c:v>
                </c:pt>
                <c:pt idx="13">
                  <c:v>2708</c:v>
                </c:pt>
                <c:pt idx="14">
                  <c:v>3669</c:v>
                </c:pt>
                <c:pt idx="15">
                  <c:v>9600</c:v>
                </c:pt>
                <c:pt idx="16">
                  <c:v>2910</c:v>
                </c:pt>
                <c:pt idx="17">
                  <c:v>475</c:v>
                </c:pt>
                <c:pt idx="18">
                  <c:v>4990</c:v>
                </c:pt>
                <c:pt idx="19">
                  <c:v>9600</c:v>
                </c:pt>
                <c:pt idx="20">
                  <c:v>5200</c:v>
                </c:pt>
                <c:pt idx="21">
                  <c:v>3700</c:v>
                </c:pt>
                <c:pt idx="22">
                  <c:v>2205</c:v>
                </c:pt>
                <c:pt idx="23">
                  <c:v>9600</c:v>
                </c:pt>
                <c:pt idx="24">
                  <c:v>6104.9594117647</c:v>
                </c:pt>
                <c:pt idx="25">
                  <c:v>4230</c:v>
                </c:pt>
                <c:pt idx="26">
                  <c:v>350</c:v>
                </c:pt>
                <c:pt idx="27">
                  <c:v>3750</c:v>
                </c:pt>
                <c:pt idx="28">
                  <c:v>7076</c:v>
                </c:pt>
                <c:pt idx="29">
                  <c:v>9600</c:v>
                </c:pt>
                <c:pt idx="30">
                  <c:v>5800</c:v>
                </c:pt>
                <c:pt idx="31">
                  <c:v>7060</c:v>
                </c:pt>
                <c:pt idx="32">
                  <c:v>2800</c:v>
                </c:pt>
                <c:pt idx="33">
                  <c:v>3000</c:v>
                </c:pt>
                <c:pt idx="34">
                  <c:v>4000</c:v>
                </c:pt>
                <c:pt idx="35">
                  <c:v>9600</c:v>
                </c:pt>
                <c:pt idx="36">
                  <c:v>12259</c:v>
                </c:pt>
                <c:pt idx="37">
                  <c:v>2482</c:v>
                </c:pt>
                <c:pt idx="38">
                  <c:v>13620</c:v>
                </c:pt>
                <c:pt idx="39">
                  <c:v>1425</c:v>
                </c:pt>
                <c:pt idx="40">
                  <c:v>2227.7</c:v>
                </c:pt>
                <c:pt idx="41">
                  <c:v>15600</c:v>
                </c:pt>
                <c:pt idx="42">
                  <c:v>5000</c:v>
                </c:pt>
                <c:pt idx="43">
                  <c:v>6800</c:v>
                </c:pt>
                <c:pt idx="44">
                  <c:v>15400</c:v>
                </c:pt>
                <c:pt idx="45">
                  <c:v>15600</c:v>
                </c:pt>
                <c:pt idx="46">
                  <c:v>1977</c:v>
                </c:pt>
                <c:pt idx="47">
                  <c:v>15400</c:v>
                </c:pt>
                <c:pt idx="48">
                  <c:v>9525</c:v>
                </c:pt>
                <c:pt idx="49">
                  <c:v>15400</c:v>
                </c:pt>
                <c:pt idx="50">
                  <c:v>15400</c:v>
                </c:pt>
                <c:pt idx="51">
                  <c:v>3880</c:v>
                </c:pt>
                <c:pt idx="52">
                  <c:v>6104.9594117647</c:v>
                </c:pt>
                <c:pt idx="53">
                  <c:v>15400</c:v>
                </c:pt>
                <c:pt idx="54">
                  <c:v>1600</c:v>
                </c:pt>
                <c:pt idx="55">
                  <c:v>15400</c:v>
                </c:pt>
                <c:pt idx="56">
                  <c:v>15400</c:v>
                </c:pt>
                <c:pt idx="57">
                  <c:v>15400</c:v>
                </c:pt>
                <c:pt idx="58">
                  <c:v>15400</c:v>
                </c:pt>
                <c:pt idx="59">
                  <c:v>3681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1</c:v>
                </c:pt>
                <c:pt idx="4">
                  <c:v>1</c:v>
                </c:pt>
                <c:pt idx="5">
                  <c:v>1</c:v>
                </c:pt>
                <c:pt idx="6">
                  <c:v>1</c:v>
                </c:pt>
                <c:pt idx="7">
                  <c:v>1</c:v>
                </c:pt>
                <c:pt idx="8">
                  <c:v>1</c:v>
                </c:pt>
                <c:pt idx="9">
                  <c:v>3</c:v>
                </c:pt>
                <c:pt idx="10">
                  <c:v>2</c:v>
                </c:pt>
                <c:pt idx="11">
                  <c:v>2</c:v>
                </c:pt>
                <c:pt idx="12">
                  <c:v>2</c:v>
                </c:pt>
                <c:pt idx="13">
                  <c:v>2</c:v>
                </c:pt>
                <c:pt idx="14">
                  <c:v>2</c:v>
                </c:pt>
                <c:pt idx="15">
                  <c:v>3</c:v>
                </c:pt>
                <c:pt idx="16">
                  <c:v>2</c:v>
                </c:pt>
                <c:pt idx="17">
                  <c:v>3</c:v>
                </c:pt>
                <c:pt idx="18">
                  <c:v>2</c:v>
                </c:pt>
                <c:pt idx="19">
                  <c:v>3</c:v>
                </c:pt>
                <c:pt idx="20">
                  <c:v>2</c:v>
                </c:pt>
                <c:pt idx="21">
                  <c:v>2</c:v>
                </c:pt>
                <c:pt idx="22">
                  <c:v>1</c:v>
                </c:pt>
                <c:pt idx="23">
                  <c:v>3</c:v>
                </c:pt>
                <c:pt idx="24">
                  <c:v>1</c:v>
                </c:pt>
                <c:pt idx="25">
                  <c:v>1</c:v>
                </c:pt>
                <c:pt idx="26">
                  <c:v>1</c:v>
                </c:pt>
                <c:pt idx="27">
                  <c:v>2</c:v>
                </c:pt>
                <c:pt idx="28">
                  <c:v>1</c:v>
                </c:pt>
                <c:pt idx="29">
                  <c:v>3</c:v>
                </c:pt>
                <c:pt idx="30">
                  <c:v>1</c:v>
                </c:pt>
                <c:pt idx="31">
                  <c:v>1</c:v>
                </c:pt>
                <c:pt idx="32">
                  <c:v>3</c:v>
                </c:pt>
                <c:pt idx="33">
                  <c:v>2</c:v>
                </c:pt>
                <c:pt idx="34">
                  <c:v>3</c:v>
                </c:pt>
                <c:pt idx="35">
                  <c:v>3</c:v>
                </c:pt>
                <c:pt idx="36">
                  <c:v>2</c:v>
                </c:pt>
                <c:pt idx="37">
                  <c:v>1</c:v>
                </c:pt>
                <c:pt idx="38">
                  <c:v>1</c:v>
                </c:pt>
                <c:pt idx="39">
                  <c:v>3</c:v>
                </c:pt>
                <c:pt idx="40">
                  <c:v>1</c:v>
                </c:pt>
                <c:pt idx="41">
                  <c:v>1</c:v>
                </c:pt>
                <c:pt idx="42">
                  <c:v>1</c:v>
                </c:pt>
                <c:pt idx="43">
                  <c:v>1</c:v>
                </c:pt>
                <c:pt idx="44">
                  <c:v>1</c:v>
                </c:pt>
                <c:pt idx="45">
                  <c:v>1</c:v>
                </c:pt>
                <c:pt idx="46">
                  <c:v>1</c:v>
                </c:pt>
                <c:pt idx="47">
                  <c:v>2</c:v>
                </c:pt>
                <c:pt idx="48">
                  <c:v>2</c:v>
                </c:pt>
                <c:pt idx="49">
                  <c:v>1</c:v>
                </c:pt>
                <c:pt idx="50">
                  <c:v>1</c:v>
                </c:pt>
                <c:pt idx="51">
                  <c:v>1</c:v>
                </c:pt>
                <c:pt idx="52">
                  <c:v>1</c:v>
                </c:pt>
                <c:pt idx="53">
                  <c:v>1</c:v>
                </c:pt>
                <c:pt idx="54">
                  <c:v>1</c:v>
                </c:pt>
                <c:pt idx="55">
                  <c:v>2</c:v>
                </c:pt>
                <c:pt idx="56">
                  <c:v>2</c:v>
                </c:pt>
                <c:pt idx="57">
                  <c:v>2</c:v>
                </c:pt>
                <c:pt idx="58">
                  <c:v>1</c:v>
                </c:pt>
                <c:pt idx="59">
                  <c:v>1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4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Site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Payload (kg)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3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varyColors val="0"/>
        <c:ser>
          <c:idx val="0"/>
          <c:order val="0"/>
          <c:tx>
            <c:v>Success rate</c:v>
          </c:tx>
          <c:spPr>
            <a:solidFill xmlns:a="http://schemas.openxmlformats.org/drawingml/2006/main">
              <a:srgbClr val="0B49CB"/>
            </a:solidFill>
          </c:spPr>
          <c:invertIfNegative val="0"/>
          <c:cat>
            <c:strRef>
              <c:f>'Chart Data'!$A$2:$A$12</c:f>
              <c:strCache>
                <c:ptCount val="11"/>
                <c:pt idx="0">
                  <c:v>ES-L1 (n=1)</c:v>
                </c:pt>
                <c:pt idx="1">
                  <c:v>GEO (n=1)</c:v>
                </c:pt>
                <c:pt idx="2">
                  <c:v>GTO (n=27)</c:v>
                </c:pt>
                <c:pt idx="3">
                  <c:v>HEO (n=1)</c:v>
                </c:pt>
                <c:pt idx="4">
                  <c:v>ISS (n=21)</c:v>
                </c:pt>
                <c:pt idx="5">
                  <c:v>LEO (n=7)</c:v>
                </c:pt>
                <c:pt idx="6">
                  <c:v>MEO (n=3)</c:v>
                </c:pt>
                <c:pt idx="7">
                  <c:v>PO (n=9)</c:v>
                </c:pt>
                <c:pt idx="8">
                  <c:v>SO (n=1)</c:v>
                </c:pt>
                <c:pt idx="9">
                  <c:v>SSO (n=5)</c:v>
                </c:pt>
                <c:pt idx="10">
                  <c:v>VLEO (n=14)</c:v>
                </c:pt>
              </c:strCache>
            </c:strRef>
          </c:cat>
          <c:val>
            <c:numRef>
              <c:f>'Chart Data'!$B$2:$B$12</c:f>
              <c:numCache>
                <c:formatCode>0%</c:formatCode>
                <c:ptCount val="11"/>
                <c:pt idx="0">
                  <c:v>1</c:v>
                </c:pt>
                <c:pt idx="1">
                  <c:v>1</c:v>
                </c:pt>
                <c:pt idx="2">
                  <c:v>0.51851851851852</c:v>
                </c:pt>
                <c:pt idx="3">
                  <c:v>1</c:v>
                </c:pt>
                <c:pt idx="4">
                  <c:v>0.61904761904762</c:v>
                </c:pt>
                <c:pt idx="5">
                  <c:v>0.71428571428571</c:v>
                </c:pt>
                <c:pt idx="6">
                  <c:v>0.66666666666667</c:v>
                </c:pt>
                <c:pt idx="7">
                  <c:v>0.66666666666667</c:v>
                </c:pt>
                <c:pt idx="8">
                  <c:v>0</c:v>
                </c:pt>
                <c:pt idx="9">
                  <c:v>1</c:v>
                </c:pt>
                <c:pt idx="10">
                  <c:v>0.85714285714286</c:v>
                </c:pt>
              </c:numCache>
            </c:numRef>
          </c:val>
        </c:ser>
        <c:dLbls>
          <c:numFmt formatCode="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.15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4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1</c:v>
                </c:pt>
                <c:pt idx="1">
                  <c:v>2</c:v>
                </c:pt>
                <c:pt idx="2">
                  <c:v>3</c:v>
                </c:pt>
                <c:pt idx="3">
                  <c:v>4</c:v>
                </c:pt>
                <c:pt idx="4">
                  <c:v>5</c:v>
                </c:pt>
                <c:pt idx="5">
                  <c:v>6</c:v>
                </c:pt>
                <c:pt idx="6">
                  <c:v>9</c:v>
                </c:pt>
                <c:pt idx="7">
                  <c:v>10</c:v>
                </c:pt>
                <c:pt idx="8">
                  <c:v>11</c:v>
                </c:pt>
                <c:pt idx="9">
                  <c:v>12</c:v>
                </c:pt>
                <c:pt idx="10">
                  <c:v>14</c:v>
                </c:pt>
                <c:pt idx="11">
                  <c:v>15</c:v>
                </c:pt>
                <c:pt idx="12">
                  <c:v>16</c:v>
                </c:pt>
                <c:pt idx="13">
                  <c:v>18</c:v>
                </c:pt>
                <c:pt idx="14">
                  <c:v>19</c:v>
                </c:pt>
                <c:pt idx="15">
                  <c:v>25</c:v>
                </c:pt>
                <c:pt idx="16">
                  <c:v>28</c:v>
                </c:pt>
                <c:pt idx="17">
                  <c:v>31</c:v>
                </c:pt>
                <c:pt idx="18">
                  <c:v>35</c:v>
                </c:pt>
                <c:pt idx="19">
                  <c:v>46</c:v>
                </c:pt>
                <c:pt idx="20">
                  <c:v>47</c:v>
                </c:pt>
                <c:pt idx="21">
                  <c:v>48</c:v>
                </c:pt>
                <c:pt idx="22">
                  <c:v>51</c:v>
                </c:pt>
                <c:pt idx="23">
                  <c:v>52</c:v>
                </c:pt>
                <c:pt idx="24">
                  <c:v>60</c:v>
                </c:pt>
                <c:pt idx="25">
                  <c:v>61</c:v>
                </c:pt>
                <c:pt idx="26">
                  <c:v>68</c:v>
                </c:pt>
                <c:pt idx="27">
                  <c:v>73</c:v>
                </c:pt>
                <c:pt idx="28">
                  <c:v>75</c:v>
                </c:pt>
                <c:pt idx="29">
                  <c:v>77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8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3</c:v>
                </c:pt>
                <c:pt idx="12">
                  <c:v>5</c:v>
                </c:pt>
                <c:pt idx="13">
                  <c:v>8</c:v>
                </c:pt>
                <c:pt idx="14">
                  <c:v>3</c:v>
                </c:pt>
                <c:pt idx="15">
                  <c:v>3</c:v>
                </c:pt>
                <c:pt idx="16">
                  <c:v>3</c:v>
                </c:pt>
                <c:pt idx="17">
                  <c:v>3</c:v>
                </c:pt>
                <c:pt idx="18">
                  <c:v>3</c:v>
                </c:pt>
                <c:pt idx="19">
                  <c:v>3</c:v>
                </c:pt>
                <c:pt idx="20">
                  <c:v>8</c:v>
                </c:pt>
                <c:pt idx="21">
                  <c:v>5</c:v>
                </c:pt>
                <c:pt idx="22">
                  <c:v>3</c:v>
                </c:pt>
                <c:pt idx="23">
                  <c:v>5</c:v>
                </c:pt>
                <c:pt idx="24">
                  <c:v>5</c:v>
                </c:pt>
                <c:pt idx="25">
                  <c:v>7</c:v>
                </c:pt>
                <c:pt idx="26">
                  <c:v>3</c:v>
                </c:pt>
                <c:pt idx="27">
                  <c:v>9</c:v>
                </c:pt>
                <c:pt idx="28">
                  <c:v>11</c:v>
                </c:pt>
                <c:pt idx="29">
                  <c:v>11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7</c:v>
                </c:pt>
                <c:pt idx="1">
                  <c:v>8</c:v>
                </c:pt>
                <c:pt idx="2">
                  <c:v>13</c:v>
                </c:pt>
                <c:pt idx="3">
                  <c:v>17</c:v>
                </c:pt>
                <c:pt idx="4">
                  <c:v>20</c:v>
                </c:pt>
                <c:pt idx="5">
                  <c:v>21</c:v>
                </c:pt>
                <c:pt idx="6">
                  <c:v>22</c:v>
                </c:pt>
                <c:pt idx="7">
                  <c:v>23</c:v>
                </c:pt>
                <c:pt idx="8">
                  <c:v>24</c:v>
                </c:pt>
                <c:pt idx="9">
                  <c:v>26</c:v>
                </c:pt>
                <c:pt idx="10">
                  <c:v>27</c:v>
                </c:pt>
                <c:pt idx="11">
                  <c:v>29</c:v>
                </c:pt>
                <c:pt idx="12">
                  <c:v>30</c:v>
                </c:pt>
                <c:pt idx="13">
                  <c:v>32</c:v>
                </c:pt>
                <c:pt idx="14">
                  <c:v>33</c:v>
                </c:pt>
                <c:pt idx="15">
                  <c:v>34</c:v>
                </c:pt>
                <c:pt idx="16">
                  <c:v>36</c:v>
                </c:pt>
                <c:pt idx="17">
                  <c:v>37</c:v>
                </c:pt>
                <c:pt idx="18">
                  <c:v>38</c:v>
                </c:pt>
                <c:pt idx="19">
                  <c:v>39</c:v>
                </c:pt>
                <c:pt idx="20">
                  <c:v>40</c:v>
                </c:pt>
                <c:pt idx="21">
                  <c:v>41</c:v>
                </c:pt>
                <c:pt idx="22">
                  <c:v>42</c:v>
                </c:pt>
                <c:pt idx="23">
                  <c:v>43</c:v>
                </c:pt>
                <c:pt idx="24">
                  <c:v>44</c:v>
                </c:pt>
                <c:pt idx="25">
                  <c:v>45</c:v>
                </c:pt>
                <c:pt idx="26">
                  <c:v>49</c:v>
                </c:pt>
                <c:pt idx="27">
                  <c:v>50</c:v>
                </c:pt>
                <c:pt idx="28">
                  <c:v>53</c:v>
                </c:pt>
                <c:pt idx="29">
                  <c:v>54</c:v>
                </c:pt>
                <c:pt idx="30">
                  <c:v>55</c:v>
                </c:pt>
                <c:pt idx="31">
                  <c:v>56</c:v>
                </c:pt>
                <c:pt idx="32">
                  <c:v>57</c:v>
                </c:pt>
                <c:pt idx="33">
                  <c:v>58</c:v>
                </c:pt>
                <c:pt idx="34">
                  <c:v>59</c:v>
                </c:pt>
                <c:pt idx="35">
                  <c:v>62</c:v>
                </c:pt>
                <c:pt idx="36">
                  <c:v>63</c:v>
                </c:pt>
                <c:pt idx="37">
                  <c:v>64</c:v>
                </c:pt>
                <c:pt idx="38">
                  <c:v>65</c:v>
                </c:pt>
                <c:pt idx="39">
                  <c:v>66</c:v>
                </c:pt>
                <c:pt idx="40">
                  <c:v>67</c:v>
                </c:pt>
                <c:pt idx="41">
                  <c:v>69</c:v>
                </c:pt>
                <c:pt idx="42">
                  <c:v>70</c:v>
                </c:pt>
                <c:pt idx="43">
                  <c:v>71</c:v>
                </c:pt>
                <c:pt idx="44">
                  <c:v>72</c:v>
                </c:pt>
                <c:pt idx="45">
                  <c:v>74</c:v>
                </c:pt>
                <c:pt idx="46">
                  <c:v>76</c:v>
                </c:pt>
                <c:pt idx="47">
                  <c:v>78</c:v>
                </c:pt>
                <c:pt idx="48">
                  <c:v>79</c:v>
                </c:pt>
                <c:pt idx="49">
                  <c:v>80</c:v>
                </c:pt>
                <c:pt idx="50">
                  <c:v>81</c:v>
                </c:pt>
                <c:pt idx="51">
                  <c:v>82</c:v>
                </c:pt>
                <c:pt idx="52">
                  <c:v>83</c:v>
                </c:pt>
                <c:pt idx="53">
                  <c:v>84</c:v>
                </c:pt>
                <c:pt idx="54">
                  <c:v>85</c:v>
                </c:pt>
                <c:pt idx="55">
                  <c:v>86</c:v>
                </c:pt>
                <c:pt idx="56">
                  <c:v>87</c:v>
                </c:pt>
                <c:pt idx="57">
                  <c:v>88</c:v>
                </c:pt>
                <c:pt idx="58">
                  <c:v>89</c:v>
                </c:pt>
                <c:pt idx="59">
                  <c:v>90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5</c:v>
                </c:pt>
                <c:pt idx="1">
                  <c:v>6</c:v>
                </c:pt>
                <c:pt idx="2">
                  <c:v>1</c:v>
                </c:pt>
                <c:pt idx="3">
                  <c:v>6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  <c:pt idx="7">
                  <c:v>5</c:v>
                </c:pt>
                <c:pt idx="8">
                  <c:v>3</c:v>
                </c:pt>
                <c:pt idx="9">
                  <c:v>8</c:v>
                </c:pt>
                <c:pt idx="10">
                  <c:v>5</c:v>
                </c:pt>
                <c:pt idx="11">
                  <c:v>3</c:v>
                </c:pt>
                <c:pt idx="12">
                  <c:v>6</c:v>
                </c:pt>
                <c:pt idx="13">
                  <c:v>5</c:v>
                </c:pt>
                <c:pt idx="14">
                  <c:v>3</c:v>
                </c:pt>
                <c:pt idx="15">
                  <c:v>8</c:v>
                </c:pt>
                <c:pt idx="16">
                  <c:v>5</c:v>
                </c:pt>
                <c:pt idx="17">
                  <c:v>10</c:v>
                </c:pt>
                <c:pt idx="18">
                  <c:v>6</c:v>
                </c:pt>
                <c:pt idx="19">
                  <c:v>8</c:v>
                </c:pt>
                <c:pt idx="20">
                  <c:v>3</c:v>
                </c:pt>
                <c:pt idx="21">
                  <c:v>3</c:v>
                </c:pt>
                <c:pt idx="22">
                  <c:v>5</c:v>
                </c:pt>
                <c:pt idx="23">
                  <c:v>8</c:v>
                </c:pt>
                <c:pt idx="24">
                  <c:v>6</c:v>
                </c:pt>
                <c:pt idx="25">
                  <c:v>3</c:v>
                </c:pt>
                <c:pt idx="26">
                  <c:v>4</c:v>
                </c:pt>
                <c:pt idx="27">
                  <c:v>3</c:v>
                </c:pt>
                <c:pt idx="28">
                  <c:v>3</c:v>
                </c:pt>
                <c:pt idx="29">
                  <c:v>8</c:v>
                </c:pt>
                <c:pt idx="30">
                  <c:v>3</c:v>
                </c:pt>
                <c:pt idx="31">
                  <c:v>3</c:v>
                </c:pt>
                <c:pt idx="32">
                  <c:v>10</c:v>
                </c:pt>
                <c:pt idx="33">
                  <c:v>3</c:v>
                </c:pt>
                <c:pt idx="34">
                  <c:v>10</c:v>
                </c:pt>
                <c:pt idx="35">
                  <c:v>8</c:v>
                </c:pt>
                <c:pt idx="36">
                  <c:v>5</c:v>
                </c:pt>
                <c:pt idx="37">
                  <c:v>5</c:v>
                </c:pt>
                <c:pt idx="38">
                  <c:v>11</c:v>
                </c:pt>
                <c:pt idx="39">
                  <c:v>10</c:v>
                </c:pt>
                <c:pt idx="40">
                  <c:v>5</c:v>
                </c:pt>
                <c:pt idx="41">
                  <c:v>11</c:v>
                </c:pt>
                <c:pt idx="42">
                  <c:v>5</c:v>
                </c:pt>
                <c:pt idx="43">
                  <c:v>3</c:v>
                </c:pt>
                <c:pt idx="44">
                  <c:v>11</c:v>
                </c:pt>
                <c:pt idx="45">
                  <c:v>11</c:v>
                </c:pt>
                <c:pt idx="46">
                  <c:v>5</c:v>
                </c:pt>
                <c:pt idx="47">
                  <c:v>11</c:v>
                </c:pt>
                <c:pt idx="48">
                  <c:v>5</c:v>
                </c:pt>
                <c:pt idx="49">
                  <c:v>11</c:v>
                </c:pt>
                <c:pt idx="50">
                  <c:v>11</c:v>
                </c:pt>
                <c:pt idx="51">
                  <c:v>7</c:v>
                </c:pt>
                <c:pt idx="52">
                  <c:v>2</c:v>
                </c:pt>
                <c:pt idx="53">
                  <c:v>11</c:v>
                </c:pt>
                <c:pt idx="54">
                  <c:v>10</c:v>
                </c:pt>
                <c:pt idx="55">
                  <c:v>11</c:v>
                </c:pt>
                <c:pt idx="56">
                  <c:v>11</c:v>
                </c:pt>
                <c:pt idx="57">
                  <c:v>11</c:v>
                </c:pt>
                <c:pt idx="58">
                  <c:v>11</c:v>
                </c:pt>
                <c:pt idx="59">
                  <c:v>7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2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Orbit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Flight number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5.xml><?xml version="1.0" encoding="utf-8"?>
<c:chartSpace xmlns:c="http://schemas.openxmlformats.org/drawingml/2006/chart" xmlns:r="http://schemas.openxmlformats.org/officeDocument/2006/relationships">
  <c:lang val="en-US"/>
  <c:chart>
    <c:plotArea>
      <c:scatterChart>
        <c:scatterStyle val="marker"/>
        <c:varyColors val="0"/>
        <c:ser>
          <c:idx val="0"/>
          <c:order val="0"/>
          <c:tx>
            <c:v>Class 0</c:v>
          </c:tx>
          <c:spPr>
            <a:solidFill xmlns:a="http://schemas.openxmlformats.org/drawingml/2006/main">
              <a:srgbClr val="CC5C55"/>
            </a:solidFill>
          </c:spPr>
          <c:marker>
            <c:symbol val="x"/>
            <c:size val="7"/>
            <c:spPr>
              <a:solidFill xmlns:a="http://schemas.openxmlformats.org/drawingml/2006/main">
                <a:srgbClr val="CC5C55"/>
              </a:solidFill>
            </c:spPr>
          </c:marker>
          <c:xVal>
            <c:numRef>
              <c:f>'Chart Data'!$A$2:$A$31</c:f>
              <c:numCache>
                <c:formatCode>General</c:formatCode>
                <c:ptCount val="30"/>
                <c:pt idx="0">
                  <c:v>6104.9594117647</c:v>
                </c:pt>
                <c:pt idx="1">
                  <c:v>525</c:v>
                </c:pt>
                <c:pt idx="2">
                  <c:v>677</c:v>
                </c:pt>
                <c:pt idx="3">
                  <c:v>500</c:v>
                </c:pt>
                <c:pt idx="4">
                  <c:v>3170</c:v>
                </c:pt>
                <c:pt idx="5">
                  <c:v>3325</c:v>
                </c:pt>
                <c:pt idx="6">
                  <c:v>4535</c:v>
                </c:pt>
                <c:pt idx="7">
                  <c:v>4428</c:v>
                </c:pt>
                <c:pt idx="8">
                  <c:v>2216</c:v>
                </c:pt>
                <c:pt idx="9">
                  <c:v>2395</c:v>
                </c:pt>
                <c:pt idx="10">
                  <c:v>1898</c:v>
                </c:pt>
                <c:pt idx="11">
                  <c:v>4707</c:v>
                </c:pt>
                <c:pt idx="12">
                  <c:v>2477</c:v>
                </c:pt>
                <c:pt idx="13">
                  <c:v>553</c:v>
                </c:pt>
                <c:pt idx="14">
                  <c:v>5271</c:v>
                </c:pt>
                <c:pt idx="15">
                  <c:v>5500</c:v>
                </c:pt>
                <c:pt idx="16">
                  <c:v>5600</c:v>
                </c:pt>
                <c:pt idx="17">
                  <c:v>6070</c:v>
                </c:pt>
                <c:pt idx="18">
                  <c:v>6761</c:v>
                </c:pt>
                <c:pt idx="19">
                  <c:v>6092</c:v>
                </c:pt>
                <c:pt idx="20">
                  <c:v>9600</c:v>
                </c:pt>
                <c:pt idx="21">
                  <c:v>2760</c:v>
                </c:pt>
                <c:pt idx="22">
                  <c:v>5383.85</c:v>
                </c:pt>
                <c:pt idx="23">
                  <c:v>2410</c:v>
                </c:pt>
                <c:pt idx="24">
                  <c:v>2573</c:v>
                </c:pt>
                <c:pt idx="25">
                  <c:v>4400</c:v>
                </c:pt>
                <c:pt idx="26">
                  <c:v>6500</c:v>
                </c:pt>
                <c:pt idx="27">
                  <c:v>6104.9594117647</c:v>
                </c:pt>
                <c:pt idx="28">
                  <c:v>15400</c:v>
                </c:pt>
                <c:pt idx="29">
                  <c:v>15600</c:v>
                </c:pt>
              </c:numCache>
            </c:numRef>
          </c:xVal>
          <c:yVal>
            <c:numRef>
              <c:f>'Chart Data'!$B$2:$B$31</c:f>
              <c:numCache>
                <c:formatCode>General</c:formatCode>
                <c:ptCount val="30"/>
                <c:pt idx="0">
                  <c:v>6</c:v>
                </c:pt>
                <c:pt idx="1">
                  <c:v>6</c:v>
                </c:pt>
                <c:pt idx="2">
                  <c:v>5</c:v>
                </c:pt>
                <c:pt idx="3">
                  <c:v>8</c:v>
                </c:pt>
                <c:pt idx="4">
                  <c:v>3</c:v>
                </c:pt>
                <c:pt idx="5">
                  <c:v>3</c:v>
                </c:pt>
                <c:pt idx="6">
                  <c:v>3</c:v>
                </c:pt>
                <c:pt idx="7">
                  <c:v>3</c:v>
                </c:pt>
                <c:pt idx="8">
                  <c:v>5</c:v>
                </c:pt>
                <c:pt idx="9">
                  <c:v>5</c:v>
                </c:pt>
                <c:pt idx="10">
                  <c:v>5</c:v>
                </c:pt>
                <c:pt idx="11">
                  <c:v>3</c:v>
                </c:pt>
                <c:pt idx="12">
                  <c:v>5</c:v>
                </c:pt>
                <c:pt idx="13">
                  <c:v>8</c:v>
                </c:pt>
                <c:pt idx="14">
                  <c:v>3</c:v>
                </c:pt>
                <c:pt idx="15">
                  <c:v>3</c:v>
                </c:pt>
                <c:pt idx="16">
                  <c:v>3</c:v>
                </c:pt>
                <c:pt idx="17">
                  <c:v>3</c:v>
                </c:pt>
                <c:pt idx="18">
                  <c:v>3</c:v>
                </c:pt>
                <c:pt idx="19">
                  <c:v>3</c:v>
                </c:pt>
                <c:pt idx="20">
                  <c:v>8</c:v>
                </c:pt>
                <c:pt idx="21">
                  <c:v>5</c:v>
                </c:pt>
                <c:pt idx="22">
                  <c:v>3</c:v>
                </c:pt>
                <c:pt idx="23">
                  <c:v>5</c:v>
                </c:pt>
                <c:pt idx="24">
                  <c:v>5</c:v>
                </c:pt>
                <c:pt idx="25">
                  <c:v>7</c:v>
                </c:pt>
                <c:pt idx="26">
                  <c:v>3</c:v>
                </c:pt>
                <c:pt idx="27">
                  <c:v>9</c:v>
                </c:pt>
                <c:pt idx="28">
                  <c:v>11</c:v>
                </c:pt>
                <c:pt idx="29">
                  <c:v>11</c:v>
                </c:pt>
              </c:numCache>
            </c:numRef>
          </c:yVal>
        </c:ser>
        <c:ser>
          <c:idx val="1"/>
          <c:order val="1"/>
          <c:tx>
            <c:v>Class 1</c:v>
          </c:tx>
          <c:spPr>
            <a:solidFill xmlns:a="http://schemas.openxmlformats.org/drawingml/2006/main">
              <a:srgbClr val="179B76"/>
            </a:solidFill>
          </c:spPr>
          <c:marker>
            <c:symbol val="circle"/>
            <c:size val="7"/>
            <c:spPr>
              <a:solidFill xmlns:a="http://schemas.openxmlformats.org/drawingml/2006/main">
                <a:srgbClr val="179B76"/>
              </a:solidFill>
            </c:spPr>
          </c:marker>
          <c:xVal>
            <c:numRef>
              <c:f>'Chart Data'!$C$2:$C$61</c:f>
              <c:numCache>
                <c:formatCode>General</c:formatCode>
                <c:ptCount val="60"/>
                <c:pt idx="0">
                  <c:v>2296</c:v>
                </c:pt>
                <c:pt idx="1">
                  <c:v>1316</c:v>
                </c:pt>
                <c:pt idx="2">
                  <c:v>570</c:v>
                </c:pt>
                <c:pt idx="3">
                  <c:v>2034</c:v>
                </c:pt>
                <c:pt idx="4">
                  <c:v>3136</c:v>
                </c:pt>
                <c:pt idx="5">
                  <c:v>4696</c:v>
                </c:pt>
                <c:pt idx="6">
                  <c:v>3100</c:v>
                </c:pt>
                <c:pt idx="7">
                  <c:v>2257</c:v>
                </c:pt>
                <c:pt idx="8">
                  <c:v>4600</c:v>
                </c:pt>
                <c:pt idx="9">
                  <c:v>9600</c:v>
                </c:pt>
                <c:pt idx="10">
                  <c:v>2490</c:v>
                </c:pt>
                <c:pt idx="11">
                  <c:v>5300</c:v>
                </c:pt>
                <c:pt idx="12">
                  <c:v>6104.9594117647</c:v>
                </c:pt>
                <c:pt idx="13">
                  <c:v>2708</c:v>
                </c:pt>
                <c:pt idx="14">
                  <c:v>3669</c:v>
                </c:pt>
                <c:pt idx="15">
                  <c:v>9600</c:v>
                </c:pt>
                <c:pt idx="16">
                  <c:v>2910</c:v>
                </c:pt>
                <c:pt idx="17">
                  <c:v>475</c:v>
                </c:pt>
                <c:pt idx="18">
                  <c:v>4990</c:v>
                </c:pt>
                <c:pt idx="19">
                  <c:v>9600</c:v>
                </c:pt>
                <c:pt idx="20">
                  <c:v>5200</c:v>
                </c:pt>
                <c:pt idx="21">
                  <c:v>3700</c:v>
                </c:pt>
                <c:pt idx="22">
                  <c:v>2205</c:v>
                </c:pt>
                <c:pt idx="23">
                  <c:v>9600</c:v>
                </c:pt>
                <c:pt idx="24">
                  <c:v>6104.9594117647</c:v>
                </c:pt>
                <c:pt idx="25">
                  <c:v>4230</c:v>
                </c:pt>
                <c:pt idx="26">
                  <c:v>350</c:v>
                </c:pt>
                <c:pt idx="27">
                  <c:v>3750</c:v>
                </c:pt>
                <c:pt idx="28">
                  <c:v>7076</c:v>
                </c:pt>
                <c:pt idx="29">
                  <c:v>9600</c:v>
                </c:pt>
                <c:pt idx="30">
                  <c:v>5800</c:v>
                </c:pt>
                <c:pt idx="31">
                  <c:v>7060</c:v>
                </c:pt>
                <c:pt idx="32">
                  <c:v>2800</c:v>
                </c:pt>
                <c:pt idx="33">
                  <c:v>3000</c:v>
                </c:pt>
                <c:pt idx="34">
                  <c:v>4000</c:v>
                </c:pt>
                <c:pt idx="35">
                  <c:v>9600</c:v>
                </c:pt>
                <c:pt idx="36">
                  <c:v>12259</c:v>
                </c:pt>
                <c:pt idx="37">
                  <c:v>2482</c:v>
                </c:pt>
                <c:pt idx="38">
                  <c:v>13620</c:v>
                </c:pt>
                <c:pt idx="39">
                  <c:v>1425</c:v>
                </c:pt>
                <c:pt idx="40">
                  <c:v>2227.7</c:v>
                </c:pt>
                <c:pt idx="41">
                  <c:v>15600</c:v>
                </c:pt>
                <c:pt idx="42">
                  <c:v>5000</c:v>
                </c:pt>
                <c:pt idx="43">
                  <c:v>6800</c:v>
                </c:pt>
                <c:pt idx="44">
                  <c:v>15400</c:v>
                </c:pt>
                <c:pt idx="45">
                  <c:v>15600</c:v>
                </c:pt>
                <c:pt idx="46">
                  <c:v>1977</c:v>
                </c:pt>
                <c:pt idx="47">
                  <c:v>15400</c:v>
                </c:pt>
                <c:pt idx="48">
                  <c:v>9525</c:v>
                </c:pt>
                <c:pt idx="49">
                  <c:v>15400</c:v>
                </c:pt>
                <c:pt idx="50">
                  <c:v>15400</c:v>
                </c:pt>
                <c:pt idx="51">
                  <c:v>3880</c:v>
                </c:pt>
                <c:pt idx="52">
                  <c:v>6104.9594117647</c:v>
                </c:pt>
                <c:pt idx="53">
                  <c:v>15400</c:v>
                </c:pt>
                <c:pt idx="54">
                  <c:v>1600</c:v>
                </c:pt>
                <c:pt idx="55">
                  <c:v>15400</c:v>
                </c:pt>
                <c:pt idx="56">
                  <c:v>15400</c:v>
                </c:pt>
                <c:pt idx="57">
                  <c:v>15400</c:v>
                </c:pt>
                <c:pt idx="58">
                  <c:v>15400</c:v>
                </c:pt>
                <c:pt idx="59">
                  <c:v>3681</c:v>
                </c:pt>
              </c:numCache>
            </c:numRef>
          </c:xVal>
          <c:yVal>
            <c:numRef>
              <c:f>'Chart Data'!$D$2:$D$61</c:f>
              <c:numCache>
                <c:formatCode>General</c:formatCode>
                <c:ptCount val="60"/>
                <c:pt idx="0">
                  <c:v>5</c:v>
                </c:pt>
                <c:pt idx="1">
                  <c:v>6</c:v>
                </c:pt>
                <c:pt idx="2">
                  <c:v>1</c:v>
                </c:pt>
                <c:pt idx="3">
                  <c:v>6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  <c:pt idx="7">
                  <c:v>5</c:v>
                </c:pt>
                <c:pt idx="8">
                  <c:v>3</c:v>
                </c:pt>
                <c:pt idx="9">
                  <c:v>8</c:v>
                </c:pt>
                <c:pt idx="10">
                  <c:v>5</c:v>
                </c:pt>
                <c:pt idx="11">
                  <c:v>3</c:v>
                </c:pt>
                <c:pt idx="12">
                  <c:v>6</c:v>
                </c:pt>
                <c:pt idx="13">
                  <c:v>5</c:v>
                </c:pt>
                <c:pt idx="14">
                  <c:v>3</c:v>
                </c:pt>
                <c:pt idx="15">
                  <c:v>8</c:v>
                </c:pt>
                <c:pt idx="16">
                  <c:v>5</c:v>
                </c:pt>
                <c:pt idx="17">
                  <c:v>10</c:v>
                </c:pt>
                <c:pt idx="18">
                  <c:v>6</c:v>
                </c:pt>
                <c:pt idx="19">
                  <c:v>8</c:v>
                </c:pt>
                <c:pt idx="20">
                  <c:v>3</c:v>
                </c:pt>
                <c:pt idx="21">
                  <c:v>3</c:v>
                </c:pt>
                <c:pt idx="22">
                  <c:v>5</c:v>
                </c:pt>
                <c:pt idx="23">
                  <c:v>8</c:v>
                </c:pt>
                <c:pt idx="24">
                  <c:v>6</c:v>
                </c:pt>
                <c:pt idx="25">
                  <c:v>3</c:v>
                </c:pt>
                <c:pt idx="26">
                  <c:v>4</c:v>
                </c:pt>
                <c:pt idx="27">
                  <c:v>3</c:v>
                </c:pt>
                <c:pt idx="28">
                  <c:v>3</c:v>
                </c:pt>
                <c:pt idx="29">
                  <c:v>8</c:v>
                </c:pt>
                <c:pt idx="30">
                  <c:v>3</c:v>
                </c:pt>
                <c:pt idx="31">
                  <c:v>3</c:v>
                </c:pt>
                <c:pt idx="32">
                  <c:v>10</c:v>
                </c:pt>
                <c:pt idx="33">
                  <c:v>3</c:v>
                </c:pt>
                <c:pt idx="34">
                  <c:v>10</c:v>
                </c:pt>
                <c:pt idx="35">
                  <c:v>8</c:v>
                </c:pt>
                <c:pt idx="36">
                  <c:v>5</c:v>
                </c:pt>
                <c:pt idx="37">
                  <c:v>5</c:v>
                </c:pt>
                <c:pt idx="38">
                  <c:v>11</c:v>
                </c:pt>
                <c:pt idx="39">
                  <c:v>10</c:v>
                </c:pt>
                <c:pt idx="40">
                  <c:v>5</c:v>
                </c:pt>
                <c:pt idx="41">
                  <c:v>11</c:v>
                </c:pt>
                <c:pt idx="42">
                  <c:v>5</c:v>
                </c:pt>
                <c:pt idx="43">
                  <c:v>3</c:v>
                </c:pt>
                <c:pt idx="44">
                  <c:v>11</c:v>
                </c:pt>
                <c:pt idx="45">
                  <c:v>11</c:v>
                </c:pt>
                <c:pt idx="46">
                  <c:v>5</c:v>
                </c:pt>
                <c:pt idx="47">
                  <c:v>11</c:v>
                </c:pt>
                <c:pt idx="48">
                  <c:v>5</c:v>
                </c:pt>
                <c:pt idx="49">
                  <c:v>11</c:v>
                </c:pt>
                <c:pt idx="50">
                  <c:v>11</c:v>
                </c:pt>
                <c:pt idx="51">
                  <c:v>7</c:v>
                </c:pt>
                <c:pt idx="52">
                  <c:v>2</c:v>
                </c:pt>
                <c:pt idx="53">
                  <c:v>11</c:v>
                </c:pt>
                <c:pt idx="54">
                  <c:v>10</c:v>
                </c:pt>
                <c:pt idx="55">
                  <c:v>11</c:v>
                </c:pt>
                <c:pt idx="56">
                  <c:v>11</c:v>
                </c:pt>
                <c:pt idx="57">
                  <c:v>11</c:v>
                </c:pt>
                <c:pt idx="58">
                  <c:v>11</c:v>
                </c:pt>
                <c:pt idx="59">
                  <c:v>7</c:v>
                </c:pt>
              </c:numCache>
            </c:numRef>
          </c:yVal>
        </c:ser>
        <c:axId val="48650112"/>
        <c:axId val="48672768"/>
      </c:scatterChart>
      <c:valAx>
        <c:axId val="48672768"/>
        <c:scaling>
          <c:orientation val="minMax"/>
          <c:max val="12"/>
          <c:min val="0"/>
        </c:scaling>
        <c:delete val="0"/>
        <c:axPos val="l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Orbit code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50112"/>
        <c:majorUnit val="1"/>
      </c:valAx>
      <c:val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t>Payload (kg)</a:t>
                </a:r>
              </a:p>
            </c:rich>
          </c:tx>
          <c:overlay val="0"/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00">
                <a:solidFill>
                  <a:srgbClr val="666666"/>
                </a:solidFill>
              </a:defRPr>
            </a:pPr>
          </a:p>
        </c:txPr>
        <c:crossAx val="48672768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6.xml><?xml version="1.0" encoding="utf-8"?>
<c:chartSpace xmlns:c="http://schemas.openxmlformats.org/drawingml/2006/chart" xmlns:r="http://schemas.openxmlformats.org/officeDocument/2006/relationships">
  <c:lang val="en-US"/>
  <c:chart>
    <c:plotArea>
      <c:lineChart>
        <c:grouping val="standard"/>
        <c:varyColors val="0"/>
        <c:ser>
          <c:idx val="0"/>
          <c:order val="0"/>
          <c:tx>
            <c:v>Class 1 rate</c:v>
          </c:tx>
          <c:spPr>
            <a:ln xmlns:a="http://schemas.openxmlformats.org/drawingml/2006/main" w="28575">
              <a:solidFill>
                <a:srgbClr val="0B49CB"/>
              </a:solidFill>
            </a:ln>
          </c:spPr>
          <c:marker>
            <c:symbol val="circle"/>
            <c:size val="7"/>
            <c:spPr>
              <a:solidFill xmlns:a="http://schemas.openxmlformats.org/drawingml/2006/main">
                <a:srgbClr val="0B49CB"/>
              </a:solidFill>
            </c:spPr>
          </c:marker>
          <c:cat>
            <c:strRef>
              <c:f>'Chart Data'!$A$2:$A$11</c:f>
              <c:strCache>
                <c:ptCount val="10"/>
                <c:pt idx="0">
                  <c:v>2010 (n=1)</c:v>
                </c:pt>
                <c:pt idx="1">
                  <c:v>2012 (n=1)</c:v>
                </c:pt>
                <c:pt idx="2">
                  <c:v>2013 (n=3)</c:v>
                </c:pt>
                <c:pt idx="3">
                  <c:v>2014 (n=6)</c:v>
                </c:pt>
                <c:pt idx="4">
                  <c:v>2015 (n=6)</c:v>
                </c:pt>
                <c:pt idx="5">
                  <c:v>2016 (n=8)</c:v>
                </c:pt>
                <c:pt idx="6">
                  <c:v>2017 (n=18)</c:v>
                </c:pt>
                <c:pt idx="7">
                  <c:v>2018 (n=18)</c:v>
                </c:pt>
                <c:pt idx="8">
                  <c:v>2019 (n=10)</c:v>
                </c:pt>
                <c:pt idx="9">
                  <c:v>2020 (n=19)</c:v>
                </c:pt>
              </c:strCache>
            </c:strRef>
          </c:cat>
          <c:val>
            <c:numRef>
              <c:f>'Chart Data'!$B$2:$B$11</c:f>
              <c:numCache>
                <c:formatCode>0%</c:formatCode>
                <c:ptCount val="10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0.33333333333333</c:v>
                </c:pt>
                <c:pt idx="4">
                  <c:v>0.33333333333333</c:v>
                </c:pt>
                <c:pt idx="5">
                  <c:v>0.625</c:v>
                </c:pt>
                <c:pt idx="6">
                  <c:v>0.83333333333333</c:v>
                </c:pt>
                <c:pt idx="7">
                  <c:v>0.61111111111111</c:v>
                </c:pt>
                <c:pt idx="8">
                  <c:v>0.9</c:v>
                </c:pt>
                <c:pt idx="9">
                  <c:v>0.84210526315789</c:v>
                </c:pt>
              </c:numCache>
            </c:numRef>
          </c:val>
        </c:ser>
        <c:dLbls>
          <c:numFmt formatCode="0%" sourceLinked="0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charts/chart7.xml><?xml version="1.0" encoding="utf-8"?>
<c:chartSpace xmlns:c="http://schemas.openxmlformats.org/drawingml/2006/chart" xmlns:r="http://schemas.openxmlformats.org/officeDocument/2006/relationships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10-fold CV</c:v>
          </c:tx>
          <c:spPr>
            <a:solidFill xmlns:a="http://schemas.openxmlformats.org/drawingml/2006/main">
              <a:srgbClr val="0B49CB"/>
            </a:solidFill>
          </c:spPr>
          <c:invertIfNegative val="0"/>
          <c:cat>
            <c:strRef>
              <c:f>'Chart Data'!$A$2:$A$5</c:f>
              <c:strCache>
                <c:ptCount val="4"/>
                <c:pt idx="0">
                  <c:v>Logistic regression</c:v>
                </c:pt>
                <c:pt idx="1">
                  <c:v>SVM</c:v>
                </c:pt>
                <c:pt idx="2">
                  <c:v>Decision tree</c:v>
                </c:pt>
                <c:pt idx="3">
                  <c:v>KNN</c:v>
                </c:pt>
              </c:strCache>
            </c:strRef>
          </c:cat>
          <c:val>
            <c:numRef>
              <c:f>'Chart Data'!$B$2:$B$5</c:f>
              <c:numCache>
                <c:formatCode>0%</c:formatCode>
                <c:ptCount val="4"/>
                <c:pt idx="0">
                  <c:v>0.8464285714</c:v>
                </c:pt>
                <c:pt idx="1">
                  <c:v>0.8482142857</c:v>
                </c:pt>
                <c:pt idx="2">
                  <c:v>0.8767857143</c:v>
                </c:pt>
                <c:pt idx="3">
                  <c:v>0.8482142857</c:v>
                </c:pt>
              </c:numCache>
            </c:numRef>
          </c:val>
        </c:ser>
        <c:ser>
          <c:idx val="1"/>
          <c:order val="1"/>
          <c:tx>
            <c:v>Test</c:v>
          </c:tx>
          <c:spPr>
            <a:solidFill xmlns:a="http://schemas.openxmlformats.org/drawingml/2006/main">
              <a:srgbClr val="F1A54B"/>
            </a:solidFill>
          </c:spPr>
          <c:invertIfNegative val="0"/>
          <c:cat>
            <c:strRef>
              <c:f>'Chart Data'!$C$2:$C$5</c:f>
              <c:strCache>
                <c:ptCount val="4"/>
                <c:pt idx="0">
                  <c:v>Logistic regression</c:v>
                </c:pt>
                <c:pt idx="1">
                  <c:v>SVM</c:v>
                </c:pt>
                <c:pt idx="2">
                  <c:v>Decision tree</c:v>
                </c:pt>
                <c:pt idx="3">
                  <c:v>KNN</c:v>
                </c:pt>
              </c:strCache>
            </c:strRef>
          </c:cat>
          <c:val>
            <c:numRef>
              <c:f>'Chart Data'!$D$2:$D$5</c:f>
              <c:numCache>
                <c:formatCode>0%</c:formatCode>
                <c:ptCount val="4"/>
                <c:pt idx="0">
                  <c:v>0.83333333333333</c:v>
                </c:pt>
                <c:pt idx="1">
                  <c:v>0.83333333333333</c:v>
                </c:pt>
                <c:pt idx="2">
                  <c:v>0.83333333333333</c:v>
                </c:pt>
                <c:pt idx="3">
                  <c:v>0.83333333333333</c:v>
                </c:pt>
              </c:numCache>
            </c:numRef>
          </c:val>
        </c:ser>
        <c:dLbls>
          <c:numFmt formatCode="0.0%" sourceLinked="0"/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1275">
                <a:solidFill>
                  <a:srgbClr val="666666"/>
                </a:solidFill>
              </a:defRPr>
            </a:pPr>
          </a:p>
        </c:txPr>
        <c:crossAx val="48672768"/>
      </c:catAx>
      <c:valAx>
        <c:axId val="48672768"/>
        <c:scaling>
          <c:orientation val="minMax"/>
          <c:max val="1"/>
          <c:min val="0"/>
        </c:scaling>
        <c:delete val="0"/>
        <c:axPos val="l"/>
        <c:numFmt formatCode="0%"/>
        <c:majorTickMark val="none"/>
        <c:minorTickMark val="none"/>
        <c:spPr>
          <a:ln xmlns:a="http://schemas.openxmlformats.org/drawingml/2006/main" w="9525">
            <a:solidFill>
              <a:srgbClr val="D4D4D4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>
                <a:solidFill>
                  <a:srgbClr val="666666"/>
                </a:solidFill>
              </a:defRPr>
            </a:pPr>
          </a:p>
        </c:txPr>
        <c:crossAx val="48650112"/>
        <c:crossBetween val="between"/>
      </c:valAx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350"/>
          </a:pPr>
        </a:p>
      </c:txPr>
    </c:legend>
    <c:plotVisOnly val="1"/>
  </c:chart>
  <c:spPr>
    <a:solidFill xmlns:a="http://schemas.openxmlformats.org/drawingml/2006/main">
      <a:srgbClr val="FFFFFF"/>
    </a:solidFill>
  </c:spPr>
  <c:externalData r:id="rIdChartSnapshot1">
    <c:autoUpdate val="0"/>
  </c:externalData>
</c:chartSpace>
</file>

<file path=ppt/slides/slide1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7b701d6baf0442a8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C36AF9D-A911-994B-90EA-013D4CDA56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8587" y="4568762"/>
            <a:ext cx="3810000" cy="640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91440" tIns="45720" rIns="91440" bIns="45720" anchor="t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2"/>
                </a:solidFill>
                <a:latin typeface="Abadi"/>
                <a:ea typeface="Abadi"/>
                <a:cs typeface="Abadi"/>
              </a:rPr>
              <a:t>Nicholas Yap</a:t>
            </a:r>
          </a:p>
          <a:p xmlns:a="http://schemas.openxmlformats.org/drawingml/2006/main">
            <a:r>
              <a:rPr>
                <a:solidFill>
                  <a:schemeClr val="bg2"/>
                </a:solidFill>
                <a:latin typeface="Abadi"/>
                <a:ea typeface="Abadi"/>
                <a:cs typeface="Abadi"/>
              </a:rPr>
              <a:t>12 October 2026</a:t>
            </a:r>
          </a:p>
        </p:txBody>
      </p:sp>
      <p:pic>
        <p:nvPicPr>
          <p:cNvPr id="2" name="Picture 2">
            <a:extLst xmlns:a="http://schemas.openxmlformats.org/drawingml/2006/main">
              <a:ext uri="{FF2B5EF4-FFF2-40B4-BE49-F238E27FC236}">
                <a16:creationId xmlns:a16="http://schemas.microsoft.com/office/drawing/2014/main" id="{2DC02AFB-62BB-44E2-A18C-7DB872B0159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ebbe4fea54540b0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89820" y="676828"/>
            <a:ext cx="2104103" cy="629183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7611629"/>
      </p:ext>
    </p:extLst>
  </p:cSld>
</p:sld>
</file>

<file path=ppt/slides/slide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1be6a53584a422d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fld id="{5075537C-CA84-1446-933C-8E9D027F9201}" type="slidenum">
              <a:t>2</a:t>
            </a:fld>
            <a:endParaRPr/>
          </a:p>
        </p:txBody>
      </p:sp>
      <p:sp>
        <p:nvSpPr>
          <p:cNvPr id="19" name="Title 1">
            <a:extLst xmlns:a="http://schemas.openxmlformats.org/drawingml/2006/main"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Outline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82A2A6-1269-4F3B-B99A-DB1BA0417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Executive summary and project question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Data collection and analytical methods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EDA, SQL, interactive maps and dashboard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Classification results, conclusions and sources</a:t>
            </a:r>
          </a:p>
        </p:txBody>
      </p:sp>
    </p:spTree>
    <p:extLst>
      <p:ext uri="{BB962C8B-B14F-4D97-AF65-F5344CB8AC3E}">
        <p14:creationId xmlns:p14="http://schemas.microsoft.com/office/powerpoint/2010/main" val="724038033"/>
      </p:ext>
    </p:extLst>
  </p:cSld>
</p:sld>
</file>

<file path=ppt/slides/slide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04ca85a77174ce9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fld id="{5075537C-CA84-1446-933C-8E9D027F9201}" type="slidenum">
              <a:t>3</a:t>
            </a:fld>
            <a:endParaRPr/>
          </a:p>
        </p:txBody>
      </p:sp>
      <p:sp>
        <p:nvSpPr>
          <p:cNvPr id="19" name="Title 1">
            <a:extLst xmlns:a="http://schemas.openxmlformats.org/drawingml/2006/main"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Executive Summary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E90F387-EAA8-48E2-A080-50A7B48685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90 Falcon 9 launches form the modeling sample. The course label marks 60 successes (66.7%).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KSC LC 39A has the highest observed site rate: 77.3% (17/22). CCAFS SLC 40 contributes 33 of 60 successes.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All four models score 83.33% on 18 test launches. The decision tree leads cross-validation at 87.68%.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Small samples, changing technology and preprocessing leakage limit generalization.</a:t>
            </a:r>
          </a:p>
        </p:txBody>
      </p:sp>
    </p:spTree>
    <p:extLst>
      <p:ext uri="{BB962C8B-B14F-4D97-AF65-F5344CB8AC3E}">
        <p14:creationId xmlns:p14="http://schemas.microsoft.com/office/powerpoint/2010/main" val="1980221439"/>
      </p:ext>
    </p:extLst>
  </p:cSld>
</p:sld>
</file>

<file path=ppt/slides/slide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d9e19bf2df345c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2403FD9-22AB-4833-9FE0-E1E67C96862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 anchor="ctr">
            <a:normAutofit/>
          </a:bodyPr>
          <a:lstStyle xmlns:a="http://schemas.openxmlformats.org/drawingml/2006/main"/>
          <a:p xmlns:a="http://schemas.openxmlformats.org/drawingml/2006/main">
            <a:pPr>
              <a:spcAft>
                <a:spcPts val="600"/>
              </a:spcAft>
              <a:buNone/>
            </a:pPr>
            <a:fld id="{5075537C-CA84-1446-933C-8E9D027F9201}" type="slidenum">
              <a:t>4</a:t>
            </a:fld>
            <a:endParaRPr/>
          </a:p>
        </p:txBody>
      </p:sp>
      <p:sp>
        <p:nvSpPr>
          <p:cNvPr id="19" name="Title 1">
            <a:extLst xmlns:a="http://schemas.openxmlformats.org/drawingml/2006/main">
              <a:ext uri="{FF2B5EF4-FFF2-40B4-BE49-F238E27FC236}">
                <a16:creationId xmlns:a16="http://schemas.microsoft.com/office/drawing/2014/main" id="{6CA66F18-AF00-434A-AB3C-61097BEAE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Introduction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6D1CC2B-3542-40C4-A126-394E059B9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Business question: how can historical launch characteristics help estimate the chance of a successful first-stage outcome?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Reusable boosters create a reason to study landing outcomes. This project predicts the course outcome label, not launch price or cost savings.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Compare launch sites, payload, orbit and experience, then evaluate four classification models.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Scope: historical course snapshots. A successful mission and a successful first-stage outcome measure different events.</a:t>
            </a:r>
          </a:p>
        </p:txBody>
      </p:sp>
    </p:spTree>
    <p:extLst>
      <p:ext uri="{BB962C8B-B14F-4D97-AF65-F5344CB8AC3E}">
        <p14:creationId xmlns:p14="http://schemas.microsoft.com/office/powerpoint/2010/main" val="2560061391"/>
      </p:ext>
    </p:extLst>
  </p:cSld>
</p:sld>
</file>

<file path=ppt/slides/slide5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9e7316e586384e49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DA1BF29A-91D2-784B-9589-F5A3883168D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>
          <a:xfrm xmlns:a="http://schemas.openxmlformats.org/drawingml/2006/main">
            <a:off x="9448800" y="6356350"/>
            <a:ext cx="2743200" cy="3651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5</a:t>
            </a:fld>
            <a:endParaRPr/>
          </a:p>
        </p:txBody>
      </p:sp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9393D11-6810-B94E-A01A-A2D00E82E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313" y="2812774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1</a:t>
            </a:r>
          </a:p>
        </p:txBody>
      </p:sp>
    </p:spTree>
    <p:extLst>
      <p:ext uri="{BB962C8B-B14F-4D97-AF65-F5344CB8AC3E}">
        <p14:creationId xmlns:p14="http://schemas.microsoft.com/office/powerpoint/2010/main" val="3093198887"/>
      </p:ext>
    </p:extLst>
  </p:cSld>
</p:sld>
</file>

<file path=ppt/slides/slide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5d673def12f94d8f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B892CF01-5F8F-9D43-96B9-A581954BA94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6</a:t>
            </a:fld>
            <a:endParaRPr/>
          </a:p>
        </p:txBody>
      </p:sp>
      <p:sp>
        <p:nvSpPr>
          <p:cNvPr id="13" name="Title 1">
            <a:extLst xmlns:a="http://schemas.openxmlformats.org/drawingml/2006/main">
              <a:ext uri="{FF2B5EF4-FFF2-40B4-BE49-F238E27FC236}">
                <a16:creationId xmlns:a16="http://schemas.microsoft.com/office/drawing/2014/main" id="{13C62649-0825-4926-8E2A-2EBCCFE00E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Methodology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D61DB0-5665-43B4-9CE9-DE0B359E82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Collect historical launch records from a SpaceX API snapshot and a Wikipedia launch-table snapshot.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Clean outcomes and missing payloads. Use 90 launch records and 83 encoded features for classification.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Explore relationships with charts and SQLite queries. Add Folium maps and a Dash dashboard.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Compare tuned classifiers using 10-fold cross-validation and the saved 18-launch test split.</a:t>
            </a:r>
          </a:p>
        </p:txBody>
      </p:sp>
    </p:spTree>
    <p:extLst>
      <p:ext uri="{BB962C8B-B14F-4D97-AF65-F5344CB8AC3E}">
        <p14:creationId xmlns:p14="http://schemas.microsoft.com/office/powerpoint/2010/main" val="1553432724"/>
      </p:ext>
    </p:extLst>
  </p:cSld>
</p:sld>
</file>

<file path=ppt/slides/slide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7a9c677669c4ffd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7</a:t>
            </a:fld>
            <a:endParaRPr/>
          </a:p>
        </p:txBody>
      </p:sp>
      <p:sp>
        <p:nvSpPr>
          <p:cNvPr id="12" name="Title 1">
            <a:extLst xmlns:a="http://schemas.openxmlformats.org/drawingml/2006/main">
              <a:ext uri="{FF2B5EF4-FFF2-40B4-BE49-F238E27FC236}">
                <a16:creationId xmlns:a16="http://schemas.microsoft.com/office/drawing/2014/main" id="{D77AC1D2-8B41-4A7A-88CF-41E6B7D8C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Collection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DA9DBF8-9F62-4F8C-8BF6-B065F0DD48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3276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API snapshot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Launch records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7489184-0D61-4C8D-B0F3-5FA9CFCE2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71950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9C3AF80-2389-47B7-A358-CC15CE865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1809750"/>
            <a:ext cx="3276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Enriched course CSV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90 Falcon 9 launches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8733E2-AD48-435E-A4DE-03B8A090B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0EF4E48-656A-4C41-84C7-2AE643955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809750"/>
            <a:ext cx="3276600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Analysis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EDA and classification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1587AB6-AC00-4E4D-B3EF-117CA154D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A separate Wikipedia scrape contains 121 launches. The SQL snapshot contains 101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These sources have different coverage and labels. Results retain their source-specific denominators.</a:t>
            </a:r>
          </a:p>
        </p:txBody>
      </p:sp>
    </p:spTree>
    <p:extLst>
      <p:ext uri="{BB962C8B-B14F-4D97-AF65-F5344CB8AC3E}">
        <p14:creationId xmlns:p14="http://schemas.microsoft.com/office/powerpoint/2010/main" val="3288665831"/>
      </p:ext>
    </p:extLst>
  </p:cSld>
</p:sld>
</file>

<file path=ppt/slides/slide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a261c73fe8943c8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8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5066AA34-20EE-4A59-B343-346A8DB56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Collection – SpaceX API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D1A24578-58F0-4912-919B-A9EDE8C926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GET launches/past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Archived JSON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B287A64-E5CB-4867-9203-387F5F77D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776C7C9-E1B1-45CD-9FA6-A1CE38BBD5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Filter single core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and single payload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1D7BC4D-59AA-4215-AE23-81A826BA9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E7F97B3-F6C1-41BD-BBC2-56A4102C8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Resolve IDs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Rocket, pad, payload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390804B-8D51-405E-AAD3-CF9601714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AF31FD35-B4DE-4775-B125-8338527D49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Falcon 9 features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90 saved records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7391B74-51A8-4942-97CE-04FAD24C29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667125"/>
            <a:ext cx="10477500" cy="1762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The archived launch response supports reproducible inspection. The supplied course CSV contains the enriched rocket, launchpad, payload and core fields.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The companion notebook validates the snapshot and the 90-row feature table without claiming a fresh API extraction.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20B09CF-CB2E-4368-B2A8-F0D036885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0B49CB"/>
                </a:solidFill>
              </a:defRPr>
            </a:pPr>
            <a:r>
              <a:rPr>
                <a:hlinkClick xmlns:r="http://schemas.openxmlformats.org/officeDocument/2006/relationships" r:id="R8449747e4c3c44d5"/>
              </a:rPr>
              <a:t>GitHub: data collection notebook</a:t>
            </a:r>
          </a:p>
        </p:txBody>
      </p:sp>
    </p:spTree>
    <p:extLst>
      <p:ext uri="{BB962C8B-B14F-4D97-AF65-F5344CB8AC3E}">
        <p14:creationId xmlns:p14="http://schemas.microsoft.com/office/powerpoint/2010/main" val="280316088"/>
      </p:ext>
    </p:extLst>
  </p:cSld>
</p:sld>
</file>

<file path=ppt/slides/slide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f27cd5e9dc74a28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72D0411-8FF8-C540-84AE-DBA0703D368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9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6B84506E-0B2F-4BA8-892E-8CE3753AF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11" y="538650"/>
            <a:ext cx="10515600" cy="549049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92500" lnSpcReduction="20000"/>
          </a:bodyPr>
          <a:lstStyle xmlns:a="http://schemas.openxmlformats.org/drawingml/2006/main"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endParaRPr>
              <a:solidFill>
                <a:srgbClr val="1C7DDB"/>
              </a:solidFill>
              <a:latin typeface="Abadi"/>
              <a:ea typeface="Abadi"/>
              <a:cs typeface="Abadi"/>
            </a:endParaRPr>
          </a:p>
        </p:txBody>
      </p:sp>
      <p:sp>
        <p:nvSpPr>
          <p:cNvPr id="11" name="Title 1">
            <a:extLst xmlns:a="http://schemas.openxmlformats.org/drawingml/2006/main">
              <a:ext uri="{FF2B5EF4-FFF2-40B4-BE49-F238E27FC236}">
                <a16:creationId xmlns:a16="http://schemas.microsoft.com/office/drawing/2014/main" id="{84F5ABFD-B4D4-43FF-959F-AFAF45B452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Collection – Web Scraping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3F54752-1F5D-4806-A226-87D5A3FA1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Wikipedia snapshot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Revision 1027686922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E3853DC-21CA-4102-9FA8-DF628984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035DEBD-6713-474B-B80A-3F356EB04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BeautifulSoup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Launch tables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3310F61-FAAD-42B8-8C5F-7CDD3F5A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49BEFA-147F-4232-9EAA-337C34A84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Parse cells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Dates, payload, orbit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AB3E57-AFAC-4DC4-A3D9-2EEAB8B836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005337A-C8EF-4A6F-A18F-E447C9D5CC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Validate and export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121 rows, 11 columns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1836FF8-1934-4D28-936C-098ADFD88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619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completed notebook extracts numbered launch rows and checks flight IDs, dates and times.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June 2021 page snapshot extends beyond the 90-row modeling sample. The scraped table remains a separate source.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B3AA77-611A-4B7C-B034-33DFAE229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0B49CB"/>
                </a:solidFill>
              </a:defRPr>
            </a:pPr>
            <a:r>
              <a:rPr>
                <a:hlinkClick xmlns:r="http://schemas.openxmlformats.org/officeDocument/2006/relationships" r:id="R0b68e012db7e49b1"/>
              </a:rPr>
              <a:t>GitHub: completed web scraping notebook</a:t>
            </a:r>
          </a:p>
        </p:txBody>
      </p:sp>
    </p:spTree>
    <p:extLst>
      <p:ext uri="{BB962C8B-B14F-4D97-AF65-F5344CB8AC3E}">
        <p14:creationId xmlns:p14="http://schemas.microsoft.com/office/powerpoint/2010/main" val="1385553969"/>
      </p:ext>
    </p:extLst>
  </p:cSld>
</p:sld>
</file>

<file path=ppt/slides/slide1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8d6174225e0464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E021CA9-7CB7-1046-8FA0-21F127C19A5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10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2A665A13-3129-46DF-B847-F273F3E96B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Data Wrangling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E3A1F68-522D-4411-9C47-4A763F69F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Validate schema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Dates and flight IDs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36A84AE-2EA5-4161-82A1-B560C38908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5AB3F2-7FC2-4650-8341-7799513A7F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Payload mass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Mean-imputed input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8590F5F-210D-42CF-906F-5B93C6AEC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8512EDF-522E-4AB0-A608-FA098C35C7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Outcome label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60 class 1, 30 class 0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F82A167-8E8F-467E-8038-3CBF2BB21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22F73EB-8154-4AE4-B40C-DB530AA4C2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One-hot encoding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83 model features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7C7628-6453-40C4-9224-30D8A448DA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666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Class 1 includes True ASDS, True RTLS and True Ocean. Class 0 includes failed, missing and no-attempt outcomes.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Controlled ocean outcomes do not establish booster recovery. Keep this distinction when interpreting “success.”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A7FB308-A99E-485D-8289-48516B79C7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0B49CB"/>
                </a:solidFill>
              </a:defRPr>
            </a:pPr>
            <a:r>
              <a:rPr>
                <a:hlinkClick xmlns:r="http://schemas.openxmlformats.org/officeDocument/2006/relationships" r:id="R4db6836c883b46ea"/>
              </a:rPr>
              <a:t>GitHub: wrangling and visualization notebook</a:t>
            </a:r>
          </a:p>
        </p:txBody>
      </p:sp>
    </p:spTree>
    <p:extLst>
      <p:ext uri="{BB962C8B-B14F-4D97-AF65-F5344CB8AC3E}">
        <p14:creationId xmlns:p14="http://schemas.microsoft.com/office/powerpoint/2010/main" val="2987552906"/>
      </p:ext>
    </p:extLst>
  </p:cSld>
</p:sld>
</file>

<file path=ppt/slides/slide1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66591d06f98d475a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2C4E03D3-761E-7549-A4C6-7E585EBC4F0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11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D9E97D81-A978-4758-8A93-47C19B104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EDA with Data Visualization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720455-8D0B-4F5A-9630-63A80F89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Scatter plots compare flight number and payload with launch site and orbit. Color separates the two outcome classes.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Orbit success bars show rates with launch counts so small groups remain visible.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yearly line chart shows changes in outcome rate, with year-specific denominators.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Charts describe associations. Site, orbit, payload and technology changed together over time.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5700C93-D7AE-428C-BA87-088A3510C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0B49CB"/>
                </a:solidFill>
              </a:defRPr>
            </a:pPr>
            <a:r>
              <a:rPr>
                <a:hlinkClick xmlns:r="http://schemas.openxmlformats.org/officeDocument/2006/relationships" r:id="R1ea597a8ca2e4e3b"/>
              </a:rPr>
              <a:t>GitHub: wrangling and visualization notebook</a:t>
            </a:r>
          </a:p>
        </p:txBody>
      </p:sp>
    </p:spTree>
    <p:extLst>
      <p:ext uri="{BB962C8B-B14F-4D97-AF65-F5344CB8AC3E}">
        <p14:creationId xmlns:p14="http://schemas.microsoft.com/office/powerpoint/2010/main" val="779971636"/>
      </p:ext>
    </p:extLst>
  </p:cSld>
</p:sld>
</file>

<file path=ppt/slides/slide1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750f8b09cfd49d6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617B1B70-690D-5945-90C2-196E1304B45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12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32405FDA-CB27-4506-BA80-B7DD00CB2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EDA with SQL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81A1A14-33BC-485E-A457-84F9BACC0B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DISTINCT and LIKE identify launch-site labels and the first five CCA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SUM, AVG and MAX summarize payload mass and the boosters carrying the maximum.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Date and outcome filters identify the first ground landing, drone ship landings and failures in 2015.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GROUP BY and COUNT summarize mission results and rank landing outcomes for the specified period.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0922495-9E56-42BC-87F0-588365D845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0B49CB"/>
                </a:solidFill>
              </a:defRPr>
            </a:pPr>
            <a:r>
              <a:rPr>
                <a:hlinkClick xmlns:r="http://schemas.openxmlformats.org/officeDocument/2006/relationships" r:id="Rf14c0578c6934052"/>
              </a:rPr>
              <a:t>GitHub: completed SQL notebook</a:t>
            </a:r>
          </a:p>
        </p:txBody>
      </p:sp>
    </p:spTree>
    <p:extLst>
      <p:ext uri="{BB962C8B-B14F-4D97-AF65-F5344CB8AC3E}">
        <p14:creationId xmlns:p14="http://schemas.microsoft.com/office/powerpoint/2010/main" val="1578726356"/>
      </p:ext>
    </p:extLst>
  </p:cSld>
</p:sld>
</file>

<file path=ppt/slides/slide1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4b46134030d4674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13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B28946E4-5BEF-46F0-A56A-E7E85ACA1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Interactive Map with Folium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D58F44D-FEB7-4325-AADF-F0D6D03C1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Site circles and labels locate the three modeled launch facilities on a continental map.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A MarkerCluster groups overlapping launches. Green marks Class 1 and red marks Class 0.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Popup details show flight, date, payload and outcome. Expanding a cluster separates markers for inspection.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Lines connect CCAFS SLC 40 to selected road, rail and coastline points. Haversine distance gives approximate straight-line separation.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67A2EF-C607-4E7C-8674-8B4925795F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0B49CB"/>
                </a:solidFill>
              </a:defRPr>
            </a:pPr>
            <a:r>
              <a:rPr>
                <a:hlinkClick xmlns:r="http://schemas.openxmlformats.org/officeDocument/2006/relationships" r:id="R2a50e49f98194df1"/>
              </a:rPr>
              <a:t>GitHub: interactive map notebook</a:t>
            </a:r>
          </a:p>
        </p:txBody>
      </p:sp>
    </p:spTree>
    <p:extLst>
      <p:ext uri="{BB962C8B-B14F-4D97-AF65-F5344CB8AC3E}">
        <p14:creationId xmlns:p14="http://schemas.microsoft.com/office/powerpoint/2010/main" val="148114319"/>
      </p:ext>
    </p:extLst>
  </p:cSld>
</p:sld>
</file>

<file path=ppt/slides/slide1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ab77c8ce20549dd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9ADB26FF-76AA-124F-92D8-C93C45D216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14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519FC08B-7D2E-43A5-A528-821DCDCCCC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 with Plotly Dash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FB745A-A8DA-4959-9CE2-294420D1B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site dropdown switches between all launches and a selected facility.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all-sites pie chart shows each site’s contribution to successful outcomes. A selected-site pie shows its success ratio.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The payload range slider filters the outcome scatter plot. Color identifies booster block.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Hover details reveal launch date, flight number and outcome. The dashboard uses the same 90-row sample as the EDA.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DAD87E-A859-4162-920A-5C00EA46B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0B49CB"/>
                </a:solidFill>
              </a:defRPr>
            </a:pPr>
            <a:r>
              <a:rPr>
                <a:hlinkClick xmlns:r="http://schemas.openxmlformats.org/officeDocument/2006/relationships" r:id="R06b831116522446e"/>
              </a:rPr>
              <a:t>GitHub: runnable Plotly Dash application</a:t>
            </a:r>
          </a:p>
        </p:txBody>
      </p:sp>
    </p:spTree>
    <p:extLst>
      <p:ext uri="{BB962C8B-B14F-4D97-AF65-F5344CB8AC3E}">
        <p14:creationId xmlns:p14="http://schemas.microsoft.com/office/powerpoint/2010/main" val="334532777"/>
      </p:ext>
    </p:extLst>
  </p:cSld>
</p:sld>
</file>

<file path=ppt/slides/slide1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80eac88c7bf453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F1B08F2-C4AD-A440-BB78-A0625E28887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15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FC857EDD-A3A7-434D-B8D5-401E87249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Predictive Analysis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43CB358-16DA-4D0A-AEBF-2F2C85CE65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83 input features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StandardScaler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C8671F1-7AFD-4446-B807-C051CF8563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1838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438B6F2-5537-483F-BE1D-615BC29073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57588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80/20 split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72 train, 18 test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BC305A7-4AF3-4B28-BC79-AC005BA691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72175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491DA3B-DE52-4F21-995A-E68198D1B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GridSearchCV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10 folds, accuracy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A91DEE-B3CB-435C-AD73-A4A1DBD13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72513" y="2343150"/>
            <a:ext cx="247650" cy="219075"/>
          </a:xfrm>
          <a:prstGeom xmlns:a="http://schemas.openxmlformats.org/drawingml/2006/main" prst="rightArrow">
            <a:avLst/>
          </a:prstGeom>
          <a:solidFill xmlns:a="http://schemas.openxmlformats.org/drawingml/2006/main">
            <a:srgbClr val="0B49CB"/>
          </a:solidFill>
          <a:ln xmlns:a="http://schemas.openxmlformats.org/drawingml/2006/main" w="0">
            <a:noFill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58C343-6771-4C5C-83F0-058614029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8263" y="1809750"/>
            <a:ext cx="2376488" cy="1381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1F5FC"/>
          </a:solidFill>
          <a:ln xmlns:a="http://schemas.openxmlformats.org/drawingml/2006/main" w="9525">
            <a:solidFill>
              <a:srgbClr val="0B49CB"/>
            </a:solidFill>
          </a:ln>
        </p:spPr>
        <p:txBody>
          <a:bodyPr xmlns:a="http://schemas.openxmlformats.org/drawingml/2006/main" anchor="ctr"/>
          <a:lstStyle xmlns:a="http://schemas.openxmlformats.org/drawingml/2006/main">
            <a:defPPr algn="ctr">
              <a:defRPr sz="17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Four classifiers</a:t>
            </a:r>
          </a:p>
          <a:p xmlns:a="http://schemas.openxmlformats.org/drawingml/2006/main">
            <a:pPr algn="ctr">
              <a:defRPr sz="1725">
                <a:solidFill>
                  <a:srgbClr val="292929"/>
                </a:solidFill>
              </a:defRPr>
            </a:pPr>
            <a:r>
              <a:rPr sz="1725">
                <a:solidFill>
                  <a:srgbClr val="292929"/>
                </a:solidFill>
              </a:rPr>
              <a:t>Score and compare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B71C15B-5010-452E-81B3-571E81B6A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14750"/>
            <a:ext cx="1047750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Logistic regression, SVM, decision tree and KNN use the saved lab configuration. random_state=2 fixes the train/test split.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The lab scales all 90 rows before splitting. Future evaluation should fit preprocessing inside each training fold and use a chronological holdout.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6AC65FA-70FC-4C06-B96D-5D3B859E5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791200"/>
            <a:ext cx="1047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42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425">
                <a:solidFill>
                  <a:srgbClr val="0B49CB"/>
                </a:solidFill>
              </a:defRPr>
            </a:pPr>
            <a:r>
              <a:rPr>
                <a:hlinkClick xmlns:r="http://schemas.openxmlformats.org/officeDocument/2006/relationships" r:id="Ree4a646a6199426f"/>
              </a:rPr>
              <a:t>GitHub: completed classification notebook</a:t>
            </a:r>
          </a:p>
        </p:txBody>
      </p:sp>
    </p:spTree>
    <p:extLst>
      <p:ext uri="{BB962C8B-B14F-4D97-AF65-F5344CB8AC3E}">
        <p14:creationId xmlns:p14="http://schemas.microsoft.com/office/powerpoint/2010/main" val="1813711241"/>
      </p:ext>
    </p:extLst>
  </p:cSld>
</p:sld>
</file>

<file path=ppt/slides/slide1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3e80cad05954995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D45C363-925C-9E48-86B0-27D7D36E50D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16</a:t>
            </a:fld>
            <a:endParaRPr/>
          </a:p>
        </p:txBody>
      </p:sp>
      <p:sp>
        <p:nvSpPr>
          <p:cNvPr id="7" name="Title 1">
            <a:extLst xmlns:a="http://schemas.openxmlformats.org/drawingml/2006/main">
              <a:ext uri="{FF2B5EF4-FFF2-40B4-BE49-F238E27FC236}">
                <a16:creationId xmlns:a16="http://schemas.microsoft.com/office/drawing/2014/main" id="{330F9542-6794-4F57-BB45-868D94AD0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Results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F3115E-53A1-4AF0-AD38-C164D4C3A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EDA: outcome rates differ across sites, orbit groups and launch years.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SQL: 101 missions include 100 mission successes and one failure. NASA (CRS) payload totals 45,596 kg.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Interactive views: coastal launch sites and payload filters help inspect individual records.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Prediction: each model correctly classifies 15 of 18 test launches. The test scores do not establish a unique winner.</a:t>
            </a:r>
          </a:p>
        </p:txBody>
      </p:sp>
    </p:spTree>
    <p:extLst>
      <p:ext uri="{BB962C8B-B14F-4D97-AF65-F5344CB8AC3E}">
        <p14:creationId xmlns:p14="http://schemas.microsoft.com/office/powerpoint/2010/main" val="321008965"/>
      </p:ext>
    </p:extLst>
  </p:cSld>
</p:sld>
</file>

<file path=ppt/slides/slide1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b957ebfc10454e29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618B93D-8F11-6347-95EE-BF68474E5B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2</a:t>
            </a:r>
          </a:p>
        </p:txBody>
      </p:sp>
    </p:spTree>
    <p:extLst>
      <p:ext uri="{BB962C8B-B14F-4D97-AF65-F5344CB8AC3E}">
        <p14:creationId xmlns:p14="http://schemas.microsoft.com/office/powerpoint/2010/main" val="178270660"/>
      </p:ext>
    </p:extLst>
  </p:cSld>
</p:sld>
</file>

<file path=ppt/slides/slide1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354694286f144aa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18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54F4FCC5-6E7E-4FF0-BE45-680EEC392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Flight Number vs. Launch Site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658A73DC-9596-4AFE-AC59-78AC1E1B5C28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cad787862bcc49a4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7E92A-2C8C-43A1-8D8B-35C188588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500">
                <a:solidFill>
                  <a:srgbClr val="0B49CB"/>
                </a:solidFill>
              </a:defRPr>
            </a:pPr>
            <a:r>
              <a:rPr sz="1500">
                <a:solidFill>
                  <a:srgbClr val="0B49CB"/>
                </a:solidFill>
              </a:rPr>
              <a:t>1: CCAFS SLC 40   2: KSC LC 39A   3: VAFB SLC 4E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4823EA3-A3A8-43EF-BA39-D74FDD7CE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Later launches show more Class 1 outcomes. Site and flight sequence overlap, so the plot cannot isolate a site effect.</a:t>
            </a:r>
          </a:p>
        </p:txBody>
      </p:sp>
    </p:spTree>
    <p:extLst>
      <p:ext uri="{BB962C8B-B14F-4D97-AF65-F5344CB8AC3E}">
        <p14:creationId xmlns:p14="http://schemas.microsoft.com/office/powerpoint/2010/main" val="3865605948"/>
      </p:ext>
    </p:extLst>
  </p:cSld>
</p:sld>
</file>

<file path=ppt/slides/slide1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43c4ae9c8ef4c22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19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B6CCD949-E788-4375-9B07-478FA568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Payload vs. Launch Site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CE656567-AF86-4AD2-8C95-E6F48178E7D7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9905cb45af3f41c1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E689D2-D244-4E82-B848-280B308D6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5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500">
                <a:solidFill>
                  <a:srgbClr val="0B49CB"/>
                </a:solidFill>
              </a:defRPr>
            </a:pPr>
            <a:r>
              <a:rPr sz="1500">
                <a:solidFill>
                  <a:srgbClr val="0B49CB"/>
                </a:solidFill>
              </a:rPr>
              <a:t>1: CCAFS SLC 40   2: KSC LC 39A   3: VAFB SLC 4E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4DD6794-4130-46DA-BFC9-21EB0B9464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CCAFS SLC 40 covers the broadest history. Both outcome classes occur across payload ranges, and some payload values are mean-imputed.</a:t>
            </a:r>
          </a:p>
        </p:txBody>
      </p:sp>
    </p:spTree>
    <p:extLst>
      <p:ext uri="{BB962C8B-B14F-4D97-AF65-F5344CB8AC3E}">
        <p14:creationId xmlns:p14="http://schemas.microsoft.com/office/powerpoint/2010/main" val="3869789237"/>
      </p:ext>
    </p:extLst>
  </p:cSld>
</p:sld>
</file>

<file path=ppt/slides/slide2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931326c89d54064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20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D4811A61-F7FB-4B19-9ED1-E0E2554A5B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Success Rate vs. Orbit Type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C1DC9AB9-ADC1-4278-8B66-540D9564F6BB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4d5e79021de4fc8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540C44-5D22-423A-856D-6E19CC325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SSO records 5/5 successes. GEO, HEO and ES-L1 each have only one launch, so their 100% rates provide little evidence.</a:t>
            </a:r>
          </a:p>
        </p:txBody>
      </p:sp>
    </p:spTree>
    <p:extLst>
      <p:ext uri="{BB962C8B-B14F-4D97-AF65-F5344CB8AC3E}">
        <p14:creationId xmlns:p14="http://schemas.microsoft.com/office/powerpoint/2010/main" val="80090182"/>
      </p:ext>
    </p:extLst>
  </p:cSld>
</p:sld>
</file>

<file path=ppt/slides/slide2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7ad7715e370c4a2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21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021C109C-C017-4D19-928F-AED25AC30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Flight Number vs. Orbit Type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A9B787ED-5C5A-4555-BFD4-9C3CA0F2E2A7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141f9f556cc40fb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1786E41-7163-4780-A138-E560C35A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275">
                <a:solidFill>
                  <a:srgbClr val="0B49CB"/>
                </a:solidFill>
              </a:defRPr>
            </a:pPr>
            <a:r>
              <a:rPr sz="1275">
                <a:solidFill>
                  <a:srgbClr val="0B49CB"/>
                </a:solidFill>
              </a:rPr>
              <a:t>1: ES-L1   2: GEO   3: GTO   4: HEO   5: ISS   6: LEO   7: MEO   8: PO   9: SO   10: SSO   11: VLEO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C8A7E0-D95F-49BA-AF03-F13E40B79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VLEO launches cluster late in the sample. Differences by orbit may partly reflect changes in booster technology and experience.</a:t>
            </a:r>
          </a:p>
        </p:txBody>
      </p:sp>
    </p:spTree>
    <p:extLst>
      <p:ext uri="{BB962C8B-B14F-4D97-AF65-F5344CB8AC3E}">
        <p14:creationId xmlns:p14="http://schemas.microsoft.com/office/powerpoint/2010/main" val="1106727586"/>
      </p:ext>
    </p:extLst>
  </p:cSld>
</p:sld>
</file>

<file path=ppt/slides/slide2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791c8917c3f400d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22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AFE7D9E4-306D-49E3-9AC4-15D566FC7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Payload vs. Orbit Type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E3056E9B-5427-4F30-8080-C1E3ABB88C7C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c4936948b304b0a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BD67BED-DC46-4BA0-8072-C5E59D717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5076825"/>
            <a:ext cx="10429875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2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275">
                <a:solidFill>
                  <a:srgbClr val="0B49CB"/>
                </a:solidFill>
              </a:defRPr>
            </a:pPr>
            <a:r>
              <a:rPr sz="1275">
                <a:solidFill>
                  <a:srgbClr val="0B49CB"/>
                </a:solidFill>
              </a:rPr>
              <a:t>1: ES-L1   2: GEO   3: GTO   4: HEO   5: ISS   6: LEO   7: MEO   8: PO   9: SO   10: SSO   11: VLEO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6D644D9-95C3-45E2-ADDA-6A5834035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GTO has 14/27 Class 1 outcomes (51.9%). VLEO has 12/14 (85.7%). Payload alone does not explain the difference.</a:t>
            </a:r>
          </a:p>
        </p:txBody>
      </p:sp>
    </p:spTree>
    <p:extLst>
      <p:ext uri="{BB962C8B-B14F-4D97-AF65-F5344CB8AC3E}">
        <p14:creationId xmlns:p14="http://schemas.microsoft.com/office/powerpoint/2010/main" val="3145340593"/>
      </p:ext>
    </p:extLst>
  </p:cSld>
</p:sld>
</file>

<file path=ppt/slides/slide2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130aeb22b5324bcf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31BF7889-073A-E045-A3F2-45D63BD0FDC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23</a:t>
            </a:fld>
            <a:endParaRPr/>
          </a:p>
        </p:txBody>
      </p:sp>
      <p:sp>
        <p:nvSpPr>
          <p:cNvPr id="4" name="Title 1">
            <a:extLst xmlns:a="http://schemas.openxmlformats.org/drawingml/2006/main">
              <a:ext uri="{FF2B5EF4-FFF2-40B4-BE49-F238E27FC236}">
                <a16:creationId xmlns:a16="http://schemas.microsoft.com/office/drawing/2014/main" id="{6D35FD2D-1BD2-45D7-B015-1A96C2415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Yearly Outcome Trend</a:t>
            </a:r>
          </a:p>
        </p:txBody>
      </p:sp>
      <p:graphicFrame>
        <p:nvGraphicFramePr>
          <p:cNvPr id="6" name="Chart">
            <a:extLst xmlns:a="http://schemas.openxmlformats.org/drawingml/2006/main">
              <a:ext uri="{FF2B5EF4-FFF2-40B4-BE49-F238E27FC236}">
                <a16:creationId xmlns:a16="http://schemas.microsoft.com/office/drawing/2014/main" id="{AB9E244E-54BD-4290-904C-A81E494BCB76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4352c364657e4392"/>
          </a:graphicData>
        </a:graphic>
      </p:graphicFrame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97D7B30-50F1-4024-8FBB-D182853EF8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rate rises from 0% in early years to 84.2% in 2020, with a dip in 2018. The sample contains no 2011 launch.</a:t>
            </a:r>
          </a:p>
        </p:txBody>
      </p:sp>
    </p:spTree>
    <p:extLst>
      <p:ext uri="{BB962C8B-B14F-4D97-AF65-F5344CB8AC3E}">
        <p14:creationId xmlns:p14="http://schemas.microsoft.com/office/powerpoint/2010/main" val="706594483"/>
      </p:ext>
    </p:extLst>
  </p:cSld>
</p:sld>
</file>

<file path=ppt/slides/slide2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e9f065b207034bd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24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86E60219-AE1B-47B6-9A1D-F2865D04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All Launch Site Names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DFDC7C-2515-4327-ACC2-17972BC0A2CE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0"/>
              </a:tblGrid>
              <a:tr h="5524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Launch site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SLC-40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KSC LC-39A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VAFB SLC-4E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42FA8E-94A1-44BB-81CC-2EF3375E5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SQL source contains four labels. CCAFS LC-40 and CCAFS SLC-40 appear separately in this snapshot.</a:t>
            </a:r>
          </a:p>
        </p:txBody>
      </p:sp>
    </p:spTree>
    <p:extLst>
      <p:ext uri="{BB962C8B-B14F-4D97-AF65-F5344CB8AC3E}">
        <p14:creationId xmlns:p14="http://schemas.microsoft.com/office/powerpoint/2010/main" val="2727850971"/>
      </p:ext>
    </p:extLst>
  </p:cSld>
</p:sld>
</file>

<file path=ppt/slides/slide2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94e50a66c1f4465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25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557C8CBA-1A0E-4CDF-A451-7AAA44D39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Launch Sites Beginning with ‘CCA’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A4DBB4-D692-4B98-9A94-C16E78D513B8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3048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19375"/>
                <a:gridCol w="2619375"/>
                <a:gridCol w="2619375"/>
                <a:gridCol w="2619375"/>
              </a:tblGrid>
              <a:tr h="508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Date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 version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Payload (kg)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Site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2010-06-04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2010-12-08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B0004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2012-05-22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B0005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525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2012-10-08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08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2013-03-01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v1.0  B0007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677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D57AC0-D87E-4A23-AC51-48D85AF15A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earliest five CCA records span June 2010 to March 2013. The query orders by date and UTC time before LIMIT 5.</a:t>
            </a:r>
          </a:p>
        </p:txBody>
      </p:sp>
    </p:spTree>
    <p:extLst>
      <p:ext uri="{BB962C8B-B14F-4D97-AF65-F5344CB8AC3E}">
        <p14:creationId xmlns:p14="http://schemas.microsoft.com/office/powerpoint/2010/main" val="1794738657"/>
      </p:ext>
    </p:extLst>
  </p:cSld>
</p:sld>
</file>

<file path=ppt/slides/slide2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c8c85e55c8a04ed6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26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FD161C47-0660-416F-B4C2-25E4D35D69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Total NASA (CRS) Payload Mass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11BA9BB-493A-44B0-9639-0128D42DF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54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5400">
                <a:solidFill>
                  <a:srgbClr val="0B49CB"/>
                </a:solidFill>
              </a:defRPr>
            </a:pPr>
            <a:r>
              <a:rPr sz="5400">
                <a:solidFill>
                  <a:srgbClr val="0B49CB"/>
                </a:solidFill>
              </a:rPr>
              <a:t>45,596 kg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CEC8C98-EDB3-4B90-8FC8-C6ED941172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SUM(PAYLOAD_MASS__KG_)</a:t>
            </a:r>
          </a:p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WHERE Customer = 'NASA (CRS)'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58B7FC2-D25A-4F19-99A9-2D59137BC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This is the NASA Commercial Resupply Services subset. It does not include every customer label containing NASA.</a:t>
            </a:r>
          </a:p>
        </p:txBody>
      </p:sp>
    </p:spTree>
    <p:extLst>
      <p:ext uri="{BB962C8B-B14F-4D97-AF65-F5344CB8AC3E}">
        <p14:creationId xmlns:p14="http://schemas.microsoft.com/office/powerpoint/2010/main" val="4010014743"/>
      </p:ext>
    </p:extLst>
  </p:cSld>
</p:sld>
</file>

<file path=ppt/slides/slide2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090e3aca8a7e464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27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AFD52E17-48CB-4D60-BD56-71D197A29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Average Payload Mass for F9 v1.1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5AFC8E1-8DDB-4578-AB62-DB7548A8C2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0500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54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5400">
                <a:solidFill>
                  <a:srgbClr val="0B49CB"/>
                </a:solidFill>
              </a:defRPr>
            </a:pPr>
            <a:r>
              <a:rPr sz="5400">
                <a:solidFill>
                  <a:srgbClr val="0B49CB"/>
                </a:solidFill>
              </a:rPr>
              <a:t>2,928.4 kg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377413-E510-44B5-9CFF-A91001B4D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5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AVG(PAYLOAD_MASS__KG_)</a:t>
            </a:r>
          </a:p>
          <a:p xmlns:a="http://schemas.openxmlformats.org/drawingml/2006/main">
            <a:pPr>
              <a:defRPr sz="2250">
                <a:solidFill>
                  <a:srgbClr val="292929"/>
                </a:solidFill>
              </a:defRPr>
            </a:pPr>
            <a:r>
              <a:rPr sz="2250">
                <a:solidFill>
                  <a:srgbClr val="292929"/>
                </a:solidFill>
              </a:rPr>
              <a:t>WHERE Booster_Version = 'F9 v1.1'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19EA7FC-02F8-4286-9159-59C8F4C01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exact version label matches five rows. Including every label beginning with F9 v1.1 would answer a different query.</a:t>
            </a:r>
          </a:p>
        </p:txBody>
      </p:sp>
    </p:spTree>
    <p:extLst>
      <p:ext uri="{BB962C8B-B14F-4D97-AF65-F5344CB8AC3E}">
        <p14:creationId xmlns:p14="http://schemas.microsoft.com/office/powerpoint/2010/main" val="2735560525"/>
      </p:ext>
    </p:extLst>
  </p:cSld>
</p:sld>
</file>

<file path=ppt/slides/slide28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24b92070bc6e4bf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28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7F12CD3C-55B3-4129-817A-84D0B28F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First Successful Ground Landing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D6C24E7-EAB9-4775-8118-C846EBA4E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52625"/>
            <a:ext cx="10477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48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4875">
                <a:solidFill>
                  <a:srgbClr val="0B49CB"/>
                </a:solidFill>
              </a:defRPr>
            </a:pPr>
            <a:r>
              <a:rPr sz="4875">
                <a:solidFill>
                  <a:srgbClr val="0B49CB"/>
                </a:solidFill>
              </a:rPr>
              <a:t>22 December 2015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1B70774-5579-4286-9738-559FE48AD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10477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MIN(Date)</a:t>
            </a:r>
          </a:p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WHERE TRIM(Landing_Outcome) = 'Success (ground pad)'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E784EE-0DDD-49EE-B323-D24B319D9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This is the earliest successful ground-pad landing recorded in the SQL snapshot.</a:t>
            </a:r>
          </a:p>
        </p:txBody>
      </p:sp>
    </p:spTree>
    <p:extLst>
      <p:ext uri="{BB962C8B-B14F-4D97-AF65-F5344CB8AC3E}">
        <p14:creationId xmlns:p14="http://schemas.microsoft.com/office/powerpoint/2010/main" val="1434679925"/>
      </p:ext>
    </p:extLst>
  </p:cSld>
</p:sld>
</file>

<file path=ppt/slides/slide2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2f2f286b1ed141bc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29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952C2E9C-C6BE-40BD-A406-CFB441363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Drone Ship Landings at 4,000–6,000 kg</a:t>
            </a:r>
          </a:p>
        </p:txBody>
      </p:sp>
      <p:graphicFrame>
        <p:nvGraphicFrame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02B0326-60F6-4F98-B4E7-9011413FA1C8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2762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0477500"/>
              </a:tblGrid>
              <a:tr h="5524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 version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 B1021.2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 B1031.2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B1022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5524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FT B1026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C20D065-842C-46C8-8C2C-2AF69C885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Four boosters meet both conditions: successful drone ship landing and payload strictly above 4,000 kg and below 6,000 kg.</a:t>
            </a:r>
          </a:p>
        </p:txBody>
      </p:sp>
    </p:spTree>
    <p:extLst>
      <p:ext uri="{BB962C8B-B14F-4D97-AF65-F5344CB8AC3E}">
        <p14:creationId xmlns:p14="http://schemas.microsoft.com/office/powerpoint/2010/main" val="639399535"/>
      </p:ext>
    </p:extLst>
  </p:cSld>
</p:sld>
</file>

<file path=ppt/slides/slide3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8ba8f2cb0d74a8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30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79B32320-42D4-49FA-8047-C080B444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Mission Outcomes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F958C91-62A9-48E4-9DBC-7F571BE98B6C}"/>
              </a:ext>
            </a:extLst>
          </p:cNvPr>
          <p:cNvGraphicFramePr/>
          <p:nvPr/>
        </p:nvGraphicFramePr>
        <p:xfrm>
          <a:off xmlns:a="http://schemas.openxmlformats.org/drawingml/2006/main" x="857250" y="1905000"/>
          <a:ext xmlns:a="http://schemas.openxmlformats.org/drawingml/2006/main" cx="10477500" cy="1809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7620000"/>
                <a:gridCol w="2857500"/>
              </a:tblGrid>
              <a:tr h="6032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Mission result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Missions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Success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603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66E022F-2CD7-4762-94B2-1289EEBD2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100/101 missions count as successful. “Success (payload status unclear)” is included. Mission results differ from landing outcomes.</a:t>
            </a:r>
          </a:p>
        </p:txBody>
      </p:sp>
    </p:spTree>
    <p:extLst>
      <p:ext uri="{BB962C8B-B14F-4D97-AF65-F5344CB8AC3E}">
        <p14:creationId xmlns:p14="http://schemas.microsoft.com/office/powerpoint/2010/main" val="1756972646"/>
      </p:ext>
    </p:extLst>
  </p:cSld>
</p:sld>
</file>

<file path=ppt/slides/slide3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c94cbab3bc144fc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31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2A7EB98F-A25F-4357-9775-478FC17F7F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Boosters Carrying the Maximum Payload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3761BE2-03FE-42D0-A18C-6DBC29291036}"/>
              </a:ext>
            </a:extLst>
          </p:cNvPr>
          <p:cNvGraphicFramePr/>
          <p:nvPr/>
        </p:nvGraphicFramePr>
        <p:xfrm>
          <a:off xmlns:a="http://schemas.openxmlformats.org/drawingml/2006/main" x="857250" y="1809750"/>
          <a:ext xmlns:a="http://schemas.openxmlformats.org/drawingml/2006/main" cx="10477500" cy="33337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333750"/>
                <a:gridCol w="1905000"/>
                <a:gridCol w="3333750"/>
                <a:gridCol w="1905000"/>
              </a:tblGrid>
              <a:tr h="4762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Payload (kg)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Payload (kg)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B1048.4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B1051.4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B1048.5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B1051.6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B1049.4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B1056.4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B1049.5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B1058.3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B1049.7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B1060.2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B1051.3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B5 B1060.3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15600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5EB5991-60A6-4757-9B83-CCB3CE059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Twelve booster-flight labels share the maximum payload of 15,600 kg in this snapshot.</a:t>
            </a:r>
          </a:p>
        </p:txBody>
      </p:sp>
    </p:spTree>
    <p:extLst>
      <p:ext uri="{BB962C8B-B14F-4D97-AF65-F5344CB8AC3E}">
        <p14:creationId xmlns:p14="http://schemas.microsoft.com/office/powerpoint/2010/main" val="3566646398"/>
      </p:ext>
    </p:extLst>
  </p:cSld>
</p:sld>
</file>

<file path=ppt/slides/slide32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4d274d0f84f74a2c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32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964DA114-677C-40D8-8FFA-43531834C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Drone Ship Landing Failures in 2015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AF007E-81F3-402E-BFE9-171168C68136}"/>
              </a:ext>
            </a:extLst>
          </p:cNvPr>
          <p:cNvGraphicFramePr/>
          <p:nvPr/>
        </p:nvGraphicFramePr>
        <p:xfrm>
          <a:off xmlns:a="http://schemas.openxmlformats.org/drawingml/2006/main" x="857250" y="1952625"/>
          <a:ext xmlns:a="http://schemas.openxmlformats.org/drawingml/2006/main" cx="10477500" cy="2000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524000"/>
                <a:gridCol w="3143250"/>
                <a:gridCol w="2857500"/>
                <a:gridCol w="2952750"/>
              </a:tblGrid>
              <a:tr h="66675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Month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Landing outcome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Booster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Site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January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(drone ship)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v1.1 B1012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66675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April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(drone ship)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F9 v1.1 B1015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CCAFS LC-40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F7A4B0-7D49-4356-899C-F7A6EBD95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Two 2015 records show failed drone ship landings: January (B1012) and April (B1015), both at CCAFS LC-40.</a:t>
            </a:r>
          </a:p>
        </p:txBody>
      </p:sp>
    </p:spTree>
    <p:extLst>
      <p:ext uri="{BB962C8B-B14F-4D97-AF65-F5344CB8AC3E}">
        <p14:creationId xmlns:p14="http://schemas.microsoft.com/office/powerpoint/2010/main" val="1398439132"/>
      </p:ext>
    </p:extLst>
  </p:cSld>
</p:sld>
</file>

<file path=ppt/slides/slide3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ba2198b9ab634ae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D528596A-0847-664A-9D47-5096383E5E09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33</a:t>
            </a:fld>
            <a:endParaRPr/>
          </a:p>
        </p:txBody>
      </p:sp>
      <p:sp>
        <p:nvSpPr>
          <p:cNvPr id="3" name="Title 1">
            <a:extLst xmlns:a="http://schemas.openxmlformats.org/drawingml/2006/main">
              <a:ext uri="{FF2B5EF4-FFF2-40B4-BE49-F238E27FC236}">
                <a16:creationId xmlns:a16="http://schemas.microsoft.com/office/drawing/2014/main" id="{04523243-E4D6-45EC-97C8-D44398FB7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Landing Outcome Ranking, 2010–2017</a:t>
            </a:r>
          </a:p>
        </p:txBody>
      </p:sp>
      <p:graphicFrame>
        <p:nvGraphicFrame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7338E6-7752-4E29-B1D2-FF80DAAC1912}"/>
              </a:ext>
            </a:extLst>
          </p:cNvPr>
          <p:cNvGraphicFramePr/>
          <p:nvPr/>
        </p:nvGraphicFramePr>
        <p:xfrm>
          <a:off xmlns:a="http://schemas.openxmlformats.org/drawingml/2006/main" x="857250" y="1666875"/>
          <a:ext xmlns:a="http://schemas.openxmlformats.org/drawingml/2006/main" cx="10477500" cy="3476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8096250"/>
                <a:gridCol w="2381250"/>
              </a:tblGrid>
              <a:tr h="386292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Landing outcome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Count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No attempt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(drone ship)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Success (drone ship)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5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Controlled (ocean)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Success (ground pad)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Failure (parachute)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Uncontrolled (ocean)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2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386292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Precluded (drone ship)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D947C51-777C-4A87-AAEC-42D5D79EC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Inclusive period: 4 June 2010 to 20 March 2017. No attempt is most frequent (10). Drone ship successes and failures tie at five.</a:t>
            </a:r>
          </a:p>
        </p:txBody>
      </p:sp>
    </p:spTree>
    <p:extLst>
      <p:ext uri="{BB962C8B-B14F-4D97-AF65-F5344CB8AC3E}">
        <p14:creationId xmlns:p14="http://schemas.microsoft.com/office/powerpoint/2010/main" val="3975168428"/>
      </p:ext>
    </p:extLst>
  </p:cSld>
</p:sld>
</file>

<file path=ppt/slides/slide34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adb3ba7cf5cf408f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B25EC16-0638-FF41-B7CF-E42224EF7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3</a:t>
            </a:r>
          </a:p>
        </p:txBody>
      </p:sp>
    </p:spTree>
    <p:extLst>
      <p:ext uri="{BB962C8B-B14F-4D97-AF65-F5344CB8AC3E}">
        <p14:creationId xmlns:p14="http://schemas.microsoft.com/office/powerpoint/2010/main" val="1023352497"/>
      </p:ext>
    </p:extLst>
  </p:cSld>
</p:sld>
</file>

<file path=ppt/slides/slide3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005677aaa2f43e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35</a:t>
            </a:fld>
            <a:endParaRPr/>
          </a:p>
        </p:txBody>
      </p:sp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4176327-8CC4-4356-8BBB-DC4965CE9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Launch Sites on the US Coasts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C4CC85D-5CD2-4B20-9B8F-47B110DDAFB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8c5b6a7be1413e"/>
          <a:stretch xmlns:a="http://schemas.openxmlformats.org/drawingml/2006/main"/>
        </p:blipFill>
        <p:spPr>
          <a:xfrm xmlns:a="http://schemas.openxmlformats.org/drawingml/2006/main">
            <a:off x="1325563" y="1524000"/>
            <a:ext cx="7112000" cy="400050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44209C5-9EAA-4123-8DF7-B9CF018E3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52625"/>
            <a:ext cx="2190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Florida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CCAFS SLC 40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KSC LC 39A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California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VAFB SLC 4E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C11FC85-F235-4063-BF42-3EA7AE4A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All three facilities are coastal. The two Florida pads lie close together. Location alone does not explain landing performance.</a:t>
            </a:r>
          </a:p>
        </p:txBody>
      </p:sp>
    </p:spTree>
    <p:extLst>
      <p:ext uri="{BB962C8B-B14F-4D97-AF65-F5344CB8AC3E}">
        <p14:creationId xmlns:p14="http://schemas.microsoft.com/office/powerpoint/2010/main" val="981671777"/>
      </p:ext>
    </p:extLst>
  </p:cSld>
</p:sld>
</file>

<file path=ppt/slides/slide3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268e2e8c308a46cc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36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2E0ECA32-E146-40DA-85CD-9677244BC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Launch Outcomes at CCAFS SLC 40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D0D495-EED2-435F-8F05-D456087AE34F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2ed0e6b74c64f85"/>
          <a:stretch xmlns:a="http://schemas.openxmlformats.org/drawingml/2006/main"/>
        </p:blipFill>
        <p:spPr>
          <a:xfrm xmlns:a="http://schemas.openxmlformats.org/drawingml/2006/main">
            <a:off x="1325563" y="1524000"/>
            <a:ext cx="7112000" cy="4000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E296B4-C97E-4ACF-90CE-6ADEA56E82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05000"/>
            <a:ext cx="2190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55 launches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33 Class 1</a:t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22 Class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60.0% success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AF5D92A-5B0D-49DC-BE99-8AC9983144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Expanded markers separate overlapping records around the same launch site. Their displayed offsets are not actual launch locations.</a:t>
            </a:r>
          </a:p>
        </p:txBody>
      </p:sp>
    </p:spTree>
    <p:extLst>
      <p:ext uri="{BB962C8B-B14F-4D97-AF65-F5344CB8AC3E}">
        <p14:creationId xmlns:p14="http://schemas.microsoft.com/office/powerpoint/2010/main" val="239597884"/>
      </p:ext>
    </p:extLst>
  </p:cSld>
</p:sld>
</file>

<file path=ppt/slides/slide37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3cfc1f73278642d3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37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34C97452-C78A-4701-B8AB-ABFE63D5B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CCAFS SLC 40 and Nearby Features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E358599-77EA-4F7C-90B5-EFA3BA5752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060771e5f44063"/>
          <a:stretch xmlns:a="http://schemas.openxmlformats.org/drawingml/2006/main"/>
        </p:blipFill>
        <p:spPr>
          <a:xfrm xmlns:a="http://schemas.openxmlformats.org/drawingml/2006/main">
            <a:off x="1325563" y="1524000"/>
            <a:ext cx="7112000" cy="400050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9D3A91-76C5-4FD5-9210-1F29ECD09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91625" y="1905000"/>
            <a:ext cx="2190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Selected points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Coast: 0.97 km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Road: 0.56 km</a:t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Rail: 1.38 km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6D707CF-770A-4DB7-93E4-BBD038161D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58165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Approximate straight-line distances to selected map points. These are not surveyed minimum distances or safety clearances.</a:t>
            </a:r>
          </a:p>
        </p:txBody>
      </p:sp>
    </p:spTree>
    <p:extLst>
      <p:ext uri="{BB962C8B-B14F-4D97-AF65-F5344CB8AC3E}">
        <p14:creationId xmlns:p14="http://schemas.microsoft.com/office/powerpoint/2010/main" val="232499080"/>
      </p:ext>
    </p:extLst>
  </p:cSld>
</p:sld>
</file>

<file path=ppt/slides/slide38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f09f8cdd0a834d96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38BBD4D-F87B-2648-91EB-CF6A4BF68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4</a:t>
            </a:r>
          </a:p>
        </p:txBody>
      </p:sp>
    </p:spTree>
    <p:extLst>
      <p:ext uri="{BB962C8B-B14F-4D97-AF65-F5344CB8AC3E}">
        <p14:creationId xmlns:p14="http://schemas.microsoft.com/office/powerpoint/2010/main" val="733461713"/>
      </p:ext>
    </p:extLst>
  </p:cSld>
</p:sld>
</file>

<file path=ppt/slides/slide39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99912853c5f648da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39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9456A072-47A6-4424-9ABE-F39811904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Dashboard: Successful Outcomes by Site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6EC6E26-0D6A-4D49-8DA6-3F8A7DD91B9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598fb94d3b453c"/>
          <a:srcRect xmlns:a="http://schemas.openxmlformats.org/drawingml/2006/main" l="5500" t="6000" r="5500" b="45500"/>
          <a:stretch xmlns:a="http://schemas.openxmlformats.org/drawingml/2006/main"/>
        </p:blipFill>
        <p:spPr>
          <a:xfrm xmlns:a="http://schemas.openxmlformats.org/drawingml/2006/main">
            <a:off x="809625" y="1476375"/>
            <a:ext cx="7810500" cy="4095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2FC0F4F-3AA7-4EC4-97C6-7101E9BCE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571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95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60 successes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CCAFS: 33</a:t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KSC: 17</a:t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VAFB: 10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950">
                <a:solidFill>
                  <a:srgbClr val="292929"/>
                </a:solidFill>
              </a:defRPr>
            </a:pPr>
            <a:r>
              <a:rPr sz="1950">
                <a:solidFill>
                  <a:srgbClr val="292929"/>
                </a:solidFill>
              </a:rPr>
              <a:t>CCAFS contributes 55% of successes.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17ACB3-8556-44C5-9425-9B8491A51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022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The pie compares successful-outcome counts. A larger slice does not imply a higher success rate.</a:t>
            </a:r>
          </a:p>
        </p:txBody>
      </p:sp>
    </p:spTree>
    <p:extLst>
      <p:ext uri="{BB962C8B-B14F-4D97-AF65-F5344CB8AC3E}">
        <p14:creationId xmlns:p14="http://schemas.microsoft.com/office/powerpoint/2010/main" val="700132931"/>
      </p:ext>
    </p:extLst>
  </p:cSld>
</p:sld>
</file>

<file path=ppt/slides/slide40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82813bf5f9c84245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40</a:t>
            </a:fld>
            <a:endParaRPr/>
          </a:p>
        </p:txBody>
      </p:sp>
      <p:sp>
        <p:nvSpPr>
          <p:cNvPr id="8" name="Title 1">
            <a:extLst xmlns:a="http://schemas.openxmlformats.org/drawingml/2006/main">
              <a:ext uri="{FF2B5EF4-FFF2-40B4-BE49-F238E27FC236}">
                <a16:creationId xmlns:a16="http://schemas.microsoft.com/office/drawing/2014/main" id="{4EF94599-779E-457E-B57B-6063EBF7A8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Dashboard: Highest Observed Site Rate</a:t>
            </a:r>
          </a:p>
        </p:txBody>
      </p:sp>
      <p:pic>
        <p:nvPic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69F25A-0918-4744-BF01-DA820432FAC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bef48f040eb4642"/>
          <a:srcRect xmlns:a="http://schemas.openxmlformats.org/drawingml/2006/main" l="5500" t="6000" r="5500" b="45500"/>
          <a:stretch xmlns:a="http://schemas.openxmlformats.org/drawingml/2006/main"/>
        </p:blipFill>
        <p:spPr>
          <a:xfrm xmlns:a="http://schemas.openxmlformats.org/drawingml/2006/main">
            <a:off x="809625" y="1476375"/>
            <a:ext cx="7810500" cy="4095750"/>
          </a:xfrm>
          <a:prstGeom xmlns:a="http://schemas.openxmlformats.org/drawingml/2006/main" prst="rect">
            <a:avLst/>
          </a:prstGeom>
        </p:spPr>
      </p:pic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C4C637F-2E95-4992-B1BF-45078C5CCA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14500"/>
            <a:ext cx="2571750" cy="3238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02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KSC LC 39A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17 successes</a:t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5 class 0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77.3% success</a:t>
            </a:r>
          </a:p>
          <a:p xmlns:a="http://schemas.openxmlformats.org/drawingml/2006/main">
            <a:pPr>
              <a:defRPr sz="2025">
                <a:solidFill>
                  <a:srgbClr val="292929"/>
                </a:solidFill>
              </a:defRPr>
            </a:pPr>
            <a:r>
              <a:rPr sz="2025">
                <a:solidFill>
                  <a:srgbClr val="292929"/>
                </a:solidFill>
              </a:rPr>
              <a:t>22 launches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BE2421-E715-4243-9CF7-B5EB558D28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610225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KSC narrowly exceeds VAFB’s 76.9% (10/13). These small samples do not establish a reliable ranking of site quality.</a:t>
            </a:r>
          </a:p>
        </p:txBody>
      </p:sp>
    </p:spTree>
    <p:extLst>
      <p:ext uri="{BB962C8B-B14F-4D97-AF65-F5344CB8AC3E}">
        <p14:creationId xmlns:p14="http://schemas.microsoft.com/office/powerpoint/2010/main" val="1866160706"/>
      </p:ext>
    </p:extLst>
  </p:cSld>
</p:sld>
</file>

<file path=ppt/slides/slide41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7283c20779334377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lide Number Placeholder 2">
            <a:extLst xmlns:a="http://schemas.openxmlformats.org/drawingml/2006/main">
              <a:ext uri="{FF2B5EF4-FFF2-40B4-BE49-F238E27FC236}">
                <a16:creationId xmlns:a16="http://schemas.microsoft.com/office/drawing/2014/main" id="{8C82F32A-22A5-0046-9FAC-5295E4FA5A1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41</a:t>
            </a:fld>
            <a:endParaRPr/>
          </a:p>
        </p:txBody>
      </p:sp>
      <p:sp>
        <p:nvSpPr>
          <p:cNvPr id="12" name="Title 1">
            <a:extLst xmlns:a="http://schemas.openxmlformats.org/drawingml/2006/main">
              <a:ext uri="{FF2B5EF4-FFF2-40B4-BE49-F238E27FC236}">
                <a16:creationId xmlns:a16="http://schemas.microsoft.com/office/drawing/2014/main" id="{4D271BF5-BAA1-4CEB-A575-76A097FABB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Dashboard: Payload Range Filters</a:t>
            </a:r>
          </a:p>
        </p:txBody>
      </p:sp>
      <p:pic>
        <p:nvPic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799E689-30BB-4AFC-8529-45D152192F0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217a2f2f1044587"/>
          <a:srcRect xmlns:a="http://schemas.openxmlformats.org/drawingml/2006/main" l="5500" t="54500" r="5500" b="4500"/>
          <a:stretch xmlns:a="http://schemas.openxmlformats.org/drawingml/2006/main"/>
        </p:blipFill>
        <p:spPr>
          <a:xfrm xmlns:a="http://schemas.openxmlformats.org/drawingml/2006/main">
            <a:off x="809625" y="1571625"/>
            <a:ext cx="5238750" cy="3476625"/>
          </a:xfrm>
          <a:prstGeom xmlns:a="http://schemas.openxmlformats.org/drawingml/2006/main" prst="rect">
            <a:avLst/>
          </a:prstGeom>
        </p:spPr>
      </p:pic>
      <p:pic>
        <p:nvPic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B52DE4-E2A5-44BB-9145-CF3A98F7E72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fe0bc7727749d5"/>
          <a:srcRect xmlns:a="http://schemas.openxmlformats.org/drawingml/2006/main" l="5500" t="54500" r="5500" b="4500"/>
          <a:stretch xmlns:a="http://schemas.openxmlformats.org/drawingml/2006/main"/>
        </p:blipFill>
        <p:spPr>
          <a:xfrm xmlns:a="http://schemas.openxmlformats.org/drawingml/2006/main">
            <a:off x="6191250" y="1571625"/>
            <a:ext cx="5238750" cy="3476625"/>
          </a:xfrm>
          <a:prstGeom xmlns:a="http://schemas.openxmlformats.org/drawingml/2006/main" prst="rect">
            <a:avLst/>
          </a:prstGeom>
        </p:spPr>
      </p:pic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5E96130-1983-43A8-9127-45CC23D4F0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67325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Two slider selections isolate different payload bands. Booster block and flight date also vary, so a payload association is not a causal effect.</a:t>
            </a:r>
          </a:p>
        </p:txBody>
      </p:sp>
    </p:spTree>
    <p:extLst>
      <p:ext uri="{BB962C8B-B14F-4D97-AF65-F5344CB8AC3E}">
        <p14:creationId xmlns:p14="http://schemas.microsoft.com/office/powerpoint/2010/main" val="252359608"/>
      </p:ext>
    </p:extLst>
  </p:cSld>
</p:sld>
</file>

<file path=ppt/slides/slide42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0e126892af254f62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237DFD2-2B76-8445-A1BD-6628DC42C3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7970" y="2529746"/>
            <a:ext cx="1058303" cy="36933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948CB"/>
          </a:solidFill>
        </p:spPr>
        <p:txBody>
          <a:bodyPr xmlns:a="http://schemas.openxmlformats.org/drawingml/2006/main" wrap="none">
            <a:spAutoFit/>
          </a:bodyPr>
          <a:lstStyle xmlns:a="http://schemas.openxmlformats.org/drawingml/2006/main"/>
          <a:p xmlns:a="http://schemas.openxmlformats.org/drawingml/2006/main">
            <a:r>
              <a:rPr>
                <a:solidFill>
                  <a:schemeClr val="bg1"/>
                </a:solidFill>
              </a:rPr>
              <a:t>Section 5</a:t>
            </a:r>
          </a:p>
        </p:txBody>
      </p:sp>
    </p:spTree>
    <p:extLst>
      <p:ext uri="{BB962C8B-B14F-4D97-AF65-F5344CB8AC3E}">
        <p14:creationId xmlns:p14="http://schemas.microsoft.com/office/powerpoint/2010/main" val="1290394134"/>
      </p:ext>
    </p:extLst>
  </p:cSld>
</p:sld>
</file>

<file path=ppt/slides/slide43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5b8ce0715c13485d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43</a:t>
            </a:fld>
            <a:endParaRPr/>
          </a:p>
        </p:txBody>
      </p:sp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B68D8986-45AC-4FB5-96E8-C45F9603EB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Classification Accuracy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10" name="Chart">
            <a:extLst xmlns:a="http://schemas.openxmlformats.org/drawingml/2006/main">
              <a:ext uri="{FF2B5EF4-FFF2-40B4-BE49-F238E27FC236}">
                <a16:creationId xmlns:a16="http://schemas.microsoft.com/office/drawing/2014/main" id="{3353AEF7-D067-48B8-853A-34C00E046A6A}"/>
              </a:ext>
            </a:extLst>
          </p:cNvPr>
          <p:cNvGraphicFramePr/>
          <p:nvPr/>
        </p:nvGraphicFramePr>
        <p:xfrm>
          <a:off xmlns:a="http://schemas.openxmlformats.org/drawingml/2006/main" x="809625" y="1571625"/>
          <a:ext xmlns:a="http://schemas.openxmlformats.org/drawingml/2006/main" cx="10477500" cy="352425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899d7db921bc41f0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6EA7C6-EE74-4981-B686-7A5909C8F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257800"/>
            <a:ext cx="1047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00">
                <a:solidFill>
                  <a:srgbClr val="292929"/>
                </a:solidFill>
              </a:defRPr>
            </a:pPr>
            <a:r>
              <a:rPr sz="1800">
                <a:solidFill>
                  <a:srgbClr val="292929"/>
                </a:solidFill>
              </a:rPr>
              <a:t>All models tie at 83.33% on the test set. The decision tree leads CV at 87.68%. The always-Class-1 test baseline is 66.67%.</a:t>
            </a:r>
          </a:p>
        </p:txBody>
      </p:sp>
    </p:spTree>
    <p:extLst>
      <p:ext uri="{BB962C8B-B14F-4D97-AF65-F5344CB8AC3E}">
        <p14:creationId xmlns:p14="http://schemas.microsoft.com/office/powerpoint/2010/main" val="2459446073"/>
      </p:ext>
    </p:extLst>
  </p:cSld>
</p:sld>
</file>

<file path=ppt/slides/slide44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f6ba452bf6ab4df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336C985E-BCEF-DD49-BB47-C4649A79F0D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44</a:t>
            </a:fld>
            <a:endParaRPr/>
          </a:p>
        </p:txBody>
      </p:sp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533106AC-60D7-46AE-8E64-7B84ABDBD0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Decision Tree Confusion Matrix</a:t>
            </a:r>
            <a:endParaRPr>
              <a:solidFill>
                <a:srgbClr val="0B49CB"/>
              </a:solidFill>
            </a:endParaRPr>
          </a:p>
        </p:txBody>
      </p:sp>
      <p:graphicFrame>
        <p:nvGraphicFrame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6C8228F-8E37-4FD7-A7AA-FE21FC26199A}"/>
              </a:ext>
            </a:extLst>
          </p:cNvPr>
          <p:cNvGraphicFramePr/>
          <p:nvPr/>
        </p:nvGraphicFramePr>
        <p:xfrm>
          <a:off xmlns:a="http://schemas.openxmlformats.org/drawingml/2006/main" x="857250" y="1905000"/>
          <a:ext xmlns:a="http://schemas.openxmlformats.org/drawingml/2006/main" cx="10477500" cy="22860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5143500"/>
                <a:gridCol w="2667000"/>
                <a:gridCol w="2667000"/>
              </a:tblGrid>
              <a:tr h="762000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Actual / Predicted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Class 0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</a:rPr>
                        <a:t>Class 1</a:t>
                      </a:r>
                    </a:p>
                  </a:txBody>
                  <a:tcPr marL="91440" marR="91440" marT="45720" marB="45720">
                    <a:solidFill>
                      <a:srgbClr val="0B49CB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Class 0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3</a:t>
                      </a:r>
                    </a:p>
                  </a:txBody>
                  <a:tcPr marL="91440" marR="91440" marT="45720" marB="45720">
                    <a:solidFill>
                      <a:srgbClr val="F1F5FC"/>
                    </a:solidFill>
                  </a:tcPr>
                </a:tc>
              </a:tr>
              <a:tr h="762000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Class 1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292929"/>
                          </a:solidFill>
                        </a:rPr>
                        <a:t>12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7240D3-3CC5-4212-BAFE-DFFB5D574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543425"/>
            <a:ext cx="10477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1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15/18 correct (83.33%)</a:t>
            </a:r>
          </a:p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Class 1 precision: 12/15 = 80%</a:t>
            </a:r>
          </a:p>
          <a:p xmlns:a="http://schemas.openxmlformats.org/drawingml/2006/main">
            <a:pPr>
              <a:defRPr sz="2100">
                <a:solidFill>
                  <a:srgbClr val="292929"/>
                </a:solidFill>
              </a:defRPr>
            </a:pPr>
            <a:r>
              <a:rPr sz="2100">
                <a:solidFill>
                  <a:srgbClr val="292929"/>
                </a:solidFill>
              </a:rPr>
              <a:t>Class 1 recall: 12/12 = 100%</a:t>
            </a:r>
          </a:p>
        </p:txBody>
      </p:sp>
    </p:spTree>
    <p:extLst>
      <p:ext uri="{BB962C8B-B14F-4D97-AF65-F5344CB8AC3E}">
        <p14:creationId xmlns:p14="http://schemas.microsoft.com/office/powerpoint/2010/main" val="3645034231"/>
      </p:ext>
    </p:extLst>
  </p:cSld>
</p:sld>
</file>

<file path=ppt/slides/slide45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5cc43a597513485e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8DA56319-AADE-D741-AA33-1311B7CA8C0C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45</a:t>
            </a:fld>
            <a:endParaRPr/>
          </a:p>
        </p:txBody>
      </p:sp>
      <p:sp>
        <p:nvSpPr>
          <p:cNvPr id="9" name="Title 1">
            <a:extLst xmlns:a="http://schemas.openxmlformats.org/drawingml/2006/main">
              <a:ext uri="{FF2B5EF4-FFF2-40B4-BE49-F238E27FC236}">
                <a16:creationId xmlns:a16="http://schemas.microsoft.com/office/drawing/2014/main" id="{FB98079A-48C6-4E10-8AB1-B940BD1E4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Conclusions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F725BC2-DD07-4EC2-B89A-2A864ABDD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95450"/>
            <a:ext cx="10477500" cy="3810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Successful first-stage outcomes become more common over the study period, but progress is uneven across years.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KSC has the highest observed site rate. CCAFS contributes the most successes. Orbit and payload patterns depend on mission mix.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Four classifiers tie on the small test set. The tree’s CV lead does not establish better future performance.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2200">
                <a:solidFill>
                  <a:srgbClr val="292929"/>
                </a:solidFill>
              </a:defRPr>
            </a:pPr>
            <a:r>
              <a:rPr sz="2200">
                <a:solidFill>
                  <a:srgbClr val="292929"/>
                </a:solidFill>
              </a:rPr>
              <a:t>Next evaluation: fit preprocessing within training folds, remove features unavailable before launch, and use a later time period for testing.</a:t>
            </a:r>
          </a:p>
        </p:txBody>
      </p:sp>
    </p:spTree>
    <p:extLst>
      <p:ext uri="{BB962C8B-B14F-4D97-AF65-F5344CB8AC3E}">
        <p14:creationId xmlns:p14="http://schemas.microsoft.com/office/powerpoint/2010/main" val="1630123617"/>
      </p:ext>
    </p:extLst>
  </p:cSld>
</p:sld>
</file>

<file path=ppt/slides/slide46.xml><?xml version="1.0" encoding="utf-8"?>
<p:sld xmlns:p="http://schemas.openxmlformats.org/presentationml/2006/main">
  <p:cSld>
    <p:bg>
      <p:bgPr>
        <a:blipFill xmlns:a="http://schemas.openxmlformats.org/drawingml/2006/main">
          <a:blip xmlns:r="http://schemas.openxmlformats.org/officeDocument/2006/relationships" r:embed="R799218af9b094747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7525D5A-386D-C541-9D42-BBDEA82289E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075537C-CA84-1446-933C-8E9D027F9201}" type="slidenum">
              <a:t>46</a:t>
            </a:fld>
            <a:endParaRPr/>
          </a:p>
        </p:txBody>
      </p:sp>
      <p:sp>
        <p:nvSpPr>
          <p:cNvPr id="11" name="Title 1">
            <a:extLst xmlns:a="http://schemas.openxmlformats.org/drawingml/2006/main">
              <a:ext uri="{FF2B5EF4-FFF2-40B4-BE49-F238E27FC236}">
                <a16:creationId xmlns:a16="http://schemas.microsoft.com/office/drawing/2014/main" id="{60F8A56C-5EE1-4DBF-842D-C2A130AA6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0001" y="538639"/>
            <a:ext cx="10572750" cy="9525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 fontScale="100000" lnSpcReduction="20000"/>
          </a:bodyPr>
          <a:lstStyle xmlns:a="http://schemas.openxmlformats.org/drawingml/2006/main">
            <a:defPPr>
              <a:defRPr sz="3720">
                <a:solidFill>
                  <a:srgbClr val="0B49CB"/>
                </a:solidFill>
              </a:defRPr>
            </a:defPPr>
            <a:lvl1pPr algn="l" defTabSz="914400">
              <a:lnSpc>
                <a:spcPct val="90000"/>
              </a:lnSpc>
              <a:spcBef>
                <a:spcPct val="0"/>
              </a:spcBef>
              <a:buNone/>
              <a:defRPr sz="4000" kern="1200">
                <a:solidFill>
                  <a:srgbClr val="005493"/>
                </a:solidFill>
                <a:latin typeface="IBM Plex Mono SemiBold"/>
                <a:ea typeface="IBM Plex Mono SemiBold"/>
                <a:cs typeface="IBM Plex Mono SemiBold"/>
              </a:defRPr>
            </a:lvl1pPr>
          </a:lstStyle>
          <a:p xmlns:a="http://schemas.openxmlformats.org/drawingml/2006/main">
            <a:pPr>
              <a:defRPr sz="3720">
                <a:solidFill>
                  <a:srgbClr val="0B49CB"/>
                </a:solidFill>
              </a:defRPr>
            </a:pPr>
            <a:r>
              <a:rPr sz="3720">
                <a:solidFill>
                  <a:srgbClr val="0B49CB"/>
                </a:solidFill>
                <a:latin typeface="Abadi"/>
                <a:ea typeface="Abadi"/>
                <a:cs typeface="Abadi"/>
              </a:rPr>
              <a:t>Appendix and Reproducible Sources</a:t>
            </a:r>
            <a:endParaRPr>
              <a:solidFill>
                <a:srgbClr val="0B49CB"/>
              </a:solidFill>
            </a:endParaRP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BB84E0-E19A-4743-AAF4-83B8F1E870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714500"/>
            <a:ext cx="10477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400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2400">
                <a:solidFill>
                  <a:srgbClr val="0B49CB"/>
                </a:solidFill>
              </a:defRPr>
            </a:pPr>
            <a:r>
              <a:rPr sz="2400">
                <a:solidFill>
                  <a:srgbClr val="0B49CB"/>
                </a:solidFill>
              </a:rPr>
              <a:t>Public repository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C83AF5E-E8B4-42B6-BA3C-5247326E3D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266950"/>
            <a:ext cx="10477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0B49CB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0B49CB"/>
                </a:solidFill>
              </a:defRPr>
            </a:pPr>
            <a:r>
              <a:rPr sz="1875">
                <a:solidFill>
                  <a:srgbClr val="0B49CB"/>
                </a:solidFill>
              </a:rPr>
              <a:t>https://github.com/nicholas-yap/spacex-data-science-capstone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CF7DA1-728F-4188-9B92-FBED2773B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048000"/>
            <a:ext cx="10477500" cy="2524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1875">
                <a:solidFill>
                  <a:srgbClr val="292929"/>
                </a:solidFill>
              </a:defRPr>
            </a:defPPr>
          </a:lstStyle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notebooks/    Collection, scraping, wrangling, EDA, SQL, maps and classification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data/             Historical course snapshots and scraped records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maps/           Interactive HTML maps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>
              <a:defRPr sz="1875">
                <a:solidFill>
                  <a:srgbClr val="292929"/>
                </a:solidFill>
              </a:defRPr>
            </a:pPr>
            <a:r>
              <a:rPr sz="1875">
                <a:solidFill>
                  <a:srgbClr val="292929"/>
                </a:solidFill>
              </a:rPr>
              <a:t>spacex_dashboard.py    Runnable dashboard on port 8051</a:t>
            </a:r>
          </a:p>
        </p:txBody>
      </p:sp>
    </p:spTree>
    <p:extLst>
      <p:ext uri="{BB962C8B-B14F-4D97-AF65-F5344CB8AC3E}">
        <p14:creationId xmlns:p14="http://schemas.microsoft.com/office/powerpoint/2010/main" val="3410008520"/>
      </p:ext>
    </p:extLst>
  </p:cSld>
</p:sld>
</file>

<file path=ppt/slides/slide47.xml><?xml version="1.0" encoding="utf-8"?>
<p:sld xmlns:p="http://schemas.openxmlformats.org/presentationml/2006/main">
  <p:cSld>
    <p:bg>
      <p:bgPr>
        <a:blipFill xmlns:a="http://schemas.openxmlformats.org/drawingml/2006/main" rotWithShape="1">
          <a:blip xmlns:r="http://schemas.openxmlformats.org/officeDocument/2006/relationships" r:embed="R3b01294c43cc4d24"/>
          <a:srcRect l="0" t="0" r="0" b="0"/>
          <a:stretch>
            <a:fillRect l="0" t="0" r="0" b="0"/>
          </a:stretch>
        </a:blip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0B1B6C-0CDB-44F4-9F51-2DC4626D96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" y="5667375"/>
            <a:ext cx="5334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>
            <a:defPPr>
              <a:defRPr sz="2200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>
              <a:defRPr sz="2200">
                <a:solidFill>
                  <a:srgbClr val="FFFFFF"/>
                </a:solidFill>
              </a:defRPr>
            </a:pPr>
            <a:r>
              <a:rPr sz="2200">
                <a:solidFill>
                  <a:srgbClr val="FFFFFF"/>
                </a:solidFill>
              </a:rPr>
              <a:t>Nicholas Yap</a:t>
            </a:r>
          </a:p>
        </p:txBody>
      </p:sp>
    </p:spTree>
    <p:extLst>
      <p:ext uri="{BB962C8B-B14F-4D97-AF65-F5344CB8AC3E}">
        <p14:creationId xmlns:p14="http://schemas.microsoft.com/office/powerpoint/2010/main" val="661040741"/>
      </p:ext>
    </p:extLst>
  </p:cSld>
</p:sld>
</file>

<file path=ppt/theme/theme1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2026-10-13T05:56:03.7600000Z</dcterms:created>
  <dcterms:modified xsi:type="dcterms:W3CDTF">2026-10-13T05:56:03.7600000Z</dcterms:modified>
</coreProperties>
</file>