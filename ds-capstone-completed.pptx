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1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3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4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5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6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slides/charts/chart7.xml" ContentType="application/vnd.openxmlformats-officedocument.drawingml.chart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47b8da4fd040bf" /><Relationship Type="http://schemas.openxmlformats.org/officeDocument/2006/relationships/extended-properties" Target="/docProps/app.xml" Id="R9da1bb7fd81647d5" /><Relationship Type="http://schemas.openxmlformats.org/officeDocument/2006/relationships/officeDocument" Target="/ppt/presentation.xml" Id="Rbb9468e5766241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53b72f03314019"/>
  </p:sldMasterIdLst>
  <p:notesMasterIdLst>
    <p:notesMasterId xmlns:r="http://schemas.openxmlformats.org/officeDocument/2006/relationships" r:id="R2a9eb5f177794f2a"/>
  </p:notesMasterIdLst>
  <p:sldIdLst>
    <p:sldId xmlns:r="http://schemas.openxmlformats.org/officeDocument/2006/relationships" id="256" r:id="R08435401ee1c452b"/>
    <p:sldId xmlns:r="http://schemas.openxmlformats.org/officeDocument/2006/relationships" id="257" r:id="R88677e7ed2f64040"/>
    <p:sldId xmlns:r="http://schemas.openxmlformats.org/officeDocument/2006/relationships" id="258" r:id="Rf13ccb6a05014c0a"/>
    <p:sldId xmlns:r="http://schemas.openxmlformats.org/officeDocument/2006/relationships" id="259" r:id="Raf17533aefe941c8"/>
    <p:sldId xmlns:r="http://schemas.openxmlformats.org/officeDocument/2006/relationships" id="260" r:id="R973bd91cd3944924"/>
    <p:sldId xmlns:r="http://schemas.openxmlformats.org/officeDocument/2006/relationships" id="261" r:id="R353733102cf8473d"/>
    <p:sldId xmlns:r="http://schemas.openxmlformats.org/officeDocument/2006/relationships" id="262" r:id="R3f5433d6711d4719"/>
    <p:sldId xmlns:r="http://schemas.openxmlformats.org/officeDocument/2006/relationships" id="263" r:id="R28dfe711630f48a7"/>
    <p:sldId xmlns:r="http://schemas.openxmlformats.org/officeDocument/2006/relationships" id="264" r:id="Ra765b107478a469f"/>
    <p:sldId xmlns:r="http://schemas.openxmlformats.org/officeDocument/2006/relationships" id="265" r:id="Rc76fc4dea4bc4d61"/>
    <p:sldId xmlns:r="http://schemas.openxmlformats.org/officeDocument/2006/relationships" id="266" r:id="R2c3b9ec2367c482c"/>
    <p:sldId xmlns:r="http://schemas.openxmlformats.org/officeDocument/2006/relationships" id="267" r:id="R3880ada7128a4801"/>
    <p:sldId xmlns:r="http://schemas.openxmlformats.org/officeDocument/2006/relationships" id="268" r:id="R92ff823631054d91"/>
    <p:sldId xmlns:r="http://schemas.openxmlformats.org/officeDocument/2006/relationships" id="269" r:id="Re74a4aa27654488d"/>
    <p:sldId xmlns:r="http://schemas.openxmlformats.org/officeDocument/2006/relationships" id="270" r:id="R5c37a7d1e8a345fd"/>
    <p:sldId xmlns:r="http://schemas.openxmlformats.org/officeDocument/2006/relationships" id="271" r:id="Rc688270879a64bb2"/>
    <p:sldId xmlns:r="http://schemas.openxmlformats.org/officeDocument/2006/relationships" id="272" r:id="R8ca5b8e5e4434f95"/>
    <p:sldId xmlns:r="http://schemas.openxmlformats.org/officeDocument/2006/relationships" id="273" r:id="R4339e89fd0d0453e"/>
    <p:sldId xmlns:r="http://schemas.openxmlformats.org/officeDocument/2006/relationships" id="274" r:id="Ra4e011e9d8d44dd4"/>
    <p:sldId xmlns:r="http://schemas.openxmlformats.org/officeDocument/2006/relationships" id="275" r:id="Rd1f093f809fb45ba"/>
    <p:sldId xmlns:r="http://schemas.openxmlformats.org/officeDocument/2006/relationships" id="276" r:id="R2d8cbb0649124389"/>
    <p:sldId xmlns:r="http://schemas.openxmlformats.org/officeDocument/2006/relationships" id="277" r:id="R24b18dda38b44c9d"/>
    <p:sldId xmlns:r="http://schemas.openxmlformats.org/officeDocument/2006/relationships" id="278" r:id="Re56bc1fb02624fb2"/>
    <p:sldId xmlns:r="http://schemas.openxmlformats.org/officeDocument/2006/relationships" id="279" r:id="Rc0471dbdafc6419d"/>
    <p:sldId xmlns:r="http://schemas.openxmlformats.org/officeDocument/2006/relationships" id="280" r:id="Ra5d5da06700641fd"/>
    <p:sldId xmlns:r="http://schemas.openxmlformats.org/officeDocument/2006/relationships" id="281" r:id="Rb14c9fc396cb494b"/>
    <p:sldId xmlns:r="http://schemas.openxmlformats.org/officeDocument/2006/relationships" id="282" r:id="Rbe9c1423b41143bd"/>
    <p:sldId xmlns:r="http://schemas.openxmlformats.org/officeDocument/2006/relationships" id="283" r:id="Rc046221d03c347b0"/>
    <p:sldId xmlns:r="http://schemas.openxmlformats.org/officeDocument/2006/relationships" id="284" r:id="Radd4fb14b5cd46f8"/>
    <p:sldId xmlns:r="http://schemas.openxmlformats.org/officeDocument/2006/relationships" id="285" r:id="R3aa42b3db76a4275"/>
    <p:sldId xmlns:r="http://schemas.openxmlformats.org/officeDocument/2006/relationships" id="286" r:id="Rc2c91f7e9ca7429e"/>
    <p:sldId xmlns:r="http://schemas.openxmlformats.org/officeDocument/2006/relationships" id="287" r:id="R09f730995aef4c4d"/>
    <p:sldId xmlns:r="http://schemas.openxmlformats.org/officeDocument/2006/relationships" id="288" r:id="Rdc37bafd87714ff1"/>
    <p:sldId xmlns:r="http://schemas.openxmlformats.org/officeDocument/2006/relationships" id="289" r:id="Rde62c84cf69f4574"/>
    <p:sldId xmlns:r="http://schemas.openxmlformats.org/officeDocument/2006/relationships" id="290" r:id="Rd6d923ea592247da"/>
    <p:sldId xmlns:r="http://schemas.openxmlformats.org/officeDocument/2006/relationships" id="291" r:id="R53e2e078a55a4cc8"/>
    <p:sldId xmlns:r="http://schemas.openxmlformats.org/officeDocument/2006/relationships" id="292" r:id="R6aa7489214884ead"/>
    <p:sldId xmlns:r="http://schemas.openxmlformats.org/officeDocument/2006/relationships" id="293" r:id="R6301f9b3b9764aa4"/>
    <p:sldId xmlns:r="http://schemas.openxmlformats.org/officeDocument/2006/relationships" id="294" r:id="R62ed24a87bf54187"/>
    <p:sldId xmlns:r="http://schemas.openxmlformats.org/officeDocument/2006/relationships" id="295" r:id="R705f762e73f343ae"/>
    <p:sldId xmlns:r="http://schemas.openxmlformats.org/officeDocument/2006/relationships" id="296" r:id="Rd6c9808cd3024c6c"/>
    <p:sldId xmlns:r="http://schemas.openxmlformats.org/officeDocument/2006/relationships" id="297" r:id="Rf517bf3a678a4da3"/>
    <p:sldId xmlns:r="http://schemas.openxmlformats.org/officeDocument/2006/relationships" id="298" r:id="R09dbb30845664a2d"/>
    <p:sldId xmlns:r="http://schemas.openxmlformats.org/officeDocument/2006/relationships" id="299" r:id="Rd88be515bb824238"/>
    <p:sldId xmlns:r="http://schemas.openxmlformats.org/officeDocument/2006/relationships" id="300" r:id="R579fb4f64bc3499c"/>
    <p:sldId xmlns:r="http://schemas.openxmlformats.org/officeDocument/2006/relationships" id="301" r:id="R9f6b909bc042445b"/>
    <p:sldId xmlns:r="http://schemas.openxmlformats.org/officeDocument/2006/relationships" id="302" r:id="R86cc01df9ab04588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4ef86352954686" /><Relationship Type="http://schemas.openxmlformats.org/officeDocument/2006/relationships/slideMaster" Target="/ppt/slideMasters/slideMaster1.xml" Id="R7553b72f03314019" /><Relationship Type="http://schemas.openxmlformats.org/officeDocument/2006/relationships/notesMaster" Target="/ppt/notesMasters/notesMaster1.xml" Id="R2a9eb5f177794f2a" /><Relationship Type="http://schemas.openxmlformats.org/officeDocument/2006/relationships/presProps" Target="/ppt/presProps.xml" Id="R6c8f8067c2284106" /><Relationship Type="http://schemas.openxmlformats.org/officeDocument/2006/relationships/viewProps" Target="/ppt/viewProps.xml" Id="Rb2966b45690d47db" /><Relationship Type="http://schemas.openxmlformats.org/officeDocument/2006/relationships/tableStyles" Target="/ppt/tableStyles.xml" Id="Rd840915f6e154943" /><Relationship Type="http://schemas.openxmlformats.org/officeDocument/2006/relationships/slide" Target="/ppt/slides/slide1.xml" Id="R08435401ee1c452b" /><Relationship Type="http://schemas.openxmlformats.org/officeDocument/2006/relationships/slide" Target="/ppt/slides/slide2.xml" Id="R88677e7ed2f64040" /><Relationship Type="http://schemas.openxmlformats.org/officeDocument/2006/relationships/slide" Target="/ppt/slides/slide3.xml" Id="Rf13ccb6a05014c0a" /><Relationship Type="http://schemas.openxmlformats.org/officeDocument/2006/relationships/slide" Target="/ppt/slides/slide4.xml" Id="Raf17533aefe941c8" /><Relationship Type="http://schemas.openxmlformats.org/officeDocument/2006/relationships/slide" Target="/ppt/slides/slide5.xml" Id="R973bd91cd3944924" /><Relationship Type="http://schemas.openxmlformats.org/officeDocument/2006/relationships/slide" Target="/ppt/slides/slide6.xml" Id="R353733102cf8473d" /><Relationship Type="http://schemas.openxmlformats.org/officeDocument/2006/relationships/slide" Target="/ppt/slides/slide7.xml" Id="R3f5433d6711d4719" /><Relationship Type="http://schemas.openxmlformats.org/officeDocument/2006/relationships/slide" Target="/ppt/slides/slide8.xml" Id="R28dfe711630f48a7" /><Relationship Type="http://schemas.openxmlformats.org/officeDocument/2006/relationships/slide" Target="/ppt/slides/slide9.xml" Id="Ra765b107478a469f" /><Relationship Type="http://schemas.openxmlformats.org/officeDocument/2006/relationships/slide" Target="/ppt/slides/slide10.xml" Id="Rc76fc4dea4bc4d61" /><Relationship Type="http://schemas.openxmlformats.org/officeDocument/2006/relationships/slide" Target="/ppt/slides/slide11.xml" Id="R2c3b9ec2367c482c" /><Relationship Type="http://schemas.openxmlformats.org/officeDocument/2006/relationships/slide" Target="/ppt/slides/slide12.xml" Id="R3880ada7128a4801" /><Relationship Type="http://schemas.openxmlformats.org/officeDocument/2006/relationships/slide" Target="/ppt/slides/slide13.xml" Id="R92ff823631054d91" /><Relationship Type="http://schemas.openxmlformats.org/officeDocument/2006/relationships/slide" Target="/ppt/slides/slide14.xml" Id="Re74a4aa27654488d" /><Relationship Type="http://schemas.openxmlformats.org/officeDocument/2006/relationships/slide" Target="/ppt/slides/slide15.xml" Id="R5c37a7d1e8a345fd" /><Relationship Type="http://schemas.openxmlformats.org/officeDocument/2006/relationships/slide" Target="/ppt/slides/slide16.xml" Id="Rc688270879a64bb2" /><Relationship Type="http://schemas.openxmlformats.org/officeDocument/2006/relationships/slide" Target="/ppt/slides/slide17.xml" Id="R8ca5b8e5e4434f95" /><Relationship Type="http://schemas.openxmlformats.org/officeDocument/2006/relationships/slide" Target="/ppt/slides/slide18.xml" Id="R4339e89fd0d0453e" /><Relationship Type="http://schemas.openxmlformats.org/officeDocument/2006/relationships/slide" Target="/ppt/slides/slide19.xml" Id="Ra4e011e9d8d44dd4" /><Relationship Type="http://schemas.openxmlformats.org/officeDocument/2006/relationships/slide" Target="/ppt/slides/slide20.xml" Id="Rd1f093f809fb45ba" /><Relationship Type="http://schemas.openxmlformats.org/officeDocument/2006/relationships/slide" Target="/ppt/slides/slide21.xml" Id="R2d8cbb0649124389" /><Relationship Type="http://schemas.openxmlformats.org/officeDocument/2006/relationships/slide" Target="/ppt/slides/slide22.xml" Id="R24b18dda38b44c9d" /><Relationship Type="http://schemas.openxmlformats.org/officeDocument/2006/relationships/slide" Target="/ppt/slides/slide23.xml" Id="Re56bc1fb02624fb2" /><Relationship Type="http://schemas.openxmlformats.org/officeDocument/2006/relationships/slide" Target="/ppt/slides/slide24.xml" Id="Rc0471dbdafc6419d" /><Relationship Type="http://schemas.openxmlformats.org/officeDocument/2006/relationships/slide" Target="/ppt/slides/slide25.xml" Id="Ra5d5da06700641fd" /><Relationship Type="http://schemas.openxmlformats.org/officeDocument/2006/relationships/slide" Target="/ppt/slides/slide26.xml" Id="Rb14c9fc396cb494b" /><Relationship Type="http://schemas.openxmlformats.org/officeDocument/2006/relationships/slide" Target="/ppt/slides/slide27.xml" Id="Rbe9c1423b41143bd" /><Relationship Type="http://schemas.openxmlformats.org/officeDocument/2006/relationships/slide" Target="/ppt/slides/slide28.xml" Id="Rc046221d03c347b0" /><Relationship Type="http://schemas.openxmlformats.org/officeDocument/2006/relationships/slide" Target="/ppt/slides/slide29.xml" Id="Radd4fb14b5cd46f8" /><Relationship Type="http://schemas.openxmlformats.org/officeDocument/2006/relationships/slide" Target="/ppt/slides/slide30.xml" Id="R3aa42b3db76a4275" /><Relationship Type="http://schemas.openxmlformats.org/officeDocument/2006/relationships/slide" Target="/ppt/slides/slide31.xml" Id="Rc2c91f7e9ca7429e" /><Relationship Type="http://schemas.openxmlformats.org/officeDocument/2006/relationships/slide" Target="/ppt/slides/slide32.xml" Id="R09f730995aef4c4d" /><Relationship Type="http://schemas.openxmlformats.org/officeDocument/2006/relationships/slide" Target="/ppt/slides/slide33.xml" Id="Rdc37bafd87714ff1" /><Relationship Type="http://schemas.openxmlformats.org/officeDocument/2006/relationships/slide" Target="/ppt/slides/slide34.xml" Id="Rde62c84cf69f4574" /><Relationship Type="http://schemas.openxmlformats.org/officeDocument/2006/relationships/slide" Target="/ppt/slides/slide35.xml" Id="Rd6d923ea592247da" /><Relationship Type="http://schemas.openxmlformats.org/officeDocument/2006/relationships/slide" Target="/ppt/slides/slide36.xml" Id="R53e2e078a55a4cc8" /><Relationship Type="http://schemas.openxmlformats.org/officeDocument/2006/relationships/slide" Target="/ppt/slides/slide37.xml" Id="R6aa7489214884ead" /><Relationship Type="http://schemas.openxmlformats.org/officeDocument/2006/relationships/slide" Target="/ppt/slides/slide38.xml" Id="R6301f9b3b9764aa4" /><Relationship Type="http://schemas.openxmlformats.org/officeDocument/2006/relationships/slide" Target="/ppt/slides/slide39.xml" Id="R62ed24a87bf54187" /><Relationship Type="http://schemas.openxmlformats.org/officeDocument/2006/relationships/slide" Target="/ppt/slides/slide40.xml" Id="R705f762e73f343ae" /><Relationship Type="http://schemas.openxmlformats.org/officeDocument/2006/relationships/slide" Target="/ppt/slides/slide41.xml" Id="Rd6c9808cd3024c6c" /><Relationship Type="http://schemas.openxmlformats.org/officeDocument/2006/relationships/slide" Target="/ppt/slides/slide42.xml" Id="Rf517bf3a678a4da3" /><Relationship Type="http://schemas.openxmlformats.org/officeDocument/2006/relationships/slide" Target="/ppt/slides/slide43.xml" Id="R09dbb30845664a2d" /><Relationship Type="http://schemas.openxmlformats.org/officeDocument/2006/relationships/slide" Target="/ppt/slides/slide44.xml" Id="Rd88be515bb824238" /><Relationship Type="http://schemas.openxmlformats.org/officeDocument/2006/relationships/slide" Target="/ppt/slides/slide45.xml" Id="R579fb4f64bc3499c" /><Relationship Type="http://schemas.openxmlformats.org/officeDocument/2006/relationships/slide" Target="/ppt/slides/slide46.xml" Id="R9f6b909bc042445b" /><Relationship Type="http://schemas.openxmlformats.org/officeDocument/2006/relationships/slide" Target="/ppt/slides/slide47.xml" Id="R86cc01df9ab045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3c4a10df0346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143bc105324a44" /><Relationship Type="http://schemas.openxmlformats.org/officeDocument/2006/relationships/notesMaster" Target="/ppt/notesMasters/notesMaster1.xml" Id="R5226dd935ad544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8b245f5f614334" /><Relationship Type="http://schemas.openxmlformats.org/officeDocument/2006/relationships/notesMaster" Target="/ppt/notesMasters/notesMaster1.xml" Id="Rde1504769ea844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f1dfe8ec8b44f5" /><Relationship Type="http://schemas.openxmlformats.org/officeDocument/2006/relationships/notesMaster" Target="/ppt/notesMasters/notesMaster1.xml" Id="R9099f2ee08594b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bb87ccdf0249cb" /><Relationship Type="http://schemas.openxmlformats.org/officeDocument/2006/relationships/notesMaster" Target="/ppt/notesMasters/notesMaster1.xml" Id="R9ed73e3f73ef41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7af8d2bdee4201" /><Relationship Type="http://schemas.openxmlformats.org/officeDocument/2006/relationships/notesMaster" Target="/ppt/notesMasters/notesMaster1.xml" Id="R434663b790b646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94977031cb4b34" /><Relationship Type="http://schemas.openxmlformats.org/officeDocument/2006/relationships/notesMaster" Target="/ppt/notesMasters/notesMaster1.xml" Id="R3ba4ed4f5b8a4d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654f4516d44002" /><Relationship Type="http://schemas.openxmlformats.org/officeDocument/2006/relationships/notesMaster" Target="/ppt/notesMasters/notesMaster1.xml" Id="R300b5a9db2f34c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0b644db0bc46ba" /><Relationship Type="http://schemas.openxmlformats.org/officeDocument/2006/relationships/notesMaster" Target="/ppt/notesMasters/notesMaster1.xml" Id="R8def550c47134e6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4dd81d5c214608" /><Relationship Type="http://schemas.openxmlformats.org/officeDocument/2006/relationships/notesMaster" Target="/ppt/notesMasters/notesMaster1.xml" Id="Rc551029918484f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db1144091c41c5" /><Relationship Type="http://schemas.openxmlformats.org/officeDocument/2006/relationships/notesMaster" Target="/ppt/notesMasters/notesMaster1.xml" Id="Rd9500dab1ade4b0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bb49e7370a744cf" /><Relationship Type="http://schemas.openxmlformats.org/officeDocument/2006/relationships/notesMaster" Target="/ppt/notesMasters/notesMaster1.xml" Id="Rbe2c2da8f13644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872114ea364e03" /><Relationship Type="http://schemas.openxmlformats.org/officeDocument/2006/relationships/notesMaster" Target="/ppt/notesMasters/notesMaster1.xml" Id="Rd2c76577730a4c0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72dcf1751544c51" /><Relationship Type="http://schemas.openxmlformats.org/officeDocument/2006/relationships/notesMaster" Target="/ppt/notesMasters/notesMaster1.xml" Id="Rb57b8d403b67481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9f15a24dc64b62" /><Relationship Type="http://schemas.openxmlformats.org/officeDocument/2006/relationships/notesMaster" Target="/ppt/notesMasters/notesMaster1.xml" Id="Rc5b8f3b784f6450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70b18c4464142c2" /><Relationship Type="http://schemas.openxmlformats.org/officeDocument/2006/relationships/notesMaster" Target="/ppt/notesMasters/notesMaster1.xml" Id="Rd626e005359a4b6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ae105244f9f4069" /><Relationship Type="http://schemas.openxmlformats.org/officeDocument/2006/relationships/notesMaster" Target="/ppt/notesMasters/notesMaster1.xml" Id="Rc4b687efde4b49c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c1470f92d7c4fe7" /><Relationship Type="http://schemas.openxmlformats.org/officeDocument/2006/relationships/notesMaster" Target="/ppt/notesMasters/notesMaster1.xml" Id="R430a68abfd21497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dc5de28b4a74632" /><Relationship Type="http://schemas.openxmlformats.org/officeDocument/2006/relationships/notesMaster" Target="/ppt/notesMasters/notesMaster1.xml" Id="Rcac73d6463a04cd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4fc5fa193b04ca2" /><Relationship Type="http://schemas.openxmlformats.org/officeDocument/2006/relationships/notesMaster" Target="/ppt/notesMasters/notesMaster1.xml" Id="R76b7839460f6452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5d61d068ace48c3" /><Relationship Type="http://schemas.openxmlformats.org/officeDocument/2006/relationships/notesMaster" Target="/ppt/notesMasters/notesMaster1.xml" Id="R57969de3510f43d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8a3b64d4c6a43b3" /><Relationship Type="http://schemas.openxmlformats.org/officeDocument/2006/relationships/notesMaster" Target="/ppt/notesMasters/notesMaster1.xml" Id="R4f43fd817dfb4b6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b0e5252ff7e42e2" /><Relationship Type="http://schemas.openxmlformats.org/officeDocument/2006/relationships/notesMaster" Target="/ppt/notesMasters/notesMaster1.xml" Id="Rf82f1db6a257487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9b0dc02214344aa" /><Relationship Type="http://schemas.openxmlformats.org/officeDocument/2006/relationships/notesMaster" Target="/ppt/notesMasters/notesMaster1.xml" Id="R4e72b2af81e242e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8340bb4bef04337" /><Relationship Type="http://schemas.openxmlformats.org/officeDocument/2006/relationships/notesMaster" Target="/ppt/notesMasters/notesMaster1.xml" Id="Rcfc3a47a476044e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8de7a89f4eb41fb" /><Relationship Type="http://schemas.openxmlformats.org/officeDocument/2006/relationships/notesMaster" Target="/ppt/notesMasters/notesMaster1.xml" Id="R3e2053fb3d64415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5b877c7f6574afd" /><Relationship Type="http://schemas.openxmlformats.org/officeDocument/2006/relationships/notesMaster" Target="/ppt/notesMasters/notesMaster1.xml" Id="Ra1e836844e7b496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1ca164239f04a52" /><Relationship Type="http://schemas.openxmlformats.org/officeDocument/2006/relationships/notesMaster" Target="/ppt/notesMasters/notesMaster1.xml" Id="R35e42b3f339f4fe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f9aacc5d7084866" /><Relationship Type="http://schemas.openxmlformats.org/officeDocument/2006/relationships/notesMaster" Target="/ppt/notesMasters/notesMaster1.xml" Id="Rb004f37275f04c1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36113db56c64440" /><Relationship Type="http://schemas.openxmlformats.org/officeDocument/2006/relationships/notesMaster" Target="/ppt/notesMasters/notesMaster1.xml" Id="Rc8740327a46b459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995c668bd55491b" /><Relationship Type="http://schemas.openxmlformats.org/officeDocument/2006/relationships/notesMaster" Target="/ppt/notesMasters/notesMaster1.xml" Id="Rd09df07d12744b18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8f18be167784dd0" /><Relationship Type="http://schemas.openxmlformats.org/officeDocument/2006/relationships/notesMaster" Target="/ppt/notesMasters/notesMaster1.xml" Id="R003ce5463b3c456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528ccba60e04cf3" /><Relationship Type="http://schemas.openxmlformats.org/officeDocument/2006/relationships/notesMaster" Target="/ppt/notesMasters/notesMaster1.xml" Id="R1a5bc0f6e42f492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6d028a4b1144579" /><Relationship Type="http://schemas.openxmlformats.org/officeDocument/2006/relationships/notesMaster" Target="/ppt/notesMasters/notesMaster1.xml" Id="Rd540e2408254410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dca8205dc204dc5" /><Relationship Type="http://schemas.openxmlformats.org/officeDocument/2006/relationships/notesMaster" Target="/ppt/notesMasters/notesMaster1.xml" Id="Rd2df772e3dbf433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99bfe70428345c2" /><Relationship Type="http://schemas.openxmlformats.org/officeDocument/2006/relationships/notesMaster" Target="/ppt/notesMasters/notesMaster1.xml" Id="R49a17031517d41e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2d9f5f09ed24c2d" /><Relationship Type="http://schemas.openxmlformats.org/officeDocument/2006/relationships/notesMaster" Target="/ppt/notesMasters/notesMaster1.xml" Id="R95db3fdc458e469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b2cc211ed114459" /><Relationship Type="http://schemas.openxmlformats.org/officeDocument/2006/relationships/notesMaster" Target="/ppt/notesMasters/notesMaster1.xml" Id="R10eea7481fda41f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523667e5e994ee2" /><Relationship Type="http://schemas.openxmlformats.org/officeDocument/2006/relationships/notesMaster" Target="/ppt/notesMasters/notesMaster1.xml" Id="Rb7ef213fc0b749e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5b199576dab40d7" /><Relationship Type="http://schemas.openxmlformats.org/officeDocument/2006/relationships/notesMaster" Target="/ppt/notesMasters/notesMaster1.xml" Id="R70bffbd54d644eb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bd562e623ccb4897" /><Relationship Type="http://schemas.openxmlformats.org/officeDocument/2006/relationships/notesMaster" Target="/ppt/notesMasters/notesMaster1.xml" Id="Rbe36f2ddcc5a4737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b6920b8f5a04966" /><Relationship Type="http://schemas.openxmlformats.org/officeDocument/2006/relationships/notesMaster" Target="/ppt/notesMasters/notesMaster1.xml" Id="Rbd0b213860334dbb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46776febfde4623" /><Relationship Type="http://schemas.openxmlformats.org/officeDocument/2006/relationships/notesMaster" Target="/ppt/notesMasters/notesMaster1.xml" Id="R97c19aafd68a4b3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0e0265287c894d00" /><Relationship Type="http://schemas.openxmlformats.org/officeDocument/2006/relationships/notesMaster" Target="/ppt/notesMasters/notesMaster1.xml" Id="R09f7000a10d94c8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514e30aa8084911" /><Relationship Type="http://schemas.openxmlformats.org/officeDocument/2006/relationships/notesMaster" Target="/ppt/notesMasters/notesMaster1.xml" Id="Raa22024dbec24cc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651735969c9343ce" /><Relationship Type="http://schemas.openxmlformats.org/officeDocument/2006/relationships/notesMaster" Target="/ppt/notesMasters/notesMaster1.xml" Id="R82f46c78dd5f4d1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01b23e81746478f" /><Relationship Type="http://schemas.openxmlformats.org/officeDocument/2006/relationships/notesMaster" Target="/ppt/notesMasters/notesMaster1.xml" Id="Re4f0a01f9bde4839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88def8e566b049af" /><Relationship Type="http://schemas.openxmlformats.org/officeDocument/2006/relationships/notesMaster" Target="/ppt/notesMasters/notesMaster1.xml" Id="R00fe0a16211442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IBM Applied Data Science Capstone. Nicholas Yap. Analysis of historical Falcon 9 launches.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Executive summary and project question</a:t>
            </a:r>
            <a:endParaRPr/>
          </a:p>
          <a:p xmlns:a="http://schemas.openxmlformats.org/drawingml/2006/main">
            <a:r>
              <a:t>Data collection and analytical methods</a:t>
            </a:r>
            <a:endParaRPr/>
          </a:p>
          <a:p xmlns:a="http://schemas.openxmlformats.org/drawingml/2006/main">
            <a:r>
              <a:t>EDA, SQL, interactive maps and dashboard</a:t>
            </a:r>
            <a:endParaRPr/>
          </a:p>
          <a:p xmlns:a="http://schemas.openxmlformats.org/drawingml/2006/main">
            <a:r>
              <a:t>Classification results, conclusions and sources</a:t>
            </a:r>
            <a:endParaRPr/>
          </a:p>
          <a:p xmlns:a="http://schemas.openxmlformats.org/drawingml/2006/main">
            <a:r>
              <a:t>Sources: https://github.com/nicholas-yap/spacex-data-science-capstone/blob/main/data/dataset_part_2.csv</a:t>
            </a:r>
            <a:endParaRPr/>
          </a:p>
          <a:p xmlns:a="http://schemas.openxmlformats.org/drawingml/2006/main"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90 Falcon 9 launches form the modeling sample. The course label marks 60 successes (66.7%).</a:t>
            </a:r>
          </a:p>
          <a:p xmlns:a="http://schemas.openxmlformats.org/drawingml/2006/main">
            <a:r>
              <a:t>KSC LC 39A has the highest observed site rate: 77.3% (17/22). CCAFS SLC 40 contributes 33 of 60 successes.</a:t>
            </a:r>
          </a:p>
          <a:p xmlns:a="http://schemas.openxmlformats.org/drawingml/2006/main">
            <a:r>
              <a:t>All four models score 83.33% on 18 test launches. The decision tree leads cross-validation at 87.68%.</a:t>
            </a:r>
          </a:p>
          <a:p xmlns:a="http://schemas.openxmlformats.org/drawingml/2006/main">
            <a:r>
              <a:t>Small samples, changing technology and preprocessing leakage limit generalization.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 question: how can historical launch characteristics help estimate the chance of a successful first-stage outcome?</a:t>
            </a:r>
          </a:p>
          <a:p xmlns:a="http://schemas.openxmlformats.org/drawingml/2006/main">
            <a:r>
              <a:t>Reusable boosters create a reason to study landing outcomes. This project predicts the course outcome label, not launch price or cost savings.</a:t>
            </a:r>
          </a:p>
          <a:p xmlns:a="http://schemas.openxmlformats.org/drawingml/2006/main">
            <a:r>
              <a:t>Compare launch sites, payload, orbit and experience, then evaluate four classification models.</a:t>
            </a:r>
          </a:p>
          <a:p xmlns:a="http://schemas.openxmlformats.org/drawingml/2006/main">
            <a:r>
              <a:t>Scope: historical course snapshots. A successful mission and a successful first-stage outcome measure different events.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Collect historical launch records from a SpaceX API snapshot and a Wikipedia launch-table snapshot.</a:t>
            </a:r>
            <a:endParaRPr/>
          </a:p>
          <a:p xmlns:a="http://schemas.openxmlformats.org/drawingml/2006/main">
            <a:pPr marL="0" indent="0">
              <a:buNone/>
            </a:pPr>
            <a:r>
              <a:t>Clean outcomes and missing payloads. Use 90 launch records and 83 encoded features for classification.</a:t>
            </a:r>
            <a:endParaRPr/>
          </a:p>
          <a:p xmlns:a="http://schemas.openxmlformats.org/drawingml/2006/main">
            <a:pPr marL="0" indent="0">
              <a:buNone/>
            </a:pPr>
            <a:r>
              <a:t>Explore relationships with charts and SQLite queries. Add Folium maps and a Dash dashboard.</a:t>
            </a:r>
            <a:endParaRPr/>
          </a:p>
          <a:p xmlns:a="http://schemas.openxmlformats.org/drawingml/2006/main">
            <a:pPr marL="0" indent="0">
              <a:buNone/>
            </a:pPr>
            <a:r>
              <a:t>Compare tuned classifiers using 10-fold cross-validation and the saved 18-launch test split.</a:t>
            </a:r>
            <a:endParaRPr/>
          </a:p>
          <a:p xmlns:a="http://schemas.openxmlformats.org/drawingml/2006/main">
            <a:pPr marL="0" indent="0">
              <a:buNone/>
            </a:pPr>
            <a:r>
              <a:t>Sources: https://github.com/nicholas-yap/spacex-data-science-capstone/blob/main/data/dataset_part_2.csv</a:t>
            </a:r>
            <a:endParaRPr/>
          </a:p>
          <a:p xmlns:a="http://schemas.openxmlformats.org/drawingml/2006/main">
            <a:pPr marL="0" indent="0">
              <a:buNone/>
            </a:pPr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API modeling sample n=90. SQL sample n=101. Wikipedia scrape n=121. These are separate snapshots; no row-by-row merge is claimed.</a:t>
            </a:r>
          </a:p>
          <a:p xmlns:a="http://schemas.openxmlformats.org/drawingml/2006/main">
            <a:r>
              <a:t>Sources: https://github.com/nicholas-yap/spacex-data-science-capstone/blob/main/README.md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API provenance: https://api.spacexdata.com/v4/launches/past . Archived response supplied by IBM in API_call_spacex_api.json. Enriched feature data comes from the supplied dataset_part_1.csv, not a newly executed online enrichment.</a:t>
            </a:r>
          </a:p>
          <a:p xmlns:a="http://schemas.openxmlformats.org/drawingml/2006/main">
            <a:r>
              <a:t>Sources: https://github.com/nicholas-yap/spacex-data-science-capstone/blob/main/notebooks/01-data-collection.ipynb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Saved notebook outputs report 121 rows and 11 columns. Wikipedia archived revision: https://en.wikipedia.org/w/index.php?title=List_of_Falcon_9_and_Falcon_Heavy_launches&amp;oldid=1027686922</a:t>
            </a:r>
          </a:p>
          <a:p xmlns:a="http://schemas.openxmlformats.org/drawingml/2006/main">
            <a:r>
              <a:t>Sources: https://github.com/nicholas-yap/spacex-data-science-capstone/blob/main/notebooks/jupyter-labs-webscraping.ipynb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Outcome mapping verified against dataset_part_2.csv. The five True Ocean rows count as Class 1. Payload mean imputation is already present in supplied data.</a:t>
            </a:r>
          </a:p>
          <a:p xmlns:a="http://schemas.openxmlformats.org/drawingml/2006/main">
            <a:r>
              <a:t>Sources: https://github.com/nicholas-yap/spacex-data-science-capstone/blob/main/notebooks/02-wrangling-eda.ipynb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Scatter plots compare flight number and payload with launch site and orbit. Color separates the two outcome classes.</a:t>
            </a:r>
          </a:p>
          <a:p xmlns:a="http://schemas.openxmlformats.org/drawingml/2006/main">
            <a:r>
              <a:t>Orbit success bars show rates with launch counts so small groups remain visible.</a:t>
            </a:r>
          </a:p>
          <a:p xmlns:a="http://schemas.openxmlformats.org/drawingml/2006/main">
            <a:r>
              <a:t>The yearly line chart shows changes in outcome rate, with year-specific denominators.</a:t>
            </a:r>
          </a:p>
          <a:p xmlns:a="http://schemas.openxmlformats.org/drawingml/2006/main">
            <a:r>
              <a:t>Charts describe associations. Site, orbit, payload and technology changed together over time.</a:t>
            </a:r>
          </a:p>
          <a:p xmlns:a="http://schemas.openxmlformats.org/drawingml/2006/main">
            <a:r>
              <a:t>Sources: https://github.com/nicholas-yap/spacex-data-science-capstone/blob/main/notebooks/02-wrangling-eda.ipynb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DISTINCT and LIKE identify launch-site labels and the first five CCA records.</a:t>
            </a:r>
          </a:p>
          <a:p xmlns:a="http://schemas.openxmlformats.org/drawingml/2006/main">
            <a:r>
              <a:t>SUM, AVG and MAX summarize payload mass and the boosters carrying the maximum.</a:t>
            </a:r>
          </a:p>
          <a:p xmlns:a="http://schemas.openxmlformats.org/drawingml/2006/main">
            <a:r>
              <a:t>Date and outcome filters identify the first ground landing, drone ship landings and failures in 2015.</a:t>
            </a:r>
          </a:p>
          <a:p xmlns:a="http://schemas.openxmlformats.org/drawingml/2006/main">
            <a:r>
              <a:t>GROUP BY and COUNT summarize mission results and rank landing outcomes for the specified period.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Site circles and labels locate the three modeled launch facilities on a continental map.</a:t>
            </a:r>
          </a:p>
          <a:p xmlns:a="http://schemas.openxmlformats.org/drawingml/2006/main">
            <a:r>
              <a:t>A MarkerCluster groups overlapping launches. Green marks Class 1 and red marks Class 0.</a:t>
            </a:r>
          </a:p>
          <a:p xmlns:a="http://schemas.openxmlformats.org/drawingml/2006/main">
            <a:r>
              <a:t>Popup details show flight, date, payload and outcome. Expanding a cluster separates markers for inspection.</a:t>
            </a:r>
          </a:p>
          <a:p xmlns:a="http://schemas.openxmlformats.org/drawingml/2006/main">
            <a:r>
              <a:t>Lines connect CCAFS SLC 40 to selected road, rail and coastline points. Haversine distance gives approximate straight-line separation.</a:t>
            </a:r>
          </a:p>
          <a:p xmlns:a="http://schemas.openxmlformats.org/drawingml/2006/main">
            <a:r>
              <a:t>Sources: https://github.com/nicholas-yap/spacex-data-science-capstone/blob/main/notebooks/03-interactive-maps.ipynb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site dropdown switches between all launches and a selected facility.</a:t>
            </a:r>
          </a:p>
          <a:p xmlns:a="http://schemas.openxmlformats.org/drawingml/2006/main">
            <a:r>
              <a:t>The all-sites pie chart shows each site’s contribution to successful outcomes. A selected-site pie shows its success ratio.</a:t>
            </a:r>
          </a:p>
          <a:p xmlns:a="http://schemas.openxmlformats.org/drawingml/2006/main">
            <a:r>
              <a:t>The payload range slider filters the outcome scatter plot. Color identifies booster block.</a:t>
            </a:r>
          </a:p>
          <a:p xmlns:a="http://schemas.openxmlformats.org/drawingml/2006/main">
            <a:r>
              <a:t>Hover details reveal launch date, flight number and outcome. The dashboard uses the same 90-row sample as the EDA.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reproduced from saved notebook outputs. Pre-split scaling exposes test distribution to preprocessing. GridSearchCV has 10 folds; no claim of a leakage-free evaluation.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EDA: outcome rates differ across sites, orbit groups and launch years.</a:t>
            </a:r>
            <a:endParaRPr/>
          </a:p>
          <a:p xmlns:a="http://schemas.openxmlformats.org/drawingml/2006/main">
            <a:pPr marL="0" indent="0">
              <a:buNone/>
            </a:pPr>
            <a:r>
              <a:t>SQL: 101 missions include 100 mission successes and one failure. NASA (CRS) payload totals 45,596 kg.</a:t>
            </a:r>
            <a:endParaRPr/>
          </a:p>
          <a:p xmlns:a="http://schemas.openxmlformats.org/drawingml/2006/main">
            <a:pPr marL="0" indent="0">
              <a:buNone/>
            </a:pPr>
            <a:r>
              <a:t>Interactive views: coastal launch sites and payload filters help inspect individual records.</a:t>
            </a:r>
            <a:endParaRPr/>
          </a:p>
          <a:p xmlns:a="http://schemas.openxmlformats.org/drawingml/2006/main">
            <a:pPr marL="0" indent="0">
              <a:buNone/>
            </a:pPr>
            <a:r>
              <a:t>Prediction: each model correctly classifies 15 of 18 test launches. The test scores do not establish a unique winner.</a:t>
            </a:r>
            <a:endParaRPr/>
          </a:p>
          <a:p xmlns:a="http://schemas.openxmlformats.org/drawingml/2006/main">
            <a:pPr marL="0" indent="0">
              <a:buNone/>
            </a:pPr>
            <a:r>
              <a:t>Sources: https://github.com/nicholas-yap/spacex-data-science-capstone/blob/main/data/dataset_part_2.csv</a:t>
            </a:r>
            <a:endParaRPr/>
          </a:p>
          <a:p xmlns:a="http://schemas.openxmlformats.org/drawingml/2006/main">
            <a:pPr marL="0" indent="0">
              <a:buNone/>
            </a:pPr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Later launches show more Class 1 outcomes. Site and flight sequence overlap, so the plot cannot isolate a site effect. Category codes: CCAFS SLC 40, KSC LC 39A, VAFB SLC 4E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CCAFS SLC 40 covers the broadest history. Both outcome classes occur across payload ranges, and some payload values are mean-imputed. Category codes: CCAFS SLC 40, KSC LC 39A, VAFB SLC 4E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Orbit rates use Class means. Count labels show sample sizes.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VLEO launches cluster late in the sample. Differences by orbit may partly reflect changes in booster technology and experience. Category codes: ES-L1, GEO, GTO, HEO, ISS, LEO, MEO, PO, SO, SSO, VLEO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GTO has 14/27 Class 1 outcomes (51.9%). VLEO has 12/14 (85.7%). Payload alone does not explain the difference. Category codes: ES-L1, GEO, GTO, HEO, ISS, LEO, MEO, PO, SO, SSO, VLEO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Yearly means of the course Class label; this is not mission success rate. Years with no observations are omitted.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DISTINCT Launch_Site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ORDER BY Launch_Site;</a:t>
            </a:r>
          </a:p>
          <a:p xmlns:a="http://schemas.openxmlformats.org/drawingml/2006/main">
            <a:r>
              <a:t>Result: [["CCAFS LC-40"],["CCAFS SLC-40"],["KSC LC-39A"],["VAFB SLC-4E"]]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*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Launch_Site LIKE 'CCA%'</a:t>
            </a:r>
          </a:p>
          <a:p xmlns:a="http://schemas.openxmlformats.org/drawingml/2006/main">
            <a:r>
              <a:t>ORDER BY Date, "Time (UTC)"</a:t>
            </a:r>
          </a:p>
          <a:p xmlns:a="http://schemas.openxmlformats.org/drawingml/2006/main">
            <a:r>
              <a:t>LIMIT 5;</a:t>
            </a:r>
          </a:p>
          <a:p xmlns:a="http://schemas.openxmlformats.org/drawingml/2006/main">
            <a:r>
              <a:t>Result: [["2010-06-04","18:45:00","F9 v1.0  B0003","CCAFS LC-40","Dragon Spacecraft Qualification Unit",0,"LEO","SpaceX","Success","Failure (parachute)"],["2010-12-08","15:43:00","F9 v1.0  B0004","CCAFS LC-40","Dragon demo flight C1, two CubeSats, barrel of Brouere cheese",0,"LEO (ISS)","NASA (COTS) NRO","Success","Failure (parachute)"],["2012-05-22","7:44:00","F9 v1.0  B0005","CCAFS LC-40","Dragon demo flight C2",525,"LEO (ISS)","NASA (COTS)","Success","No attempt"],["2012-10-08","0:35:00","F9 v1.0  B0006","CCAFS LC-40","SpaceX CRS-1",500,"LEO (ISS)","NASA (CRS)","Success","No attempt"],["2013-03-01","15:10:00","F9 v1.0  B0007","CCAFS LC-40","SpaceX CRS-2",677,"LEO (ISS)","NASA (CRS)","Success","No attempt"]]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SUM(PAYLOAD_MASS__KG_) AS Total_Payload_Mass_KG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Customer = 'NASA (CRS)';</a:t>
            </a:r>
          </a:p>
          <a:p xmlns:a="http://schemas.openxmlformats.org/drawingml/2006/main">
            <a:r>
              <a:t>Result: [[45596]]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-- Match the exact booster-version label specified in the assignment.</a:t>
            </a:r>
          </a:p>
          <a:p xmlns:a="http://schemas.openxmlformats.org/drawingml/2006/main">
            <a:r>
              <a:t>SELECT AVG(PAYLOAD_MASS__KG_) AS Average_Payload_Mass_KG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Booster_Version = 'F9 v1.1';</a:t>
            </a:r>
          </a:p>
          <a:p xmlns:a="http://schemas.openxmlformats.org/drawingml/2006/main">
            <a:r>
              <a:t>Result: [[2928.4]]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MIN(Date) AS First_Successful_Ground_Pad_Landing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TRIM(Landing_Outcome) = 'Success (ground pad)';</a:t>
            </a:r>
          </a:p>
          <a:p xmlns:a="http://schemas.openxmlformats.org/drawingml/2006/main">
            <a:r>
              <a:t>Result: [["2015-12-22"]]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DISTINCT TRIM(Booster_Version) AS Booster_Version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TRIM(Landing_Outcome) = 'Success (drone ship)'</a:t>
            </a:r>
          </a:p>
          <a:p xmlns:a="http://schemas.openxmlformats.org/drawingml/2006/main">
            <a:r>
              <a:t>  AND PAYLOAD_MASS__KG_ &gt; 4000</a:t>
            </a:r>
          </a:p>
          <a:p xmlns:a="http://schemas.openxmlformats.org/drawingml/2006/main">
            <a:r>
              <a:t>  AND PAYLOAD_MASS__KG_ &lt; 6000</a:t>
            </a:r>
          </a:p>
          <a:p xmlns:a="http://schemas.openxmlformats.org/drawingml/2006/main">
            <a:r>
              <a:t>ORDER BY Booster_Version;</a:t>
            </a:r>
          </a:p>
          <a:p xmlns:a="http://schemas.openxmlformats.org/drawingml/2006/main">
            <a:r>
              <a:t>Result: [["F9 FT  B1021.2"],["F9 FT  B1031.2"],["F9 FT B1022"],["F9 FT B1026"]]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-- Count mission outcomes, which are distinct from booster landing outcomes.</a:t>
            </a:r>
          </a:p>
          <a:p xmlns:a="http://schemas.openxmlformats.org/drawingml/2006/main">
            <a:r>
              <a:t>-- Include "Success (payload status unclear)" in the success category.</a:t>
            </a:r>
          </a:p>
          <a:p xmlns:a="http://schemas.openxmlformats.org/drawingml/2006/main">
            <a:r>
              <a:t>SELECT CASE</a:t>
            </a:r>
          </a:p>
          <a:p xmlns:a="http://schemas.openxmlformats.org/drawingml/2006/main">
            <a:r>
              <a:t>           WHEN TRIM(Mission_Outcome) LIKE 'Success%' THEN 'Success'</a:t>
            </a:r>
          </a:p>
          <a:p xmlns:a="http://schemas.openxmlformats.org/drawingml/2006/main">
            <a:r>
              <a:t>           WHEN TRIM(Mission_Outcome) LIKE 'Failure%' THEN 'Failure'</a:t>
            </a:r>
          </a:p>
          <a:p xmlns:a="http://schemas.openxmlformats.org/drawingml/2006/main">
            <a:r>
              <a:t>           ELSE 'Other'</a:t>
            </a:r>
          </a:p>
          <a:p xmlns:a="http://schemas.openxmlformats.org/drawingml/2006/main">
            <a:r>
              <a:t>       END AS Mission_Result,</a:t>
            </a:r>
          </a:p>
          <a:p xmlns:a="http://schemas.openxmlformats.org/drawingml/2006/main">
            <a:r>
              <a:t>       COUNT(*) AS Total_Missions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GROUP BY Mission_Result</a:t>
            </a:r>
          </a:p>
          <a:p xmlns:a="http://schemas.openxmlformats.org/drawingml/2006/main">
            <a:r>
              <a:t>ORDER BY Total_Missions DESC;</a:t>
            </a:r>
          </a:p>
          <a:p xmlns:a="http://schemas.openxmlformats.org/drawingml/2006/main">
            <a:r>
              <a:t>Result: [["Success",100],["Failure",1]]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DISTINCT TRIM(Booster_Version) AS Booster_Version,</a:t>
            </a:r>
          </a:p>
          <a:p xmlns:a="http://schemas.openxmlformats.org/drawingml/2006/main">
            <a:r>
              <a:t>       PAYLOAD_MASS__KG_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PAYLOAD_MASS__KG_ = (</a:t>
            </a:r>
          </a:p>
          <a:p xmlns:a="http://schemas.openxmlformats.org/drawingml/2006/main">
            <a:r>
              <a:t>    SELECT MAX(PAYLOAD_MASS__KG_)</a:t>
            </a:r>
          </a:p>
          <a:p xmlns:a="http://schemas.openxmlformats.org/drawingml/2006/main">
            <a:r>
              <a:t>    FROM SPACEXTABLE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ORDER BY Booster_Version;</a:t>
            </a:r>
          </a:p>
          <a:p xmlns:a="http://schemas.openxmlformats.org/drawingml/2006/main">
            <a:r>
              <a:t>Result: [["F9 B5 B1048.4",15600],["F9 B5 B1048.5",15600],["F9 B5 B1049.4",15600],["F9 B5 B1049.5",15600],["F9 B5 B1049.7",15600],["F9 B5 B1051.3",15600],["F9 B5 B1051.4",15600],["F9 B5 B1051.6",15600],["F9 B5 B1056.4",15600],["F9 B5 B1058.3",15600],["F9 B5 B1060.2",15600],["F9 B5 B1060.3",15600]]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CASE SUBSTR(Date, 6, 2)</a:t>
            </a:r>
          </a:p>
          <a:p xmlns:a="http://schemas.openxmlformats.org/drawingml/2006/main">
            <a:r>
              <a:t>           WHEN '01' THEN 'January'</a:t>
            </a:r>
          </a:p>
          <a:p xmlns:a="http://schemas.openxmlformats.org/drawingml/2006/main">
            <a:r>
              <a:t>           WHEN '02' THEN 'February'</a:t>
            </a:r>
          </a:p>
          <a:p xmlns:a="http://schemas.openxmlformats.org/drawingml/2006/main">
            <a:r>
              <a:t>           WHEN '03' THEN 'March'</a:t>
            </a:r>
          </a:p>
          <a:p xmlns:a="http://schemas.openxmlformats.org/drawingml/2006/main">
            <a:r>
              <a:t>           WHEN '04' THEN 'April'</a:t>
            </a:r>
          </a:p>
          <a:p xmlns:a="http://schemas.openxmlformats.org/drawingml/2006/main">
            <a:r>
              <a:t>           WHEN '05' THEN 'May'</a:t>
            </a:r>
          </a:p>
          <a:p xmlns:a="http://schemas.openxmlformats.org/drawingml/2006/main">
            <a:r>
              <a:t>           WHEN '06' THEN 'June'</a:t>
            </a:r>
          </a:p>
          <a:p xmlns:a="http://schemas.openxmlformats.org/drawingml/2006/main">
            <a:r>
              <a:t>           WHEN '07' THEN 'July'</a:t>
            </a:r>
          </a:p>
          <a:p xmlns:a="http://schemas.openxmlformats.org/drawingml/2006/main">
            <a:r>
              <a:t>           WHEN '08' THEN 'August'</a:t>
            </a:r>
          </a:p>
          <a:p xmlns:a="http://schemas.openxmlformats.org/drawingml/2006/main">
            <a:r>
              <a:t>           WHEN '09' THEN 'September'</a:t>
            </a:r>
          </a:p>
          <a:p xmlns:a="http://schemas.openxmlformats.org/drawingml/2006/main">
            <a:r>
              <a:t>           WHEN '10' THEN 'October'</a:t>
            </a:r>
          </a:p>
          <a:p xmlns:a="http://schemas.openxmlformats.org/drawingml/2006/main">
            <a:r>
              <a:t>           WHEN '11' THEN 'November'</a:t>
            </a:r>
          </a:p>
          <a:p xmlns:a="http://schemas.openxmlformats.org/drawingml/2006/main">
            <a:r>
              <a:t>           WHEN '12' THEN 'December'</a:t>
            </a:r>
          </a:p>
          <a:p xmlns:a="http://schemas.openxmlformats.org/drawingml/2006/main">
            <a:r>
              <a:t>       END AS Month,</a:t>
            </a:r>
          </a:p>
          <a:p xmlns:a="http://schemas.openxmlformats.org/drawingml/2006/main">
            <a:r>
              <a:t>       Landing_Outcome,</a:t>
            </a:r>
          </a:p>
          <a:p xmlns:a="http://schemas.openxmlformats.org/drawingml/2006/main">
            <a:r>
              <a:t>       TRIM(Booster_Version) AS Booster_Version,</a:t>
            </a:r>
          </a:p>
          <a:p xmlns:a="http://schemas.openxmlformats.org/drawingml/2006/main">
            <a:r>
              <a:t>       Launch_Site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SUBSTR(Date, 1, 4) = '2015'</a:t>
            </a:r>
          </a:p>
          <a:p xmlns:a="http://schemas.openxmlformats.org/drawingml/2006/main">
            <a:r>
              <a:t>  AND TRIM(Landing_Outcome) = 'Failure (drone ship)'</a:t>
            </a:r>
          </a:p>
          <a:p xmlns:a="http://schemas.openxmlformats.org/drawingml/2006/main">
            <a:r>
              <a:t>ORDER BY Date;</a:t>
            </a:r>
          </a:p>
          <a:p xmlns:a="http://schemas.openxmlformats.org/drawingml/2006/main">
            <a:r>
              <a:t>Result: [["January","Failure (drone ship)","F9 v1.1 B1012","CCAFS LC-40"],["April","Failure (drone ship)","F9 v1.1 B1015","CCAFS LC-40"]]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TRIM(Landing_Outcome) AS Landing_Outcome,</a:t>
            </a:r>
          </a:p>
          <a:p xmlns:a="http://schemas.openxmlformats.org/drawingml/2006/main">
            <a:r>
              <a:t>       COUNT(*) AS Outcome_Count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Date BETWEEN '2010-06-04' AND '2017-03-20'</a:t>
            </a:r>
          </a:p>
          <a:p xmlns:a="http://schemas.openxmlformats.org/drawingml/2006/main">
            <a:r>
              <a:t>GROUP BY TRIM(Landing_Outcome)</a:t>
            </a:r>
          </a:p>
          <a:p xmlns:a="http://schemas.openxmlformats.org/drawingml/2006/main">
            <a:r>
              <a:t>ORDER BY Outcome_Count DESC, Landing_Outcome;</a:t>
            </a:r>
          </a:p>
          <a:p xmlns:a="http://schemas.openxmlformats.org/drawingml/2006/main">
            <a:r>
              <a:t>Result: [["No attempt",10],["Failure (drone ship)",5],["Success (drone ship)",5],["Controlled (ocean)",3],["Success (ground pad)",3],["Failure (parachute)",2],["Uncontrolled (ocean)",2],["Precluded (drone ship)",1]]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Folium screenshot. Basemap © OpenStreetMap contributors, https://www.openstreetmap.org/copyright . Dataset coordinates.</a:t>
            </a:r>
          </a:p>
          <a:p xmlns:a="http://schemas.openxmlformats.org/drawingml/2006/main">
            <a:r>
              <a:t>Sources: https://github.com/nicholas-yap/spacex-data-science-capstone/blob/main/maps/launch_sites.html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Folium MarkerCluster spiderfy screenshot. Green Class 1, red Class 0. OSM basemap attribution.</a:t>
            </a:r>
          </a:p>
          <a:p xmlns:a="http://schemas.openxmlformats.org/drawingml/2006/main">
            <a:r>
              <a:t>Sources: https://github.com/nicholas-yap/spacex-data-science-capstone/blob/main/maps/launch_outcomes.html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Haversine distances with Earth radius 6371 km. Selected points: [{"name":"Coastline sample","latitude":28.563,"longitude":-80.5675,"km":0.9718793646856646},{"name":"Road sample","latitude":28.5631,"longitude":-80.5829,"km":0.557852641160271},{"name":"Rail sample","latitude":28.5721,"longitude":-80.5854,"km":1.383039420705225}]. OSM basemap.</a:t>
            </a:r>
          </a:p>
          <a:p xmlns:a="http://schemas.openxmlformats.org/drawingml/2006/main">
            <a:r>
              <a:t>Sources: https://github.com/nicholas-yap/spacex-data-science-capstone/blob/main/maps/proximity.html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running Dash dashboard screenshot. Same 90-launch course dataset.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selected-site Dash screenshot. KSC 17/22, VAFB 10/13, CCAFS 33/55.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Dash screenshots for all sites with 0–5000 kg and 5000–16000 kg payload ranges.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Saved notebook results. 72 training rows; 18 test rows; 12 test positives. Tree params: gini, max_depth=8, max_features=sqrt, min_samples_leaf=2, min_samples_split=10, splitter=best.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Matrix transcribed from saved decision-tree output: [[3,3],[0,12]]. Actual rows, predicted columns. Half of six actual Class 0 outcomes become false positives. The tree is selected by highest CV, with tied test accuracy.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Successful first-stage outcomes become more common over the study period, but progress is uneven across years.</a:t>
            </a:r>
          </a:p>
          <a:p xmlns:a="http://schemas.openxmlformats.org/drawingml/2006/main">
            <a:r>
              <a:t>KSC has the highest observed site rate. CCAFS contributes the most successes. Orbit and payload patterns depend on mission mix.</a:t>
            </a:r>
          </a:p>
          <a:p xmlns:a="http://schemas.openxmlformats.org/drawingml/2006/main">
            <a:r>
              <a:t>Four classifiers tie on the small test set. The tree’s CV lead does not establish better future performance.</a:t>
            </a:r>
          </a:p>
          <a:p xmlns:a="http://schemas.openxmlformats.org/drawingml/2006/main">
            <a:r>
              <a:t>Next evaluation: fit preprocessing within training folds, remove features unavailable before launch, and use a later time period for testing.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contains the completed deck and supporting files. Dataset scope and methodological limitations are described in README.md.</a:t>
            </a:r>
            <a:endParaRPr/>
          </a:p>
          <a:p xmlns:a="http://schemas.openxmlformats.org/drawingml/2006/main">
            <a:r>
              <a:t>Sources: https://github.com/nicholas-yap/spacex-data-science-capstone/blob/main/README.md</a:t>
            </a:r>
            <a:endParaRPr/>
          </a:p>
          <a:p xmlns:a="http://schemas.openxmlformats.org/drawingml/2006/main"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of presentation. Supplied template closing artwork retained.</a:t>
            </a:r>
          </a:p>
          <a:p xmlns:a="http://schemas.openxmlformats.org/drawingml/2006/main">
            <a:r>
              <a:t>Sources: https://github.com/nicholas-yap/spacex-data-science-capstone/blob/main/README.md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16ac163a824a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0e56594cb45f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8aef3619054f5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ab963f236843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b9b06a6ec5482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066d231df9491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c81258bf6d49a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242c83f8b544e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427da475144e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ed2663779c4ae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921e7dbfe6416b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3d50b7b30c4c0a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1462306ba24003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showMasterSp="0">
  <p:cSld name="1_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AD06512E-25CB-41AD-85EE-41E0A881ADA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ctr">
              <a:buNone/>
              <a:defRPr sz="48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BD43579-7E1D-42F5-9925-E2EB74CCC1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8ae86c19d0478c" /><Relationship Type="http://schemas.openxmlformats.org/officeDocument/2006/relationships/slideLayout" Target="/ppt/slideLayouts/slideLayout1.xml" Id="R7718fcdd988942fb" /><Relationship Type="http://schemas.openxmlformats.org/officeDocument/2006/relationships/slideLayout" Target="/ppt/slideLayouts/slideLayout2.xml" Id="Rf62b60371911441e" /><Relationship Type="http://schemas.openxmlformats.org/officeDocument/2006/relationships/slideLayout" Target="/ppt/slideLayouts/slideLayout3.xml" Id="R10cc67e93c0843a6" /><Relationship Type="http://schemas.openxmlformats.org/officeDocument/2006/relationships/slideLayout" Target="/ppt/slideLayouts/slideLayout4.xml" Id="Rdc99d99e9b624ee6" /><Relationship Type="http://schemas.openxmlformats.org/officeDocument/2006/relationships/slideLayout" Target="/ppt/slideLayouts/slideLayout5.xml" Id="R969c2849717f419a" /><Relationship Type="http://schemas.openxmlformats.org/officeDocument/2006/relationships/slideLayout" Target="/ppt/slideLayouts/slideLayout6.xml" Id="R1638b311af8d4eb4" /><Relationship Type="http://schemas.openxmlformats.org/officeDocument/2006/relationships/slideLayout" Target="/ppt/slideLayouts/slideLayout7.xml" Id="R47fc9bc589564404" /><Relationship Type="http://schemas.openxmlformats.org/officeDocument/2006/relationships/slideLayout" Target="/ppt/slideLayouts/slideLayout8.xml" Id="R3c8aefa281d34c0d" /><Relationship Type="http://schemas.openxmlformats.org/officeDocument/2006/relationships/slideLayout" Target="/ppt/slideLayouts/slideLayout9.xml" Id="R6a914765afe746b7" /><Relationship Type="http://schemas.openxmlformats.org/officeDocument/2006/relationships/slideLayout" Target="/ppt/slideLayouts/slideLayout10.xml" Id="Rf92ebfbc64f6446b" /><Relationship Type="http://schemas.openxmlformats.org/officeDocument/2006/relationships/slideLayout" Target="/ppt/slideLayouts/slideLayout11.xml" Id="R6b05ffe121374d53" /><Relationship Type="http://schemas.openxmlformats.org/officeDocument/2006/relationships/slideLayout" Target="/ppt/slideLayouts/slideLayout12.xml" Id="R9797c534cb5c4c94" /><Relationship Type="http://schemas.openxmlformats.org/officeDocument/2006/relationships/slideLayout" Target="/ppt/slideLayouts/slideLayout13.xml" Id="R32f26ab0449b4a6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14772" y="6025573"/>
            <a:ext cx="2743200" cy="4016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600">
                <a:solidFill>
                  <a:srgbClr val="1C7DDB"/>
                </a:solidFill>
                <a:latin typeface="Abadi"/>
                <a:ea typeface="Abadi"/>
                <a:cs typeface="Abadi"/>
              </a:defRPr>
            </a:lvl1pPr>
          </a:lstStyle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18fcdd988942fb"/>
    <p:sldLayoutId xmlns:r="http://schemas.openxmlformats.org/officeDocument/2006/relationships" id="2147483650" r:id="Rf62b60371911441e"/>
    <p:sldLayoutId xmlns:r="http://schemas.openxmlformats.org/officeDocument/2006/relationships" id="2147483651" r:id="R10cc67e93c0843a6"/>
    <p:sldLayoutId xmlns:r="http://schemas.openxmlformats.org/officeDocument/2006/relationships" id="2147483652" r:id="Rdc99d99e9b624ee6"/>
    <p:sldLayoutId xmlns:r="http://schemas.openxmlformats.org/officeDocument/2006/relationships" id="2147483653" r:id="R969c2849717f419a"/>
    <p:sldLayoutId xmlns:r="http://schemas.openxmlformats.org/officeDocument/2006/relationships" id="2147483654" r:id="R1638b311af8d4eb4"/>
    <p:sldLayoutId xmlns:r="http://schemas.openxmlformats.org/officeDocument/2006/relationships" id="2147483655" r:id="R47fc9bc589564404"/>
    <p:sldLayoutId xmlns:r="http://schemas.openxmlformats.org/officeDocument/2006/relationships" id="2147483656" r:id="R3c8aefa281d34c0d"/>
    <p:sldLayoutId xmlns:r="http://schemas.openxmlformats.org/officeDocument/2006/relationships" id="2147483657" r:id="R6a914765afe746b7"/>
    <p:sldLayoutId xmlns:r="http://schemas.openxmlformats.org/officeDocument/2006/relationships" id="2147483658" r:id="Rf92ebfbc64f6446b"/>
    <p:sldLayoutId xmlns:r="http://schemas.openxmlformats.org/officeDocument/2006/relationships" id="2147483659" r:id="R6b05ffe121374d53"/>
    <p:sldLayoutId xmlns:r="http://schemas.openxmlformats.org/officeDocument/2006/relationships" id="2147483660" r:id="R9797c534cb5c4c94"/>
    <p:sldLayoutId xmlns:r="http://schemas.openxmlformats.org/officeDocument/2006/relationships" id="2147483661" r:id="R32f26ab0449b4a6a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7e42631ef094f1d" /><Relationship Type="http://schemas.openxmlformats.org/officeDocument/2006/relationships/image" Target="/ppt/media/image.jpeg" Id="Rf5ebc5e3c35e4f67" /><Relationship Type="http://schemas.openxmlformats.org/officeDocument/2006/relationships/image" Target="/ppt/media/image.png" Id="R4cfc0022ee8c4e9c" /><Relationship Type="http://schemas.openxmlformats.org/officeDocument/2006/relationships/notesSlide" Target="/ppt/notesSlides/notesSlide1.xml" Id="Rb382c09fffe945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1872146da4f6f" /><Relationship Type="http://schemas.openxmlformats.org/officeDocument/2006/relationships/image" Target="/ppt/media/image2.png" Id="R4777020d2046446b" /><Relationship Type="http://schemas.openxmlformats.org/officeDocument/2006/relationships/notesSlide" Target="/ppt/notesSlides/notesSlide2.xml" Id="Re98e48be4b524d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8a1670d08a4a64" /><Relationship Type="http://schemas.openxmlformats.org/officeDocument/2006/relationships/image" Target="/ppt/media/image2.png" Id="R23e9e98133c548ef" /><Relationship Type="http://schemas.openxmlformats.org/officeDocument/2006/relationships/notesSlide" Target="/ppt/notesSlides/notesSlide3.xml" Id="R0ca03139176a44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f21070b5e40ab" /><Relationship Type="http://schemas.openxmlformats.org/officeDocument/2006/relationships/image" Target="/ppt/media/image2.png" Id="R0b8284201b90452d" /><Relationship Type="http://schemas.openxmlformats.org/officeDocument/2006/relationships/notesSlide" Target="/ppt/notesSlides/notesSlide4.xml" Id="Rbb87ca153f1b41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ee71871eede4631" /><Relationship Type="http://schemas.openxmlformats.org/officeDocument/2006/relationships/image" Target="/ppt/media/image2.jpeg" Id="R4a21f60c9cd346c8" /><Relationship Type="http://schemas.openxmlformats.org/officeDocument/2006/relationships/notesSlide" Target="/ppt/notesSlides/notesSlide5.xml" Id="Ra61c1e65f42143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ad2ac92414404" /><Relationship Type="http://schemas.openxmlformats.org/officeDocument/2006/relationships/image" Target="/ppt/media/image2.png" Id="R4d399f3d31fe428e" /><Relationship Type="http://schemas.openxmlformats.org/officeDocument/2006/relationships/notesSlide" Target="/ppt/notesSlides/notesSlide6.xml" Id="R46b659591b1744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95a99218674196" /><Relationship Type="http://schemas.openxmlformats.org/officeDocument/2006/relationships/image" Target="/ppt/media/image2.png" Id="R8cd679030f224131" /><Relationship Type="http://schemas.openxmlformats.org/officeDocument/2006/relationships/notesSlide" Target="/ppt/notesSlides/notesSlide7.xml" Id="R9f13b11979ed45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3adb44bcf84a0c" /><Relationship Type="http://schemas.openxmlformats.org/officeDocument/2006/relationships/image" Target="/ppt/media/image2.png" Id="Rbe5db599ddcc42b7" /><Relationship Type="http://schemas.openxmlformats.org/officeDocument/2006/relationships/notesSlide" Target="/ppt/notesSlides/notesSlide8.xml" Id="Rf6378527c8b84e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a13721fa64cb1" /><Relationship Type="http://schemas.openxmlformats.org/officeDocument/2006/relationships/image" Target="/ppt/media/image2.png" Id="R22c88ea30ac7423d" /><Relationship Type="http://schemas.openxmlformats.org/officeDocument/2006/relationships/notesSlide" Target="/ppt/notesSlides/notesSlide9.xml" Id="R177c939c93e449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bd164f985424e" /><Relationship Type="http://schemas.openxmlformats.org/officeDocument/2006/relationships/image" Target="/ppt/media/image2.png" Id="Re508fb5b302c4293" /><Relationship Type="http://schemas.openxmlformats.org/officeDocument/2006/relationships/notesSlide" Target="/ppt/notesSlides/notesSlide10.xml" Id="Ref63ceedc91641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d07079f2f4b57" /><Relationship Type="http://schemas.openxmlformats.org/officeDocument/2006/relationships/image" Target="/ppt/media/image2.png" Id="Raaa5f7f3c2f648f0" /><Relationship Type="http://schemas.openxmlformats.org/officeDocument/2006/relationships/notesSlide" Target="/ppt/notesSlides/notesSlide11.xml" Id="R315619f76cf140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e0cfe77c44be1" /><Relationship Type="http://schemas.openxmlformats.org/officeDocument/2006/relationships/image" Target="/ppt/media/image2.png" Id="R97a960c1826f4e81" /><Relationship Type="http://schemas.openxmlformats.org/officeDocument/2006/relationships/notesSlide" Target="/ppt/notesSlides/notesSlide12.xml" Id="R9ef7eb1bbe9d4c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8a10ed05a44fc" /><Relationship Type="http://schemas.openxmlformats.org/officeDocument/2006/relationships/image" Target="/ppt/media/image2.png" Id="R5f984c0c35fe4d92" /><Relationship Type="http://schemas.openxmlformats.org/officeDocument/2006/relationships/notesSlide" Target="/ppt/notesSlides/notesSlide13.xml" Id="Rd7834398dd1e41b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6ca9774a74ffe" /><Relationship Type="http://schemas.openxmlformats.org/officeDocument/2006/relationships/image" Target="/ppt/media/image2.png" Id="R0d9930c139a94866" /><Relationship Type="http://schemas.openxmlformats.org/officeDocument/2006/relationships/notesSlide" Target="/ppt/notesSlides/notesSlide14.xml" Id="Rbf07665a962e4a5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b3d3dfa9d04135" /><Relationship Type="http://schemas.openxmlformats.org/officeDocument/2006/relationships/image" Target="/ppt/media/image2.png" Id="Ra700cbc6122e4c12" /><Relationship Type="http://schemas.openxmlformats.org/officeDocument/2006/relationships/notesSlide" Target="/ppt/notesSlides/notesSlide15.xml" Id="Ra6099f13763147f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38e4f5e19f4b96" /><Relationship Type="http://schemas.openxmlformats.org/officeDocument/2006/relationships/image" Target="/ppt/media/image2.png" Id="R1cdffaa9f28b4f1e" /><Relationship Type="http://schemas.openxmlformats.org/officeDocument/2006/relationships/notesSlide" Target="/ppt/notesSlides/notesSlide16.xml" Id="R5de68f141f964f1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e3f3bcd5b4278" /><Relationship Type="http://schemas.openxmlformats.org/officeDocument/2006/relationships/image" Target="/ppt/media/image3.png" Id="Rdd8f2c35eda04a12" /><Relationship Type="http://schemas.openxmlformats.org/officeDocument/2006/relationships/notesSlide" Target="/ppt/notesSlides/notesSlide17.xml" Id="R89fcf833e563443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348adf011448e9" /><Relationship Type="http://schemas.openxmlformats.org/officeDocument/2006/relationships/image" Target="/ppt/media/image2.png" Id="R0b81d343e59e43d4" /><Relationship Type="http://schemas.openxmlformats.org/officeDocument/2006/relationships/chart" Target="/ppt/slides/charts/chart1.xml" Id="R3a1991b7b639448d" /><Relationship Type="http://schemas.openxmlformats.org/officeDocument/2006/relationships/notesSlide" Target="/ppt/notesSlides/notesSlide18.xml" Id="R1d02464aaf024bc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bf7481d4a4608" /><Relationship Type="http://schemas.openxmlformats.org/officeDocument/2006/relationships/image" Target="/ppt/media/image2.png" Id="Rc630e307021c420c" /><Relationship Type="http://schemas.openxmlformats.org/officeDocument/2006/relationships/chart" Target="/ppt/slides/charts/chart2.xml" Id="Rb22ed1f8d3b84f95" /><Relationship Type="http://schemas.openxmlformats.org/officeDocument/2006/relationships/notesSlide" Target="/ppt/notesSlides/notesSlide19.xml" Id="R1ebf993ee111474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cf3658a7c40af" /><Relationship Type="http://schemas.openxmlformats.org/officeDocument/2006/relationships/image" Target="/ppt/media/image2.png" Id="Ra0c23c186ce449de" /><Relationship Type="http://schemas.openxmlformats.org/officeDocument/2006/relationships/chart" Target="/ppt/slides/charts/chart3.xml" Id="R7a23e1e334ca4e4f" /><Relationship Type="http://schemas.openxmlformats.org/officeDocument/2006/relationships/notesSlide" Target="/ppt/notesSlides/notesSlide20.xml" Id="Rdbbd025262304be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3ba82576e64974" /><Relationship Type="http://schemas.openxmlformats.org/officeDocument/2006/relationships/image" Target="/ppt/media/image2.png" Id="R6730781d7e274680" /><Relationship Type="http://schemas.openxmlformats.org/officeDocument/2006/relationships/chart" Target="/ppt/slides/charts/chart4.xml" Id="R61495850bf7c4c16" /><Relationship Type="http://schemas.openxmlformats.org/officeDocument/2006/relationships/notesSlide" Target="/ppt/notesSlides/notesSlide21.xml" Id="Ra435da66891c480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c104fb1e04a89" /><Relationship Type="http://schemas.openxmlformats.org/officeDocument/2006/relationships/image" Target="/ppt/media/image2.png" Id="Raadc30e4876a450f" /><Relationship Type="http://schemas.openxmlformats.org/officeDocument/2006/relationships/chart" Target="/ppt/slides/charts/chart5.xml" Id="R6c906609a3e848d3" /><Relationship Type="http://schemas.openxmlformats.org/officeDocument/2006/relationships/notesSlide" Target="/ppt/notesSlides/notesSlide22.xml" Id="R2bb84fa484ad44e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fbf988f014f26" /><Relationship Type="http://schemas.openxmlformats.org/officeDocument/2006/relationships/image" Target="/ppt/media/image2.png" Id="R1f15dd8a8eb24ea6" /><Relationship Type="http://schemas.openxmlformats.org/officeDocument/2006/relationships/chart" Target="/ppt/slides/charts/chart6.xml" Id="R12e16aca3c7f4956" /><Relationship Type="http://schemas.openxmlformats.org/officeDocument/2006/relationships/notesSlide" Target="/ppt/notesSlides/notesSlide23.xml" Id="R6e1828022a95414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d1312007547ea" /><Relationship Type="http://schemas.openxmlformats.org/officeDocument/2006/relationships/image" Target="/ppt/media/image2.png" Id="R0319c4395de54fba" /><Relationship Type="http://schemas.openxmlformats.org/officeDocument/2006/relationships/notesSlide" Target="/ppt/notesSlides/notesSlide24.xml" Id="Rd0d59994122b41a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8f8e414554ca6" /><Relationship Type="http://schemas.openxmlformats.org/officeDocument/2006/relationships/image" Target="/ppt/media/image2.png" Id="Re40ccbf011214213" /><Relationship Type="http://schemas.openxmlformats.org/officeDocument/2006/relationships/notesSlide" Target="/ppt/notesSlides/notesSlide25.xml" Id="Rbab92220a75342d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67013b5bb4048" /><Relationship Type="http://schemas.openxmlformats.org/officeDocument/2006/relationships/image" Target="/ppt/media/image2.png" Id="R103cbf8de9e245ab" /><Relationship Type="http://schemas.openxmlformats.org/officeDocument/2006/relationships/notesSlide" Target="/ppt/notesSlides/notesSlide26.xml" Id="Rcdbf08900c5148e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636060ca7a496d" /><Relationship Type="http://schemas.openxmlformats.org/officeDocument/2006/relationships/image" Target="/ppt/media/image2.png" Id="R16a741f7605b4be5" /><Relationship Type="http://schemas.openxmlformats.org/officeDocument/2006/relationships/notesSlide" Target="/ppt/notesSlides/notesSlide27.xml" Id="R118c2756fc24498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c0dd30a8a409e" /><Relationship Type="http://schemas.openxmlformats.org/officeDocument/2006/relationships/image" Target="/ppt/media/image2.png" Id="R3b747900cfad4735" /><Relationship Type="http://schemas.openxmlformats.org/officeDocument/2006/relationships/notesSlide" Target="/ppt/notesSlides/notesSlide28.xml" Id="R388ae87cbc78454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fad2fee9cc46bd" /><Relationship Type="http://schemas.openxmlformats.org/officeDocument/2006/relationships/image" Target="/ppt/media/image2.png" Id="R384e6dec90e845ee" /><Relationship Type="http://schemas.openxmlformats.org/officeDocument/2006/relationships/notesSlide" Target="/ppt/notesSlides/notesSlide29.xml" Id="R33c0ae5218274f4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36a5e30ed74803" /><Relationship Type="http://schemas.openxmlformats.org/officeDocument/2006/relationships/image" Target="/ppt/media/image2.png" Id="R7f0cda6fd8a740a5" /><Relationship Type="http://schemas.openxmlformats.org/officeDocument/2006/relationships/notesSlide" Target="/ppt/notesSlides/notesSlide30.xml" Id="R9501aac9275f49e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da9a7507e459e" /><Relationship Type="http://schemas.openxmlformats.org/officeDocument/2006/relationships/image" Target="/ppt/media/image2.png" Id="R285077c1f5b0442e" /><Relationship Type="http://schemas.openxmlformats.org/officeDocument/2006/relationships/notesSlide" Target="/ppt/notesSlides/notesSlide31.xml" Id="R24dff3ed3bb6468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70be657b04767" /><Relationship Type="http://schemas.openxmlformats.org/officeDocument/2006/relationships/image" Target="/ppt/media/image2.png" Id="Re5e66ce7f3be4517" /><Relationship Type="http://schemas.openxmlformats.org/officeDocument/2006/relationships/notesSlide" Target="/ppt/notesSlides/notesSlide32.xml" Id="Raa358ba9861f46f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a730f283346df" /><Relationship Type="http://schemas.openxmlformats.org/officeDocument/2006/relationships/image" Target="/ppt/media/image2.png" Id="R37ea0edd85144065" /><Relationship Type="http://schemas.openxmlformats.org/officeDocument/2006/relationships/notesSlide" Target="/ppt/notesSlides/notesSlide33.xml" Id="R6860d22a2a25401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5032133cf48a6" /><Relationship Type="http://schemas.openxmlformats.org/officeDocument/2006/relationships/image" Target="/ppt/media/image4.png" Id="Rebcdf27d2f344bc7" /><Relationship Type="http://schemas.openxmlformats.org/officeDocument/2006/relationships/notesSlide" Target="/ppt/notesSlides/notesSlide34.xml" Id="R1061f6cc0ea9489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2793b440244e7" /><Relationship Type="http://schemas.openxmlformats.org/officeDocument/2006/relationships/image" Target="/ppt/media/image2.png" Id="R645a02c9125d425e" /><Relationship Type="http://schemas.openxmlformats.org/officeDocument/2006/relationships/image" Target="/ppt/media/image3.jpeg" Id="Rd2392568fa2940a1" /><Relationship Type="http://schemas.openxmlformats.org/officeDocument/2006/relationships/notesSlide" Target="/ppt/notesSlides/notesSlide35.xml" Id="R4411a35093be408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efbe60ff140a0" /><Relationship Type="http://schemas.openxmlformats.org/officeDocument/2006/relationships/image" Target="/ppt/media/image2.png" Id="Rb027fafaf0a64190" /><Relationship Type="http://schemas.openxmlformats.org/officeDocument/2006/relationships/image" Target="/ppt/media/image4.jpeg" Id="Rb66600ae4f68454f" /><Relationship Type="http://schemas.openxmlformats.org/officeDocument/2006/relationships/notesSlide" Target="/ppt/notesSlides/notesSlide36.xml" Id="R11862a61235f42ef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6b721669041e4" /><Relationship Type="http://schemas.openxmlformats.org/officeDocument/2006/relationships/image" Target="/ppt/media/image2.png" Id="R0f43c3f37d0a4a80" /><Relationship Type="http://schemas.openxmlformats.org/officeDocument/2006/relationships/image" Target="/ppt/media/image5.jpeg" Id="R875cde6dcfcb4eec" /><Relationship Type="http://schemas.openxmlformats.org/officeDocument/2006/relationships/notesSlide" Target="/ppt/notesSlides/notesSlide37.xml" Id="R627add46c42e422e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820cc0559404e" /><Relationship Type="http://schemas.openxmlformats.org/officeDocument/2006/relationships/image" Target="/ppt/media/image6.jpeg" Id="R48181c239e604589" /><Relationship Type="http://schemas.openxmlformats.org/officeDocument/2006/relationships/notesSlide" Target="/ppt/notesSlides/notesSlide38.xml" Id="Ra12366455379442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6c2d95e7d4eee" /><Relationship Type="http://schemas.openxmlformats.org/officeDocument/2006/relationships/image" Target="/ppt/media/image2.png" Id="R3de0658896024230" /><Relationship Type="http://schemas.openxmlformats.org/officeDocument/2006/relationships/image" Target="/ppt/media/image7.jpeg" Id="Rc5fa56179ed34d31" /><Relationship Type="http://schemas.openxmlformats.org/officeDocument/2006/relationships/notesSlide" Target="/ppt/notesSlides/notesSlide39.xml" Id="R71d6e1f156ce4829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2f0be99d864ab2" /><Relationship Type="http://schemas.openxmlformats.org/officeDocument/2006/relationships/image" Target="/ppt/media/image2.png" Id="Re6b133e7c0e64823" /><Relationship Type="http://schemas.openxmlformats.org/officeDocument/2006/relationships/image" Target="/ppt/media/image8.jpeg" Id="R5c490a1745ac4150" /><Relationship Type="http://schemas.openxmlformats.org/officeDocument/2006/relationships/notesSlide" Target="/ppt/notesSlides/notesSlide40.xml" Id="R834197388afc4991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a0f5d86274832" /><Relationship Type="http://schemas.openxmlformats.org/officeDocument/2006/relationships/image" Target="/ppt/media/image2.png" Id="R969d94324cf2450a" /><Relationship Type="http://schemas.openxmlformats.org/officeDocument/2006/relationships/image" Target="/ppt/media/image9.jpeg" Id="R0823a8f9c7d846c5" /><Relationship Type="http://schemas.openxmlformats.org/officeDocument/2006/relationships/image" Target="/ppt/media/image10.jpeg" Id="R7d7bcceebd3d42a1" /><Relationship Type="http://schemas.openxmlformats.org/officeDocument/2006/relationships/notesSlide" Target="/ppt/notesSlides/notesSlide41.xml" Id="R6efe191808d3448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4119d796b4ca2" /><Relationship Type="http://schemas.openxmlformats.org/officeDocument/2006/relationships/image" Target="/ppt/media/image11.jpeg" Id="Ra116475a7bce46d3" /><Relationship Type="http://schemas.openxmlformats.org/officeDocument/2006/relationships/notesSlide" Target="/ppt/notesSlides/notesSlide42.xml" Id="Rf3f2c0f5fa4b4be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95acbac3d413d" /><Relationship Type="http://schemas.openxmlformats.org/officeDocument/2006/relationships/image" Target="/ppt/media/image2.png" Id="R97c8047591ec4fe4" /><Relationship Type="http://schemas.openxmlformats.org/officeDocument/2006/relationships/chart" Target="/ppt/slides/charts/chart7.xml" Id="R290881690cbd45b1" /><Relationship Type="http://schemas.openxmlformats.org/officeDocument/2006/relationships/notesSlide" Target="/ppt/notesSlides/notesSlide43.xml" Id="R31a9056a8d484ac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be9c1b37ca4276" /><Relationship Type="http://schemas.openxmlformats.org/officeDocument/2006/relationships/image" Target="/ppt/media/image2.png" Id="R6a6aa04037dc4867" /><Relationship Type="http://schemas.openxmlformats.org/officeDocument/2006/relationships/notesSlide" Target="/ppt/notesSlides/notesSlide44.xml" Id="R519e2a654dcc4161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ea554c33f04262" /><Relationship Type="http://schemas.openxmlformats.org/officeDocument/2006/relationships/image" Target="/ppt/media/image2.png" Id="R646d291ae8d74d0c" /><Relationship Type="http://schemas.openxmlformats.org/officeDocument/2006/relationships/notesSlide" Target="/ppt/notesSlides/notesSlide45.xml" Id="Rfe49facc12634b4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001dcbcf64b50" /><Relationship Type="http://schemas.openxmlformats.org/officeDocument/2006/relationships/image" Target="/ppt/media/image2.png" Id="R166edb8d24a14208" /><Relationship Type="http://schemas.openxmlformats.org/officeDocument/2006/relationships/notesSlide" Target="/ppt/notesSlides/notesSlide46.xml" Id="Rf844b16ac0cd4df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10620e61688e442d" /><Relationship Type="http://schemas.openxmlformats.org/officeDocument/2006/relationships/image" Target="/ppt/media/image12.jpeg" Id="Rc1a46c8c6a744194" /><Relationship Type="http://schemas.openxmlformats.org/officeDocument/2006/relationships/notesSlide" Target="/ppt/notesSlides/notesSlide47.xml" Id="R0c399a72a5fc487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14</c:v>
                </c:pt>
                <c:pt idx="11">
                  <c:v>15</c:v>
                </c:pt>
                <c:pt idx="12">
                  <c:v>16</c:v>
                </c:pt>
                <c:pt idx="13">
                  <c:v>18</c:v>
                </c:pt>
                <c:pt idx="14">
                  <c:v>19</c:v>
                </c:pt>
                <c:pt idx="15">
                  <c:v>25</c:v>
                </c:pt>
                <c:pt idx="16">
                  <c:v>28</c:v>
                </c:pt>
                <c:pt idx="17">
                  <c:v>31</c:v>
                </c:pt>
                <c:pt idx="18">
                  <c:v>35</c:v>
                </c:pt>
                <c:pt idx="19">
                  <c:v>46</c:v>
                </c:pt>
                <c:pt idx="20">
                  <c:v>47</c:v>
                </c:pt>
                <c:pt idx="21">
                  <c:v>48</c:v>
                </c:pt>
                <c:pt idx="22">
                  <c:v>51</c:v>
                </c:pt>
                <c:pt idx="23">
                  <c:v>52</c:v>
                </c:pt>
                <c:pt idx="24">
                  <c:v>60</c:v>
                </c:pt>
                <c:pt idx="25">
                  <c:v>61</c:v>
                </c:pt>
                <c:pt idx="26">
                  <c:v>68</c:v>
                </c:pt>
                <c:pt idx="27">
                  <c:v>73</c:v>
                </c:pt>
                <c:pt idx="28">
                  <c:v>75</c:v>
                </c:pt>
                <c:pt idx="29">
                  <c:v>77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3</c:v>
                </c:pt>
                <c:pt idx="14">
                  <c:v>1</c:v>
                </c:pt>
                <c:pt idx="15">
                  <c:v>1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1</c:v>
                </c:pt>
                <c:pt idx="20">
                  <c:v>3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2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7</c:v>
                </c:pt>
                <c:pt idx="1">
                  <c:v>8</c:v>
                </c:pt>
                <c:pt idx="2">
                  <c:v>13</c:v>
                </c:pt>
                <c:pt idx="3">
                  <c:v>17</c:v>
                </c:pt>
                <c:pt idx="4">
                  <c:v>20</c:v>
                </c:pt>
                <c:pt idx="5">
                  <c:v>21</c:v>
                </c:pt>
                <c:pt idx="6">
                  <c:v>22</c:v>
                </c:pt>
                <c:pt idx="7">
                  <c:v>23</c:v>
                </c:pt>
                <c:pt idx="8">
                  <c:v>24</c:v>
                </c:pt>
                <c:pt idx="9">
                  <c:v>26</c:v>
                </c:pt>
                <c:pt idx="10">
                  <c:v>27</c:v>
                </c:pt>
                <c:pt idx="11">
                  <c:v>29</c:v>
                </c:pt>
                <c:pt idx="12">
                  <c:v>30</c:v>
                </c:pt>
                <c:pt idx="13">
                  <c:v>32</c:v>
                </c:pt>
                <c:pt idx="14">
                  <c:v>33</c:v>
                </c:pt>
                <c:pt idx="15">
                  <c:v>34</c:v>
                </c:pt>
                <c:pt idx="16">
                  <c:v>36</c:v>
                </c:pt>
                <c:pt idx="17">
                  <c:v>37</c:v>
                </c:pt>
                <c:pt idx="18">
                  <c:v>38</c:v>
                </c:pt>
                <c:pt idx="19">
                  <c:v>39</c:v>
                </c:pt>
                <c:pt idx="20">
                  <c:v>40</c:v>
                </c:pt>
                <c:pt idx="21">
                  <c:v>41</c:v>
                </c:pt>
                <c:pt idx="22">
                  <c:v>42</c:v>
                </c:pt>
                <c:pt idx="23">
                  <c:v>43</c:v>
                </c:pt>
                <c:pt idx="24">
                  <c:v>44</c:v>
                </c:pt>
                <c:pt idx="25">
                  <c:v>45</c:v>
                </c:pt>
                <c:pt idx="26">
                  <c:v>49</c:v>
                </c:pt>
                <c:pt idx="27">
                  <c:v>50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62</c:v>
                </c:pt>
                <c:pt idx="36">
                  <c:v>63</c:v>
                </c:pt>
                <c:pt idx="37">
                  <c:v>64</c:v>
                </c:pt>
                <c:pt idx="38">
                  <c:v>65</c:v>
                </c:pt>
                <c:pt idx="39">
                  <c:v>66</c:v>
                </c:pt>
                <c:pt idx="40">
                  <c:v>67</c:v>
                </c:pt>
                <c:pt idx="41">
                  <c:v>69</c:v>
                </c:pt>
                <c:pt idx="42">
                  <c:v>70</c:v>
                </c:pt>
                <c:pt idx="43">
                  <c:v>71</c:v>
                </c:pt>
                <c:pt idx="44">
                  <c:v>72</c:v>
                </c:pt>
                <c:pt idx="45">
                  <c:v>74</c:v>
                </c:pt>
                <c:pt idx="46">
                  <c:v>76</c:v>
                </c:pt>
                <c:pt idx="47">
                  <c:v>78</c:v>
                </c:pt>
                <c:pt idx="48">
                  <c:v>79</c:v>
                </c:pt>
                <c:pt idx="49">
                  <c:v>80</c:v>
                </c:pt>
                <c:pt idx="50">
                  <c:v>81</c:v>
                </c:pt>
                <c:pt idx="51">
                  <c:v>82</c:v>
                </c:pt>
                <c:pt idx="52">
                  <c:v>83</c:v>
                </c:pt>
                <c:pt idx="53">
                  <c:v>84</c:v>
                </c:pt>
                <c:pt idx="54">
                  <c:v>85</c:v>
                </c:pt>
                <c:pt idx="55">
                  <c:v>86</c:v>
                </c:pt>
                <c:pt idx="56">
                  <c:v>87</c:v>
                </c:pt>
                <c:pt idx="57">
                  <c:v>88</c:v>
                </c:pt>
                <c:pt idx="58">
                  <c:v>89</c:v>
                </c:pt>
                <c:pt idx="59">
                  <c:v>90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3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3</c:v>
                </c:pt>
                <c:pt idx="16">
                  <c:v>2</c:v>
                </c:pt>
                <c:pt idx="17">
                  <c:v>3</c:v>
                </c:pt>
                <c:pt idx="18">
                  <c:v>2</c:v>
                </c:pt>
                <c:pt idx="19">
                  <c:v>3</c:v>
                </c:pt>
                <c:pt idx="20">
                  <c:v>2</c:v>
                </c:pt>
                <c:pt idx="21">
                  <c:v>2</c:v>
                </c:pt>
                <c:pt idx="22">
                  <c:v>1</c:v>
                </c:pt>
                <c:pt idx="23">
                  <c:v>3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3</c:v>
                </c:pt>
                <c:pt idx="30">
                  <c:v>1</c:v>
                </c:pt>
                <c:pt idx="31">
                  <c:v>1</c:v>
                </c:pt>
                <c:pt idx="32">
                  <c:v>3</c:v>
                </c:pt>
                <c:pt idx="33">
                  <c:v>2</c:v>
                </c:pt>
                <c:pt idx="34">
                  <c:v>3</c:v>
                </c:pt>
                <c:pt idx="35">
                  <c:v>3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3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2</c:v>
                </c:pt>
                <c:pt idx="48">
                  <c:v>2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2</c:v>
                </c:pt>
                <c:pt idx="56">
                  <c:v>2</c:v>
                </c:pt>
                <c:pt idx="57">
                  <c:v>2</c:v>
                </c:pt>
                <c:pt idx="58">
                  <c:v>1</c:v>
                </c:pt>
                <c:pt idx="59">
                  <c:v>1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4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Site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Flight number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6104.9594117647</c:v>
                </c:pt>
                <c:pt idx="1">
                  <c:v>525</c:v>
                </c:pt>
                <c:pt idx="2">
                  <c:v>677</c:v>
                </c:pt>
                <c:pt idx="3">
                  <c:v>500</c:v>
                </c:pt>
                <c:pt idx="4">
                  <c:v>3170</c:v>
                </c:pt>
                <c:pt idx="5">
                  <c:v>3325</c:v>
                </c:pt>
                <c:pt idx="6">
                  <c:v>4535</c:v>
                </c:pt>
                <c:pt idx="7">
                  <c:v>4428</c:v>
                </c:pt>
                <c:pt idx="8">
                  <c:v>2216</c:v>
                </c:pt>
                <c:pt idx="9">
                  <c:v>2395</c:v>
                </c:pt>
                <c:pt idx="10">
                  <c:v>1898</c:v>
                </c:pt>
                <c:pt idx="11">
                  <c:v>4707</c:v>
                </c:pt>
                <c:pt idx="12">
                  <c:v>2477</c:v>
                </c:pt>
                <c:pt idx="13">
                  <c:v>553</c:v>
                </c:pt>
                <c:pt idx="14">
                  <c:v>5271</c:v>
                </c:pt>
                <c:pt idx="15">
                  <c:v>5500</c:v>
                </c:pt>
                <c:pt idx="16">
                  <c:v>5600</c:v>
                </c:pt>
                <c:pt idx="17">
                  <c:v>6070</c:v>
                </c:pt>
                <c:pt idx="18">
                  <c:v>6761</c:v>
                </c:pt>
                <c:pt idx="19">
                  <c:v>6092</c:v>
                </c:pt>
                <c:pt idx="20">
                  <c:v>9600</c:v>
                </c:pt>
                <c:pt idx="21">
                  <c:v>2760</c:v>
                </c:pt>
                <c:pt idx="22">
                  <c:v>5383.85</c:v>
                </c:pt>
                <c:pt idx="23">
                  <c:v>2410</c:v>
                </c:pt>
                <c:pt idx="24">
                  <c:v>2573</c:v>
                </c:pt>
                <c:pt idx="25">
                  <c:v>4400</c:v>
                </c:pt>
                <c:pt idx="26">
                  <c:v>6500</c:v>
                </c:pt>
                <c:pt idx="27">
                  <c:v>6104.9594117647</c:v>
                </c:pt>
                <c:pt idx="28">
                  <c:v>15400</c:v>
                </c:pt>
                <c:pt idx="29">
                  <c:v>15600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3</c:v>
                </c:pt>
                <c:pt idx="14">
                  <c:v>1</c:v>
                </c:pt>
                <c:pt idx="15">
                  <c:v>1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1</c:v>
                </c:pt>
                <c:pt idx="20">
                  <c:v>3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2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2296</c:v>
                </c:pt>
                <c:pt idx="1">
                  <c:v>1316</c:v>
                </c:pt>
                <c:pt idx="2">
                  <c:v>570</c:v>
                </c:pt>
                <c:pt idx="3">
                  <c:v>2034</c:v>
                </c:pt>
                <c:pt idx="4">
                  <c:v>3136</c:v>
                </c:pt>
                <c:pt idx="5">
                  <c:v>4696</c:v>
                </c:pt>
                <c:pt idx="6">
                  <c:v>3100</c:v>
                </c:pt>
                <c:pt idx="7">
                  <c:v>2257</c:v>
                </c:pt>
                <c:pt idx="8">
                  <c:v>4600</c:v>
                </c:pt>
                <c:pt idx="9">
                  <c:v>9600</c:v>
                </c:pt>
                <c:pt idx="10">
                  <c:v>2490</c:v>
                </c:pt>
                <c:pt idx="11">
                  <c:v>5300</c:v>
                </c:pt>
                <c:pt idx="12">
                  <c:v>6104.9594117647</c:v>
                </c:pt>
                <c:pt idx="13">
                  <c:v>2708</c:v>
                </c:pt>
                <c:pt idx="14">
                  <c:v>3669</c:v>
                </c:pt>
                <c:pt idx="15">
                  <c:v>9600</c:v>
                </c:pt>
                <c:pt idx="16">
                  <c:v>2910</c:v>
                </c:pt>
                <c:pt idx="17">
                  <c:v>475</c:v>
                </c:pt>
                <c:pt idx="18">
                  <c:v>4990</c:v>
                </c:pt>
                <c:pt idx="19">
                  <c:v>9600</c:v>
                </c:pt>
                <c:pt idx="20">
                  <c:v>5200</c:v>
                </c:pt>
                <c:pt idx="21">
                  <c:v>3700</c:v>
                </c:pt>
                <c:pt idx="22">
                  <c:v>2205</c:v>
                </c:pt>
                <c:pt idx="23">
                  <c:v>9600</c:v>
                </c:pt>
                <c:pt idx="24">
                  <c:v>6104.9594117647</c:v>
                </c:pt>
                <c:pt idx="25">
                  <c:v>4230</c:v>
                </c:pt>
                <c:pt idx="26">
                  <c:v>350</c:v>
                </c:pt>
                <c:pt idx="27">
                  <c:v>3750</c:v>
                </c:pt>
                <c:pt idx="28">
                  <c:v>7076</c:v>
                </c:pt>
                <c:pt idx="29">
                  <c:v>9600</c:v>
                </c:pt>
                <c:pt idx="30">
                  <c:v>5800</c:v>
                </c:pt>
                <c:pt idx="31">
                  <c:v>7060</c:v>
                </c:pt>
                <c:pt idx="32">
                  <c:v>2800</c:v>
                </c:pt>
                <c:pt idx="33">
                  <c:v>3000</c:v>
                </c:pt>
                <c:pt idx="34">
                  <c:v>4000</c:v>
                </c:pt>
                <c:pt idx="35">
                  <c:v>9600</c:v>
                </c:pt>
                <c:pt idx="36">
                  <c:v>12259</c:v>
                </c:pt>
                <c:pt idx="37">
                  <c:v>2482</c:v>
                </c:pt>
                <c:pt idx="38">
                  <c:v>13620</c:v>
                </c:pt>
                <c:pt idx="39">
                  <c:v>1425</c:v>
                </c:pt>
                <c:pt idx="40">
                  <c:v>2227.7</c:v>
                </c:pt>
                <c:pt idx="41">
                  <c:v>15600</c:v>
                </c:pt>
                <c:pt idx="42">
                  <c:v>5000</c:v>
                </c:pt>
                <c:pt idx="43">
                  <c:v>6800</c:v>
                </c:pt>
                <c:pt idx="44">
                  <c:v>15400</c:v>
                </c:pt>
                <c:pt idx="45">
                  <c:v>15600</c:v>
                </c:pt>
                <c:pt idx="46">
                  <c:v>1977</c:v>
                </c:pt>
                <c:pt idx="47">
                  <c:v>15400</c:v>
                </c:pt>
                <c:pt idx="48">
                  <c:v>9525</c:v>
                </c:pt>
                <c:pt idx="49">
                  <c:v>15400</c:v>
                </c:pt>
                <c:pt idx="50">
                  <c:v>15400</c:v>
                </c:pt>
                <c:pt idx="51">
                  <c:v>3880</c:v>
                </c:pt>
                <c:pt idx="52">
                  <c:v>6104.9594117647</c:v>
                </c:pt>
                <c:pt idx="53">
                  <c:v>15400</c:v>
                </c:pt>
                <c:pt idx="54">
                  <c:v>1600</c:v>
                </c:pt>
                <c:pt idx="55">
                  <c:v>15400</c:v>
                </c:pt>
                <c:pt idx="56">
                  <c:v>15400</c:v>
                </c:pt>
                <c:pt idx="57">
                  <c:v>15400</c:v>
                </c:pt>
                <c:pt idx="58">
                  <c:v>15400</c:v>
                </c:pt>
                <c:pt idx="59">
                  <c:v>3681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3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3</c:v>
                </c:pt>
                <c:pt idx="16">
                  <c:v>2</c:v>
                </c:pt>
                <c:pt idx="17">
                  <c:v>3</c:v>
                </c:pt>
                <c:pt idx="18">
                  <c:v>2</c:v>
                </c:pt>
                <c:pt idx="19">
                  <c:v>3</c:v>
                </c:pt>
                <c:pt idx="20">
                  <c:v>2</c:v>
                </c:pt>
                <c:pt idx="21">
                  <c:v>2</c:v>
                </c:pt>
                <c:pt idx="22">
                  <c:v>1</c:v>
                </c:pt>
                <c:pt idx="23">
                  <c:v>3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3</c:v>
                </c:pt>
                <c:pt idx="30">
                  <c:v>1</c:v>
                </c:pt>
                <c:pt idx="31">
                  <c:v>1</c:v>
                </c:pt>
                <c:pt idx="32">
                  <c:v>3</c:v>
                </c:pt>
                <c:pt idx="33">
                  <c:v>2</c:v>
                </c:pt>
                <c:pt idx="34">
                  <c:v>3</c:v>
                </c:pt>
                <c:pt idx="35">
                  <c:v>3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3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2</c:v>
                </c:pt>
                <c:pt idx="48">
                  <c:v>2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2</c:v>
                </c:pt>
                <c:pt idx="56">
                  <c:v>2</c:v>
                </c:pt>
                <c:pt idx="57">
                  <c:v>2</c:v>
                </c:pt>
                <c:pt idx="58">
                  <c:v>1</c:v>
                </c:pt>
                <c:pt idx="59">
                  <c:v>1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4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Site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Payload (kg)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Success rate</c:v>
          </c:tx>
          <c:spPr>
            <a:solidFill xmlns:a="http://schemas.openxmlformats.org/drawingml/2006/main">
              <a:srgbClr val="0B49CB"/>
            </a:solidFill>
          </c:spPr>
          <c:invertIfNegative val="0"/>
          <c:cat>
            <c:strRef>
              <c:f>'Chart Data'!$A$2:$A$12</c:f>
              <c:strCache>
                <c:ptCount val="11"/>
                <c:pt idx="0">
                  <c:v>ES-L1 (n=1)</c:v>
                </c:pt>
                <c:pt idx="1">
                  <c:v>GEO (n=1)</c:v>
                </c:pt>
                <c:pt idx="2">
                  <c:v>GTO (n=27)</c:v>
                </c:pt>
                <c:pt idx="3">
                  <c:v>HEO (n=1)</c:v>
                </c:pt>
                <c:pt idx="4">
                  <c:v>ISS (n=21)</c:v>
                </c:pt>
                <c:pt idx="5">
                  <c:v>LEO (n=7)</c:v>
                </c:pt>
                <c:pt idx="6">
                  <c:v>MEO (n=3)</c:v>
                </c:pt>
                <c:pt idx="7">
                  <c:v>PO (n=9)</c:v>
                </c:pt>
                <c:pt idx="8">
                  <c:v>SO (n=1)</c:v>
                </c:pt>
                <c:pt idx="9">
                  <c:v>SSO (n=5)</c:v>
                </c:pt>
                <c:pt idx="10">
                  <c:v>VLEO (n=14)</c:v>
                </c:pt>
              </c:strCache>
            </c:strRef>
          </c:cat>
          <c:val>
            <c:numRef>
              <c:f>'Chart Data'!$B$2:$B$12</c:f>
              <c:numCache>
                <c:formatCode>0%</c:formatCode>
                <c:ptCount val="11"/>
                <c:pt idx="0">
                  <c:v>1</c:v>
                </c:pt>
                <c:pt idx="1">
                  <c:v>1</c:v>
                </c:pt>
                <c:pt idx="2">
                  <c:v>0.51851851851852</c:v>
                </c:pt>
                <c:pt idx="3">
                  <c:v>1</c:v>
                </c:pt>
                <c:pt idx="4">
                  <c:v>0.61904761904762</c:v>
                </c:pt>
                <c:pt idx="5">
                  <c:v>0.71428571428571</c:v>
                </c:pt>
                <c:pt idx="6">
                  <c:v>0.66666666666667</c:v>
                </c:pt>
                <c:pt idx="7">
                  <c:v>0.66666666666667</c:v>
                </c:pt>
                <c:pt idx="8">
                  <c:v>0</c:v>
                </c:pt>
                <c:pt idx="9">
                  <c:v>1</c:v>
                </c:pt>
                <c:pt idx="10">
                  <c:v>0.85714285714286</c:v>
                </c:pt>
              </c:numCache>
            </c:numRef>
          </c:val>
        </c:ser>
        <c:dLbls>
          <c:numFmt formatCode="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.15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14</c:v>
                </c:pt>
                <c:pt idx="11">
                  <c:v>15</c:v>
                </c:pt>
                <c:pt idx="12">
                  <c:v>16</c:v>
                </c:pt>
                <c:pt idx="13">
                  <c:v>18</c:v>
                </c:pt>
                <c:pt idx="14">
                  <c:v>19</c:v>
                </c:pt>
                <c:pt idx="15">
                  <c:v>25</c:v>
                </c:pt>
                <c:pt idx="16">
                  <c:v>28</c:v>
                </c:pt>
                <c:pt idx="17">
                  <c:v>31</c:v>
                </c:pt>
                <c:pt idx="18">
                  <c:v>35</c:v>
                </c:pt>
                <c:pt idx="19">
                  <c:v>46</c:v>
                </c:pt>
                <c:pt idx="20">
                  <c:v>47</c:v>
                </c:pt>
                <c:pt idx="21">
                  <c:v>48</c:v>
                </c:pt>
                <c:pt idx="22">
                  <c:v>51</c:v>
                </c:pt>
                <c:pt idx="23">
                  <c:v>52</c:v>
                </c:pt>
                <c:pt idx="24">
                  <c:v>60</c:v>
                </c:pt>
                <c:pt idx="25">
                  <c:v>61</c:v>
                </c:pt>
                <c:pt idx="26">
                  <c:v>68</c:v>
                </c:pt>
                <c:pt idx="27">
                  <c:v>73</c:v>
                </c:pt>
                <c:pt idx="28">
                  <c:v>75</c:v>
                </c:pt>
                <c:pt idx="29">
                  <c:v>77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8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3</c:v>
                </c:pt>
                <c:pt idx="12">
                  <c:v>5</c:v>
                </c:pt>
                <c:pt idx="13">
                  <c:v>8</c:v>
                </c:pt>
                <c:pt idx="14">
                  <c:v>3</c:v>
                </c:pt>
                <c:pt idx="15">
                  <c:v>3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8</c:v>
                </c:pt>
                <c:pt idx="21">
                  <c:v>5</c:v>
                </c:pt>
                <c:pt idx="22">
                  <c:v>3</c:v>
                </c:pt>
                <c:pt idx="23">
                  <c:v>5</c:v>
                </c:pt>
                <c:pt idx="24">
                  <c:v>5</c:v>
                </c:pt>
                <c:pt idx="25">
                  <c:v>7</c:v>
                </c:pt>
                <c:pt idx="26">
                  <c:v>3</c:v>
                </c:pt>
                <c:pt idx="27">
                  <c:v>9</c:v>
                </c:pt>
                <c:pt idx="28">
                  <c:v>11</c:v>
                </c:pt>
                <c:pt idx="29">
                  <c:v>11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7</c:v>
                </c:pt>
                <c:pt idx="1">
                  <c:v>8</c:v>
                </c:pt>
                <c:pt idx="2">
                  <c:v>13</c:v>
                </c:pt>
                <c:pt idx="3">
                  <c:v>17</c:v>
                </c:pt>
                <c:pt idx="4">
                  <c:v>20</c:v>
                </c:pt>
                <c:pt idx="5">
                  <c:v>21</c:v>
                </c:pt>
                <c:pt idx="6">
                  <c:v>22</c:v>
                </c:pt>
                <c:pt idx="7">
                  <c:v>23</c:v>
                </c:pt>
                <c:pt idx="8">
                  <c:v>24</c:v>
                </c:pt>
                <c:pt idx="9">
                  <c:v>26</c:v>
                </c:pt>
                <c:pt idx="10">
                  <c:v>27</c:v>
                </c:pt>
                <c:pt idx="11">
                  <c:v>29</c:v>
                </c:pt>
                <c:pt idx="12">
                  <c:v>30</c:v>
                </c:pt>
                <c:pt idx="13">
                  <c:v>32</c:v>
                </c:pt>
                <c:pt idx="14">
                  <c:v>33</c:v>
                </c:pt>
                <c:pt idx="15">
                  <c:v>34</c:v>
                </c:pt>
                <c:pt idx="16">
                  <c:v>36</c:v>
                </c:pt>
                <c:pt idx="17">
                  <c:v>37</c:v>
                </c:pt>
                <c:pt idx="18">
                  <c:v>38</c:v>
                </c:pt>
                <c:pt idx="19">
                  <c:v>39</c:v>
                </c:pt>
                <c:pt idx="20">
                  <c:v>40</c:v>
                </c:pt>
                <c:pt idx="21">
                  <c:v>41</c:v>
                </c:pt>
                <c:pt idx="22">
                  <c:v>42</c:v>
                </c:pt>
                <c:pt idx="23">
                  <c:v>43</c:v>
                </c:pt>
                <c:pt idx="24">
                  <c:v>44</c:v>
                </c:pt>
                <c:pt idx="25">
                  <c:v>45</c:v>
                </c:pt>
                <c:pt idx="26">
                  <c:v>49</c:v>
                </c:pt>
                <c:pt idx="27">
                  <c:v>50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62</c:v>
                </c:pt>
                <c:pt idx="36">
                  <c:v>63</c:v>
                </c:pt>
                <c:pt idx="37">
                  <c:v>64</c:v>
                </c:pt>
                <c:pt idx="38">
                  <c:v>65</c:v>
                </c:pt>
                <c:pt idx="39">
                  <c:v>66</c:v>
                </c:pt>
                <c:pt idx="40">
                  <c:v>67</c:v>
                </c:pt>
                <c:pt idx="41">
                  <c:v>69</c:v>
                </c:pt>
                <c:pt idx="42">
                  <c:v>70</c:v>
                </c:pt>
                <c:pt idx="43">
                  <c:v>71</c:v>
                </c:pt>
                <c:pt idx="44">
                  <c:v>72</c:v>
                </c:pt>
                <c:pt idx="45">
                  <c:v>74</c:v>
                </c:pt>
                <c:pt idx="46">
                  <c:v>76</c:v>
                </c:pt>
                <c:pt idx="47">
                  <c:v>78</c:v>
                </c:pt>
                <c:pt idx="48">
                  <c:v>79</c:v>
                </c:pt>
                <c:pt idx="49">
                  <c:v>80</c:v>
                </c:pt>
                <c:pt idx="50">
                  <c:v>81</c:v>
                </c:pt>
                <c:pt idx="51">
                  <c:v>82</c:v>
                </c:pt>
                <c:pt idx="52">
                  <c:v>83</c:v>
                </c:pt>
                <c:pt idx="53">
                  <c:v>84</c:v>
                </c:pt>
                <c:pt idx="54">
                  <c:v>85</c:v>
                </c:pt>
                <c:pt idx="55">
                  <c:v>86</c:v>
                </c:pt>
                <c:pt idx="56">
                  <c:v>87</c:v>
                </c:pt>
                <c:pt idx="57">
                  <c:v>88</c:v>
                </c:pt>
                <c:pt idx="58">
                  <c:v>89</c:v>
                </c:pt>
                <c:pt idx="59">
                  <c:v>90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5</c:v>
                </c:pt>
                <c:pt idx="1">
                  <c:v>6</c:v>
                </c:pt>
                <c:pt idx="2">
                  <c:v>1</c:v>
                </c:pt>
                <c:pt idx="3">
                  <c:v>6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  <c:pt idx="7">
                  <c:v>5</c:v>
                </c:pt>
                <c:pt idx="8">
                  <c:v>3</c:v>
                </c:pt>
                <c:pt idx="9">
                  <c:v>8</c:v>
                </c:pt>
                <c:pt idx="10">
                  <c:v>5</c:v>
                </c:pt>
                <c:pt idx="11">
                  <c:v>3</c:v>
                </c:pt>
                <c:pt idx="12">
                  <c:v>6</c:v>
                </c:pt>
                <c:pt idx="13">
                  <c:v>5</c:v>
                </c:pt>
                <c:pt idx="14">
                  <c:v>3</c:v>
                </c:pt>
                <c:pt idx="15">
                  <c:v>8</c:v>
                </c:pt>
                <c:pt idx="16">
                  <c:v>5</c:v>
                </c:pt>
                <c:pt idx="17">
                  <c:v>10</c:v>
                </c:pt>
                <c:pt idx="18">
                  <c:v>6</c:v>
                </c:pt>
                <c:pt idx="19">
                  <c:v>8</c:v>
                </c:pt>
                <c:pt idx="20">
                  <c:v>3</c:v>
                </c:pt>
                <c:pt idx="21">
                  <c:v>3</c:v>
                </c:pt>
                <c:pt idx="22">
                  <c:v>5</c:v>
                </c:pt>
                <c:pt idx="23">
                  <c:v>8</c:v>
                </c:pt>
                <c:pt idx="24">
                  <c:v>6</c:v>
                </c:pt>
                <c:pt idx="25">
                  <c:v>3</c:v>
                </c:pt>
                <c:pt idx="26">
                  <c:v>4</c:v>
                </c:pt>
                <c:pt idx="27">
                  <c:v>3</c:v>
                </c:pt>
                <c:pt idx="28">
                  <c:v>3</c:v>
                </c:pt>
                <c:pt idx="29">
                  <c:v>8</c:v>
                </c:pt>
                <c:pt idx="30">
                  <c:v>3</c:v>
                </c:pt>
                <c:pt idx="31">
                  <c:v>3</c:v>
                </c:pt>
                <c:pt idx="32">
                  <c:v>10</c:v>
                </c:pt>
                <c:pt idx="33">
                  <c:v>3</c:v>
                </c:pt>
                <c:pt idx="34">
                  <c:v>10</c:v>
                </c:pt>
                <c:pt idx="35">
                  <c:v>8</c:v>
                </c:pt>
                <c:pt idx="36">
                  <c:v>5</c:v>
                </c:pt>
                <c:pt idx="37">
                  <c:v>5</c:v>
                </c:pt>
                <c:pt idx="38">
                  <c:v>11</c:v>
                </c:pt>
                <c:pt idx="39">
                  <c:v>10</c:v>
                </c:pt>
                <c:pt idx="40">
                  <c:v>5</c:v>
                </c:pt>
                <c:pt idx="41">
                  <c:v>11</c:v>
                </c:pt>
                <c:pt idx="42">
                  <c:v>5</c:v>
                </c:pt>
                <c:pt idx="43">
                  <c:v>3</c:v>
                </c:pt>
                <c:pt idx="44">
                  <c:v>11</c:v>
                </c:pt>
                <c:pt idx="45">
                  <c:v>11</c:v>
                </c:pt>
                <c:pt idx="46">
                  <c:v>5</c:v>
                </c:pt>
                <c:pt idx="47">
                  <c:v>11</c:v>
                </c:pt>
                <c:pt idx="48">
                  <c:v>5</c:v>
                </c:pt>
                <c:pt idx="49">
                  <c:v>11</c:v>
                </c:pt>
                <c:pt idx="50">
                  <c:v>11</c:v>
                </c:pt>
                <c:pt idx="51">
                  <c:v>7</c:v>
                </c:pt>
                <c:pt idx="52">
                  <c:v>2</c:v>
                </c:pt>
                <c:pt idx="53">
                  <c:v>11</c:v>
                </c:pt>
                <c:pt idx="54">
                  <c:v>10</c:v>
                </c:pt>
                <c:pt idx="55">
                  <c:v>11</c:v>
                </c:pt>
                <c:pt idx="56">
                  <c:v>11</c:v>
                </c:pt>
                <c:pt idx="57">
                  <c:v>11</c:v>
                </c:pt>
                <c:pt idx="58">
                  <c:v>11</c:v>
                </c:pt>
                <c:pt idx="59">
                  <c:v>7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2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Orbit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Flight number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6104.9594117647</c:v>
                </c:pt>
                <c:pt idx="1">
                  <c:v>525</c:v>
                </c:pt>
                <c:pt idx="2">
                  <c:v>677</c:v>
                </c:pt>
                <c:pt idx="3">
                  <c:v>500</c:v>
                </c:pt>
                <c:pt idx="4">
                  <c:v>3170</c:v>
                </c:pt>
                <c:pt idx="5">
                  <c:v>3325</c:v>
                </c:pt>
                <c:pt idx="6">
                  <c:v>4535</c:v>
                </c:pt>
                <c:pt idx="7">
                  <c:v>4428</c:v>
                </c:pt>
                <c:pt idx="8">
                  <c:v>2216</c:v>
                </c:pt>
                <c:pt idx="9">
                  <c:v>2395</c:v>
                </c:pt>
                <c:pt idx="10">
                  <c:v>1898</c:v>
                </c:pt>
                <c:pt idx="11">
                  <c:v>4707</c:v>
                </c:pt>
                <c:pt idx="12">
                  <c:v>2477</c:v>
                </c:pt>
                <c:pt idx="13">
                  <c:v>553</c:v>
                </c:pt>
                <c:pt idx="14">
                  <c:v>5271</c:v>
                </c:pt>
                <c:pt idx="15">
                  <c:v>5500</c:v>
                </c:pt>
                <c:pt idx="16">
                  <c:v>5600</c:v>
                </c:pt>
                <c:pt idx="17">
                  <c:v>6070</c:v>
                </c:pt>
                <c:pt idx="18">
                  <c:v>6761</c:v>
                </c:pt>
                <c:pt idx="19">
                  <c:v>6092</c:v>
                </c:pt>
                <c:pt idx="20">
                  <c:v>9600</c:v>
                </c:pt>
                <c:pt idx="21">
                  <c:v>2760</c:v>
                </c:pt>
                <c:pt idx="22">
                  <c:v>5383.85</c:v>
                </c:pt>
                <c:pt idx="23">
                  <c:v>2410</c:v>
                </c:pt>
                <c:pt idx="24">
                  <c:v>2573</c:v>
                </c:pt>
                <c:pt idx="25">
                  <c:v>4400</c:v>
                </c:pt>
                <c:pt idx="26">
                  <c:v>6500</c:v>
                </c:pt>
                <c:pt idx="27">
                  <c:v>6104.9594117647</c:v>
                </c:pt>
                <c:pt idx="28">
                  <c:v>15400</c:v>
                </c:pt>
                <c:pt idx="29">
                  <c:v>15600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8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3</c:v>
                </c:pt>
                <c:pt idx="12">
                  <c:v>5</c:v>
                </c:pt>
                <c:pt idx="13">
                  <c:v>8</c:v>
                </c:pt>
                <c:pt idx="14">
                  <c:v>3</c:v>
                </c:pt>
                <c:pt idx="15">
                  <c:v>3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8</c:v>
                </c:pt>
                <c:pt idx="21">
                  <c:v>5</c:v>
                </c:pt>
                <c:pt idx="22">
                  <c:v>3</c:v>
                </c:pt>
                <c:pt idx="23">
                  <c:v>5</c:v>
                </c:pt>
                <c:pt idx="24">
                  <c:v>5</c:v>
                </c:pt>
                <c:pt idx="25">
                  <c:v>7</c:v>
                </c:pt>
                <c:pt idx="26">
                  <c:v>3</c:v>
                </c:pt>
                <c:pt idx="27">
                  <c:v>9</c:v>
                </c:pt>
                <c:pt idx="28">
                  <c:v>11</c:v>
                </c:pt>
                <c:pt idx="29">
                  <c:v>11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2296</c:v>
                </c:pt>
                <c:pt idx="1">
                  <c:v>1316</c:v>
                </c:pt>
                <c:pt idx="2">
                  <c:v>570</c:v>
                </c:pt>
                <c:pt idx="3">
                  <c:v>2034</c:v>
                </c:pt>
                <c:pt idx="4">
                  <c:v>3136</c:v>
                </c:pt>
                <c:pt idx="5">
                  <c:v>4696</c:v>
                </c:pt>
                <c:pt idx="6">
                  <c:v>3100</c:v>
                </c:pt>
                <c:pt idx="7">
                  <c:v>2257</c:v>
                </c:pt>
                <c:pt idx="8">
                  <c:v>4600</c:v>
                </c:pt>
                <c:pt idx="9">
                  <c:v>9600</c:v>
                </c:pt>
                <c:pt idx="10">
                  <c:v>2490</c:v>
                </c:pt>
                <c:pt idx="11">
                  <c:v>5300</c:v>
                </c:pt>
                <c:pt idx="12">
                  <c:v>6104.9594117647</c:v>
                </c:pt>
                <c:pt idx="13">
                  <c:v>2708</c:v>
                </c:pt>
                <c:pt idx="14">
                  <c:v>3669</c:v>
                </c:pt>
                <c:pt idx="15">
                  <c:v>9600</c:v>
                </c:pt>
                <c:pt idx="16">
                  <c:v>2910</c:v>
                </c:pt>
                <c:pt idx="17">
                  <c:v>475</c:v>
                </c:pt>
                <c:pt idx="18">
                  <c:v>4990</c:v>
                </c:pt>
                <c:pt idx="19">
                  <c:v>9600</c:v>
                </c:pt>
                <c:pt idx="20">
                  <c:v>5200</c:v>
                </c:pt>
                <c:pt idx="21">
                  <c:v>3700</c:v>
                </c:pt>
                <c:pt idx="22">
                  <c:v>2205</c:v>
                </c:pt>
                <c:pt idx="23">
                  <c:v>9600</c:v>
                </c:pt>
                <c:pt idx="24">
                  <c:v>6104.9594117647</c:v>
                </c:pt>
                <c:pt idx="25">
                  <c:v>4230</c:v>
                </c:pt>
                <c:pt idx="26">
                  <c:v>350</c:v>
                </c:pt>
                <c:pt idx="27">
                  <c:v>3750</c:v>
                </c:pt>
                <c:pt idx="28">
                  <c:v>7076</c:v>
                </c:pt>
                <c:pt idx="29">
                  <c:v>9600</c:v>
                </c:pt>
                <c:pt idx="30">
                  <c:v>5800</c:v>
                </c:pt>
                <c:pt idx="31">
                  <c:v>7060</c:v>
                </c:pt>
                <c:pt idx="32">
                  <c:v>2800</c:v>
                </c:pt>
                <c:pt idx="33">
                  <c:v>3000</c:v>
                </c:pt>
                <c:pt idx="34">
                  <c:v>4000</c:v>
                </c:pt>
                <c:pt idx="35">
                  <c:v>9600</c:v>
                </c:pt>
                <c:pt idx="36">
                  <c:v>12259</c:v>
                </c:pt>
                <c:pt idx="37">
                  <c:v>2482</c:v>
                </c:pt>
                <c:pt idx="38">
                  <c:v>13620</c:v>
                </c:pt>
                <c:pt idx="39">
                  <c:v>1425</c:v>
                </c:pt>
                <c:pt idx="40">
                  <c:v>2227.7</c:v>
                </c:pt>
                <c:pt idx="41">
                  <c:v>15600</c:v>
                </c:pt>
                <c:pt idx="42">
                  <c:v>5000</c:v>
                </c:pt>
                <c:pt idx="43">
                  <c:v>6800</c:v>
                </c:pt>
                <c:pt idx="44">
                  <c:v>15400</c:v>
                </c:pt>
                <c:pt idx="45">
                  <c:v>15600</c:v>
                </c:pt>
                <c:pt idx="46">
                  <c:v>1977</c:v>
                </c:pt>
                <c:pt idx="47">
                  <c:v>15400</c:v>
                </c:pt>
                <c:pt idx="48">
                  <c:v>9525</c:v>
                </c:pt>
                <c:pt idx="49">
                  <c:v>15400</c:v>
                </c:pt>
                <c:pt idx="50">
                  <c:v>15400</c:v>
                </c:pt>
                <c:pt idx="51">
                  <c:v>3880</c:v>
                </c:pt>
                <c:pt idx="52">
                  <c:v>6104.9594117647</c:v>
                </c:pt>
                <c:pt idx="53">
                  <c:v>15400</c:v>
                </c:pt>
                <c:pt idx="54">
                  <c:v>1600</c:v>
                </c:pt>
                <c:pt idx="55">
                  <c:v>15400</c:v>
                </c:pt>
                <c:pt idx="56">
                  <c:v>15400</c:v>
                </c:pt>
                <c:pt idx="57">
                  <c:v>15400</c:v>
                </c:pt>
                <c:pt idx="58">
                  <c:v>15400</c:v>
                </c:pt>
                <c:pt idx="59">
                  <c:v>3681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5</c:v>
                </c:pt>
                <c:pt idx="1">
                  <c:v>6</c:v>
                </c:pt>
                <c:pt idx="2">
                  <c:v>1</c:v>
                </c:pt>
                <c:pt idx="3">
                  <c:v>6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  <c:pt idx="7">
                  <c:v>5</c:v>
                </c:pt>
                <c:pt idx="8">
                  <c:v>3</c:v>
                </c:pt>
                <c:pt idx="9">
                  <c:v>8</c:v>
                </c:pt>
                <c:pt idx="10">
                  <c:v>5</c:v>
                </c:pt>
                <c:pt idx="11">
                  <c:v>3</c:v>
                </c:pt>
                <c:pt idx="12">
                  <c:v>6</c:v>
                </c:pt>
                <c:pt idx="13">
                  <c:v>5</c:v>
                </c:pt>
                <c:pt idx="14">
                  <c:v>3</c:v>
                </c:pt>
                <c:pt idx="15">
                  <c:v>8</c:v>
                </c:pt>
                <c:pt idx="16">
                  <c:v>5</c:v>
                </c:pt>
                <c:pt idx="17">
                  <c:v>10</c:v>
                </c:pt>
                <c:pt idx="18">
                  <c:v>6</c:v>
                </c:pt>
                <c:pt idx="19">
                  <c:v>8</c:v>
                </c:pt>
                <c:pt idx="20">
                  <c:v>3</c:v>
                </c:pt>
                <c:pt idx="21">
                  <c:v>3</c:v>
                </c:pt>
                <c:pt idx="22">
                  <c:v>5</c:v>
                </c:pt>
                <c:pt idx="23">
                  <c:v>8</c:v>
                </c:pt>
                <c:pt idx="24">
                  <c:v>6</c:v>
                </c:pt>
                <c:pt idx="25">
                  <c:v>3</c:v>
                </c:pt>
                <c:pt idx="26">
                  <c:v>4</c:v>
                </c:pt>
                <c:pt idx="27">
                  <c:v>3</c:v>
                </c:pt>
                <c:pt idx="28">
                  <c:v>3</c:v>
                </c:pt>
                <c:pt idx="29">
                  <c:v>8</c:v>
                </c:pt>
                <c:pt idx="30">
                  <c:v>3</c:v>
                </c:pt>
                <c:pt idx="31">
                  <c:v>3</c:v>
                </c:pt>
                <c:pt idx="32">
                  <c:v>10</c:v>
                </c:pt>
                <c:pt idx="33">
                  <c:v>3</c:v>
                </c:pt>
                <c:pt idx="34">
                  <c:v>10</c:v>
                </c:pt>
                <c:pt idx="35">
                  <c:v>8</c:v>
                </c:pt>
                <c:pt idx="36">
                  <c:v>5</c:v>
                </c:pt>
                <c:pt idx="37">
                  <c:v>5</c:v>
                </c:pt>
                <c:pt idx="38">
                  <c:v>11</c:v>
                </c:pt>
                <c:pt idx="39">
                  <c:v>10</c:v>
                </c:pt>
                <c:pt idx="40">
                  <c:v>5</c:v>
                </c:pt>
                <c:pt idx="41">
                  <c:v>11</c:v>
                </c:pt>
                <c:pt idx="42">
                  <c:v>5</c:v>
                </c:pt>
                <c:pt idx="43">
                  <c:v>3</c:v>
                </c:pt>
                <c:pt idx="44">
                  <c:v>11</c:v>
                </c:pt>
                <c:pt idx="45">
                  <c:v>11</c:v>
                </c:pt>
                <c:pt idx="46">
                  <c:v>5</c:v>
                </c:pt>
                <c:pt idx="47">
                  <c:v>11</c:v>
                </c:pt>
                <c:pt idx="48">
                  <c:v>5</c:v>
                </c:pt>
                <c:pt idx="49">
                  <c:v>11</c:v>
                </c:pt>
                <c:pt idx="50">
                  <c:v>11</c:v>
                </c:pt>
                <c:pt idx="51">
                  <c:v>7</c:v>
                </c:pt>
                <c:pt idx="52">
                  <c:v>2</c:v>
                </c:pt>
                <c:pt idx="53">
                  <c:v>11</c:v>
                </c:pt>
                <c:pt idx="54">
                  <c:v>10</c:v>
                </c:pt>
                <c:pt idx="55">
                  <c:v>11</c:v>
                </c:pt>
                <c:pt idx="56">
                  <c:v>11</c:v>
                </c:pt>
                <c:pt idx="57">
                  <c:v>11</c:v>
                </c:pt>
                <c:pt idx="58">
                  <c:v>11</c:v>
                </c:pt>
                <c:pt idx="59">
                  <c:v>7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2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Orbit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Payload (kg)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Class 1 rate</c:v>
          </c:tx>
          <c:spPr>
            <a:ln xmlns:a="http://schemas.openxmlformats.org/drawingml/2006/main" w="28575">
              <a:solidFill>
                <a:srgbClr val="0B49CB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0B49CB"/>
              </a:solidFill>
            </c:spPr>
          </c:marker>
          <c:cat>
            <c:strRef>
              <c:f>'Chart Data'!$A$2:$A$11</c:f>
              <c:strCache>
                <c:ptCount val="10"/>
                <c:pt idx="0">
                  <c:v>2010 (n=1)</c:v>
                </c:pt>
                <c:pt idx="1">
                  <c:v>2012 (n=1)</c:v>
                </c:pt>
                <c:pt idx="2">
                  <c:v>2013 (n=3)</c:v>
                </c:pt>
                <c:pt idx="3">
                  <c:v>2014 (n=6)</c:v>
                </c:pt>
                <c:pt idx="4">
                  <c:v>2015 (n=6)</c:v>
                </c:pt>
                <c:pt idx="5">
                  <c:v>2016 (n=8)</c:v>
                </c:pt>
                <c:pt idx="6">
                  <c:v>2017 (n=18)</c:v>
                </c:pt>
                <c:pt idx="7">
                  <c:v>2018 (n=18)</c:v>
                </c:pt>
                <c:pt idx="8">
                  <c:v>2019 (n=10)</c:v>
                </c:pt>
                <c:pt idx="9">
                  <c:v>2020 (n=19)</c:v>
                </c:pt>
              </c:strCache>
            </c:strRef>
          </c:cat>
          <c:val>
            <c:numRef>
              <c:f>'Chart Data'!$B$2:$B$11</c:f>
              <c:numCache>
                <c:formatCode>0%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0.33333333333333</c:v>
                </c:pt>
                <c:pt idx="4">
                  <c:v>0.33333333333333</c:v>
                </c:pt>
                <c:pt idx="5">
                  <c:v>0.625</c:v>
                </c:pt>
                <c:pt idx="6">
                  <c:v>0.83333333333333</c:v>
                </c:pt>
                <c:pt idx="7">
                  <c:v>0.61111111111111</c:v>
                </c:pt>
                <c:pt idx="8">
                  <c:v>0.9</c:v>
                </c:pt>
                <c:pt idx="9">
                  <c:v>0.84210526315789</c:v>
                </c:pt>
              </c:numCache>
            </c:numRef>
          </c:val>
        </c:ser>
        <c:dLbls>
          <c:numFmt formatCode="0%" sourceLinked="0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10-fold CV</c:v>
          </c:tx>
          <c:spPr>
            <a:solidFill xmlns:a="http://schemas.openxmlformats.org/drawingml/2006/main">
              <a:srgbClr val="0B49CB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Logistic regression</c:v>
                </c:pt>
                <c:pt idx="1">
                  <c:v>SVM</c:v>
                </c:pt>
                <c:pt idx="2">
                  <c:v>Decision tree</c:v>
                </c:pt>
                <c:pt idx="3">
                  <c:v>KNN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0.8464285714</c:v>
                </c:pt>
                <c:pt idx="1">
                  <c:v>0.8482142857</c:v>
                </c:pt>
                <c:pt idx="2">
                  <c:v>0.8767857143</c:v>
                </c:pt>
                <c:pt idx="3">
                  <c:v>0.8482142857</c:v>
                </c:pt>
              </c:numCache>
            </c:numRef>
          </c:val>
        </c:ser>
        <c:ser>
          <c:idx val="1"/>
          <c:order val="1"/>
          <c:tx>
            <c:v>Test</c:v>
          </c:tx>
          <c:spPr>
            <a:solidFill xmlns:a="http://schemas.openxmlformats.org/drawingml/2006/main">
              <a:srgbClr val="F1A54B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Logistic regression</c:v>
                </c:pt>
                <c:pt idx="1">
                  <c:v>SVM</c:v>
                </c:pt>
                <c:pt idx="2">
                  <c:v>Decision tree</c:v>
                </c:pt>
                <c:pt idx="3">
                  <c:v>KNN</c:v>
                </c:pt>
              </c:strCache>
            </c:strRef>
          </c:cat>
          <c:val>
            <c:numRef>
              <c:f>'Chart Data'!$D$2:$D$5</c:f>
              <c:numCache>
                <c:formatCode>0%</c:formatCode>
                <c:ptCount val="4"/>
                <c:pt idx="0">
                  <c:v>0.83333333333333</c:v>
                </c:pt>
                <c:pt idx="1">
                  <c:v>0.83333333333333</c:v>
                </c:pt>
                <c:pt idx="2">
                  <c:v>0.83333333333333</c:v>
                </c:pt>
                <c:pt idx="3">
                  <c:v>0.83333333333333</c:v>
                </c:pt>
              </c:numCache>
            </c:numRef>
          </c:val>
        </c:ser>
        <c:dLbls>
          <c:numFmt formatCode="0.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5ebc5e3c35e4f67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587" y="4568762"/>
            <a:ext cx="3810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2"/>
                </a:solidFill>
                <a:latin typeface="Abadi"/>
                <a:ea typeface="Abadi"/>
                <a:cs typeface="Abadi"/>
              </a:rPr>
              <a:t>Nicholas Yap</a:t>
            </a:r>
          </a:p>
          <a:p xmlns:a="http://schemas.openxmlformats.org/drawingml/2006/main">
            <a:r>
              <a:rPr>
                <a:solidFill>
                  <a:schemeClr val="bg2"/>
                </a:solidFill>
                <a:latin typeface="Abadi"/>
                <a:ea typeface="Abadi"/>
                <a:cs typeface="Abadi"/>
              </a:rPr>
              <a:t>12 October 2026</a:t>
            </a:r>
          </a:p>
        </p:txBody>
      </p:sp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0AAEDB99-2597-4C49-801D-CBEDF35E12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c0022ee8c4e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9820" y="676828"/>
            <a:ext cx="2104103" cy="629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11629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777020d2046446b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fld id="{5075537C-CA84-1446-933C-8E9D027F9201}" type="slidenum">
              <a:t>2</a:t>
            </a:fld>
            <a:endParaRPr/>
          </a:p>
        </p:txBody>
      </p:sp>
      <p:sp>
        <p:nvSpPr>
          <p:cNvPr id="19" name="Title 1">
            <a:extLst xmlns:a="http://schemas.openxmlformats.org/drawingml/2006/main"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Outline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B130C7-CD65-4890-8E97-EF4BC5232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Executive summary and project question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Data collection and analytical methods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EDA, SQL, interactive maps and dashboard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Classification results, conclusions and sources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23e9e98133c548ef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fld id="{5075537C-CA84-1446-933C-8E9D027F9201}" type="slidenum">
              <a:t>3</a:t>
            </a:fld>
            <a:endParaRPr/>
          </a:p>
        </p:txBody>
      </p:sp>
      <p:sp>
        <p:nvSpPr>
          <p:cNvPr id="19" name="Title 1">
            <a:extLst xmlns:a="http://schemas.openxmlformats.org/drawingml/2006/main"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Executive Summary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CD22E6-DE38-48F5-9519-7B2EB8F9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90 Falcon 9 launches form the modeling sample. The course label marks 60 successes (66.7%).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KSC LC 39A has the highest observed site rate: 77.3% (17/22). CCAFS SLC 40 contributes 33 of 60 successes.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All four models score 83.33% on 18 test launches. The decision tree leads cross-validation at 87.68%.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Small samples, changing technology and preprocessing leakage limit generalization.</a:t>
            </a: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b8284201b90452d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fld id="{5075537C-CA84-1446-933C-8E9D027F9201}" type="slidenum">
              <a:t>4</a:t>
            </a:fld>
            <a:endParaRPr/>
          </a:p>
        </p:txBody>
      </p:sp>
      <p:sp>
        <p:nvSpPr>
          <p:cNvPr id="19" name="Title 1">
            <a:extLst xmlns:a="http://schemas.openxmlformats.org/drawingml/2006/main"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Introduction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457330-6147-4697-A390-DBF2BCB3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Business question: how can historical launch characteristics help estimate the chance of a successful first-stage outcome?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Reusable boosters create a reason to study landing outcomes. This project predicts the course outcome label, not launch price or cost savings.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Compare launch sites, payload, orbit and experience, then evaluate four classification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Scope: historical course snapshots. A successful mission and a successful first-stage outcome measure different events.</a:t>
            </a:r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a21f60c9cd346c8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44880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5</a:t>
            </a:fld>
            <a:endParaRPr/>
          </a:p>
        </p:txBody>
      </p:sp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13" y="2812774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d399f3d31fe428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6</a:t>
            </a:fld>
            <a:endParaRPr/>
          </a:p>
        </p:txBody>
      </p:sp>
      <p:sp>
        <p:nvSpPr>
          <p:cNvPr id="13" name="Title 1">
            <a:extLst xmlns:a="http://schemas.openxmlformats.org/drawingml/2006/main"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Methodology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396AE8-ECF7-48E8-A306-E8AE5BE0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Collect historical launch records from a SpaceX API snapshot and a Wikipedia launch-table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Clean outcomes and missing payloads. Use 90 launch records and 83 encoded features for classification.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Explore relationships with charts and SQLite queries. Add Folium maps and a Dash dashboard.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Compare tuned classifiers using 10-fold cross-validation and the saved 18-launch test split.</a:t>
            </a: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8cd679030f224131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7</a:t>
            </a:fld>
            <a:endParaRPr/>
          </a:p>
        </p:txBody>
      </p:sp>
      <p:sp>
        <p:nvSpPr>
          <p:cNvPr id="12" name="Title 1">
            <a:extLst xmlns:a="http://schemas.openxmlformats.org/drawingml/2006/main"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Collection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636D8B-DBD6-45DA-941E-42F6DB2F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76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API snapshot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Launch records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11848D-5288-4668-97B2-15BB0B69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F9D079-5E88-41F1-BCD1-DF11340D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09750"/>
            <a:ext cx="3276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Enriched course CSV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90 Falcon 9 launches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86B9F2-8B57-4F40-AA03-1BA088C0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A4F8FD-89BF-4DFB-8CCC-5656BC9CB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09750"/>
            <a:ext cx="3276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Analysis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EDA and classification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7A4BA4-6745-45AF-8B2C-9B9E14B1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A separate Wikipedia scrape contains 121 launches. The SQL snapshot contains 101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These sources have different coverage and labels. Results retain their source-specific denominators.</a:t>
            </a: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e5db599ddcc42b7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8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Collection – SpaceX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53A11-2940-4F79-951B-AE733CDD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GET launches/past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Archived 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111D53-FCC3-4489-BBB5-29D12D51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33F9F7-4026-4136-BD3F-39BA4A4F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Filter single core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and single payload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6E99D-1287-4731-A142-9D521C47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62B3B6-1E2B-45CD-94EA-E25FFB89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Resolve IDs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Rocket, pad, payload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7F9ED-FB22-4DE7-88C9-C67A8346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AF340D-949F-4761-A6F6-36A22B43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Falcon 9 features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90 saved records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F8AC15-61A9-45BC-BE61-E9880C0D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67125"/>
            <a:ext cx="104775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The archived launch response supports reproducible inspection. The supplied course CSV contains the enriched rocket, launchpad, payload and core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The companion notebook validates the snapshot and the 90-row feature table without claiming a fresh API extraction.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AA3C1E-91CC-47D0-A062-8A28D3C6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notebooks/01-data-collection.ipynb</a:t>
            </a:r>
          </a:p>
        </p:txBody>
      </p:sp>
    </p:spTree>
    <p:extLst>
      <p:ext uri="{BB962C8B-B14F-4D97-AF65-F5344CB8AC3E}">
        <p14:creationId xmlns:p14="http://schemas.microsoft.com/office/powerpoint/2010/main" val="280316088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22c88ea30ac7423d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9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11" y="538650"/>
            <a:ext cx="10515600" cy="54904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92500" lnSpcReduction="2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endParaRPr>
              <a:solidFill>
                <a:srgbClr val="1C7DDB"/>
              </a:solidFill>
              <a:latin typeface="Abadi"/>
              <a:ea typeface="Abadi"/>
              <a:cs typeface="Abadi"/>
            </a:endParaRPr>
          </a:p>
        </p:txBody>
      </p:sp>
      <p:sp>
        <p:nvSpPr>
          <p:cNvPr id="11" name="Title 1">
            <a:extLst xmlns:a="http://schemas.openxmlformats.org/drawingml/2006/main"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Collection – Web Scraping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875B6B-7E66-40E1-AC78-A94B8C17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Wikipedia snapshot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Revision 1027686922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01EBD1-C47D-403D-9459-A2EA8727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36141C-B3FD-4C57-B2B3-E99D2D56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BeautifulSoup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Launch tables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2C640-75B4-48CE-BD0A-34F2AFC36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424D2F-C334-4293-8D6C-AA09A7C1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Parse cells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Dates, payload, orbit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A2497A-DE9B-49D7-A736-3A96B009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606DE2-C823-4251-B4EC-701EA6E6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Validate and export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121 rows, 11 columns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E616D5-2CB8-4213-949F-7BBB45D9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completed notebook extracts numbered launch rows and checks flight IDs, dates and times.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June 2021 page snapshot extends beyond the 90-row modeling sample. The scraped table remains a separate source.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3A80EB-4CA9-457A-B894-B126C732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notebooks/jupyter-labs-webscraping.ipynb</a:t>
            </a:r>
          </a:p>
        </p:txBody>
      </p:sp>
    </p:spTree>
    <p:extLst>
      <p:ext uri="{BB962C8B-B14F-4D97-AF65-F5344CB8AC3E}">
        <p14:creationId xmlns:p14="http://schemas.microsoft.com/office/powerpoint/2010/main" val="1385553969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508fb5b302c429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10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Wrangling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69D211-4F1D-4CF7-A231-23888F27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Validate schema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Dates and flight IDs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D3CCEB-459A-4935-943D-11E91303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252A1-D0AB-4A1E-B17A-071F45BC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Payload mass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Mean-imputed 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B273D8-1EEB-48FD-BC89-49AB38E6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3571C3-FE35-4B57-BE06-A434C993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Outcome label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60 class 1, 30 class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5C22E7-12B6-44BE-B6FA-E1A33A25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57011A-CCE7-4BC8-BD6F-86E7F39B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One-hot encoding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83 model features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55ACDE-BE07-404E-8242-C00570B9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Class 1 includes True ASDS, True RTLS and True Ocean. Class 0 includes failed, missing and no-attempt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Controlled ocean outcomes do not establish booster recovery. Keep this distinction when interpreting “success.”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8D0523-AE39-4D4D-A52B-FA5B3F8E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notebooks/02-wrangling-eda.ipynb</a:t>
            </a:r>
          </a:p>
        </p:txBody>
      </p:sp>
    </p:spTree>
    <p:extLst>
      <p:ext uri="{BB962C8B-B14F-4D97-AF65-F5344CB8AC3E}">
        <p14:creationId xmlns:p14="http://schemas.microsoft.com/office/powerpoint/2010/main" val="2987552906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aa5f7f3c2f648f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11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EDA with Data Visualization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C15CB-124D-4781-8B3C-B62D03D9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Scatter plots compare flight number and payload with launch site and orbit. Color separates the two outcome classes.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Orbit success bars show rates with launch counts so small groups remain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yearly line chart shows changes in outcome rate, with year-specific denominators.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Charts describe associations. Site, orbit, payload and technology changed together over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8B5C2-39C2-4791-BD1C-273F422C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notebooks/02-wrangling-eda.ipynb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7a960c1826f4e81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12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EDA with SQL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B3555-9D07-4EEA-9BF6-70266DC6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DISTINCT and LIKE identify launch-site labels and the first five CCA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SUM, AVG and MAX summarize payload mass and the boosters carrying the maximum.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Date and outcome filters identify the first ground landing, drone ship landings and failures in 2015.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GROUP BY and COUNT summarize mission results and rank landing outcomes for the specified period.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D16380-5F5E-482D-ABE6-4892A0EC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notebooks/jupyter-labs-eda-sql-coursera_sqllite.ipynb</a:t>
            </a: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5f984c0c35fe4d92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13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Interactive Map with Folium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DF5B6E-1FA1-433D-A0AB-FBEF4CF7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Site circles and labels locate the three modeled launch facilities on a continental map.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A MarkerCluster groups overlapping launches. Green marks Class 1 and red marks Class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Popup details show flight, date, payload and outcome. Expanding a cluster separates markers for inspection.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Lines connect CCAFS SLC 40 to selected road, rail and coastline points. Haversine distance gives approximate straight-line separation.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A876F6-BF78-4948-B012-8A23FB52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notebooks/03-interactive-maps.ipynb</a:t>
            </a: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d9930c139a94866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14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 with Plotly Dash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F7E39-8C0C-41C6-BF1F-DD86D61D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site dropdown switches between all launches and a selected facility.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all-sites pie chart shows each site’s contribution to successful outcomes. A selected-site pie shows its success ratio.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payload range slider filters the outcome scatter plot. Color identifies booster block.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Hover details reveal launch date, flight number and outcome. The dashboard uses the same 90-row sample as the EDA.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EF4C7F-2F35-4613-91E6-4DAE1272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spacex_dashboard.py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</p:sld>
</file>

<file path=ppt/slides/slide1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700cbc6122e4c12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15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Predictive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98578-FC50-4CDA-B8D2-5E148006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83 input features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StandardScaler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1678C-9269-4007-97DF-41EC4BF2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8DBD50-BB23-4ACA-B363-DD8D303A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80/20 split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72 train, 18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C979AC-C125-4FC2-B1D1-C9FC706D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C9CE9-57B3-4503-95D2-DFCE2D868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GridSearchCV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10 folds,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9E663-56EA-4AC6-8531-7E0D3284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E488EC-720E-4FA1-B780-4E80F97B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Four classifiers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Score and compare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9796CB-1EC7-481A-B01D-631BC294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Logistic regression, SVM, decision tree and KNN use the saved lab configuration. random_state=2 fixes the train/test split.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The lab scales all 90 rows before splitting. Future evaluation should fit preprocessing inside each training fold and use a chronological holdout.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DA1E4-B922-430A-A3D2-B3C39352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https://github.com/nicholas-yap/spacex-data-science-capstone/blob/main/</a:t>
            </a:r>
          </a:p>
          <a:p xmlns:a="http://schemas.openxmlformats.org/drawingml/2006/main">
            <a:pPr>
              <a:defRPr sz="1425">
                <a:solidFill>
                  <a:srgbClr val="292929"/>
                </a:solidFill>
              </a:defRPr>
            </a:pPr>
            <a:r>
              <a:rPr sz="1425">
                <a:solidFill>
                  <a:srgbClr val="292929"/>
                </a:solidFill>
              </a:rPr>
              <a:t>notebooks/SpaceX-Machine-Learning-Prediction-Part-5-v1.ipynb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</p:sld>
</file>

<file path=ppt/slides/slide1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cdffaa9f28b4f1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16</a:t>
            </a:fld>
            <a:endParaRPr/>
          </a:p>
        </p:txBody>
      </p:sp>
      <p:sp>
        <p:nvSpPr>
          <p:cNvPr id="7" name="Title 1">
            <a:extLst xmlns:a="http://schemas.openxmlformats.org/drawingml/2006/main"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Results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6A1D94-B0C0-46F3-9B19-95FE6ECF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EDA: outcome rates differ across sites, orbit groups and launch years.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SQL: 101 missions include 100 mission successes and one failure. NASA (CRS) payload totals 45,596 kg.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Interactive views: coastal launch sites and payload filters help inspect individual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Prediction: each model correctly classifies 15 of 18 test launches. The test scores do not establish a unique winner.</a:t>
            </a: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</p:sld>
</file>

<file path=ppt/slides/slide1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d8f2c35eda04a12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</p:sld>
</file>

<file path=ppt/slides/slide1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b81d343e59e43d4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18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Flight Number vs. Launch Site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874CA142-3AE3-4600-B4DD-9386E2F8EB01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1991b7b639448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DFA8C-E76A-45AF-A01B-407A7938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500">
                <a:solidFill>
                  <a:srgbClr val="0B49CB"/>
                </a:solidFill>
              </a:defRPr>
            </a:pPr>
            <a:r>
              <a:rPr sz="1500">
                <a:solidFill>
                  <a:srgbClr val="0B49CB"/>
                </a:solidFill>
              </a:rPr>
              <a:t>1: CCAFS SLC 40   2: KSC LC 39A   3: VAFB SLC 4E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385CA8-08FC-425C-BB3A-5012D4CB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Later launches show more Class 1 outcomes. Site and flight sequence overlap, so the plot cannot isolate a site effect.</a:t>
            </a:r>
          </a:p>
        </p:txBody>
      </p:sp>
    </p:spTree>
    <p:extLst>
      <p:ext uri="{BB962C8B-B14F-4D97-AF65-F5344CB8AC3E}">
        <p14:creationId xmlns:p14="http://schemas.microsoft.com/office/powerpoint/2010/main" val="3865605948"/>
      </p:ext>
    </p:extLst>
  </p:cSld>
</p:sld>
</file>

<file path=ppt/slides/slide1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c630e307021c420c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19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Payload vs. Launch Site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4732C6A4-AA79-433D-95B4-60E326BD1208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2ed1f8d3b84f9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BEC9DE-49D2-4702-AB74-04BDA603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500">
                <a:solidFill>
                  <a:srgbClr val="0B49CB"/>
                </a:solidFill>
              </a:defRPr>
            </a:pPr>
            <a:r>
              <a:rPr sz="1500">
                <a:solidFill>
                  <a:srgbClr val="0B49CB"/>
                </a:solidFill>
              </a:rPr>
              <a:t>1: CCAFS SLC 40   2: KSC LC 39A   3: VAFB SLC 4E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57C0A2-7266-4ACC-A73A-576A67A78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CCAFS SLC 40 covers the broadest history. Both outcome classes occur across payload ranges, and some payload values are mean-imputed.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</p:sld>
</file>

<file path=ppt/slides/slide2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0c23c186ce449d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20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Success Rate vs. Orbit Type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A59493C2-47FE-4B05-B1F2-9D5E30D772D9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23e1e334ca4e4f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14F56-28B6-42C0-8938-22781205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SSO records 5/5 successes. GEO, HEO and ES-L1 each have only one launch, so their 100% rates provide little evidence.</a:t>
            </a: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</p:sld>
</file>

<file path=ppt/slides/slide2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6730781d7e27468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21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Flight Number vs. Orbit Type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8C6424B3-B99D-406E-ABF5-5D152B71253B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495850bf7c4c16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EDF3A2-2593-43B4-99BF-DDBE863B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275">
                <a:solidFill>
                  <a:srgbClr val="0B49CB"/>
                </a:solidFill>
              </a:defRPr>
            </a:pPr>
            <a:r>
              <a:rPr sz="1275">
                <a:solidFill>
                  <a:srgbClr val="0B49CB"/>
                </a:solidFill>
              </a:rPr>
              <a:t>1: ES-L1   2: GEO   3: GTO   4: HEO   5: ISS   6: LEO   7: MEO   8: PO   9: SO   10: SSO   11: VLEO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1434FF-9984-4BB0-A565-77B58C8D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VLEO launches cluster late in the sample. Differences by orbit may partly reflect changes in booster technology and experience.</a:t>
            </a: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</p:sld>
</file>

<file path=ppt/slides/slide2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aadc30e4876a450f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22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Payload vs. Orbit Type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1D6E54A4-E6D3-449C-B2DE-B27930FC45BF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906609a3e848d3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6A66F-4860-4849-A94F-369F119D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275">
                <a:solidFill>
                  <a:srgbClr val="0B49CB"/>
                </a:solidFill>
              </a:defRPr>
            </a:pPr>
            <a:r>
              <a:rPr sz="1275">
                <a:solidFill>
                  <a:srgbClr val="0B49CB"/>
                </a:solidFill>
              </a:rPr>
              <a:t>1: ES-L1   2: GEO   3: GTO   4: HEO   5: ISS   6: LEO   7: MEO   8: PO   9: SO   10: SSO   11: VLEO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DD4559-5745-457B-963E-C1120D50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GTO has 14/27 Class 1 outcomes (51.9%). VLEO has 12/14 (85.7%). Payload alone does not explain the difference.</a:t>
            </a:r>
          </a:p>
        </p:txBody>
      </p:sp>
    </p:spTree>
    <p:extLst>
      <p:ext uri="{BB962C8B-B14F-4D97-AF65-F5344CB8AC3E}">
        <p14:creationId xmlns:p14="http://schemas.microsoft.com/office/powerpoint/2010/main" val="3145340593"/>
      </p:ext>
    </p:extLst>
  </p:cSld>
</p:sld>
</file>

<file path=ppt/slides/slide2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f15dd8a8eb24ea6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23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Yearly Outcome Trend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021CCF57-1A87-4F5A-875B-327148C11D05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e16aca3c7f4956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8C3AD8-C63B-4F7E-A0DB-6326C636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rate rises from 0% in early years to 84.2% in 2020, with a dip in 2018. The sample contains no 2011 launch.</a:t>
            </a:r>
          </a:p>
        </p:txBody>
      </p:sp>
    </p:spTree>
    <p:extLst>
      <p:ext uri="{BB962C8B-B14F-4D97-AF65-F5344CB8AC3E}">
        <p14:creationId xmlns:p14="http://schemas.microsoft.com/office/powerpoint/2010/main" val="706594483"/>
      </p:ext>
    </p:extLst>
  </p:cSld>
</p:sld>
</file>

<file path=ppt/slides/slide2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319c4395de54fba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24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All Launch Site Names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D507B-340F-498E-A845-BF8AAD413B08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0"/>
              </a:tblGrid>
              <a:tr h="5524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Launch site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SLC-40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KSC LC-39A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VAFB SLC-4E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6BF69-E73C-4B62-999D-334EBA3D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SQL source contains four labels. CCAFS LC-40 and CCAFS SLC-40 appear separately in this snapshot.</a:t>
            </a:r>
          </a:p>
        </p:txBody>
      </p:sp>
    </p:spTree>
    <p:extLst>
      <p:ext uri="{BB962C8B-B14F-4D97-AF65-F5344CB8AC3E}">
        <p14:creationId xmlns:p14="http://schemas.microsoft.com/office/powerpoint/2010/main" val="2727850971"/>
      </p:ext>
    </p:extLst>
  </p:cSld>
</p:sld>
</file>

<file path=ppt/slides/slide2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40ccbf01121421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25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Launch Sites Beginning with ‘CCA’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F5460-AE40-4EB0-B02E-164A1D254229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2619375"/>
                <a:gridCol w="2619375"/>
                <a:gridCol w="2619375"/>
              </a:tblGrid>
              <a:tr h="508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Date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 version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Payload (kg)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Site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2010-06-04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2010-12-08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2012-05-22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B0005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525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2012-10-08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2013-03-01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B0007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677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A3F316-39D4-4A89-89A2-80F22801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earliest five CCA records span June 2010 to March 2013. The query orders by date and UTC time before LIMIT 5.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</p:sld>
</file>

<file path=ppt/slides/slide2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03cbf8de9e245ab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26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Total NASA (CRS) Payload Mass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17761F-4502-4BED-AB89-FC29F2FF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54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5400">
                <a:solidFill>
                  <a:srgbClr val="0B49CB"/>
                </a:solidFill>
              </a:defRPr>
            </a:pPr>
            <a:r>
              <a:rPr sz="5400">
                <a:solidFill>
                  <a:srgbClr val="0B49CB"/>
                </a:solidFill>
              </a:rPr>
              <a:t>45,596 kg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5482C2-A488-4612-8FA5-A1FA1B86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SUM(PAYLOAD_MASS__KG_)</a:t>
            </a:r>
          </a:p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WHERE Customer = 'NASA (CRS)'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14B63B-550E-4DF1-8FFB-3D368450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This is the NASA Commercial Resupply Services subset. It does not include every customer label containing NASA.</a:t>
            </a: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</p:sld>
</file>

<file path=ppt/slides/slide2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6a741f7605b4be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27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Average Payload Mass for F9 v1.1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FCD98B-9D3D-4F79-B153-075218D9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54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5400">
                <a:solidFill>
                  <a:srgbClr val="0B49CB"/>
                </a:solidFill>
              </a:defRPr>
            </a:pPr>
            <a:r>
              <a:rPr sz="5400">
                <a:solidFill>
                  <a:srgbClr val="0B49CB"/>
                </a:solidFill>
              </a:rPr>
              <a:t>2,928.4 kg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6B16D-0647-44A9-B47A-C9A019F8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AVG(PAYLOAD_MASS__KG_)</a:t>
            </a:r>
          </a:p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WHERE Booster_Version = 'F9 v1.1'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1329C4-E295-4D10-B2AA-8EA987CE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exact version label matches five rows. Including every label beginning with F9 v1.1 would answer a different query.</a:t>
            </a: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</p:sld>
</file>

<file path=ppt/slides/slide2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b747900cfad473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28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First Successful Ground Landing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8ED83-406B-49F7-A6AD-3F20A385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8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4875">
                <a:solidFill>
                  <a:srgbClr val="0B49CB"/>
                </a:solidFill>
              </a:defRPr>
            </a:pPr>
            <a:r>
              <a:rPr sz="4875">
                <a:solidFill>
                  <a:srgbClr val="0B49CB"/>
                </a:solidFill>
              </a:rPr>
              <a:t>22 December 2015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14660D-32D5-47EA-8F8D-F9A81CA0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MIN(Date)</a:t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WHERE TRIM(Landing_Outcome) = 'Success (ground pad)'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48097-7EE3-43A8-8768-AB279057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This is the earliest successful ground-pad landing recorded in the SQL snapshot.</a:t>
            </a: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</p:sld>
</file>

<file path=ppt/slides/slide2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84e6dec90e845e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29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Drone Ship Landings at 4,000–6,000 kg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EC765E-D5E6-40E5-A439-C9B360DCA355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0"/>
              </a:tblGrid>
              <a:tr h="5524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 version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 B1021.2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 B1031.2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B1022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B1026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36CE1-FA12-4321-9DAD-7A29ADC2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Four boosters meet both conditions: successful drone ship landing and payload strictly above 4,000 kg and below 6,000 kg.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</p:sld>
</file>

<file path=ppt/slides/slide3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7f0cda6fd8a740a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30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Mission Outcomes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198E10-51B1-45DC-A5F8-862DA3E55A22}"/>
              </a:ext>
            </a:extLst>
          </p:cNvPr>
          <p:cNvGraphicFramePr/>
          <p:nvPr/>
        </p:nvGraphicFramePr>
        <p:xfrm>
          <a:off xmlns:a="http://schemas.openxmlformats.org/drawingml/2006/main" x="857250" y="1905000"/>
          <a:ext xmlns:a="http://schemas.openxmlformats.org/drawingml/2006/main" cx="104775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0"/>
                <a:gridCol w="2857500"/>
              </a:tblGrid>
              <a:tr h="603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Mission result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Missions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Success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AFD4D4-5F06-439C-89BD-DE5717DA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100/101 missions count as successful. “Success (payload status unclear)” is included. Mission results differ from landing outcomes.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</p:sld>
</file>

<file path=ppt/slides/slide3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285077c1f5b0442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31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Boosters Carrying the Maximum Payload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1A9B4-22E1-4CA9-A752-970083C329BE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1905000"/>
                <a:gridCol w="3333750"/>
                <a:gridCol w="1905000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Payload (kg)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Payload (kg)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B1048.4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B1051.4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B1048.5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B1051.6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B1049.4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B1056.4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B1049.5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B1058.3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B1049.7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B1060.2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B1051.3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B1060.3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6AD6A5-497B-4FC3-ADCE-59782C73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Twelve booster-flight labels share the maximum payload of 15,600 kg in this snapshot.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</p:sld>
</file>

<file path=ppt/slides/slide3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5e66ce7f3be4517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32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Drone Ship Landing Failures in 2015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9C1AB-6B7A-4073-B3A6-C6DBD20F2388}"/>
              </a:ext>
            </a:extLst>
          </p:cNvPr>
          <p:cNvGraphicFramePr/>
          <p:nvPr/>
        </p:nvGraphicFramePr>
        <p:xfrm>
          <a:off xmlns:a="http://schemas.openxmlformats.org/drawingml/2006/main" x="857250" y="1952625"/>
          <a:ext xmlns:a="http://schemas.openxmlformats.org/drawingml/2006/main" cx="10477500" cy="2000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3143250"/>
                <a:gridCol w="2857500"/>
                <a:gridCol w="2952750"/>
              </a:tblGrid>
              <a:tr h="666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Month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Landing outcome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Site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January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(drone ship)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v1.1 B1012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April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(drone ship)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v1.1 B1015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E8880-3FF3-498A-894A-4FEACA34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Two 2015 records show failed drone ship landings: January (B1012) and April (B1015), both at CCAFS LC-40.</a:t>
            </a:r>
          </a:p>
        </p:txBody>
      </p:sp>
    </p:spTree>
    <p:extLst>
      <p:ext uri="{BB962C8B-B14F-4D97-AF65-F5344CB8AC3E}">
        <p14:creationId xmlns:p14="http://schemas.microsoft.com/office/powerpoint/2010/main" val="1398439132"/>
      </p:ext>
    </p:extLst>
  </p:cSld>
</p:sld>
</file>

<file path=ppt/slides/slide3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7ea0edd8514406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33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Landing Outcome Ranking, 2010–2017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B4EC15-3CA9-4FDC-B908-D1CC44D8D1C8}"/>
              </a:ext>
            </a:extLst>
          </p:cNvPr>
          <p:cNvGraphicFramePr/>
          <p:nvPr/>
        </p:nvGraphicFramePr>
        <p:xfrm>
          <a:off xmlns:a="http://schemas.openxmlformats.org/drawingml/2006/main" x="857250" y="1666875"/>
          <a:ext xmlns:a="http://schemas.openxmlformats.org/drawingml/2006/main" cx="1047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096250"/>
                <a:gridCol w="2381250"/>
              </a:tblGrid>
              <a:tr h="386292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Landing outcome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No attempt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(drone ship)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Success (drone ship)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Controlled (ocean)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Success (ground pad)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(parachute)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Uncontrolled (ocean)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Precluded (drone ship)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AF88B5-6AAA-475B-B08D-6C15CF46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Inclusive period: 4 June 2010 to 20 March 2017. No attempt is most frequent (10). Drone ship successes and failures tie at five.</a:t>
            </a: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</p:sld>
</file>

<file path=ppt/slides/slide3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bcdf27d2f344bc7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3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</p:sld>
</file>

<file path=ppt/slides/slide3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645a02c9125d425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35</a:t>
            </a:fld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Launch Sites on the US Coasts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FF7B5C-50D4-4129-97A5-6A52AAD858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92568fa2940a1"/>
          <a:stretch xmlns:a="http://schemas.openxmlformats.org/drawingml/2006/main"/>
        </p:blipFill>
        <p:spPr>
          <a:xfrm xmlns:a="http://schemas.openxmlformats.org/drawingml/2006/main">
            <a:off x="1325563" y="1524000"/>
            <a:ext cx="7112000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FF096D-6A8D-4AFF-91EB-1AF722B7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52625"/>
            <a:ext cx="2190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Florida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CCAFS SLC 40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KSC LC 39A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California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VAFB SLC 4E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8C76F-1A62-4CD6-B30E-973E8FFA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All three facilities are coastal. The two Florida pads lie close together. Location alone does not explain landing performance.</a:t>
            </a: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</p:sld>
</file>

<file path=ppt/slides/slide3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027fafaf0a6419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36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Launch Outcomes at CCAFS SLC 40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8B1A3B-67B6-48A7-A429-0C69CFA35F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6600ae4f68454f"/>
          <a:stretch xmlns:a="http://schemas.openxmlformats.org/drawingml/2006/main"/>
        </p:blipFill>
        <p:spPr>
          <a:xfrm xmlns:a="http://schemas.openxmlformats.org/drawingml/2006/main">
            <a:off x="1325563" y="1524000"/>
            <a:ext cx="7112000" cy="4000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9AF8FA-4307-4B5C-BA1F-6E76495A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05000"/>
            <a:ext cx="2190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55 launches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33 Class 1</a:t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22 Class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60.0%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5E9C96-0467-418F-9833-27864F50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Expanded markers separate overlapping records around the same launch site. Their displayed offsets are not actual launch locations.</a:t>
            </a:r>
          </a:p>
        </p:txBody>
      </p:sp>
    </p:spTree>
    <p:extLst>
      <p:ext uri="{BB962C8B-B14F-4D97-AF65-F5344CB8AC3E}">
        <p14:creationId xmlns:p14="http://schemas.microsoft.com/office/powerpoint/2010/main" val="239597884"/>
      </p:ext>
    </p:extLst>
  </p:cSld>
</p:sld>
</file>

<file path=ppt/slides/slide3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f43c3f37d0a4a8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37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CCAFS SLC 40 and Nearby Features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8C3D32-8234-43CB-81B7-5416DF8232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5cde6dcfcb4eec"/>
          <a:stretch xmlns:a="http://schemas.openxmlformats.org/drawingml/2006/main"/>
        </p:blipFill>
        <p:spPr>
          <a:xfrm xmlns:a="http://schemas.openxmlformats.org/drawingml/2006/main">
            <a:off x="1325563" y="1524000"/>
            <a:ext cx="7112000" cy="4000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D9052-F0CE-4C07-A7F3-8D7CD701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05000"/>
            <a:ext cx="2190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Selected points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Coast: 0.97 km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Road: 0.56 km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Rail: 1.38 km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6D184-28FE-4C16-9DFB-5A50B7833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Approximate straight-line distances to selected map points. These are not surveyed minimum distances or safety clearances.</a:t>
            </a:r>
          </a:p>
        </p:txBody>
      </p:sp>
    </p:spTree>
    <p:extLst>
      <p:ext uri="{BB962C8B-B14F-4D97-AF65-F5344CB8AC3E}">
        <p14:creationId xmlns:p14="http://schemas.microsoft.com/office/powerpoint/2010/main" val="232499080"/>
      </p:ext>
    </p:extLst>
  </p:cSld>
</p:sld>
</file>

<file path=ppt/slides/slide3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8181c239e604589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4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</p:sld>
</file>

<file path=ppt/slides/slide3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de065889602423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39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Dashboard: Successful Outcomes by Site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517418-3EC9-404F-9D47-BCE928C7C1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fa56179ed34d31"/>
          <a:srcRect xmlns:a="http://schemas.openxmlformats.org/drawingml/2006/main" l="5500" t="6000" r="5500" b="45500"/>
          <a:stretch xmlns:a="http://schemas.openxmlformats.org/drawingml/2006/main"/>
        </p:blipFill>
        <p:spPr>
          <a:xfrm xmlns:a="http://schemas.openxmlformats.org/drawingml/2006/main">
            <a:off x="809625" y="1476375"/>
            <a:ext cx="7810500" cy="4095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D8E7D-3A6A-4D83-AF5F-7E62A5F3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571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60 successes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CCAFS: 33</a:t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KSC: 17</a:t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VAFB: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CCAFS contributes 55% of successes.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442961-B05F-48D5-9C4E-DEB9E676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022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pie compares successful-outcome counts. A larger slice does not imply a higher success rate.</a:t>
            </a:r>
          </a:p>
        </p:txBody>
      </p:sp>
    </p:spTree>
    <p:extLst>
      <p:ext uri="{BB962C8B-B14F-4D97-AF65-F5344CB8AC3E}">
        <p14:creationId xmlns:p14="http://schemas.microsoft.com/office/powerpoint/2010/main" val="700132931"/>
      </p:ext>
    </p:extLst>
  </p:cSld>
</p:sld>
</file>

<file path=ppt/slides/slide4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6b133e7c0e6482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40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Dashboard: Highest Observed Site Rate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8A568F-6D97-4D5E-988E-3E95114DF8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90a1745ac4150"/>
          <a:srcRect xmlns:a="http://schemas.openxmlformats.org/drawingml/2006/main" l="5500" t="6000" r="5500" b="45500"/>
          <a:stretch xmlns:a="http://schemas.openxmlformats.org/drawingml/2006/main"/>
        </p:blipFill>
        <p:spPr>
          <a:xfrm xmlns:a="http://schemas.openxmlformats.org/drawingml/2006/main">
            <a:off x="809625" y="1476375"/>
            <a:ext cx="7810500" cy="4095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34A9E9-E634-4430-B9CE-47225716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571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KSC LC 39A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17 successes</a:t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5 class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77.3% success</a:t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22 launches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8C43E4-1899-4CE7-934A-C4914EB9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022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KSC narrowly exceeds VAFB’s 76.9% (10/13). These small samples do not establish a reliable ranking of site quality.</a:t>
            </a:r>
          </a:p>
        </p:txBody>
      </p:sp>
    </p:spTree>
    <p:extLst>
      <p:ext uri="{BB962C8B-B14F-4D97-AF65-F5344CB8AC3E}">
        <p14:creationId xmlns:p14="http://schemas.microsoft.com/office/powerpoint/2010/main" val="1866160706"/>
      </p:ext>
    </p:extLst>
  </p:cSld>
</p:sld>
</file>

<file path=ppt/slides/slide4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69d94324cf2450a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41</a:t>
            </a:fld>
            <a:endParaRPr/>
          </a:p>
        </p:txBody>
      </p:sp>
      <p:sp>
        <p:nvSpPr>
          <p:cNvPr id="12" name="Title 1">
            <a:extLst xmlns:a="http://schemas.openxmlformats.org/drawingml/2006/main"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Dashboard: Payload Range Filters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A4AE6B-41ED-4306-98E7-DF00A89F694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3a8f9c7d846c5"/>
          <a:srcRect xmlns:a="http://schemas.openxmlformats.org/drawingml/2006/main" l="5500" t="54500" r="5500" b="4500"/>
          <a:stretch xmlns:a="http://schemas.openxmlformats.org/drawingml/2006/main"/>
        </p:blipFill>
        <p:spPr>
          <a:xfrm xmlns:a="http://schemas.openxmlformats.org/drawingml/2006/main">
            <a:off x="809625" y="1571625"/>
            <a:ext cx="5238750" cy="3476625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432288-6344-42EB-A805-E6D4A5109A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7bcceebd3d42a1"/>
          <a:srcRect xmlns:a="http://schemas.openxmlformats.org/drawingml/2006/main" l="5500" t="54500" r="5500" b="4500"/>
          <a:stretch xmlns:a="http://schemas.openxmlformats.org/drawingml/2006/main"/>
        </p:blipFill>
        <p:spPr>
          <a:xfrm xmlns:a="http://schemas.openxmlformats.org/drawingml/2006/main">
            <a:off x="6191250" y="1571625"/>
            <a:ext cx="5238750" cy="3476625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DD8E92-4E3F-4E21-9FE1-D28F628D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67325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Two slider selections isolate different payload bands. Booster block and flight date also vary, so a payload association is not a causal effect.</a:t>
            </a:r>
          </a:p>
        </p:txBody>
      </p:sp>
    </p:spTree>
    <p:extLst>
      <p:ext uri="{BB962C8B-B14F-4D97-AF65-F5344CB8AC3E}">
        <p14:creationId xmlns:p14="http://schemas.microsoft.com/office/powerpoint/2010/main" val="252359608"/>
      </p:ext>
    </p:extLst>
  </p:cSld>
</p:sld>
</file>

<file path=ppt/slides/slide4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116475a7bce46d3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5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</p:sld>
</file>

<file path=ppt/slides/slide4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7c8047591ec4fe4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43</a:t>
            </a:fld>
            <a:endParaRPr/>
          </a:p>
        </p:txBody>
      </p:sp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Classification Accuracy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411496B8-3973-4EEB-BF28-9FDA4F6A119C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0881690cbd45b1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8DDBCD-FB4A-42F5-ABB7-E719071D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All models tie at 83.33% on the test set. The decision tree leads CV at 87.68%. The always-Class-1 test baseline is 66.67%.</a:t>
            </a:r>
          </a:p>
        </p:txBody>
      </p:sp>
    </p:spTree>
    <p:extLst>
      <p:ext uri="{BB962C8B-B14F-4D97-AF65-F5344CB8AC3E}">
        <p14:creationId xmlns:p14="http://schemas.microsoft.com/office/powerpoint/2010/main" val="2459446073"/>
      </p:ext>
    </p:extLst>
  </p:cSld>
</p:sld>
</file>

<file path=ppt/slides/slide4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6a6aa04037dc4867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44</a:t>
            </a:fld>
            <a:endParaRPr/>
          </a:p>
        </p:txBody>
      </p:sp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Decision Tree Confusion Matrix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4B742-4129-4A90-862B-0A88C7605743}"/>
              </a:ext>
            </a:extLst>
          </p:cNvPr>
          <p:cNvGraphicFramePr/>
          <p:nvPr/>
        </p:nvGraphicFramePr>
        <p:xfrm>
          <a:off xmlns:a="http://schemas.openxmlformats.org/drawingml/2006/main" x="857250" y="1905000"/>
          <a:ext xmlns:a="http://schemas.openxmlformats.org/drawingml/2006/main" cx="10477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43500"/>
                <a:gridCol w="2667000"/>
                <a:gridCol w="2667000"/>
              </a:tblGrid>
              <a:tr h="762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Actual / Predicted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Class 0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Class 1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Class 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Class 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FB0AEE-0FF4-497E-AF83-927A18D1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43425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15/18 correct (83.33%)</a:t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Class 1 precision: 12/15 = 80%</a:t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Class 1 recall: 12/12 = 100%</a:t>
            </a:r>
          </a:p>
        </p:txBody>
      </p:sp>
    </p:spTree>
    <p:extLst>
      <p:ext uri="{BB962C8B-B14F-4D97-AF65-F5344CB8AC3E}">
        <p14:creationId xmlns:p14="http://schemas.microsoft.com/office/powerpoint/2010/main" val="3645034231"/>
      </p:ext>
    </p:extLst>
  </p:cSld>
</p:sld>
</file>

<file path=ppt/slides/slide4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646d291ae8d74d0c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45</a:t>
            </a:fld>
            <a:endParaRPr/>
          </a:p>
        </p:txBody>
      </p:sp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Conclusions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CC771D-9E3D-4CC8-BDD0-FB8DAA50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Successful first-stage outcomes become more common over the study period, but progress is uneven across years.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KSC has the highest observed site rate. CCAFS contributes the most successes. Orbit and payload patterns depend on mission mix.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Four classifiers tie on the small test set. The tree’s CV lead does not establish better future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Next evaluation: fit preprocessing within training folds, remove features unavailable before launch, and use a later time period for testing.</a:t>
            </a: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</p:sld>
</file>

<file path=ppt/slides/slide4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66edb8d24a14208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46</a:t>
            </a:fld>
            <a:endParaRPr/>
          </a:p>
        </p:txBody>
      </p:sp>
      <p:sp>
        <p:nvSpPr>
          <p:cNvPr id="11" name="Title 1">
            <a:extLst xmlns:a="http://schemas.openxmlformats.org/drawingml/2006/main"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Appendix and Reproducible Sources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0CC333-5992-4492-A8F8-B10D9EE6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2400">
                <a:solidFill>
                  <a:srgbClr val="0B49CB"/>
                </a:solidFill>
              </a:defRPr>
            </a:pPr>
            <a:r>
              <a:rPr sz="2400">
                <a:solidFill>
                  <a:srgbClr val="0B49CB"/>
                </a:solidFill>
              </a:rPr>
              <a:t>Public repository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490BB7-D324-4BC5-BF89-BDBA1E27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0B49CB"/>
                </a:solidFill>
              </a:defRPr>
            </a:pPr>
            <a:r>
              <a:rPr sz="1875">
                <a:solidFill>
                  <a:srgbClr val="0B49CB"/>
                </a:solidFill>
              </a:rPr>
              <a:t>https://github.com/nicholas-yap/spacex-data-science-capstone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1C2ADB-28B6-448C-8D3C-EF7F5C1D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04775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notebooks/    Collection, scraping, wrangling, EDA, SQL, maps and classification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data/             Historical course snapshots and scraped records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maps/           Interactive HTML maps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spacex_dashboard.py    Runnable dashboard on port 8051</a:t>
            </a: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</p:sld>
</file>

<file path=ppt/slides/slide4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1a46c8c6a744194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FF5DA4-EC41-4270-8661-49BB375C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67375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FFFFFF"/>
                </a:solidFill>
              </a:defRPr>
            </a:pPr>
            <a:r>
              <a:rPr sz="2200">
                <a:solidFill>
                  <a:srgbClr val="FFFFFF"/>
                </a:solidFill>
              </a:rPr>
              <a:t>Nicholas Yap</a:t>
            </a:r>
          </a:p>
        </p:txBody>
      </p:sp>
    </p:spTree>
    <p:extLst>
      <p:ext uri="{BB962C8B-B14F-4D97-AF65-F5344CB8AC3E}">
        <p14:creationId xmlns:p14="http://schemas.microsoft.com/office/powerpoint/2010/main" val="661040741"/>
      </p:ext>
    </p:extLst>
  </p:cSld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2026-10-13T06:20:49.4480000Z</dcterms:created>
  <dcterms:modified xsi:type="dcterms:W3CDTF">2026-10-13T06:20:49.4480000Z</dcterms:modified>
</coreProperties>
</file>