
<file path=[Content_Types].xml><?xml version="1.0" encoding="utf-8"?>
<Types xmlns="http://schemas.openxmlformats.org/package/2006/content-types">
  <Default Extension="xml" ContentType="application/vnd.openxmlformats-package.core-properties+xml"/>
  <Default Extension="jpeg" ContentType="image/jpeg"/>
  <Default Extension="png" ContentType="image/png"/>
  <Default Extension="rels" ContentType="application/vnd.openxmlformats-package.relationships+xml"/>
  <Override PartName="/docProps/app.xml" ContentType="application/vnd.openxmlformats-officedocument.extended-properties+xml"/>
  <Override PartName="/ppt/presentation.xml" ContentType="application/vnd.openxmlformats-officedocument.presentationml.presentation.main+xml"/>
  <Override PartName="/ppt/theme/theme1.xml" ContentType="application/vnd.openxmlformats-officedocument.theme+xml"/>
  <Override PartName="/ppt/slideMasters/slideMaster1.xml" ContentType="application/vnd.openxmlformats-officedocument.presentationml.slideMaster+xml"/>
  <Override PartName="/ppt/slideMasters/theme/theme2.xml" ContentType="application/vnd.openxmlformats-officedocument.theme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notesMasters/notesMaster1.xml" ContentType="application/vnd.openxmlformats-officedocument.presentationml.notesMaster+xml"/>
  <Override PartName="/ppt/notesMasters/theme/theme3.xml" ContentType="application/vnd.openxmlformats-officedocument.them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ableStyles.xml" ContentType="application/vnd.openxmlformats-officedocument.presentationml.tableStyles+xml"/>
  <Override PartName="/ppt/slides/slide1.xml" ContentType="application/vnd.openxmlformats-officedocument.presentationml.slide+xml"/>
  <Override PartName="/ppt/notesSlides/notesSlide1.xml" ContentType="application/vnd.openxmlformats-officedocument.presentationml.notesSlide+xml"/>
  <Override PartName="/ppt/slides/slide2.xml" ContentType="application/vnd.openxmlformats-officedocument.presentationml.slide+xml"/>
  <Override PartName="/ppt/notesSlides/notesSlide2.xml" ContentType="application/vnd.openxmlformats-officedocument.presentationml.notesSlide+xml"/>
  <Override PartName="/ppt/slides/slide3.xml" ContentType="application/vnd.openxmlformats-officedocument.presentationml.slide+xml"/>
  <Override PartName="/ppt/notesSlides/notesSlide3.xml" ContentType="application/vnd.openxmlformats-officedocument.presentationml.notesSlide+xml"/>
  <Override PartName="/ppt/slides/slide4.xml" ContentType="application/vnd.openxmlformats-officedocument.presentationml.slide+xml"/>
  <Override PartName="/ppt/slides/charts/chart1.xml" ContentType="application/vnd.openxmlformats-officedocument.drawingml.chart+xml"/>
  <Override PartName="/ppt/notesSlides/notesSlide4.xml" ContentType="application/vnd.openxmlformats-officedocument.presentationml.notesSlide+xml"/>
  <Override PartName="/ppt/slides/slide5.xml" ContentType="application/vnd.openxmlformats-officedocument.presentationml.slide+xml"/>
  <Override PartName="/ppt/notesSlides/notesSlide5.xml" ContentType="application/vnd.openxmlformats-officedocument.presentationml.notesSlide+xml"/>
  <Override PartName="/ppt/slides/slide6.xml" ContentType="application/vnd.openxmlformats-officedocument.presentationml.slide+xml"/>
  <Override PartName="/ppt/notesSlides/notesSlide6.xml" ContentType="application/vnd.openxmlformats-officedocument.presentationml.notesSlide+xml"/>
  <Override PartName="/ppt/slides/slide7.xml" ContentType="application/vnd.openxmlformats-officedocument.presentationml.slide+xml"/>
  <Override PartName="/ppt/notesSlides/notesSlide7.xml" ContentType="application/vnd.openxmlformats-officedocument.presentationml.notesSlide+xml"/>
  <Override PartName="/ppt/slides/slide8.xml" ContentType="application/vnd.openxmlformats-officedocument.presentationml.slide+xml"/>
  <Override PartName="/ppt/notesSlides/notesSlide8.xml" ContentType="application/vnd.openxmlformats-officedocument.presentationml.notesSlide+xml"/>
  <Override PartName="/ppt/slides/slide9.xml" ContentType="application/vnd.openxmlformats-officedocument.presentationml.slide+xml"/>
  <Override PartName="/ppt/notesSlides/notesSlide9.xml" ContentType="application/vnd.openxmlformats-officedocument.presentationml.notesSlide+xml"/>
  <Override PartName="/ppt/slides/slide10.xml" ContentType="application/vnd.openxmlformats-officedocument.presentationml.slide+xml"/>
  <Override PartName="/ppt/notesSlides/notesSlide10.xml" ContentType="application/vnd.openxmlformats-officedocument.presentationml.notesSlide+xml"/>
  <Override PartName="/ppt/slides/slide11.xml" ContentType="application/vnd.openxmlformats-officedocument.presentationml.slide+xml"/>
  <Override PartName="/ppt/notesSlides/notesSlide11.xml" ContentType="application/vnd.openxmlformats-officedocument.presentationml.notesSlide+xml"/>
  <Override PartName="/ppt/slides/slide12.xml" ContentType="application/vnd.openxmlformats-officedocument.presentationml.slide+xml"/>
  <Override PartName="/ppt/notesSlides/notesSlide12.xml" ContentType="application/vnd.openxmlformats-officedocument.presentationml.notesSlide+xml"/>
  <Override PartName="/ppt/slides/slide13.xml" ContentType="application/vnd.openxmlformats-officedocument.presentationml.slide+xml"/>
  <Override PartName="/ppt/notesSlides/notesSlide13.xml" ContentType="application/vnd.openxmlformats-officedocument.presentationml.notesSlide+xml"/>
  <Override PartName="/ppt/slides/slide14.xml" ContentType="application/vnd.openxmlformats-officedocument.presentationml.slide+xml"/>
  <Override PartName="/ppt/notesSlides/notesSlide14.xml" ContentType="application/vnd.openxmlformats-officedocument.presentationml.notesSlide+xml"/>
  <Override PartName="/ppt/slides/slide15.xml" ContentType="application/vnd.openxmlformats-officedocument.presentationml.slide+xml"/>
  <Override PartName="/ppt/notesSlides/notesSlide15.xml" ContentType="application/vnd.openxmlformats-officedocument.presentationml.notesSlide+xml"/>
  <Override PartName="/ppt/slides/slide16.xml" ContentType="application/vnd.openxmlformats-officedocument.presentationml.slide+xml"/>
  <Override PartName="/ppt/notesSlides/notesSlide16.xml" ContentType="application/vnd.openxmlformats-officedocument.presentationml.notesSlide+xml"/>
  <Override PartName="/ppt/slides/slide17.xml" ContentType="application/vnd.openxmlformats-officedocument.presentationml.slide+xml"/>
  <Override PartName="/ppt/notesSlides/notesSlide17.xml" ContentType="application/vnd.openxmlformats-officedocument.presentationml.notesSlide+xml"/>
  <Override PartName="/ppt/slides/slide18.xml" ContentType="application/vnd.openxmlformats-officedocument.presentationml.slide+xml"/>
  <Override PartName="/ppt/slides/charts/chart2.xml" ContentType="application/vnd.openxmlformats-officedocument.drawingml.chart+xml"/>
  <Override PartName="/ppt/notesSlides/notesSlide18.xml" ContentType="application/vnd.openxmlformats-officedocument.presentationml.notesSlide+xml"/>
  <Override PartName="/ppt/slides/slide19.xml" ContentType="application/vnd.openxmlformats-officedocument.presentationml.slide+xml"/>
  <Override PartName="/ppt/slides/charts/chart3.xml" ContentType="application/vnd.openxmlformats-officedocument.drawingml.chart+xml"/>
  <Override PartName="/ppt/notesSlides/notesSlide19.xml" ContentType="application/vnd.openxmlformats-officedocument.presentationml.notesSlide+xml"/>
  <Override PartName="/ppt/slides/slide20.xml" ContentType="application/vnd.openxmlformats-officedocument.presentationml.slide+xml"/>
  <Override PartName="/ppt/slides/charts/chart4.xml" ContentType="application/vnd.openxmlformats-officedocument.drawingml.chart+xml"/>
  <Override PartName="/ppt/notesSlides/notesSlide20.xml" ContentType="application/vnd.openxmlformats-officedocument.presentationml.notesSlide+xml"/>
  <Override PartName="/ppt/slides/slide21.xml" ContentType="application/vnd.openxmlformats-officedocument.presentationml.slide+xml"/>
  <Override PartName="/ppt/slides/charts/chart5.xml" ContentType="application/vnd.openxmlformats-officedocument.drawingml.chart+xml"/>
  <Override PartName="/ppt/notesSlides/notesSlide21.xml" ContentType="application/vnd.openxmlformats-officedocument.presentationml.notesSlide+xml"/>
  <Override PartName="/ppt/slides/slide22.xml" ContentType="application/vnd.openxmlformats-officedocument.presentationml.slide+xml"/>
  <Override PartName="/ppt/slides/charts/chart6.xml" ContentType="application/vnd.openxmlformats-officedocument.drawingml.chart+xml"/>
  <Override PartName="/ppt/notesSlides/notesSlide22.xml" ContentType="application/vnd.openxmlformats-officedocument.presentationml.notesSlide+xml"/>
  <Override PartName="/ppt/slides/slide23.xml" ContentType="application/vnd.openxmlformats-officedocument.presentationml.slide+xml"/>
  <Override PartName="/ppt/slides/charts/chart7.xml" ContentType="application/vnd.openxmlformats-officedocument.drawingml.chart+xml"/>
  <Override PartName="/ppt/notesSlides/notesSlide23.xml" ContentType="application/vnd.openxmlformats-officedocument.presentationml.notesSlide+xml"/>
  <Override PartName="/ppt/slides/slide24.xml" ContentType="application/vnd.openxmlformats-officedocument.presentationml.slide+xml"/>
  <Override PartName="/ppt/notesSlides/notesSlide24.xml" ContentType="application/vnd.openxmlformats-officedocument.presentationml.notesSlide+xml"/>
  <Override PartName="/ppt/slides/slide25.xml" ContentType="application/vnd.openxmlformats-officedocument.presentationml.slide+xml"/>
  <Override PartName="/ppt/notesSlides/notesSlide25.xml" ContentType="application/vnd.openxmlformats-officedocument.presentationml.notesSlide+xml"/>
  <Override PartName="/ppt/slides/slide26.xml" ContentType="application/vnd.openxmlformats-officedocument.presentationml.slide+xml"/>
  <Override PartName="/ppt/notesSlides/notesSlide26.xml" ContentType="application/vnd.openxmlformats-officedocument.presentationml.notesSlide+xml"/>
  <Override PartName="/ppt/slides/slide27.xml" ContentType="application/vnd.openxmlformats-officedocument.presentationml.slide+xml"/>
  <Override PartName="/ppt/notesSlides/notesSlide27.xml" ContentType="application/vnd.openxmlformats-officedocument.presentationml.notesSlide+xml"/>
  <Override PartName="/ppt/slides/slide28.xml" ContentType="application/vnd.openxmlformats-officedocument.presentationml.slide+xml"/>
  <Override PartName="/ppt/notesSlides/notesSlide28.xml" ContentType="application/vnd.openxmlformats-officedocument.presentationml.notesSlide+xml"/>
  <Override PartName="/ppt/slides/slide29.xml" ContentType="application/vnd.openxmlformats-officedocument.presentationml.slide+xml"/>
  <Override PartName="/ppt/notesSlides/notesSlide29.xml" ContentType="application/vnd.openxmlformats-officedocument.presentationml.notesSlide+xml"/>
  <Override PartName="/ppt/slides/slide30.xml" ContentType="application/vnd.openxmlformats-officedocument.presentationml.slide+xml"/>
  <Override PartName="/ppt/notesSlides/notesSlide30.xml" ContentType="application/vnd.openxmlformats-officedocument.presentationml.notesSlide+xml"/>
  <Override PartName="/ppt/slides/slide31.xml" ContentType="application/vnd.openxmlformats-officedocument.presentationml.slide+xml"/>
  <Override PartName="/ppt/notesSlides/notesSlide31.xml" ContentType="application/vnd.openxmlformats-officedocument.presentationml.notesSlide+xml"/>
  <Override PartName="/ppt/slides/slide32.xml" ContentType="application/vnd.openxmlformats-officedocument.presentationml.slide+xml"/>
  <Override PartName="/ppt/notesSlides/notesSlide32.xml" ContentType="application/vnd.openxmlformats-officedocument.presentationml.notesSlide+xml"/>
  <Override PartName="/ppt/slides/slide33.xml" ContentType="application/vnd.openxmlformats-officedocument.presentationml.slide+xml"/>
  <Override PartName="/ppt/notesSlides/notesSlide33.xml" ContentType="application/vnd.openxmlformats-officedocument.presentationml.notesSlide+xml"/>
  <Override PartName="/ppt/slides/slide34.xml" ContentType="application/vnd.openxmlformats-officedocument.presentationml.slide+xml"/>
  <Override PartName="/ppt/notesSlides/notesSlide34.xml" ContentType="application/vnd.openxmlformats-officedocument.presentationml.notesSlide+xml"/>
  <Override PartName="/ppt/slides/slide35.xml" ContentType="application/vnd.openxmlformats-officedocument.presentationml.slide+xml"/>
  <Override PartName="/ppt/notesSlides/notesSlide35.xml" ContentType="application/vnd.openxmlformats-officedocument.presentationml.notesSlide+xml"/>
  <Override PartName="/ppt/slides/slide36.xml" ContentType="application/vnd.openxmlformats-officedocument.presentationml.slide+xml"/>
  <Override PartName="/ppt/notesSlides/notesSlide36.xml" ContentType="application/vnd.openxmlformats-officedocument.presentationml.notesSlide+xml"/>
  <Override PartName="/ppt/slides/slide37.xml" ContentType="application/vnd.openxmlformats-officedocument.presentationml.slide+xml"/>
  <Override PartName="/ppt/notesSlides/notesSlide37.xml" ContentType="application/vnd.openxmlformats-officedocument.presentationml.notesSlide+xml"/>
  <Override PartName="/ppt/slides/slide38.xml" ContentType="application/vnd.openxmlformats-officedocument.presentationml.slide+xml"/>
  <Override PartName="/ppt/notesSlides/notesSlide38.xml" ContentType="application/vnd.openxmlformats-officedocument.presentationml.notesSlide+xml"/>
  <Override PartName="/ppt/slides/slide39.xml" ContentType="application/vnd.openxmlformats-officedocument.presentationml.slide+xml"/>
  <Override PartName="/ppt/notesSlides/notesSlide39.xml" ContentType="application/vnd.openxmlformats-officedocument.presentationml.notesSlide+xml"/>
  <Override PartName="/ppt/slides/slide40.xml" ContentType="application/vnd.openxmlformats-officedocument.presentationml.slide+xml"/>
  <Override PartName="/ppt/notesSlides/notesSlide40.xml" ContentType="application/vnd.openxmlformats-officedocument.presentationml.notesSlide+xml"/>
  <Default Extension="xlsx" ContentType="application/vnd.openxmlformats-officedocument.spreadsheetml.sheet"/>
</Types>
</file>

<file path=_rels/.rels>&#65279;<?xml version="1.0" encoding="utf-8"?><Relationships xmlns="http://schemas.openxmlformats.org/package/2006/relationships"><Relationship Type="http://schemas.openxmlformats.org/package/2006/relationships/metadata/core-properties" Target="/docProps/core.xml" Id="R3aaec2b3bd0f47c9" /><Relationship Type="http://schemas.openxmlformats.org/officeDocument/2006/relationships/extended-properties" Target="/docProps/app.xml" Id="Rf6974b6c1ea24d45" /><Relationship Type="http://schemas.openxmlformats.org/officeDocument/2006/relationships/officeDocument" Target="/ppt/presentation.xml" Id="R2ea752073f5a4cc0" /></Relationships>
</file>

<file path=ppt/presentation.xml><?xml version="1.0" encoding="utf-8"?>
<p:presentation xmlns:p="http://schemas.openxmlformats.org/presentationml/2006/main">
  <p:sldMasterIdLst>
    <p:sldMasterId xmlns:r="http://schemas.openxmlformats.org/officeDocument/2006/relationships" id="2147483648" r:id="R57123d403f1c43e8"/>
  </p:sldMasterIdLst>
  <p:notesMasterIdLst>
    <p:notesMasterId xmlns:r="http://schemas.openxmlformats.org/officeDocument/2006/relationships" r:id="R0294a55b15054eda"/>
  </p:notesMasterIdLst>
  <p:sldIdLst>
    <p:sldId xmlns:r="http://schemas.openxmlformats.org/officeDocument/2006/relationships" id="256" r:id="R6b5dfb25a7304f9f"/>
    <p:sldId xmlns:r="http://schemas.openxmlformats.org/officeDocument/2006/relationships" id="257" r:id="Ra0b77efec18e4f69"/>
    <p:sldId xmlns:r="http://schemas.openxmlformats.org/officeDocument/2006/relationships" id="258" r:id="Rb0fc7da91b8546d9"/>
    <p:sldId xmlns:r="http://schemas.openxmlformats.org/officeDocument/2006/relationships" id="259" r:id="R49b34d97d701484e"/>
    <p:sldId xmlns:r="http://schemas.openxmlformats.org/officeDocument/2006/relationships" id="260" r:id="Ra1120d4567784183"/>
    <p:sldId xmlns:r="http://schemas.openxmlformats.org/officeDocument/2006/relationships" id="261" r:id="R655579939595409d"/>
    <p:sldId xmlns:r="http://schemas.openxmlformats.org/officeDocument/2006/relationships" id="262" r:id="R3666e49333564ec0"/>
    <p:sldId xmlns:r="http://schemas.openxmlformats.org/officeDocument/2006/relationships" id="263" r:id="Re7ee635a307c4f38"/>
    <p:sldId xmlns:r="http://schemas.openxmlformats.org/officeDocument/2006/relationships" id="264" r:id="R45d3144baa0b4bdd"/>
    <p:sldId xmlns:r="http://schemas.openxmlformats.org/officeDocument/2006/relationships" id="265" r:id="Rd071cf15273f44e6"/>
    <p:sldId xmlns:r="http://schemas.openxmlformats.org/officeDocument/2006/relationships" id="266" r:id="R5a0b92bb295d4a05"/>
    <p:sldId xmlns:r="http://schemas.openxmlformats.org/officeDocument/2006/relationships" id="267" r:id="Rf5ea5818e68a4b7c"/>
    <p:sldId xmlns:r="http://schemas.openxmlformats.org/officeDocument/2006/relationships" id="268" r:id="R45fb8c1f62b94941"/>
    <p:sldId xmlns:r="http://schemas.openxmlformats.org/officeDocument/2006/relationships" id="269" r:id="R6c03ea8d69a9405c"/>
    <p:sldId xmlns:r="http://schemas.openxmlformats.org/officeDocument/2006/relationships" id="270" r:id="R4bb42fb1b0004ff2"/>
    <p:sldId xmlns:r="http://schemas.openxmlformats.org/officeDocument/2006/relationships" id="271" r:id="Red564d9e3c2441b8"/>
    <p:sldId xmlns:r="http://schemas.openxmlformats.org/officeDocument/2006/relationships" id="272" r:id="R5a11c44ed9f04a4b"/>
    <p:sldId xmlns:r="http://schemas.openxmlformats.org/officeDocument/2006/relationships" id="273" r:id="R2ce726822e6b45a9"/>
    <p:sldId xmlns:r="http://schemas.openxmlformats.org/officeDocument/2006/relationships" id="274" r:id="R54f787b3a293440b"/>
    <p:sldId xmlns:r="http://schemas.openxmlformats.org/officeDocument/2006/relationships" id="275" r:id="R5b9eaaefb8774f86"/>
    <p:sldId xmlns:r="http://schemas.openxmlformats.org/officeDocument/2006/relationships" id="276" r:id="R845fa95a32744266"/>
    <p:sldId xmlns:r="http://schemas.openxmlformats.org/officeDocument/2006/relationships" id="277" r:id="R697486c0675548ec"/>
    <p:sldId xmlns:r="http://schemas.openxmlformats.org/officeDocument/2006/relationships" id="278" r:id="Rbae3ed8afc034d96"/>
    <p:sldId xmlns:r="http://schemas.openxmlformats.org/officeDocument/2006/relationships" id="279" r:id="R0747640056264a7b"/>
    <p:sldId xmlns:r="http://schemas.openxmlformats.org/officeDocument/2006/relationships" id="280" r:id="R52258a79fd3d4870"/>
    <p:sldId xmlns:r="http://schemas.openxmlformats.org/officeDocument/2006/relationships" id="281" r:id="Ra937c30351924bf5"/>
    <p:sldId xmlns:r="http://schemas.openxmlformats.org/officeDocument/2006/relationships" id="282" r:id="R9d013cc5e6244846"/>
    <p:sldId xmlns:r="http://schemas.openxmlformats.org/officeDocument/2006/relationships" id="283" r:id="R8f03bcd3098140f6"/>
    <p:sldId xmlns:r="http://schemas.openxmlformats.org/officeDocument/2006/relationships" id="284" r:id="Rbe0d437595ea4d21"/>
    <p:sldId xmlns:r="http://schemas.openxmlformats.org/officeDocument/2006/relationships" id="285" r:id="R36c230484fd84844"/>
    <p:sldId xmlns:r="http://schemas.openxmlformats.org/officeDocument/2006/relationships" id="286" r:id="Rba9063e689f74b77"/>
    <p:sldId xmlns:r="http://schemas.openxmlformats.org/officeDocument/2006/relationships" id="287" r:id="R4f5d66db73f348c8"/>
    <p:sldId xmlns:r="http://schemas.openxmlformats.org/officeDocument/2006/relationships" id="288" r:id="R99f1467d629d4db3"/>
    <p:sldId xmlns:r="http://schemas.openxmlformats.org/officeDocument/2006/relationships" id="289" r:id="Raea4a28ff304480f"/>
    <p:sldId xmlns:r="http://schemas.openxmlformats.org/officeDocument/2006/relationships" id="290" r:id="Rcf303055bc874bbb"/>
    <p:sldId xmlns:r="http://schemas.openxmlformats.org/officeDocument/2006/relationships" id="291" r:id="R2e55d28ae75d4d7d"/>
    <p:sldId xmlns:r="http://schemas.openxmlformats.org/officeDocument/2006/relationships" id="292" r:id="R2976948b453245a0"/>
    <p:sldId xmlns:r="http://schemas.openxmlformats.org/officeDocument/2006/relationships" id="293" r:id="R542bf50bbab341da"/>
    <p:sldId xmlns:r="http://schemas.openxmlformats.org/officeDocument/2006/relationships" id="294" r:id="R96606b447a9f4c3f"/>
    <p:sldId xmlns:r="http://schemas.openxmlformats.org/officeDocument/2006/relationships" id="295" r:id="R0359bdef7eed4fdc"/>
  </p:sldIdLst>
  <p:sldSz cx="12192000" cy="6858000"/>
  <p:notesSz cx="6858000" cy="9144000"/>
  <p:defaultTextStyle>
    <a:defPPr xmlns:a="http://schemas.openxmlformats.org/drawingml/2006/main">
      <a:buNone/>
    </a:defPPr>
    <a:lvl1pPr xmlns:a="http://schemas.openxmlformats.org/drawingml/2006/main" marL="0" algn="l" defTabSz="914400">
      <a:buNone/>
      <a:defRPr sz="1800" kern="1200">
        <a:solidFill>
          <a:schemeClr val="tx1"/>
        </a:solidFill>
        <a:latin typeface="+mn-lt"/>
        <a:ea typeface="+mn-lt"/>
        <a:cs typeface="+mn-lt"/>
      </a:defRPr>
    </a:lvl1pPr>
    <a:lvl2pPr xmlns:a="http://schemas.openxmlformats.org/drawingml/2006/main" marL="457200" algn="l" defTabSz="914400">
      <a:buNone/>
      <a:defRPr sz="1800" kern="1200">
        <a:solidFill>
          <a:schemeClr val="tx1"/>
        </a:solidFill>
        <a:latin typeface="+mn-lt"/>
        <a:ea typeface="+mn-lt"/>
        <a:cs typeface="+mn-lt"/>
      </a:defRPr>
    </a:lvl2pPr>
    <a:lvl3pPr xmlns:a="http://schemas.openxmlformats.org/drawingml/2006/main" marL="914400" algn="l" defTabSz="914400">
      <a:buNone/>
      <a:defRPr sz="1800" kern="1200">
        <a:solidFill>
          <a:schemeClr val="tx1"/>
        </a:solidFill>
        <a:latin typeface="+mn-lt"/>
        <a:ea typeface="+mn-lt"/>
        <a:cs typeface="+mn-lt"/>
      </a:defRPr>
    </a:lvl3pPr>
    <a:lvl4pPr xmlns:a="http://schemas.openxmlformats.org/drawingml/2006/main" marL="1371600" algn="l" defTabSz="914400">
      <a:buNone/>
      <a:defRPr sz="1800" kern="1200">
        <a:solidFill>
          <a:schemeClr val="tx1"/>
        </a:solidFill>
        <a:latin typeface="+mn-lt"/>
        <a:ea typeface="+mn-lt"/>
        <a:cs typeface="+mn-lt"/>
      </a:defRPr>
    </a:lvl4pPr>
    <a:lvl5pPr xmlns:a="http://schemas.openxmlformats.org/drawingml/2006/main" marL="1828800" algn="l" defTabSz="914400">
      <a:buNone/>
      <a:defRPr sz="1800" kern="1200">
        <a:solidFill>
          <a:schemeClr val="tx1"/>
        </a:solidFill>
        <a:latin typeface="+mn-lt"/>
        <a:ea typeface="+mn-lt"/>
        <a:cs typeface="+mn-lt"/>
      </a:defRPr>
    </a:lvl5pPr>
    <a:lvl6pPr xmlns:a="http://schemas.openxmlformats.org/drawingml/2006/main" marL="2286000" algn="l" defTabSz="914400">
      <a:buNone/>
      <a:defRPr sz="1800" kern="1200">
        <a:solidFill>
          <a:schemeClr val="tx1"/>
        </a:solidFill>
        <a:latin typeface="+mn-lt"/>
        <a:ea typeface="+mn-lt"/>
        <a:cs typeface="+mn-lt"/>
      </a:defRPr>
    </a:lvl6pPr>
    <a:lvl7pPr xmlns:a="http://schemas.openxmlformats.org/drawingml/2006/main" marL="2743200" algn="l" defTabSz="914400">
      <a:buNone/>
      <a:defRPr sz="1800" kern="1200">
        <a:solidFill>
          <a:schemeClr val="tx1"/>
        </a:solidFill>
        <a:latin typeface="+mn-lt"/>
        <a:ea typeface="+mn-lt"/>
        <a:cs typeface="+mn-lt"/>
      </a:defRPr>
    </a:lvl7pPr>
    <a:lvl8pPr xmlns:a="http://schemas.openxmlformats.org/drawingml/2006/main" marL="3200400" algn="l" defTabSz="914400">
      <a:buNone/>
      <a:defRPr sz="1800" kern="1200">
        <a:solidFill>
          <a:schemeClr val="tx1"/>
        </a:solidFill>
        <a:latin typeface="+mn-lt"/>
        <a:ea typeface="+mn-lt"/>
        <a:cs typeface="+mn-lt"/>
      </a:defRPr>
    </a:lvl8pPr>
    <a:lvl9pPr xmlns:a="http://schemas.openxmlformats.org/drawingml/2006/main" marL="3657600" algn="l" defTabSz="914400">
      <a:buNone/>
      <a:defRPr sz="1800" kern="1200">
        <a:solidFill>
          <a:schemeClr val="tx1"/>
        </a:solidFill>
        <a:latin typeface="+mn-lt"/>
        <a:ea typeface="+mn-lt"/>
        <a:cs typeface="+mn-lt"/>
      </a:defRPr>
    </a:lvl9pPr>
  </p:defaultTextStyle>
</p:presentation>
</file>

<file path=ppt/presProps.xml><?xml version="1.0" encoding="utf-8"?>
<p:presentationPr xmlns:p="http://schemas.openxmlformats.org/presentationml/2006/main">
  <p:extLst>
    <p:ext xmlns:p14="http://schemas.microsoft.com/office/powerpoint/2010/main" uri="{E76CE94A-603C-4142-B9EB-6D1370010A27}">
      <p14:discardImageEditData val="0"/>
    </p:ext>
    <p:ext xmlns:p14="http://schemas.microsoft.com/office/powerpoint/2010/main" uri="{D31A062A-798A-4329-ABDD-BBA856620510}">
      <p14:defaultImageDpi val="32767"/>
    </p:ext>
    <p:ext xmlns:p15="http://schemas.microsoft.com/office/powerpoint/2012/main" uri="{FD5EFAAD-0ECE-453E-9831-46B23BE46B34}">
      <p15:chartTrackingRefBased val="1"/>
    </p:ext>
  </p:extLst>
</p:presentationPr>
</file>

<file path=ppt/tableStyles.xml><?xml version="1.0" encoding="utf-8"?>
<a:tblStyleLst xmlns:a="http://schemas.openxmlformats.org/drawingml/2006/main" def="{5C22544A-7EE6-4342-B048-85BDC9FD1C3A}">
  <a:tblStyle styleId="{793D81CF-94F2-401A-BA57-92F5A7B2D0C5}" styleName="Medium Style 1">
    <a:wholeTbl>
      <a:tcTxStyle>
        <a:fontRef idx="minor">
          <a:scrgbClr r="0" g="0" b="0"/>
        </a:fontRef>
        <a:schemeClr val="dk1"/>
      </a:tcTxStyle>
      <a:tcStyle>
        <a:tcBdr>
          <a:left>
            <a:ln w="12700" cmpd="sng">
              <a:solidFill>
                <a:schemeClr val="dk1"/>
              </a:solidFill>
            </a:ln>
          </a:left>
          <a:right>
            <a:ln w="12700" cmpd="sng">
              <a:solidFill>
                <a:schemeClr val="dk1"/>
              </a:solidFill>
            </a:ln>
          </a:right>
          <a:top>
            <a:ln w="12700" cmpd="sng">
              <a:solidFill>
                <a:schemeClr val="dk1"/>
              </a:solidFill>
            </a:ln>
          </a:top>
          <a:bottom>
            <a:ln w="12700" cmpd="sng">
              <a:solidFill>
                <a:schemeClr val="dk1"/>
              </a:solidFill>
            </a:ln>
          </a:bottom>
          <a:insideH>
            <a:ln w="12700" cmpd="sng">
              <a:solidFill>
                <a:schemeClr val="dk1"/>
              </a:solidFill>
            </a:ln>
          </a:insideH>
          <a:insideV>
            <a:ln>
              <a:noFill/>
            </a:ln>
          </a:insideV>
        </a:tcBdr>
        <a:fill>
          <a:solidFill>
            <a:schemeClr val="lt1"/>
          </a:solidFill>
        </a:fill>
      </a:tcStyle>
    </a:wholeTbl>
    <a:band1H>
      <a:tcStyle>
        <a:tcBdr/>
        <a:fill>
          <a:solidFill>
            <a:schemeClr val="dk1">
              <a:tint val="20000"/>
            </a:schemeClr>
          </a:solidFill>
        </a:fill>
      </a:tcStyle>
    </a:band1H>
    <a:band1V>
      <a:tcStyle>
        <a:tcBdr/>
        <a:fill>
          <a:solidFill>
            <a:schemeClr val="dk1">
              <a:tint val="2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50800" cmpd="dbl">
              <a:solidFill>
                <a:schemeClr val="dk1"/>
              </a:solidFill>
            </a:ln>
          </a:top>
        </a:tcBdr>
        <a:fill>
          <a:solidFill>
            <a:schemeClr val="lt1"/>
          </a:solidFill>
        </a:fill>
      </a:tcStyle>
    </a:lastRow>
    <a:firstRow>
      <a:tcTxStyle b="on">
        <a:fontRef idx="minor">
          <a:scrgbClr r="0" g="0" b="0"/>
        </a:fontRef>
        <a:schemeClr val="lt1"/>
      </a:tcTxStyle>
      <a:tcStyle>
        <a:tcBdr/>
        <a:fill>
          <a:solidFill>
            <a:schemeClr val="dk1"/>
          </a:solidFill>
        </a:fill>
      </a:tcStyle>
    </a:firstRow>
  </a:tblStyle>
  <a:tblStyle styleId="{5C22544A-7EE6-4342-B048-85BDC9FD1C3A}" styleName="Medium Style 2 - Accent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  <a:tblStyle styleId="{F5AB1C69-6EDB-4FF4-983F-18BD219EF322}" styleName="Medium Style 2 - Accent 3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3">
              <a:tint val="20000"/>
            </a:schemeClr>
          </a:solidFill>
        </a:fill>
      </a:tcStyle>
    </a:wholeTbl>
    <a:band1H>
      <a:tcStyle>
        <a:tcBdr/>
        <a:fill>
          <a:solidFill>
            <a:schemeClr val="accent3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3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3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3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3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3"/>
          </a:solidFill>
        </a:fill>
      </a:tcStyle>
    </a:firstRow>
  </a:tblStyle>
  <a:tblStyle styleId="{00A15C55-8517-42AA-B614-E9B94910E393}" styleName="Medium Style 2 - Accent 4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4">
              <a:tint val="20000"/>
            </a:schemeClr>
          </a:solidFill>
        </a:fill>
      </a:tcStyle>
    </a:wholeTbl>
    <a:band1H>
      <a:tcStyle>
        <a:tcBdr/>
        <a:fill>
          <a:solidFill>
            <a:schemeClr val="accent4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4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4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4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4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4"/>
          </a:solidFill>
        </a:fill>
      </a:tcStyle>
    </a:firstRow>
  </a:tblStyle>
  <a:tblStyle styleId="{7DF18680-E054-41AD-8BC1-D1AEF772440D}" styleName="Medium Style 2 - Accent 5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5">
              <a:tint val="20000"/>
            </a:schemeClr>
          </a:solidFill>
        </a:fill>
      </a:tcStyle>
    </a:wholeTbl>
    <a:band1H>
      <a:tcStyle>
        <a:tcBdr/>
        <a:fill>
          <a:solidFill>
            <a:schemeClr val="accent5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5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5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5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5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5"/>
          </a:solidFill>
        </a:fill>
      </a:tcStyle>
    </a:firstRow>
  </a:tblStyle>
</a:tblStyleLst>
</file>

<file path=ppt/viewProps.xml><?xml version="1.0" encoding="utf-8"?>
<p:viewPr xmlns:p="http://schemas.openxmlformats.org/presentationml/2006/main">
  <p:slideViewPr>
    <p:cSldViewPr snapToGrid="0" snapToObjects="1">
      <p:cViewPr>
        <p:scale>
          <a:sx xmlns:a="http://schemas.openxmlformats.org/drawingml/2006/main" n="1" d="1"/>
          <a:sy xmlns:a="http://schemas.openxmlformats.org/drawingml/2006/main" n="1" d="1"/>
        </p:scale>
        <p:origin x="0" y="0"/>
      </p:cViewPr>
      <p:guideLst/>
    </p:cSldViewPr>
  </p:slideViewPr>
  <p:gridSpacing cx="72008" cy="72008"/>
</p:viewPr>
</file>

<file path=ppt/_rels/presentation.xml.rels>&#65279;<?xml version="1.0" encoding="utf-8"?><Relationships xmlns="http://schemas.openxmlformats.org/package/2006/relationships"><Relationship Type="http://schemas.openxmlformats.org/officeDocument/2006/relationships/theme" Target="/ppt/theme/theme1.xml" Id="R7714bdd45778429a" /><Relationship Type="http://schemas.openxmlformats.org/officeDocument/2006/relationships/slideMaster" Target="/ppt/slideMasters/slideMaster1.xml" Id="R57123d403f1c43e8" /><Relationship Type="http://schemas.openxmlformats.org/officeDocument/2006/relationships/notesMaster" Target="/ppt/notesMasters/notesMaster1.xml" Id="R0294a55b15054eda" /><Relationship Type="http://schemas.openxmlformats.org/officeDocument/2006/relationships/presProps" Target="/ppt/presProps.xml" Id="R9701eb4cb14b4fb2" /><Relationship Type="http://schemas.openxmlformats.org/officeDocument/2006/relationships/viewProps" Target="/ppt/viewProps.xml" Id="R0f9df66872c34774" /><Relationship Type="http://schemas.openxmlformats.org/officeDocument/2006/relationships/tableStyles" Target="/ppt/tableStyles.xml" Id="Rd97cefb4827b45c3" /><Relationship Type="http://schemas.openxmlformats.org/officeDocument/2006/relationships/slide" Target="/ppt/slides/slide1.xml" Id="R6b5dfb25a7304f9f" /><Relationship Type="http://schemas.openxmlformats.org/officeDocument/2006/relationships/slide" Target="/ppt/slides/slide2.xml" Id="Ra0b77efec18e4f69" /><Relationship Type="http://schemas.openxmlformats.org/officeDocument/2006/relationships/slide" Target="/ppt/slides/slide3.xml" Id="Rb0fc7da91b8546d9" /><Relationship Type="http://schemas.openxmlformats.org/officeDocument/2006/relationships/slide" Target="/ppt/slides/slide4.xml" Id="R49b34d97d701484e" /><Relationship Type="http://schemas.openxmlformats.org/officeDocument/2006/relationships/slide" Target="/ppt/slides/slide5.xml" Id="Ra1120d4567784183" /><Relationship Type="http://schemas.openxmlformats.org/officeDocument/2006/relationships/slide" Target="/ppt/slides/slide6.xml" Id="R655579939595409d" /><Relationship Type="http://schemas.openxmlformats.org/officeDocument/2006/relationships/slide" Target="/ppt/slides/slide7.xml" Id="R3666e49333564ec0" /><Relationship Type="http://schemas.openxmlformats.org/officeDocument/2006/relationships/slide" Target="/ppt/slides/slide8.xml" Id="Re7ee635a307c4f38" /><Relationship Type="http://schemas.openxmlformats.org/officeDocument/2006/relationships/slide" Target="/ppt/slides/slide9.xml" Id="R45d3144baa0b4bdd" /><Relationship Type="http://schemas.openxmlformats.org/officeDocument/2006/relationships/slide" Target="/ppt/slides/slide10.xml" Id="Rd071cf15273f44e6" /><Relationship Type="http://schemas.openxmlformats.org/officeDocument/2006/relationships/slide" Target="/ppt/slides/slide11.xml" Id="R5a0b92bb295d4a05" /><Relationship Type="http://schemas.openxmlformats.org/officeDocument/2006/relationships/slide" Target="/ppt/slides/slide12.xml" Id="Rf5ea5818e68a4b7c" /><Relationship Type="http://schemas.openxmlformats.org/officeDocument/2006/relationships/slide" Target="/ppt/slides/slide13.xml" Id="R45fb8c1f62b94941" /><Relationship Type="http://schemas.openxmlformats.org/officeDocument/2006/relationships/slide" Target="/ppt/slides/slide14.xml" Id="R6c03ea8d69a9405c" /><Relationship Type="http://schemas.openxmlformats.org/officeDocument/2006/relationships/slide" Target="/ppt/slides/slide15.xml" Id="R4bb42fb1b0004ff2" /><Relationship Type="http://schemas.openxmlformats.org/officeDocument/2006/relationships/slide" Target="/ppt/slides/slide16.xml" Id="Red564d9e3c2441b8" /><Relationship Type="http://schemas.openxmlformats.org/officeDocument/2006/relationships/slide" Target="/ppt/slides/slide17.xml" Id="R5a11c44ed9f04a4b" /><Relationship Type="http://schemas.openxmlformats.org/officeDocument/2006/relationships/slide" Target="/ppt/slides/slide18.xml" Id="R2ce726822e6b45a9" /><Relationship Type="http://schemas.openxmlformats.org/officeDocument/2006/relationships/slide" Target="/ppt/slides/slide19.xml" Id="R54f787b3a293440b" /><Relationship Type="http://schemas.openxmlformats.org/officeDocument/2006/relationships/slide" Target="/ppt/slides/slide20.xml" Id="R5b9eaaefb8774f86" /><Relationship Type="http://schemas.openxmlformats.org/officeDocument/2006/relationships/slide" Target="/ppt/slides/slide21.xml" Id="R845fa95a32744266" /><Relationship Type="http://schemas.openxmlformats.org/officeDocument/2006/relationships/slide" Target="/ppt/slides/slide22.xml" Id="R697486c0675548ec" /><Relationship Type="http://schemas.openxmlformats.org/officeDocument/2006/relationships/slide" Target="/ppt/slides/slide23.xml" Id="Rbae3ed8afc034d96" /><Relationship Type="http://schemas.openxmlformats.org/officeDocument/2006/relationships/slide" Target="/ppt/slides/slide24.xml" Id="R0747640056264a7b" /><Relationship Type="http://schemas.openxmlformats.org/officeDocument/2006/relationships/slide" Target="/ppt/slides/slide25.xml" Id="R52258a79fd3d4870" /><Relationship Type="http://schemas.openxmlformats.org/officeDocument/2006/relationships/slide" Target="/ppt/slides/slide26.xml" Id="Ra937c30351924bf5" /><Relationship Type="http://schemas.openxmlformats.org/officeDocument/2006/relationships/slide" Target="/ppt/slides/slide27.xml" Id="R9d013cc5e6244846" /><Relationship Type="http://schemas.openxmlformats.org/officeDocument/2006/relationships/slide" Target="/ppt/slides/slide28.xml" Id="R8f03bcd3098140f6" /><Relationship Type="http://schemas.openxmlformats.org/officeDocument/2006/relationships/slide" Target="/ppt/slides/slide29.xml" Id="Rbe0d437595ea4d21" /><Relationship Type="http://schemas.openxmlformats.org/officeDocument/2006/relationships/slide" Target="/ppt/slides/slide30.xml" Id="R36c230484fd84844" /><Relationship Type="http://schemas.openxmlformats.org/officeDocument/2006/relationships/slide" Target="/ppt/slides/slide31.xml" Id="Rba9063e689f74b77" /><Relationship Type="http://schemas.openxmlformats.org/officeDocument/2006/relationships/slide" Target="/ppt/slides/slide32.xml" Id="R4f5d66db73f348c8" /><Relationship Type="http://schemas.openxmlformats.org/officeDocument/2006/relationships/slide" Target="/ppt/slides/slide33.xml" Id="R99f1467d629d4db3" /><Relationship Type="http://schemas.openxmlformats.org/officeDocument/2006/relationships/slide" Target="/ppt/slides/slide34.xml" Id="Raea4a28ff304480f" /><Relationship Type="http://schemas.openxmlformats.org/officeDocument/2006/relationships/slide" Target="/ppt/slides/slide35.xml" Id="Rcf303055bc874bbb" /><Relationship Type="http://schemas.openxmlformats.org/officeDocument/2006/relationships/slide" Target="/ppt/slides/slide36.xml" Id="R2e55d28ae75d4d7d" /><Relationship Type="http://schemas.openxmlformats.org/officeDocument/2006/relationships/slide" Target="/ppt/slides/slide37.xml" Id="R2976948b453245a0" /><Relationship Type="http://schemas.openxmlformats.org/officeDocument/2006/relationships/slide" Target="/ppt/slides/slide38.xml" Id="R542bf50bbab341da" /><Relationship Type="http://schemas.openxmlformats.org/officeDocument/2006/relationships/slide" Target="/ppt/slides/slide39.xml" Id="R96606b447a9f4c3f" /><Relationship Type="http://schemas.openxmlformats.org/officeDocument/2006/relationships/slide" Target="/ppt/slides/slide40.xml" Id="R0359bdef7eed4fdc" /></Relationships>
</file>

<file path=ppt/notesMasters/_rels/notesMaster1.xml.rels>&#65279;<?xml version="1.0" encoding="utf-8"?><Relationships xmlns="http://schemas.openxmlformats.org/package/2006/relationships"><Relationship Type="http://schemas.openxmlformats.org/officeDocument/2006/relationships/theme" Target="/ppt/notesMasters/theme/theme3.xml" Id="R9ec6b03a12a14f2c" /></Relationships>
</file>

<file path=ppt/notesMasters/notesMaster1.xml><?xml version="1.0" encoding="utf-8"?>
<p:notesMaster xmlns:p="http://schemas.openxmlformats.org/presentationml/2006/main">
  <p:cSld>
    <p:bg>
      <p:bgRef idx="1001">
        <a:schemeClr xmlns:a="http://schemas.openxmlformats.org/drawingml/2006/main" val="bg1"/>
      </p:bgRef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Header Placeholder"/>
          <p:cNvSpPr/>
          <p:nvPr>
            <p:ph type="hdr" sz="quarter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3" name="Date Placeholder"/>
          <p:cNvSpPr/>
          <p:nvPr>
            <p:ph type="dt" sz="quarter" idx="1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Image Placeholder"/>
          <p:cNvSpPr/>
          <p:nvPr>
            <p:ph type="sldImg" idx="2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5" name="Notes Placeholder"/>
          <p:cNvSpPr/>
          <p:nvPr>
            <p:ph type="body" sz="quarter" idx="3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6" name="Footer Placeholder"/>
          <p:cNvSpPr/>
          <p:nvPr>
            <p:ph type="ftr" sz="quarter" idx="4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7" name="Slide Number Placeholder"/>
          <p:cNvSpPr/>
          <p:nvPr>
            <p:ph type="sldNum" sz="quarter" idx="5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xmlns:a="http://schemas.openxmlformats.org/drawingml/2006/main" marL="0" algn="l" defTabSz="914400" rtl="0" eaLnBrk="1" latinLnBrk="0" hangingPunct="1">
      <a:defRPr sz="1200" kern="1200"/>
    </a:lvl1pPr>
  </p:notesStyle>
</p:notesMaster>
</file>

<file path=ppt/notesMasters/theme/theme3.xml><?xml version="1.0" encoding="utf-8"?>
<a:theme xmlns:a="http://schemas.openxmlformats.org/drawingml/2006/main" name="Custom Design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6350">
          <a:solidFill>
            <a:schemeClr val="phClr"/>
          </a:solidFill>
          <a:prstDash val="solid"/>
        </a:ln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ppt/notesSlides/_rels/notesSlide1.xml.rels>&#65279;<?xml version="1.0" encoding="utf-8"?><Relationships xmlns="http://schemas.openxmlformats.org/package/2006/relationships"><Relationship Type="http://schemas.openxmlformats.org/officeDocument/2006/relationships/slide" Target="/ppt/slides/slide1.xml" Id="R39b2f2339d0c4662" /><Relationship Type="http://schemas.openxmlformats.org/officeDocument/2006/relationships/notesMaster" Target="/ppt/notesMasters/notesMaster1.xml" Id="R7b82122b61854ede" /></Relationships>
</file>

<file path=ppt/notesSlides/_rels/notesSlide2.xml.rels>&#65279;<?xml version="1.0" encoding="utf-8"?><Relationships xmlns="http://schemas.openxmlformats.org/package/2006/relationships"><Relationship Type="http://schemas.openxmlformats.org/officeDocument/2006/relationships/slide" Target="/ppt/slides/slide2.xml" Id="R38044095a86a45aa" /><Relationship Type="http://schemas.openxmlformats.org/officeDocument/2006/relationships/notesMaster" Target="/ppt/notesMasters/notesMaster1.xml" Id="R2552ea7658a646e8" /></Relationships>
</file>

<file path=ppt/notesSlides/_rels/notesSlide3.xml.rels>&#65279;<?xml version="1.0" encoding="utf-8"?><Relationships xmlns="http://schemas.openxmlformats.org/package/2006/relationships"><Relationship Type="http://schemas.openxmlformats.org/officeDocument/2006/relationships/slide" Target="/ppt/slides/slide3.xml" Id="R31bdbb51c0594968" /><Relationship Type="http://schemas.openxmlformats.org/officeDocument/2006/relationships/notesMaster" Target="/ppt/notesMasters/notesMaster1.xml" Id="R1088b94fd5764a98" /></Relationships>
</file>

<file path=ppt/notesSlides/_rels/notesSlide4.xml.rels>&#65279;<?xml version="1.0" encoding="utf-8"?><Relationships xmlns="http://schemas.openxmlformats.org/package/2006/relationships"><Relationship Type="http://schemas.openxmlformats.org/officeDocument/2006/relationships/slide" Target="/ppt/slides/slide4.xml" Id="R19de542c98814db8" /><Relationship Type="http://schemas.openxmlformats.org/officeDocument/2006/relationships/notesMaster" Target="/ppt/notesMasters/notesMaster1.xml" Id="R098dd9e75d9c4595" /></Relationships>
</file>

<file path=ppt/notesSlides/_rels/notesSlide5.xml.rels>&#65279;<?xml version="1.0" encoding="utf-8"?><Relationships xmlns="http://schemas.openxmlformats.org/package/2006/relationships"><Relationship Type="http://schemas.openxmlformats.org/officeDocument/2006/relationships/slide" Target="/ppt/slides/slide5.xml" Id="R1dfc2803e2234ea4" /><Relationship Type="http://schemas.openxmlformats.org/officeDocument/2006/relationships/notesMaster" Target="/ppt/notesMasters/notesMaster1.xml" Id="R4c6ccac480594734" /></Relationships>
</file>

<file path=ppt/notesSlides/_rels/notesSlide6.xml.rels>&#65279;<?xml version="1.0" encoding="utf-8"?><Relationships xmlns="http://schemas.openxmlformats.org/package/2006/relationships"><Relationship Type="http://schemas.openxmlformats.org/officeDocument/2006/relationships/slide" Target="/ppt/slides/slide6.xml" Id="Rd648b3bd703e4b46" /><Relationship Type="http://schemas.openxmlformats.org/officeDocument/2006/relationships/notesMaster" Target="/ppt/notesMasters/notesMaster1.xml" Id="Rb57d4cec236742e2" /></Relationships>
</file>

<file path=ppt/notesSlides/_rels/notesSlide7.xml.rels>&#65279;<?xml version="1.0" encoding="utf-8"?><Relationships xmlns="http://schemas.openxmlformats.org/package/2006/relationships"><Relationship Type="http://schemas.openxmlformats.org/officeDocument/2006/relationships/slide" Target="/ppt/slides/slide7.xml" Id="Rf463f051de7a4352" /><Relationship Type="http://schemas.openxmlformats.org/officeDocument/2006/relationships/notesMaster" Target="/ppt/notesMasters/notesMaster1.xml" Id="Rb561bd7b33b847b5" /></Relationships>
</file>

<file path=ppt/notesSlides/_rels/notesSlide8.xml.rels>&#65279;<?xml version="1.0" encoding="utf-8"?><Relationships xmlns="http://schemas.openxmlformats.org/package/2006/relationships"><Relationship Type="http://schemas.openxmlformats.org/officeDocument/2006/relationships/slide" Target="/ppt/slides/slide8.xml" Id="R38bd79eb79774668" /><Relationship Type="http://schemas.openxmlformats.org/officeDocument/2006/relationships/notesMaster" Target="/ppt/notesMasters/notesMaster1.xml" Id="R61746046d5764526" /></Relationships>
</file>

<file path=ppt/notesSlides/_rels/notesSlide9.xml.rels>&#65279;<?xml version="1.0" encoding="utf-8"?><Relationships xmlns="http://schemas.openxmlformats.org/package/2006/relationships"><Relationship Type="http://schemas.openxmlformats.org/officeDocument/2006/relationships/slide" Target="/ppt/slides/slide9.xml" Id="R394d26b3913e4f0a" /><Relationship Type="http://schemas.openxmlformats.org/officeDocument/2006/relationships/notesMaster" Target="/ppt/notesMasters/notesMaster1.xml" Id="R6f68233448034802" /></Relationships>
</file>

<file path=ppt/notesSlides/_rels/notesSlide10.xml.rels>&#65279;<?xml version="1.0" encoding="utf-8"?><Relationships xmlns="http://schemas.openxmlformats.org/package/2006/relationships"><Relationship Type="http://schemas.openxmlformats.org/officeDocument/2006/relationships/slide" Target="/ppt/slides/slide10.xml" Id="Re451dc8219094dc0" /><Relationship Type="http://schemas.openxmlformats.org/officeDocument/2006/relationships/notesMaster" Target="/ppt/notesMasters/notesMaster1.xml" Id="Rfd1e4f27efcc4164" /></Relationships>
</file>

<file path=ppt/notesSlides/_rels/notesSlide11.xml.rels>&#65279;<?xml version="1.0" encoding="utf-8"?><Relationships xmlns="http://schemas.openxmlformats.org/package/2006/relationships"><Relationship Type="http://schemas.openxmlformats.org/officeDocument/2006/relationships/slide" Target="/ppt/slides/slide11.xml" Id="R7bb0f6c890674c16" /><Relationship Type="http://schemas.openxmlformats.org/officeDocument/2006/relationships/notesMaster" Target="/ppt/notesMasters/notesMaster1.xml" Id="R0a7e8afe74e54103" /></Relationships>
</file>

<file path=ppt/notesSlides/_rels/notesSlide12.xml.rels>&#65279;<?xml version="1.0" encoding="utf-8"?><Relationships xmlns="http://schemas.openxmlformats.org/package/2006/relationships"><Relationship Type="http://schemas.openxmlformats.org/officeDocument/2006/relationships/slide" Target="/ppt/slides/slide12.xml" Id="Rd0e85bbff8344d1b" /><Relationship Type="http://schemas.openxmlformats.org/officeDocument/2006/relationships/notesMaster" Target="/ppt/notesMasters/notesMaster1.xml" Id="Rfc11153baec74844" /></Relationships>
</file>

<file path=ppt/notesSlides/_rels/notesSlide13.xml.rels>&#65279;<?xml version="1.0" encoding="utf-8"?><Relationships xmlns="http://schemas.openxmlformats.org/package/2006/relationships"><Relationship Type="http://schemas.openxmlformats.org/officeDocument/2006/relationships/slide" Target="/ppt/slides/slide13.xml" Id="R2158168e775b42fd" /><Relationship Type="http://schemas.openxmlformats.org/officeDocument/2006/relationships/notesMaster" Target="/ppt/notesMasters/notesMaster1.xml" Id="R68669834bbd74995" /></Relationships>
</file>

<file path=ppt/notesSlides/_rels/notesSlide14.xml.rels>&#65279;<?xml version="1.0" encoding="utf-8"?><Relationships xmlns="http://schemas.openxmlformats.org/package/2006/relationships"><Relationship Type="http://schemas.openxmlformats.org/officeDocument/2006/relationships/slide" Target="/ppt/slides/slide14.xml" Id="Rb6ae109cfe03451f" /><Relationship Type="http://schemas.openxmlformats.org/officeDocument/2006/relationships/notesMaster" Target="/ppt/notesMasters/notesMaster1.xml" Id="R01b77e5a0d3140af" /></Relationships>
</file>

<file path=ppt/notesSlides/_rels/notesSlide15.xml.rels>&#65279;<?xml version="1.0" encoding="utf-8"?><Relationships xmlns="http://schemas.openxmlformats.org/package/2006/relationships"><Relationship Type="http://schemas.openxmlformats.org/officeDocument/2006/relationships/slide" Target="/ppt/slides/slide15.xml" Id="Rf13c93f148804811" /><Relationship Type="http://schemas.openxmlformats.org/officeDocument/2006/relationships/notesMaster" Target="/ppt/notesMasters/notesMaster1.xml" Id="R5c7c2c4da3334f37" /></Relationships>
</file>

<file path=ppt/notesSlides/_rels/notesSlide16.xml.rels>&#65279;<?xml version="1.0" encoding="utf-8"?><Relationships xmlns="http://schemas.openxmlformats.org/package/2006/relationships"><Relationship Type="http://schemas.openxmlformats.org/officeDocument/2006/relationships/slide" Target="/ppt/slides/slide16.xml" Id="Rae914c77806b4323" /><Relationship Type="http://schemas.openxmlformats.org/officeDocument/2006/relationships/notesMaster" Target="/ppt/notesMasters/notesMaster1.xml" Id="R9b178e7a77374325" /></Relationships>
</file>

<file path=ppt/notesSlides/_rels/notesSlide17.xml.rels>&#65279;<?xml version="1.0" encoding="utf-8"?><Relationships xmlns="http://schemas.openxmlformats.org/package/2006/relationships"><Relationship Type="http://schemas.openxmlformats.org/officeDocument/2006/relationships/slide" Target="/ppt/slides/slide17.xml" Id="R14d0a297cc704411" /><Relationship Type="http://schemas.openxmlformats.org/officeDocument/2006/relationships/notesMaster" Target="/ppt/notesMasters/notesMaster1.xml" Id="Rab8a4f63fa8e4398" /></Relationships>
</file>

<file path=ppt/notesSlides/_rels/notesSlide18.xml.rels>&#65279;<?xml version="1.0" encoding="utf-8"?><Relationships xmlns="http://schemas.openxmlformats.org/package/2006/relationships"><Relationship Type="http://schemas.openxmlformats.org/officeDocument/2006/relationships/slide" Target="/ppt/slides/slide18.xml" Id="Rb10e300138bd4997" /><Relationship Type="http://schemas.openxmlformats.org/officeDocument/2006/relationships/notesMaster" Target="/ppt/notesMasters/notesMaster1.xml" Id="R515847d4c9634ea2" /></Relationships>
</file>

<file path=ppt/notesSlides/_rels/notesSlide19.xml.rels>&#65279;<?xml version="1.0" encoding="utf-8"?><Relationships xmlns="http://schemas.openxmlformats.org/package/2006/relationships"><Relationship Type="http://schemas.openxmlformats.org/officeDocument/2006/relationships/slide" Target="/ppt/slides/slide19.xml" Id="R91e70f32b1b4498e" /><Relationship Type="http://schemas.openxmlformats.org/officeDocument/2006/relationships/notesMaster" Target="/ppt/notesMasters/notesMaster1.xml" Id="R0fd079fcf0124fc5" /></Relationships>
</file>

<file path=ppt/notesSlides/_rels/notesSlide20.xml.rels>&#65279;<?xml version="1.0" encoding="utf-8"?><Relationships xmlns="http://schemas.openxmlformats.org/package/2006/relationships"><Relationship Type="http://schemas.openxmlformats.org/officeDocument/2006/relationships/slide" Target="/ppt/slides/slide20.xml" Id="Rea743fc6a18b409f" /><Relationship Type="http://schemas.openxmlformats.org/officeDocument/2006/relationships/notesMaster" Target="/ppt/notesMasters/notesMaster1.xml" Id="Rd0a9fef66b614343" /></Relationships>
</file>

<file path=ppt/notesSlides/_rels/notesSlide21.xml.rels>&#65279;<?xml version="1.0" encoding="utf-8"?><Relationships xmlns="http://schemas.openxmlformats.org/package/2006/relationships"><Relationship Type="http://schemas.openxmlformats.org/officeDocument/2006/relationships/slide" Target="/ppt/slides/slide21.xml" Id="Rd795c762d6d4486b" /><Relationship Type="http://schemas.openxmlformats.org/officeDocument/2006/relationships/notesMaster" Target="/ppt/notesMasters/notesMaster1.xml" Id="R7d0c258e032240e0" /></Relationships>
</file>

<file path=ppt/notesSlides/_rels/notesSlide22.xml.rels>&#65279;<?xml version="1.0" encoding="utf-8"?><Relationships xmlns="http://schemas.openxmlformats.org/package/2006/relationships"><Relationship Type="http://schemas.openxmlformats.org/officeDocument/2006/relationships/slide" Target="/ppt/slides/slide22.xml" Id="R95bf33824c2d4bf5" /><Relationship Type="http://schemas.openxmlformats.org/officeDocument/2006/relationships/notesMaster" Target="/ppt/notesMasters/notesMaster1.xml" Id="Rbf76cd57b3b848b3" /></Relationships>
</file>

<file path=ppt/notesSlides/_rels/notesSlide23.xml.rels>&#65279;<?xml version="1.0" encoding="utf-8"?><Relationships xmlns="http://schemas.openxmlformats.org/package/2006/relationships"><Relationship Type="http://schemas.openxmlformats.org/officeDocument/2006/relationships/slide" Target="/ppt/slides/slide23.xml" Id="R3ac28bdbbc81474a" /><Relationship Type="http://schemas.openxmlformats.org/officeDocument/2006/relationships/notesMaster" Target="/ppt/notesMasters/notesMaster1.xml" Id="R17b430dcaae84886" /></Relationships>
</file>

<file path=ppt/notesSlides/_rels/notesSlide24.xml.rels>&#65279;<?xml version="1.0" encoding="utf-8"?><Relationships xmlns="http://schemas.openxmlformats.org/package/2006/relationships"><Relationship Type="http://schemas.openxmlformats.org/officeDocument/2006/relationships/slide" Target="/ppt/slides/slide24.xml" Id="R1c0aa8040c434cad" /><Relationship Type="http://schemas.openxmlformats.org/officeDocument/2006/relationships/notesMaster" Target="/ppt/notesMasters/notesMaster1.xml" Id="R490230e36f0e4aa8" /></Relationships>
</file>

<file path=ppt/notesSlides/_rels/notesSlide25.xml.rels>&#65279;<?xml version="1.0" encoding="utf-8"?><Relationships xmlns="http://schemas.openxmlformats.org/package/2006/relationships"><Relationship Type="http://schemas.openxmlformats.org/officeDocument/2006/relationships/slide" Target="/ppt/slides/slide25.xml" Id="Rdba59b94c33340bd" /><Relationship Type="http://schemas.openxmlformats.org/officeDocument/2006/relationships/notesMaster" Target="/ppt/notesMasters/notesMaster1.xml" Id="Rac1dc4340e434b9e" /></Relationships>
</file>

<file path=ppt/notesSlides/_rels/notesSlide26.xml.rels>&#65279;<?xml version="1.0" encoding="utf-8"?><Relationships xmlns="http://schemas.openxmlformats.org/package/2006/relationships"><Relationship Type="http://schemas.openxmlformats.org/officeDocument/2006/relationships/slide" Target="/ppt/slides/slide26.xml" Id="Re442bae486964609" /><Relationship Type="http://schemas.openxmlformats.org/officeDocument/2006/relationships/notesMaster" Target="/ppt/notesMasters/notesMaster1.xml" Id="R4ef8f50f0d8e442e" /></Relationships>
</file>

<file path=ppt/notesSlides/_rels/notesSlide27.xml.rels>&#65279;<?xml version="1.0" encoding="utf-8"?><Relationships xmlns="http://schemas.openxmlformats.org/package/2006/relationships"><Relationship Type="http://schemas.openxmlformats.org/officeDocument/2006/relationships/slide" Target="/ppt/slides/slide27.xml" Id="R2efc320145b74e59" /><Relationship Type="http://schemas.openxmlformats.org/officeDocument/2006/relationships/notesMaster" Target="/ppt/notesMasters/notesMaster1.xml" Id="R39d5b91e3a0a40a8" /></Relationships>
</file>

<file path=ppt/notesSlides/_rels/notesSlide28.xml.rels>&#65279;<?xml version="1.0" encoding="utf-8"?><Relationships xmlns="http://schemas.openxmlformats.org/package/2006/relationships"><Relationship Type="http://schemas.openxmlformats.org/officeDocument/2006/relationships/slide" Target="/ppt/slides/slide28.xml" Id="Ra545e7e36eb748bf" /><Relationship Type="http://schemas.openxmlformats.org/officeDocument/2006/relationships/notesMaster" Target="/ppt/notesMasters/notesMaster1.xml" Id="R3ef6e826ba7f4513" /></Relationships>
</file>

<file path=ppt/notesSlides/_rels/notesSlide29.xml.rels>&#65279;<?xml version="1.0" encoding="utf-8"?><Relationships xmlns="http://schemas.openxmlformats.org/package/2006/relationships"><Relationship Type="http://schemas.openxmlformats.org/officeDocument/2006/relationships/slide" Target="/ppt/slides/slide29.xml" Id="Rbdee1aabb85b42b6" /><Relationship Type="http://schemas.openxmlformats.org/officeDocument/2006/relationships/notesMaster" Target="/ppt/notesMasters/notesMaster1.xml" Id="Re4ab4fc7ea4340bf" /></Relationships>
</file>

<file path=ppt/notesSlides/_rels/notesSlide30.xml.rels>&#65279;<?xml version="1.0" encoding="utf-8"?><Relationships xmlns="http://schemas.openxmlformats.org/package/2006/relationships"><Relationship Type="http://schemas.openxmlformats.org/officeDocument/2006/relationships/slide" Target="/ppt/slides/slide30.xml" Id="Raedc6c1670b14bcc" /><Relationship Type="http://schemas.openxmlformats.org/officeDocument/2006/relationships/notesMaster" Target="/ppt/notesMasters/notesMaster1.xml" Id="R2880ca4f1c494f5c" /></Relationships>
</file>

<file path=ppt/notesSlides/_rels/notesSlide31.xml.rels>&#65279;<?xml version="1.0" encoding="utf-8"?><Relationships xmlns="http://schemas.openxmlformats.org/package/2006/relationships"><Relationship Type="http://schemas.openxmlformats.org/officeDocument/2006/relationships/slide" Target="/ppt/slides/slide31.xml" Id="Rf36fc0391cbf4801" /><Relationship Type="http://schemas.openxmlformats.org/officeDocument/2006/relationships/notesMaster" Target="/ppt/notesMasters/notesMaster1.xml" Id="R5fc7bc9e902843ab" /></Relationships>
</file>

<file path=ppt/notesSlides/_rels/notesSlide32.xml.rels>&#65279;<?xml version="1.0" encoding="utf-8"?><Relationships xmlns="http://schemas.openxmlformats.org/package/2006/relationships"><Relationship Type="http://schemas.openxmlformats.org/officeDocument/2006/relationships/slide" Target="/ppt/slides/slide32.xml" Id="Rb8dd1148ec6e4f1d" /><Relationship Type="http://schemas.openxmlformats.org/officeDocument/2006/relationships/notesMaster" Target="/ppt/notesMasters/notesMaster1.xml" Id="R81ae9e40a44c46ce" /></Relationships>
</file>

<file path=ppt/notesSlides/_rels/notesSlide33.xml.rels>&#65279;<?xml version="1.0" encoding="utf-8"?><Relationships xmlns="http://schemas.openxmlformats.org/package/2006/relationships"><Relationship Type="http://schemas.openxmlformats.org/officeDocument/2006/relationships/slide" Target="/ppt/slides/slide33.xml" Id="R4c7f3d9813954dd5" /><Relationship Type="http://schemas.openxmlformats.org/officeDocument/2006/relationships/notesMaster" Target="/ppt/notesMasters/notesMaster1.xml" Id="R10b3f2626e2845d3" /></Relationships>
</file>

<file path=ppt/notesSlides/_rels/notesSlide34.xml.rels>&#65279;<?xml version="1.0" encoding="utf-8"?><Relationships xmlns="http://schemas.openxmlformats.org/package/2006/relationships"><Relationship Type="http://schemas.openxmlformats.org/officeDocument/2006/relationships/slide" Target="/ppt/slides/slide34.xml" Id="Rf4002d128ef444e5" /><Relationship Type="http://schemas.openxmlformats.org/officeDocument/2006/relationships/notesMaster" Target="/ppt/notesMasters/notesMaster1.xml" Id="R56ac1d5c52c84210" /></Relationships>
</file>

<file path=ppt/notesSlides/_rels/notesSlide35.xml.rels>&#65279;<?xml version="1.0" encoding="utf-8"?><Relationships xmlns="http://schemas.openxmlformats.org/package/2006/relationships"><Relationship Type="http://schemas.openxmlformats.org/officeDocument/2006/relationships/slide" Target="/ppt/slides/slide35.xml" Id="R26e8d24b82fd42a0" /><Relationship Type="http://schemas.openxmlformats.org/officeDocument/2006/relationships/notesMaster" Target="/ppt/notesMasters/notesMaster1.xml" Id="R077fdacf84424945" /></Relationships>
</file>

<file path=ppt/notesSlides/_rels/notesSlide36.xml.rels>&#65279;<?xml version="1.0" encoding="utf-8"?><Relationships xmlns="http://schemas.openxmlformats.org/package/2006/relationships"><Relationship Type="http://schemas.openxmlformats.org/officeDocument/2006/relationships/slide" Target="/ppt/slides/slide36.xml" Id="R9d01243552e5497d" /><Relationship Type="http://schemas.openxmlformats.org/officeDocument/2006/relationships/notesMaster" Target="/ppt/notesMasters/notesMaster1.xml" Id="R60a452cf5e6f4b81" /></Relationships>
</file>

<file path=ppt/notesSlides/_rels/notesSlide37.xml.rels>&#65279;<?xml version="1.0" encoding="utf-8"?><Relationships xmlns="http://schemas.openxmlformats.org/package/2006/relationships"><Relationship Type="http://schemas.openxmlformats.org/officeDocument/2006/relationships/slide" Target="/ppt/slides/slide37.xml" Id="Rc6fb66b7a8cc4c1c" /><Relationship Type="http://schemas.openxmlformats.org/officeDocument/2006/relationships/notesMaster" Target="/ppt/notesMasters/notesMaster1.xml" Id="R07b00e9f893f447f" /></Relationships>
</file>

<file path=ppt/notesSlides/_rels/notesSlide38.xml.rels>&#65279;<?xml version="1.0" encoding="utf-8"?><Relationships xmlns="http://schemas.openxmlformats.org/package/2006/relationships"><Relationship Type="http://schemas.openxmlformats.org/officeDocument/2006/relationships/slide" Target="/ppt/slides/slide38.xml" Id="R1ff65ea73d324b50" /><Relationship Type="http://schemas.openxmlformats.org/officeDocument/2006/relationships/notesMaster" Target="/ppt/notesMasters/notesMaster1.xml" Id="Re782caef8c5f4608" /></Relationships>
</file>

<file path=ppt/notesSlides/_rels/notesSlide39.xml.rels>&#65279;<?xml version="1.0" encoding="utf-8"?><Relationships xmlns="http://schemas.openxmlformats.org/package/2006/relationships"><Relationship Type="http://schemas.openxmlformats.org/officeDocument/2006/relationships/slide" Target="/ppt/slides/slide39.xml" Id="Ra7e789afe9204ac0" /><Relationship Type="http://schemas.openxmlformats.org/officeDocument/2006/relationships/notesMaster" Target="/ppt/notesMasters/notesMaster1.xml" Id="R8d372a2d23cb40e6" /></Relationships>
</file>

<file path=ppt/notesSlides/_rels/notesSlide40.xml.rels>&#65279;<?xml version="1.0" encoding="utf-8"?><Relationships xmlns="http://schemas.openxmlformats.org/package/2006/relationships"><Relationship Type="http://schemas.openxmlformats.org/officeDocument/2006/relationships/slide" Target="/ppt/slides/slide40.xml" Id="R55596403090e4ba2" /><Relationship Type="http://schemas.openxmlformats.org/officeDocument/2006/relationships/notesMaster" Target="/ppt/notesMasters/notesMaster1.xml" Id="R4f43210440bf4294" /></Relationships>
</file>

<file path=ppt/notesSlides/notesSlide1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IBM Applied Data Science Capstone. Nicholas Yap. Analysis of historical Falcon 9 launches.</a:t>
            </a:r>
          </a:p>
          <a:p xmlns:a="http://schemas.openxmlformats.org/drawingml/2006/main">
            <a:r>
              <a:t>Sources: https://github.com/nicholas-yap/spacex-data-science-capstone/blob/main/data/dataset_part_2.csv</a:t>
            </a:r>
          </a:p>
          <a:p xmlns:a="http://schemas.openxmlformats.org/drawingml/2006/main">
            <a:r>
              <a:t>Course datasets are historical snapshots, not current SpaceX operational data.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2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Evidence map for the fifteen criteria supplied by the learner. Expanded subcriteria for questions 12-15 were not supplied. Page numbers identify substantive evidence, not divider slides.</a:t>
            </a:r>
            <a:endParaRPr/>
          </a:p>
          <a:p xmlns:a="http://schemas.openxmlformats.org/drawingml/2006/main">
            <a:r>
              <a:t>Sources: https://github.com/nicholas-yap/spacex-data-science-capstone/blob/main/README.md</a:t>
            </a:r>
            <a:endParaRPr/>
          </a:p>
          <a:p xmlns:a="http://schemas.openxmlformats.org/drawingml/2006/main">
            <a:r>
              <a:t>Course datasets are historical snapshots, not current SpaceX operational data.</a:t>
            </a:r>
            <a:endParaRPr/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3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Executive summary includes both methodology and results. n=90, Class 1=60, KSC=17/22. All four test scores 15/18; tree CV=0.8767857143.</a:t>
            </a:r>
          </a:p>
          <a:p xmlns:a="http://schemas.openxmlformats.org/drawingml/2006/main">
            <a:r>
              <a:t>Sources: https://github.com/nicholas-yap/spacex-data-science-capstone/blob/main/data/dataset_part_2.csv</a:t>
            </a:r>
          </a:p>
          <a:p xmlns:a="http://schemas.openxmlformats.org/drawingml/2006/main">
            <a:r>
              <a:t>Course datasets are historical snapshots, not current SpaceX operational data.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4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Saved notebook results. 72 training rows; 18 test rows; 12 test positives. Tree params: gini, max_depth=8, max_features=sqrt, min_samples_leaf=2, min_samples_split=10, splitter=best.</a:t>
            </a:r>
          </a:p>
          <a:p xmlns:a="http://schemas.openxmlformats.org/drawingml/2006/main">
            <a:r>
              <a:t>Sources: https://github.com/nicholas-yap/spacex-data-science-capstone/blob/main/notebooks/SpaceX-Machine-Learning-Prediction-Part-5-v1.ipynb</a:t>
            </a:r>
          </a:p>
          <a:p xmlns:a="http://schemas.openxmlformats.org/drawingml/2006/main">
            <a:r>
              <a:t>Course datasets are historical snapshots, not current SpaceX operational data.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5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Matrix transcribed from saved decision-tree output: [[3,3],[0,12]]. Actual rows, predicted columns. Half of six actual Class 0 outcomes become false positives. The tree is selected by highest CV, with tied test accuracy.</a:t>
            </a:r>
          </a:p>
          <a:p xmlns:a="http://schemas.openxmlformats.org/drawingml/2006/main">
            <a:r>
              <a:t>Sources: https://github.com/nicholas-yap/spacex-data-science-capstone/blob/main/notebooks/SpaceX-Machine-Learning-Prediction-Part-5-v1.ipynb</a:t>
            </a:r>
          </a:p>
          <a:p xmlns:a="http://schemas.openxmlformats.org/drawingml/2006/main">
            <a:r>
              <a:t>Course datasets are historical snapshots, not current SpaceX operational data.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6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Selected by highest 10-fold CV, with tied test accuracy. CV values: LR 0.8464285714285713, SVM 0.8482142857142856, tree 0.8767857142857143, KNN 0.8482142857142858. All test scores 15/18.</a:t>
            </a:r>
          </a:p>
          <a:p xmlns:a="http://schemas.openxmlformats.org/drawingml/2006/main">
            <a:r>
              <a:t>Sources: https://github.com/nicholas-yap/spacex-data-science-capstone/blob/main/notebooks/SpaceX-Machine-Learning-Prediction-Part-5-v1.ipynb</a:t>
            </a:r>
          </a:p>
          <a:p xmlns:a="http://schemas.openxmlformats.org/drawingml/2006/main">
            <a:r>
              <a:t>Course datasets are historical snapshots, not current SpaceX operational data.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7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Conclusions connect exploratory results, model evaluation, error costs and methodological improvements.</a:t>
            </a:r>
          </a:p>
          <a:p xmlns:a="http://schemas.openxmlformats.org/drawingml/2006/main">
            <a:r>
              <a:t>Sources: https://github.com/nicholas-yap/spacex-data-science-capstone/blob/main/data/dataset_part_2.csv</a:t>
            </a:r>
          </a:p>
          <a:p xmlns:a="http://schemas.openxmlformats.org/drawingml/2006/main">
            <a:r>
              <a:t>Course datasets are historical snapshots, not current SpaceX operational data.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8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Calculated from dataset_part_2.csv. CCAFS n55,33 successes; KSC n22,17 successes. Class 1 n60 including five True Ocean outcomes. True ASDS n41 plus True RTLS n14 =55. Block5 n39,33 successes; Block1 n19,4 successes; Block2 n6,6 successes. Differences are descriptive, not causal.</a:t>
            </a:r>
          </a:p>
          <a:p xmlns:a="http://schemas.openxmlformats.org/drawingml/2006/main">
            <a:r>
              <a:t>Sources: https://github.com/nicholas-yap/spacex-data-science-capstone/blob/main/notebooks/04-additional-insights.ipynb</a:t>
            </a:r>
          </a:p>
          <a:p xmlns:a="http://schemas.openxmlformats.org/drawingml/2006/main">
            <a:r>
              <a:t>Course datasets are historical snapshots, not current SpaceX operational data.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9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Business question: how can historical launch characteristics help estimate the chance of a successful first-stage outcome?</a:t>
            </a:r>
          </a:p>
          <a:p xmlns:a="http://schemas.openxmlformats.org/drawingml/2006/main">
            <a:r>
              <a:t>Reusable boosters create a reason to study landing outcomes. This project predicts the course outcome label, not launch price or cost savings.</a:t>
            </a:r>
          </a:p>
          <a:p xmlns:a="http://schemas.openxmlformats.org/drawingml/2006/main">
            <a:r>
              <a:t>Compare launch sites, payload, orbit and experience, then evaluate four classification models.</a:t>
            </a:r>
          </a:p>
          <a:p xmlns:a="http://schemas.openxmlformats.org/drawingml/2006/main">
            <a:r>
              <a:t>Scope: historical course snapshots. A successful mission and a successful first-stage outcome measure different events.</a:t>
            </a:r>
          </a:p>
          <a:p xmlns:a="http://schemas.openxmlformats.org/drawingml/2006/main">
            <a:r>
              <a:t>Sources: https://github.com/nicholas-yap/spacex-data-science-capstone/blob/main/data/dataset_part_2.csv</a:t>
            </a:r>
          </a:p>
          <a:p xmlns:a="http://schemas.openxmlformats.org/drawingml/2006/main">
            <a:r>
              <a:t>Course datasets are historical snapshots, not current SpaceX operational data.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0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API provenance: https://api.spacexdata.com/v4/launches/past . Archived response supplied by IBM in API_call_spacex_api.json. Enriched feature data comes from the supplied dataset_part_1.csv, not a newly executed online enrichment.</a:t>
            </a:r>
          </a:p>
          <a:p xmlns:a="http://schemas.openxmlformats.org/drawingml/2006/main">
            <a:r>
              <a:t>Sources: https://github.com/nicholas-yap/spacex-data-science-capstone/blob/main/notebooks/01-data-collection.ipynb</a:t>
            </a:r>
          </a:p>
          <a:p xmlns:a="http://schemas.openxmlformats.org/drawingml/2006/main">
            <a:r>
              <a:t>Course datasets are historical snapshots, not current SpaceX operational data.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1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Saved notebook outputs report 121 rows and 11 columns. Wikipedia archived revision: https://en.wikipedia.org/w/index.php?title=List_of_Falcon_9_and_Falcon_Heavy_launches&amp;oldid=1027686922</a:t>
            </a:r>
          </a:p>
          <a:p xmlns:a="http://schemas.openxmlformats.org/drawingml/2006/main">
            <a:r>
              <a:t>Sources: https://github.com/nicholas-yap/spacex-data-science-capstone/blob/main/notebooks/jupyter-labs-webscraping.ipynb</a:t>
            </a:r>
          </a:p>
          <a:p xmlns:a="http://schemas.openxmlformats.org/drawingml/2006/main">
            <a:r>
              <a:t>Course datasets are historical snapshots, not current SpaceX operational data.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2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Outcome mapping verified against dataset_part_2.csv. The five True Ocean rows count as Class 1. Payload mean imputation is already present in supplied data.</a:t>
            </a:r>
          </a:p>
          <a:p xmlns:a="http://schemas.openxmlformats.org/drawingml/2006/main">
            <a:r>
              <a:t>Sources: https://github.com/nicholas-yap/spacex-data-science-capstone/blob/main/notebooks/02-wrangling-eda.ipynb</a:t>
            </a:r>
          </a:p>
          <a:p xmlns:a="http://schemas.openxmlformats.org/drawingml/2006/main">
            <a:r>
              <a:t>Course datasets are historical snapshots, not current SpaceX operational data.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3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Scatter plots compare flight number and payload with launch site and orbit. Color separates the two outcome classes.</a:t>
            </a:r>
          </a:p>
          <a:p xmlns:a="http://schemas.openxmlformats.org/drawingml/2006/main">
            <a:r>
              <a:t>Orbit success bars show rates with launch counts so small groups remain visible.</a:t>
            </a:r>
          </a:p>
          <a:p xmlns:a="http://schemas.openxmlformats.org/drawingml/2006/main">
            <a:r>
              <a:t>The yearly line chart shows changes in outcome rate, with year-specific denominators.</a:t>
            </a:r>
          </a:p>
          <a:p xmlns:a="http://schemas.openxmlformats.org/drawingml/2006/main">
            <a:r>
              <a:t>Charts describe associations. Site, orbit, payload and technology changed together over time.</a:t>
            </a:r>
          </a:p>
          <a:p xmlns:a="http://schemas.openxmlformats.org/drawingml/2006/main">
            <a:r>
              <a:t>Sources: https://github.com/nicholas-yap/spacex-data-science-capstone/blob/main/notebooks/02-wrangling-eda.ipynb</a:t>
            </a:r>
          </a:p>
          <a:p xmlns:a="http://schemas.openxmlformats.org/drawingml/2006/main">
            <a:r>
              <a:t>Course datasets are historical snapshots, not current SpaceX operational data.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4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DISTINCT and LIKE identify launch-site labels and the first five CCA records.</a:t>
            </a:r>
          </a:p>
          <a:p xmlns:a="http://schemas.openxmlformats.org/drawingml/2006/main">
            <a:r>
              <a:t>SUM, AVG and MAX summarize payload mass and the boosters carrying the maximum.</a:t>
            </a:r>
          </a:p>
          <a:p xmlns:a="http://schemas.openxmlformats.org/drawingml/2006/main">
            <a:r>
              <a:t>Date and outcome filters identify the first ground landing, drone ship landings and failures in 2015.</a:t>
            </a:r>
          </a:p>
          <a:p xmlns:a="http://schemas.openxmlformats.org/drawingml/2006/main">
            <a:r>
              <a:t>GROUP BY and COUNT summarize mission results and rank landing outcomes for the specified period.</a:t>
            </a:r>
          </a:p>
          <a:p xmlns:a="http://schemas.openxmlformats.org/drawingml/2006/main">
            <a:r>
              <a:t>Sources: https://github.com/nicholas-yap/spacex-data-science-capstone/blob/main/notebooks/jupyter-labs-eda-sql-coursera_sqllite.ipynb</a:t>
            </a:r>
          </a:p>
          <a:p xmlns:a="http://schemas.openxmlformats.org/drawingml/2006/main">
            <a:r>
              <a:t>Course datasets are historical snapshots, not current SpaceX operational data.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5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Site circles and labels locate the three modeled launch facilities on a continental map.</a:t>
            </a:r>
          </a:p>
          <a:p xmlns:a="http://schemas.openxmlformats.org/drawingml/2006/main">
            <a:r>
              <a:t>A MarkerCluster groups overlapping launches. Green marks Class 1 and red marks Class 0.</a:t>
            </a:r>
          </a:p>
          <a:p xmlns:a="http://schemas.openxmlformats.org/drawingml/2006/main">
            <a:r>
              <a:t>Popup details show flight, date, payload and outcome. Expanding a cluster separates markers for inspection.</a:t>
            </a:r>
          </a:p>
          <a:p xmlns:a="http://schemas.openxmlformats.org/drawingml/2006/main">
            <a:r>
              <a:t>Lines connect CCAFS SLC 40 to selected road, rail and coastline points. Haversine distance gives approximate straight-line separation.</a:t>
            </a:r>
          </a:p>
          <a:p xmlns:a="http://schemas.openxmlformats.org/drawingml/2006/main">
            <a:r>
              <a:t>Sources: https://github.com/nicholas-yap/spacex-data-science-capstone/blob/main/notebooks/03-interactive-maps.ipynb</a:t>
            </a:r>
          </a:p>
          <a:p xmlns:a="http://schemas.openxmlformats.org/drawingml/2006/main">
            <a:r>
              <a:t>Course datasets are historical snapshots, not current SpaceX operational data.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6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The site dropdown switches between all launches and a selected facility.</a:t>
            </a:r>
          </a:p>
          <a:p xmlns:a="http://schemas.openxmlformats.org/drawingml/2006/main">
            <a:r>
              <a:t>The all-sites pie chart shows each site’s contribution to successful outcomes. A selected-site pie shows its success ratio.</a:t>
            </a:r>
          </a:p>
          <a:p xmlns:a="http://schemas.openxmlformats.org/drawingml/2006/main">
            <a:r>
              <a:t>The payload range slider filters the outcome scatter plot. Color identifies booster block.</a:t>
            </a:r>
          </a:p>
          <a:p xmlns:a="http://schemas.openxmlformats.org/drawingml/2006/main">
            <a:r>
              <a:t>Hover details reveal launch date, flight number and outcome. The dashboard uses the same 90-row sample as the EDA.</a:t>
            </a:r>
          </a:p>
          <a:p xmlns:a="http://schemas.openxmlformats.org/drawingml/2006/main">
            <a:r>
              <a:t>Sources: https://github.com/nicholas-yap/spacex-data-science-capstone/blob/main/spacex_dashboard.py</a:t>
            </a:r>
          </a:p>
          <a:p xmlns:a="http://schemas.openxmlformats.org/drawingml/2006/main">
            <a:r>
              <a:t>Course datasets are historical snapshots, not current SpaceX operational data.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7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Results reproduced from saved notebook outputs. Pre-split scaling exposes test distribution to preprocessing. GridSearchCV has 10 folds; no claim of a leakage-free evaluation.</a:t>
            </a:r>
          </a:p>
          <a:p xmlns:a="http://schemas.openxmlformats.org/drawingml/2006/main">
            <a:r>
              <a:t>Sources: https://github.com/nicholas-yap/spacex-data-science-capstone/blob/main/notebooks/SpaceX-Machine-Learning-Prediction-Part-5-v1.ipynb</a:t>
            </a:r>
          </a:p>
          <a:p xmlns:a="http://schemas.openxmlformats.org/drawingml/2006/main">
            <a:r>
              <a:t>Course datasets are historical snapshots, not current SpaceX operational data.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8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Later launches show more Class 1 outcomes. Site and flight sequence overlap, so the plot cannot isolate a site effect. Category codes: CCAFS SLC 40, KSC LC 39A, VAFB SLC 4E</a:t>
            </a:r>
          </a:p>
          <a:p xmlns:a="http://schemas.openxmlformats.org/drawingml/2006/main">
            <a:r>
              <a:t>Sources: https://github.com/nicholas-yap/spacex-data-science-capstone/blob/main/data/dataset_part_2.csv</a:t>
            </a:r>
          </a:p>
          <a:p xmlns:a="http://schemas.openxmlformats.org/drawingml/2006/main">
            <a:r>
              <a:t>Course datasets are historical snapshots, not current SpaceX operational data.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9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CCAFS SLC 40 covers the broadest history. Both outcome classes occur across payload ranges, and some payload values are mean-imputed. Category codes: CCAFS SLC 40, KSC LC 39A, VAFB SLC 4E</a:t>
            </a:r>
          </a:p>
          <a:p xmlns:a="http://schemas.openxmlformats.org/drawingml/2006/main">
            <a:r>
              <a:t>Sources: https://github.com/nicholas-yap/spacex-data-science-capstone/blob/main/data/dataset_part_2.csv</a:t>
            </a:r>
          </a:p>
          <a:p xmlns:a="http://schemas.openxmlformats.org/drawingml/2006/main">
            <a:r>
              <a:t>Course datasets are historical snapshots, not current SpaceX operational data.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20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Orbit rates use Class means. Count labels show sample sizes.</a:t>
            </a:r>
          </a:p>
          <a:p xmlns:a="http://schemas.openxmlformats.org/drawingml/2006/main">
            <a:r>
              <a:t>Sources: https://github.com/nicholas-yap/spacex-data-science-capstone/blob/main/data/dataset_part_2.csv</a:t>
            </a:r>
          </a:p>
          <a:p xmlns:a="http://schemas.openxmlformats.org/drawingml/2006/main">
            <a:r>
              <a:t>Course datasets are historical snapshots, not current SpaceX operational data.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21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VLEO launches cluster late in the sample. Differences by orbit may partly reflect changes in booster technology and experience. Category codes: ES-L1, GEO, GTO, HEO, ISS, LEO, MEO, PO, SO, SSO, VLEO</a:t>
            </a:r>
          </a:p>
          <a:p xmlns:a="http://schemas.openxmlformats.org/drawingml/2006/main">
            <a:r>
              <a:t>Sources: https://github.com/nicholas-yap/spacex-data-science-capstone/blob/main/data/dataset_part_2.csv</a:t>
            </a:r>
          </a:p>
          <a:p xmlns:a="http://schemas.openxmlformats.org/drawingml/2006/main">
            <a:r>
              <a:t>Course datasets are historical snapshots, not current SpaceX operational data.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22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GTO has 14/27 Class 1 outcomes (51.9%). VLEO has 12/14 (85.7%). Payload alone does not explain the difference. Category codes: ES-L1, GEO, GTO, HEO, ISS, LEO, MEO, PO, SO, SSO, VLEO</a:t>
            </a:r>
          </a:p>
          <a:p xmlns:a="http://schemas.openxmlformats.org/drawingml/2006/main">
            <a:r>
              <a:t>Sources: https://github.com/nicholas-yap/spacex-data-science-capstone/blob/main/data/dataset_part_2.csv</a:t>
            </a:r>
          </a:p>
          <a:p xmlns:a="http://schemas.openxmlformats.org/drawingml/2006/main">
            <a:r>
              <a:t>Course datasets are historical snapshots, not current SpaceX operational data.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23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Yearly means of the course Class label; this is not mission success rate. Years with no observations are omitted.</a:t>
            </a:r>
          </a:p>
          <a:p xmlns:a="http://schemas.openxmlformats.org/drawingml/2006/main">
            <a:r>
              <a:t>Sources: https://github.com/nicholas-yap/spacex-data-science-capstone/blob/main/data/dataset_part_2.csv</a:t>
            </a:r>
          </a:p>
          <a:p xmlns:a="http://schemas.openxmlformats.org/drawingml/2006/main">
            <a:r>
              <a:t>Course datasets are historical snapshots, not current SpaceX operational data.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24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SELECT DISTINCT Launch_Site</a:t>
            </a:r>
          </a:p>
          <a:p xmlns:a="http://schemas.openxmlformats.org/drawingml/2006/main">
            <a:r>
              <a:t>FROM SPACEXTABLE</a:t>
            </a:r>
          </a:p>
          <a:p xmlns:a="http://schemas.openxmlformats.org/drawingml/2006/main">
            <a:r>
              <a:t>ORDER BY Launch_Site;</a:t>
            </a:r>
          </a:p>
          <a:p xmlns:a="http://schemas.openxmlformats.org/drawingml/2006/main">
            <a:r>
              <a:t>Result: [["CCAFS LC-40"],["CCAFS SLC-40"],["KSC LC-39A"],["VAFB SLC-4E"]]</a:t>
            </a:r>
          </a:p>
          <a:p xmlns:a="http://schemas.openxmlformats.org/drawingml/2006/main">
            <a:r>
              <a:t>Sources: https://github.com/nicholas-yap/spacex-data-science-capstone/blob/main/notebooks/jupyter-labs-eda-sql-coursera_sqllite.ipynb</a:t>
            </a:r>
          </a:p>
          <a:p xmlns:a="http://schemas.openxmlformats.org/drawingml/2006/main">
            <a:r>
              <a:t>Course datasets are historical snapshots, not current SpaceX operational data.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25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SELECT *</a:t>
            </a:r>
          </a:p>
          <a:p xmlns:a="http://schemas.openxmlformats.org/drawingml/2006/main">
            <a:r>
              <a:t>FROM SPACEXTABLE</a:t>
            </a:r>
          </a:p>
          <a:p xmlns:a="http://schemas.openxmlformats.org/drawingml/2006/main">
            <a:r>
              <a:t>WHERE Launch_Site LIKE 'CCA%'</a:t>
            </a:r>
          </a:p>
          <a:p xmlns:a="http://schemas.openxmlformats.org/drawingml/2006/main">
            <a:r>
              <a:t>ORDER BY Date, "Time (UTC)"</a:t>
            </a:r>
          </a:p>
          <a:p xmlns:a="http://schemas.openxmlformats.org/drawingml/2006/main">
            <a:r>
              <a:t>LIMIT 5;</a:t>
            </a:r>
          </a:p>
          <a:p xmlns:a="http://schemas.openxmlformats.org/drawingml/2006/main">
            <a:r>
              <a:t>Result: [["2010-06-04","18:45:00","F9 v1.0  B0003","CCAFS LC-40","Dragon Spacecraft Qualification Unit",0,"LEO","SpaceX","Success","Failure (parachute)"],["2010-12-08","15:43:00","F9 v1.0  B0004","CCAFS LC-40","Dragon demo flight C1, two CubeSats, barrel of Brouere cheese",0,"LEO (ISS)","NASA (COTS) NRO","Success","Failure (parachute)"],["2012-05-22","7:44:00","F9 v1.0  B0005","CCAFS LC-40","Dragon demo flight C2",525,"LEO (ISS)","NASA (COTS)","Success","No attempt"],["2012-10-08","0:35:00","F9 v1.0  B0006","CCAFS LC-40","SpaceX CRS-1",500,"LEO (ISS)","NASA (CRS)","Success","No attempt"],["2013-03-01","15:10:00","F9 v1.0  B0007","CCAFS LC-40","SpaceX CRS-2",677,"LEO (ISS)","NASA (CRS)","Success","No attempt"]]</a:t>
            </a:r>
          </a:p>
          <a:p xmlns:a="http://schemas.openxmlformats.org/drawingml/2006/main">
            <a:r>
              <a:t>Sources: https://github.com/nicholas-yap/spacex-data-science-capstone/blob/main/notebooks/jupyter-labs-eda-sql-coursera_sqllite.ipynb</a:t>
            </a:r>
          </a:p>
          <a:p xmlns:a="http://schemas.openxmlformats.org/drawingml/2006/main">
            <a:r>
              <a:t>Course datasets are historical snapshots, not current SpaceX operational data.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26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SELECT SUM(PAYLOAD_MASS__KG_) AS Total_Payload_Mass_KG</a:t>
            </a:r>
          </a:p>
          <a:p xmlns:a="http://schemas.openxmlformats.org/drawingml/2006/main">
            <a:r>
              <a:t>FROM SPACEXTABLE</a:t>
            </a:r>
          </a:p>
          <a:p xmlns:a="http://schemas.openxmlformats.org/drawingml/2006/main">
            <a:r>
              <a:t>WHERE Customer = 'NASA (CRS)';</a:t>
            </a:r>
          </a:p>
          <a:p xmlns:a="http://schemas.openxmlformats.org/drawingml/2006/main">
            <a:r>
              <a:t>Result: [[45596]]</a:t>
            </a:r>
          </a:p>
          <a:p xmlns:a="http://schemas.openxmlformats.org/drawingml/2006/main">
            <a:r>
              <a:t>Sources: https://github.com/nicholas-yap/spacex-data-science-capstone/blob/main/notebooks/jupyter-labs-eda-sql-coursera_sqllite.ipynb</a:t>
            </a:r>
          </a:p>
          <a:p xmlns:a="http://schemas.openxmlformats.org/drawingml/2006/main">
            <a:r>
              <a:t>Course datasets are historical snapshots, not current SpaceX operational data.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27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-- Match the exact booster-version label specified in the assignment.</a:t>
            </a:r>
          </a:p>
          <a:p xmlns:a="http://schemas.openxmlformats.org/drawingml/2006/main">
            <a:r>
              <a:t>SELECT AVG(PAYLOAD_MASS__KG_) AS Average_Payload_Mass_KG</a:t>
            </a:r>
          </a:p>
          <a:p xmlns:a="http://schemas.openxmlformats.org/drawingml/2006/main">
            <a:r>
              <a:t>FROM SPACEXTABLE</a:t>
            </a:r>
          </a:p>
          <a:p xmlns:a="http://schemas.openxmlformats.org/drawingml/2006/main">
            <a:r>
              <a:t>WHERE Booster_Version = 'F9 v1.1';</a:t>
            </a:r>
          </a:p>
          <a:p xmlns:a="http://schemas.openxmlformats.org/drawingml/2006/main">
            <a:r>
              <a:t>Result: [[2928.4]]</a:t>
            </a:r>
          </a:p>
          <a:p xmlns:a="http://schemas.openxmlformats.org/drawingml/2006/main">
            <a:r>
              <a:t>Sources: https://github.com/nicholas-yap/spacex-data-science-capstone/blob/main/notebooks/jupyter-labs-eda-sql-coursera_sqllite.ipynb</a:t>
            </a:r>
          </a:p>
          <a:p xmlns:a="http://schemas.openxmlformats.org/drawingml/2006/main">
            <a:r>
              <a:t>Course datasets are historical snapshots, not current SpaceX operational data.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28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SELECT MIN(Date) AS First_Successful_Ground_Pad_Landing</a:t>
            </a:r>
          </a:p>
          <a:p xmlns:a="http://schemas.openxmlformats.org/drawingml/2006/main">
            <a:r>
              <a:t>FROM SPACEXTABLE</a:t>
            </a:r>
          </a:p>
          <a:p xmlns:a="http://schemas.openxmlformats.org/drawingml/2006/main">
            <a:r>
              <a:t>WHERE TRIM(Landing_Outcome) = 'Success (ground pad)';</a:t>
            </a:r>
          </a:p>
          <a:p xmlns:a="http://schemas.openxmlformats.org/drawingml/2006/main">
            <a:r>
              <a:t>Result: [["2015-12-22"]]</a:t>
            </a:r>
          </a:p>
          <a:p xmlns:a="http://schemas.openxmlformats.org/drawingml/2006/main">
            <a:r>
              <a:t>Sources: https://github.com/nicholas-yap/spacex-data-science-capstone/blob/main/notebooks/jupyter-labs-eda-sql-coursera_sqllite.ipynb</a:t>
            </a:r>
          </a:p>
          <a:p xmlns:a="http://schemas.openxmlformats.org/drawingml/2006/main">
            <a:r>
              <a:t>Course datasets are historical snapshots, not current SpaceX operational data.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29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SELECT DISTINCT TRIM(Booster_Version) AS Booster_Version</a:t>
            </a:r>
          </a:p>
          <a:p xmlns:a="http://schemas.openxmlformats.org/drawingml/2006/main">
            <a:r>
              <a:t>FROM SPACEXTABLE</a:t>
            </a:r>
          </a:p>
          <a:p xmlns:a="http://schemas.openxmlformats.org/drawingml/2006/main">
            <a:r>
              <a:t>WHERE TRIM(Landing_Outcome) = 'Success (drone ship)'</a:t>
            </a:r>
          </a:p>
          <a:p xmlns:a="http://schemas.openxmlformats.org/drawingml/2006/main">
            <a:r>
              <a:t>  AND PAYLOAD_MASS__KG_ &gt; 4000</a:t>
            </a:r>
          </a:p>
          <a:p xmlns:a="http://schemas.openxmlformats.org/drawingml/2006/main">
            <a:r>
              <a:t>  AND PAYLOAD_MASS__KG_ &lt; 6000</a:t>
            </a:r>
          </a:p>
          <a:p xmlns:a="http://schemas.openxmlformats.org/drawingml/2006/main">
            <a:r>
              <a:t>ORDER BY Booster_Version;</a:t>
            </a:r>
          </a:p>
          <a:p xmlns:a="http://schemas.openxmlformats.org/drawingml/2006/main">
            <a:r>
              <a:t>Result: [["F9 FT  B1021.2"],["F9 FT  B1031.2"],["F9 FT B1022"],["F9 FT B1026"]]</a:t>
            </a:r>
          </a:p>
          <a:p xmlns:a="http://schemas.openxmlformats.org/drawingml/2006/main">
            <a:r>
              <a:t>Sources: https://github.com/nicholas-yap/spacex-data-science-capstone/blob/main/notebooks/jupyter-labs-eda-sql-coursera_sqllite.ipynb</a:t>
            </a:r>
          </a:p>
          <a:p xmlns:a="http://schemas.openxmlformats.org/drawingml/2006/main">
            <a:r>
              <a:t>Course datasets are historical snapshots, not current SpaceX operational data.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30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-- Count mission outcomes, which are distinct from booster landing outcomes.</a:t>
            </a:r>
          </a:p>
          <a:p xmlns:a="http://schemas.openxmlformats.org/drawingml/2006/main">
            <a:r>
              <a:t>-- Include "Success (payload status unclear)" in the success category.</a:t>
            </a:r>
          </a:p>
          <a:p xmlns:a="http://schemas.openxmlformats.org/drawingml/2006/main">
            <a:r>
              <a:t>SELECT CASE</a:t>
            </a:r>
          </a:p>
          <a:p xmlns:a="http://schemas.openxmlformats.org/drawingml/2006/main">
            <a:r>
              <a:t>           WHEN TRIM(Mission_Outcome) LIKE 'Success%' THEN 'Success'</a:t>
            </a:r>
          </a:p>
          <a:p xmlns:a="http://schemas.openxmlformats.org/drawingml/2006/main">
            <a:r>
              <a:t>           WHEN TRIM(Mission_Outcome) LIKE 'Failure%' THEN 'Failure'</a:t>
            </a:r>
          </a:p>
          <a:p xmlns:a="http://schemas.openxmlformats.org/drawingml/2006/main">
            <a:r>
              <a:t>           ELSE 'Other'</a:t>
            </a:r>
          </a:p>
          <a:p xmlns:a="http://schemas.openxmlformats.org/drawingml/2006/main">
            <a:r>
              <a:t>       END AS Mission_Result,</a:t>
            </a:r>
          </a:p>
          <a:p xmlns:a="http://schemas.openxmlformats.org/drawingml/2006/main">
            <a:r>
              <a:t>       COUNT(*) AS Total_Missions</a:t>
            </a:r>
          </a:p>
          <a:p xmlns:a="http://schemas.openxmlformats.org/drawingml/2006/main">
            <a:r>
              <a:t>FROM SPACEXTABLE</a:t>
            </a:r>
          </a:p>
          <a:p xmlns:a="http://schemas.openxmlformats.org/drawingml/2006/main">
            <a:r>
              <a:t>GROUP BY Mission_Result</a:t>
            </a:r>
          </a:p>
          <a:p xmlns:a="http://schemas.openxmlformats.org/drawingml/2006/main">
            <a:r>
              <a:t>ORDER BY Total_Missions DESC;</a:t>
            </a:r>
          </a:p>
          <a:p xmlns:a="http://schemas.openxmlformats.org/drawingml/2006/main">
            <a:r>
              <a:t>Result: [["Success",100],["Failure",1]]</a:t>
            </a:r>
          </a:p>
          <a:p xmlns:a="http://schemas.openxmlformats.org/drawingml/2006/main">
            <a:r>
              <a:t>Sources: https://github.com/nicholas-yap/spacex-data-science-capstone/blob/main/notebooks/jupyter-labs-eda-sql-coursera_sqllite.ipynb</a:t>
            </a:r>
          </a:p>
          <a:p xmlns:a="http://schemas.openxmlformats.org/drawingml/2006/main">
            <a:r>
              <a:t>Course datasets are historical snapshots, not current SpaceX operational data.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31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SELECT DISTINCT TRIM(Booster_Version) AS Booster_Version,</a:t>
            </a:r>
          </a:p>
          <a:p xmlns:a="http://schemas.openxmlformats.org/drawingml/2006/main">
            <a:r>
              <a:t>       PAYLOAD_MASS__KG_</a:t>
            </a:r>
          </a:p>
          <a:p xmlns:a="http://schemas.openxmlformats.org/drawingml/2006/main">
            <a:r>
              <a:t>FROM SPACEXTABLE</a:t>
            </a:r>
          </a:p>
          <a:p xmlns:a="http://schemas.openxmlformats.org/drawingml/2006/main">
            <a:r>
              <a:t>WHERE PAYLOAD_MASS__KG_ = (</a:t>
            </a:r>
          </a:p>
          <a:p xmlns:a="http://schemas.openxmlformats.org/drawingml/2006/main">
            <a:r>
              <a:t>    SELECT MAX(PAYLOAD_MASS__KG_)</a:t>
            </a:r>
          </a:p>
          <a:p xmlns:a="http://schemas.openxmlformats.org/drawingml/2006/main">
            <a:r>
              <a:t>    FROM SPACEXTABLE</a:t>
            </a:r>
          </a:p>
          <a:p xmlns:a="http://schemas.openxmlformats.org/drawingml/2006/main">
            <a:r>
              <a:t>)</a:t>
            </a:r>
          </a:p>
          <a:p xmlns:a="http://schemas.openxmlformats.org/drawingml/2006/main">
            <a:r>
              <a:t>ORDER BY Booster_Version;</a:t>
            </a:r>
          </a:p>
          <a:p xmlns:a="http://schemas.openxmlformats.org/drawingml/2006/main">
            <a:r>
              <a:t>Result: [["F9 B5 B1048.4",15600],["F9 B5 B1048.5",15600],["F9 B5 B1049.4",15600],["F9 B5 B1049.5",15600],["F9 B5 B1049.7",15600],["F9 B5 B1051.3",15600],["F9 B5 B1051.4",15600],["F9 B5 B1051.6",15600],["F9 B5 B1056.4",15600],["F9 B5 B1058.3",15600],["F9 B5 B1060.2",15600],["F9 B5 B1060.3",15600]]</a:t>
            </a:r>
          </a:p>
          <a:p xmlns:a="http://schemas.openxmlformats.org/drawingml/2006/main">
            <a:r>
              <a:t>Sources: https://github.com/nicholas-yap/spacex-data-science-capstone/blob/main/notebooks/jupyter-labs-eda-sql-coursera_sqllite.ipynb</a:t>
            </a:r>
          </a:p>
          <a:p xmlns:a="http://schemas.openxmlformats.org/drawingml/2006/main">
            <a:r>
              <a:t>Course datasets are historical snapshots, not current SpaceX operational data.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32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SELECT CASE SUBSTR(Date, 6, 2)</a:t>
            </a:r>
          </a:p>
          <a:p xmlns:a="http://schemas.openxmlformats.org/drawingml/2006/main">
            <a:r>
              <a:t>           WHEN '01' THEN 'January'</a:t>
            </a:r>
          </a:p>
          <a:p xmlns:a="http://schemas.openxmlformats.org/drawingml/2006/main">
            <a:r>
              <a:t>           WHEN '02' THEN 'February'</a:t>
            </a:r>
          </a:p>
          <a:p xmlns:a="http://schemas.openxmlformats.org/drawingml/2006/main">
            <a:r>
              <a:t>           WHEN '03' THEN 'March'</a:t>
            </a:r>
          </a:p>
          <a:p xmlns:a="http://schemas.openxmlformats.org/drawingml/2006/main">
            <a:r>
              <a:t>           WHEN '04' THEN 'April'</a:t>
            </a:r>
          </a:p>
          <a:p xmlns:a="http://schemas.openxmlformats.org/drawingml/2006/main">
            <a:r>
              <a:t>           WHEN '05' THEN 'May'</a:t>
            </a:r>
          </a:p>
          <a:p xmlns:a="http://schemas.openxmlformats.org/drawingml/2006/main">
            <a:r>
              <a:t>           WHEN '06' THEN 'June'</a:t>
            </a:r>
          </a:p>
          <a:p xmlns:a="http://schemas.openxmlformats.org/drawingml/2006/main">
            <a:r>
              <a:t>           WHEN '07' THEN 'July'</a:t>
            </a:r>
          </a:p>
          <a:p xmlns:a="http://schemas.openxmlformats.org/drawingml/2006/main">
            <a:r>
              <a:t>           WHEN '08' THEN 'August'</a:t>
            </a:r>
          </a:p>
          <a:p xmlns:a="http://schemas.openxmlformats.org/drawingml/2006/main">
            <a:r>
              <a:t>           WHEN '09' THEN 'September'</a:t>
            </a:r>
          </a:p>
          <a:p xmlns:a="http://schemas.openxmlformats.org/drawingml/2006/main">
            <a:r>
              <a:t>           WHEN '10' THEN 'October'</a:t>
            </a:r>
          </a:p>
          <a:p xmlns:a="http://schemas.openxmlformats.org/drawingml/2006/main">
            <a:r>
              <a:t>           WHEN '11' THEN 'November'</a:t>
            </a:r>
          </a:p>
          <a:p xmlns:a="http://schemas.openxmlformats.org/drawingml/2006/main">
            <a:r>
              <a:t>           WHEN '12' THEN 'December'</a:t>
            </a:r>
          </a:p>
          <a:p xmlns:a="http://schemas.openxmlformats.org/drawingml/2006/main">
            <a:r>
              <a:t>       END AS Month,</a:t>
            </a:r>
          </a:p>
          <a:p xmlns:a="http://schemas.openxmlformats.org/drawingml/2006/main">
            <a:r>
              <a:t>       Landing_Outcome,</a:t>
            </a:r>
          </a:p>
          <a:p xmlns:a="http://schemas.openxmlformats.org/drawingml/2006/main">
            <a:r>
              <a:t>       TRIM(Booster_Version) AS Booster_Version,</a:t>
            </a:r>
          </a:p>
          <a:p xmlns:a="http://schemas.openxmlformats.org/drawingml/2006/main">
            <a:r>
              <a:t>       Launch_Site</a:t>
            </a:r>
          </a:p>
          <a:p xmlns:a="http://schemas.openxmlformats.org/drawingml/2006/main">
            <a:r>
              <a:t>FROM SPACEXTABLE</a:t>
            </a:r>
          </a:p>
          <a:p xmlns:a="http://schemas.openxmlformats.org/drawingml/2006/main">
            <a:r>
              <a:t>WHERE SUBSTR(Date, 1, 4) = '2015'</a:t>
            </a:r>
          </a:p>
          <a:p xmlns:a="http://schemas.openxmlformats.org/drawingml/2006/main">
            <a:r>
              <a:t>  AND TRIM(Landing_Outcome) = 'Failure (drone ship)'</a:t>
            </a:r>
          </a:p>
          <a:p xmlns:a="http://schemas.openxmlformats.org/drawingml/2006/main">
            <a:r>
              <a:t>ORDER BY Date;</a:t>
            </a:r>
          </a:p>
          <a:p xmlns:a="http://schemas.openxmlformats.org/drawingml/2006/main">
            <a:r>
              <a:t>Result: [["January","Failure (drone ship)","F9 v1.1 B1012","CCAFS LC-40"],["April","Failure (drone ship)","F9 v1.1 B1015","CCAFS LC-40"]]</a:t>
            </a:r>
          </a:p>
          <a:p xmlns:a="http://schemas.openxmlformats.org/drawingml/2006/main">
            <a:r>
              <a:t>Sources: https://github.com/nicholas-yap/spacex-data-science-capstone/blob/main/notebooks/jupyter-labs-eda-sql-coursera_sqllite.ipynb</a:t>
            </a:r>
          </a:p>
          <a:p xmlns:a="http://schemas.openxmlformats.org/drawingml/2006/main">
            <a:r>
              <a:t>Course datasets are historical snapshots, not current SpaceX operational data.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33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SELECT TRIM(Landing_Outcome) AS Landing_Outcome,</a:t>
            </a:r>
          </a:p>
          <a:p xmlns:a="http://schemas.openxmlformats.org/drawingml/2006/main">
            <a:r>
              <a:t>       COUNT(*) AS Outcome_Count</a:t>
            </a:r>
          </a:p>
          <a:p xmlns:a="http://schemas.openxmlformats.org/drawingml/2006/main">
            <a:r>
              <a:t>FROM SPACEXTABLE</a:t>
            </a:r>
          </a:p>
          <a:p xmlns:a="http://schemas.openxmlformats.org/drawingml/2006/main">
            <a:r>
              <a:t>WHERE Date BETWEEN '2010-06-04' AND '2017-03-20'</a:t>
            </a:r>
          </a:p>
          <a:p xmlns:a="http://schemas.openxmlformats.org/drawingml/2006/main">
            <a:r>
              <a:t>GROUP BY TRIM(Landing_Outcome)</a:t>
            </a:r>
          </a:p>
          <a:p xmlns:a="http://schemas.openxmlformats.org/drawingml/2006/main">
            <a:r>
              <a:t>ORDER BY Outcome_Count DESC, Landing_Outcome;</a:t>
            </a:r>
          </a:p>
          <a:p xmlns:a="http://schemas.openxmlformats.org/drawingml/2006/main">
            <a:r>
              <a:t>Result: [["No attempt",10],["Failure (drone ship)",5],["Success (drone ship)",5],["Controlled (ocean)",3],["Success (ground pad)",3],["Failure (parachute)",2],["Uncontrolled (ocean)",2],["Precluded (drone ship)",1]]</a:t>
            </a:r>
          </a:p>
          <a:p xmlns:a="http://schemas.openxmlformats.org/drawingml/2006/main">
            <a:r>
              <a:t>Sources: https://github.com/nicholas-yap/spacex-data-science-capstone/blob/main/notebooks/jupyter-labs-eda-sql-coursera_sqllite.ipynb</a:t>
            </a:r>
          </a:p>
          <a:p xmlns:a="http://schemas.openxmlformats.org/drawingml/2006/main">
            <a:r>
              <a:t>Course datasets are historical snapshots, not current SpaceX operational data.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34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Actual Folium screenshot. Basemap © OpenStreetMap contributors, https://www.openstreetmap.org/copyright . Dataset coordinates.</a:t>
            </a:r>
          </a:p>
          <a:p xmlns:a="http://schemas.openxmlformats.org/drawingml/2006/main">
            <a:r>
              <a:t>Sources: https://github.com/nicholas-yap/spacex-data-science-capstone/blob/main/maps/launch_sites.html</a:t>
            </a:r>
          </a:p>
          <a:p xmlns:a="http://schemas.openxmlformats.org/drawingml/2006/main">
            <a:r>
              <a:t>Course datasets are historical snapshots, not current SpaceX operational data.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35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Actual Folium MarkerCluster spiderfy screenshot. Green Class 1, red Class 0. OSM basemap attribution.</a:t>
            </a:r>
          </a:p>
          <a:p xmlns:a="http://schemas.openxmlformats.org/drawingml/2006/main">
            <a:r>
              <a:t>Sources: https://github.com/nicholas-yap/spacex-data-science-capstone/blob/main/maps/launch_outcomes.html</a:t>
            </a:r>
          </a:p>
          <a:p xmlns:a="http://schemas.openxmlformats.org/drawingml/2006/main">
            <a:r>
              <a:t>Course datasets are historical snapshots, not current SpaceX operational data.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36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Haversine distances with Earth radius 6371 km. Selected points: [{"name":"Coastline sample","latitude":28.563,"longitude":-80.5675,"km":0.9718793646856646},{"name":"Road sample","latitude":28.5631,"longitude":-80.5829,"km":0.557852641160271},{"name":"Rail sample","latitude":28.5721,"longitude":-80.5854,"km":1.383039420705225}]. OSM basemap.</a:t>
            </a:r>
          </a:p>
          <a:p xmlns:a="http://schemas.openxmlformats.org/drawingml/2006/main">
            <a:r>
              <a:t>Sources: https://github.com/nicholas-yap/spacex-data-science-capstone/blob/main/maps/proximity.html</a:t>
            </a:r>
          </a:p>
          <a:p xmlns:a="http://schemas.openxmlformats.org/drawingml/2006/main">
            <a:r>
              <a:t>Course datasets are historical snapshots, not current SpaceX operational data.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37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Actual running Dash dashboard screenshot. Same 90-launch course dataset.</a:t>
            </a:r>
          </a:p>
          <a:p xmlns:a="http://schemas.openxmlformats.org/drawingml/2006/main">
            <a:r>
              <a:t>Sources: https://github.com/nicholas-yap/spacex-data-science-capstone/blob/main/spacex_dashboard.py</a:t>
            </a:r>
          </a:p>
          <a:p xmlns:a="http://schemas.openxmlformats.org/drawingml/2006/main">
            <a:r>
              <a:t>Course datasets are historical snapshots, not current SpaceX operational data.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38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Actual selected-site Dash screenshot. KSC 17/22, VAFB 10/13, CCAFS 33/55.</a:t>
            </a:r>
          </a:p>
          <a:p xmlns:a="http://schemas.openxmlformats.org/drawingml/2006/main">
            <a:r>
              <a:t>Sources: https://github.com/nicholas-yap/spacex-data-science-capstone/blob/main/spacex_dashboard.py</a:t>
            </a:r>
          </a:p>
          <a:p xmlns:a="http://schemas.openxmlformats.org/drawingml/2006/main">
            <a:r>
              <a:t>Course datasets are historical snapshots, not current SpaceX operational data.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39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Actual Dash screenshots for all sites with 0–5000 kg and 5000–16000 kg payload ranges.</a:t>
            </a:r>
          </a:p>
          <a:p xmlns:a="http://schemas.openxmlformats.org/drawingml/2006/main">
            <a:r>
              <a:t>Sources: https://github.com/nicholas-yap/spacex-data-science-capstone/blob/main/spacex_dashboard.py</a:t>
            </a:r>
          </a:p>
          <a:p xmlns:a="http://schemas.openxmlformats.org/drawingml/2006/main">
            <a:r>
              <a:t>Course datasets are historical snapshots, not current SpaceX operational data.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40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Repository contains the completed deck and supporting files. Dataset scope and methodological limitations are described in README.md.</a:t>
            </a:r>
            <a:endParaRPr/>
          </a:p>
          <a:p xmlns:a="http://schemas.openxmlformats.org/drawingml/2006/main">
            <a:r>
              <a:t>Sources: https://github.com/nicholas-yap/spacex-data-science-capstone/blob/main/README.md</a:t>
            </a:r>
            <a:endParaRPr/>
          </a:p>
          <a:p xmlns:a="http://schemas.openxmlformats.org/drawingml/2006/main">
            <a:r>
              <a:t>Course datasets are historical snapshots, not current SpaceX operational data.</a:t>
            </a:r>
            <a:endParaRPr/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slideLayouts/_rels/slideLayout1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11e566a849944f34" /></Relationships>
</file>

<file path=ppt/slideLayouts/_rels/slideLayout2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a6f16264d6594681" /></Relationships>
</file>

<file path=ppt/slideLayouts/_rels/slideLayout3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83e89e0f30cd4217" /></Relationships>
</file>

<file path=ppt/slideLayouts/_rels/slideLayout4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5443adc1d33c413b" /></Relationships>
</file>

<file path=ppt/slideLayouts/_rels/slideLayout5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b9879a54aa464005" /></Relationships>
</file>

<file path=ppt/slideLayouts/_rels/slideLayout6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e8a8d896602046dc" /></Relationships>
</file>

<file path=ppt/slideLayouts/_rels/slideLayout7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55fe69f6189b48df" /></Relationships>
</file>

<file path=ppt/slideLayouts/_rels/slideLayout8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bf9d4c4c5648482a" /></Relationships>
</file>

<file path=ppt/slideLayouts/_rels/slideLayout9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1e85dec3d4a941b4" /></Relationships>
</file>

<file path=ppt/slideLayouts/_rels/slideLayout10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045e9e3c206d4fa4" /></Relationships>
</file>

<file path=ppt/slideLayouts/_rels/slideLayout11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301e46bb1bf24f48" /></Relationships>
</file>

<file path=ppt/slideLayouts/_rels/slideLayout12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f88b37678a464b8e" /></Relationships>
</file>

<file path=ppt/slideLayouts/_rels/slideLayout13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7ab74e1e9f074608" /></Relationships>
</file>

<file path=ppt/slideLayouts/slideLayout1.xml><?xml version="1.0" encoding="utf-8"?>
<p:sldLayout xmlns:p="http://schemas.openxmlformats.org/presentationml/2006/main" preserve="1" userDrawn="1">
  <p:cSld name="Title Slide"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6" name="Slide Number Placeholder 5">
            <a:extLst xmlns:a="http://schemas.openxmlformats.org/drawingml/2006/main">
              <a:ext uri="{FF2B5EF4-FFF2-40B4-BE49-F238E27FC236}">
                <a16:creationId xmlns:a16="http://schemas.microsoft.com/office/drawing/2014/main" id="{92FDF747-B622-7F48-9215-C3A606BDEB98}"/>
              </a:ext>
            </a:extLst>
          </p:cNvPr>
          <p:cNvSpPr>
            <a:spLocks xmlns:a="http://schemas.openxmlformats.org/drawingml/2006/main" noGrp="1"/>
          </p:cNvSpPr>
          <p:nvPr>
            <p:ph type="sldNum" idx="12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fld id="{A190C97C-0095-2443-AC12-FA4CBA4ACD4D}" type="slidenum">
              <a:t>‹#›</a:t>
            </a:fld>
            <a:endParaRPr/>
          </a:p>
        </p:txBody>
      </p:sp>
    </p:spTree>
  </p:cSld>
</p:sldLayout>
</file>

<file path=ppt/slideLayouts/slideLayout2.xml><?xml version="1.0" encoding="utf-8"?>
<p:sldLayout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Title 1">
            <a:extLst xmlns:a="http://schemas.openxmlformats.org/drawingml/2006/main">
              <a:ext uri="{FF2B5EF4-FFF2-40B4-BE49-F238E27FC236}">
                <a16:creationId xmlns:a16="http://schemas.microsoft.com/office/drawing/2014/main" id="{CCCCE525-4063-4C4F-8334-FBA02DB69372}"/>
              </a:ext>
            </a:extLst>
          </p:cNvPr>
          <p:cNvSpPr>
            <a:spLocks xmlns:a="http://schemas.openxmlformats.org/drawingml/2006/main" noGrp="1"/>
          </p:cNvSpPr>
          <p:nvPr>
            <p:ph type="title" idx="0"/>
          </p:nvPr>
        </p:nvSpPr>
        <p:spPr>
          <a:xfrm xmlns:a="http://schemas.openxmlformats.org/drawingml/2006/main">
            <a:off x="838200" y="365125"/>
            <a:ext cx="10515600" cy="1325563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Click to edit Master title style</a:t>
            </a:r>
          </a:p>
        </p:txBody>
      </p:sp>
      <p:sp>
        <p:nvSpPr>
          <p:cNvPr id="3" name="Content Placeholder 2">
            <a:extLst xmlns:a="http://schemas.openxmlformats.org/drawingml/2006/main">
              <a:ext uri="{FF2B5EF4-FFF2-40B4-BE49-F238E27FC236}">
                <a16:creationId xmlns:a16="http://schemas.microsoft.com/office/drawing/2014/main" id="{CB14EC97-9D34-BE48-9367-02F3BA14827A}"/>
              </a:ext>
            </a:extLst>
          </p:cNvPr>
          <p:cNvSpPr>
            <a:spLocks xmlns:a="http://schemas.openxmlformats.org/drawingml/2006/main" noGrp="1"/>
          </p:cNvSpPr>
          <p:nvPr>
            <p:ph idx="1"/>
          </p:nvPr>
        </p:nvSpPr>
        <p:spPr>
          <a:xfrm xmlns:a="http://schemas.openxmlformats.org/drawingml/2006/main">
            <a:off x="838200" y="1825625"/>
            <a:ext cx="10515600" cy="4351338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lvl="0">
              <a:buNone/>
            </a:pPr>
            <a:r>
              <a:t>Click to edit Master text styles</a:t>
            </a:r>
          </a:p>
          <a:p xmlns:a="http://schemas.openxmlformats.org/drawingml/2006/main">
            <a:pPr lvl="1">
              <a:buNone/>
            </a:pPr>
            <a:r>
              <a:t>Second level</a:t>
            </a:r>
          </a:p>
          <a:p xmlns:a="http://schemas.openxmlformats.org/drawingml/2006/main">
            <a:pPr lvl="2">
              <a:buNone/>
            </a:pPr>
            <a:r>
              <a:t>Third level</a:t>
            </a:r>
          </a:p>
          <a:p xmlns:a="http://schemas.openxmlformats.org/drawingml/2006/main">
            <a:pPr lvl="3">
              <a:buNone/>
            </a:pPr>
            <a:r>
              <a:t>Fourth level</a:t>
            </a:r>
          </a:p>
          <a:p xmlns:a="http://schemas.openxmlformats.org/drawingml/2006/main">
            <a:pPr lvl="4">
              <a:buNone/>
            </a:pPr>
            <a:r>
              <a:t>Fifth level</a:t>
            </a:r>
          </a:p>
        </p:txBody>
      </p:sp>
      <p:sp>
        <p:nvSpPr>
          <p:cNvPr id="4" name="Date Placeholder 3">
            <a:extLst xmlns:a="http://schemas.openxmlformats.org/drawingml/2006/main">
              <a:ext uri="{FF2B5EF4-FFF2-40B4-BE49-F238E27FC236}">
                <a16:creationId xmlns:a16="http://schemas.microsoft.com/office/drawing/2014/main" id="{2EBB8E19-FEF2-7A4B-8575-5AFEB134BC56}"/>
              </a:ext>
            </a:extLst>
          </p:cNvPr>
          <p:cNvSpPr>
            <a:spLocks xmlns:a="http://schemas.openxmlformats.org/drawingml/2006/main" noGrp="1"/>
          </p:cNvSpPr>
          <p:nvPr>
            <p:ph type="dt" idx="10"/>
          </p:nvPr>
        </p:nvSpPr>
        <p:spPr>
          <a:xfrm xmlns:a="http://schemas.openxmlformats.org/drawingml/2006/main">
            <a:off x="838200" y="6356350"/>
            <a:ext cx="2743200" cy="365125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fld id="{5E4E5C39-FE1E-4048-9E78-68F07A4195FB}" type="datetimeFigureOut">
              <a:t>1/27/22</a:t>
            </a:fld>
            <a:endParaRPr/>
          </a:p>
        </p:txBody>
      </p:sp>
      <p:sp>
        <p:nvSpPr>
          <p:cNvPr id="5" name="Footer Placeholder 4">
            <a:extLst xmlns:a="http://schemas.openxmlformats.org/drawingml/2006/main">
              <a:ext uri="{FF2B5EF4-FFF2-40B4-BE49-F238E27FC236}">
                <a16:creationId xmlns:a16="http://schemas.microsoft.com/office/drawing/2014/main" id="{513A4E28-3138-784C-8CBB-8586D8EE0307}"/>
              </a:ext>
            </a:extLst>
          </p:cNvPr>
          <p:cNvSpPr>
            <a:spLocks xmlns:a="http://schemas.openxmlformats.org/drawingml/2006/main" noGrp="1"/>
          </p:cNvSpPr>
          <p:nvPr>
            <p:ph type="ftr" idx="11"/>
          </p:nvPr>
        </p:nvSpPr>
        <p:spPr>
          <a:xfrm xmlns:a="http://schemas.openxmlformats.org/drawingml/2006/main">
            <a:off x="4038600" y="6356350"/>
            <a:ext cx="4114800" cy="365125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endParaRPr/>
          </a:p>
        </p:txBody>
      </p:sp>
      <p:sp>
        <p:nvSpPr>
          <p:cNvPr id="6" name="Slide Number Placeholder 5">
            <a:extLst xmlns:a="http://schemas.openxmlformats.org/drawingml/2006/main">
              <a:ext uri="{FF2B5EF4-FFF2-40B4-BE49-F238E27FC236}">
                <a16:creationId xmlns:a16="http://schemas.microsoft.com/office/drawing/2014/main" id="{BFB07D0F-3645-6B43-9AD7-762199572C65}"/>
              </a:ext>
            </a:extLst>
          </p:cNvPr>
          <p:cNvSpPr>
            <a:spLocks xmlns:a="http://schemas.openxmlformats.org/drawingml/2006/main" noGrp="1"/>
          </p:cNvSpPr>
          <p:nvPr>
            <p:ph type="sldNum" idx="12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fld id="{A190C97C-0095-2443-AC12-FA4CBA4ACD4D}" type="slidenum">
              <a:t>‹#›</a:t>
            </a:fld>
            <a:endParaRPr/>
          </a:p>
        </p:txBody>
      </p:sp>
    </p:spTree>
  </p:cSld>
</p:sldLayout>
</file>

<file path=ppt/slideLayouts/slideLayout3.xml><?xml version="1.0" encoding="utf-8"?>
<p:sldLayout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Title 1">
            <a:extLst xmlns:a="http://schemas.openxmlformats.org/drawingml/2006/main">
              <a:ext uri="{FF2B5EF4-FFF2-40B4-BE49-F238E27FC236}">
                <a16:creationId xmlns:a16="http://schemas.microsoft.com/office/drawing/2014/main" id="{28B63CE8-FC8A-B648-971E-6DC96997A7A7}"/>
              </a:ext>
            </a:extLst>
          </p:cNvPr>
          <p:cNvSpPr>
            <a:spLocks xmlns:a="http://schemas.openxmlformats.org/drawingml/2006/main" noGrp="1"/>
          </p:cNvSpPr>
          <p:nvPr>
            <p:ph type="title" idx="0"/>
          </p:nvPr>
        </p:nvSpPr>
        <p:spPr>
          <a:xfrm xmlns:a="http://schemas.openxmlformats.org/drawingml/2006/main">
            <a:off x="831850" y="1709738"/>
            <a:ext cx="10515600" cy="2852737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anchor="b"/>
          <a:lstStyle xmlns:a="http://schemas.openxmlformats.org/drawingml/2006/main">
            <a:lvl1pPr>
              <a:buNone/>
              <a:defRPr sz="6000"/>
            </a:lvl1pPr>
          </a:lstStyle>
          <a:p xmlns:a="http://schemas.openxmlformats.org/drawingml/2006/main">
            <a:r>
              <a:t>Click to edit Master title style</a:t>
            </a:r>
          </a:p>
        </p:txBody>
      </p:sp>
      <p:sp>
        <p:nvSpPr>
          <p:cNvPr id="3" name="Text Placeholder 2">
            <a:extLst xmlns:a="http://schemas.openxmlformats.org/drawingml/2006/main">
              <a:ext uri="{FF2B5EF4-FFF2-40B4-BE49-F238E27FC236}">
                <a16:creationId xmlns:a16="http://schemas.microsoft.com/office/drawing/2014/main" id="{8C634958-58AE-3F4E-8C00-440B25A937A7}"/>
              </a:ext>
            </a:extLst>
          </p:cNvPr>
          <p:cNvSpPr>
            <a:spLocks xmlns:a="http://schemas.openxmlformats.org/drawingml/2006/main" noGrp="1"/>
          </p:cNvSpPr>
          <p:nvPr>
            <p:ph type="body" idx="1"/>
          </p:nvPr>
        </p:nvSpPr>
        <p:spPr>
          <a:xfrm xmlns:a="http://schemas.openxmlformats.org/drawingml/2006/main">
            <a:off x="831850" y="4589463"/>
            <a:ext cx="10515600" cy="1500187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 xmlns:a="http://schemas.openxmlformats.org/drawingml/2006/main">
            <a:pPr lvl="0">
              <a:buNone/>
            </a:pPr>
            <a:r>
              <a:t>Click to edit Master text styles</a:t>
            </a:r>
          </a:p>
        </p:txBody>
      </p:sp>
      <p:sp>
        <p:nvSpPr>
          <p:cNvPr id="4" name="Date Placeholder 3">
            <a:extLst xmlns:a="http://schemas.openxmlformats.org/drawingml/2006/main">
              <a:ext uri="{FF2B5EF4-FFF2-40B4-BE49-F238E27FC236}">
                <a16:creationId xmlns:a16="http://schemas.microsoft.com/office/drawing/2014/main" id="{B5872462-6007-A64A-86E6-F5ED46C87269}"/>
              </a:ext>
            </a:extLst>
          </p:cNvPr>
          <p:cNvSpPr>
            <a:spLocks xmlns:a="http://schemas.openxmlformats.org/drawingml/2006/main" noGrp="1"/>
          </p:cNvSpPr>
          <p:nvPr>
            <p:ph type="dt" idx="10"/>
          </p:nvPr>
        </p:nvSpPr>
        <p:spPr>
          <a:xfrm xmlns:a="http://schemas.openxmlformats.org/drawingml/2006/main">
            <a:off x="838200" y="6356350"/>
            <a:ext cx="2743200" cy="365125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fld id="{5E4E5C39-FE1E-4048-9E78-68F07A4195FB}" type="datetimeFigureOut">
              <a:t>1/27/22</a:t>
            </a:fld>
            <a:endParaRPr/>
          </a:p>
        </p:txBody>
      </p:sp>
      <p:sp>
        <p:nvSpPr>
          <p:cNvPr id="5" name="Footer Placeholder 4">
            <a:extLst xmlns:a="http://schemas.openxmlformats.org/drawingml/2006/main">
              <a:ext uri="{FF2B5EF4-FFF2-40B4-BE49-F238E27FC236}">
                <a16:creationId xmlns:a16="http://schemas.microsoft.com/office/drawing/2014/main" id="{99D379FD-EE00-8243-9FA5-BC4C116FAB71}"/>
              </a:ext>
            </a:extLst>
          </p:cNvPr>
          <p:cNvSpPr>
            <a:spLocks xmlns:a="http://schemas.openxmlformats.org/drawingml/2006/main" noGrp="1"/>
          </p:cNvSpPr>
          <p:nvPr>
            <p:ph type="ftr" idx="11"/>
          </p:nvPr>
        </p:nvSpPr>
        <p:spPr>
          <a:xfrm xmlns:a="http://schemas.openxmlformats.org/drawingml/2006/main">
            <a:off x="4038600" y="6356350"/>
            <a:ext cx="4114800" cy="365125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endParaRPr/>
          </a:p>
        </p:txBody>
      </p:sp>
      <p:sp>
        <p:nvSpPr>
          <p:cNvPr id="6" name="Slide Number Placeholder 5">
            <a:extLst xmlns:a="http://schemas.openxmlformats.org/drawingml/2006/main">
              <a:ext uri="{FF2B5EF4-FFF2-40B4-BE49-F238E27FC236}">
                <a16:creationId xmlns:a16="http://schemas.microsoft.com/office/drawing/2014/main" id="{1E72C754-6A4A-424A-B972-C341147C4E0D}"/>
              </a:ext>
            </a:extLst>
          </p:cNvPr>
          <p:cNvSpPr>
            <a:spLocks xmlns:a="http://schemas.openxmlformats.org/drawingml/2006/main" noGrp="1"/>
          </p:cNvSpPr>
          <p:nvPr>
            <p:ph type="sldNum" idx="12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fld id="{A190C97C-0095-2443-AC12-FA4CBA4ACD4D}" type="slidenum">
              <a:t>‹#›</a:t>
            </a:fld>
            <a:endParaRPr/>
          </a:p>
        </p:txBody>
      </p:sp>
    </p:spTree>
  </p:cSld>
</p:sldLayout>
</file>

<file path=ppt/slideLayouts/slideLayout4.xml><?xml version="1.0" encoding="utf-8"?>
<p:sldLayout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Title 1">
            <a:extLst xmlns:a="http://schemas.openxmlformats.org/drawingml/2006/main">
              <a:ext uri="{FF2B5EF4-FFF2-40B4-BE49-F238E27FC236}">
                <a16:creationId xmlns:a16="http://schemas.microsoft.com/office/drawing/2014/main" id="{B0EB8FC9-14F0-064F-BEB7-9DA0B582216D}"/>
              </a:ext>
            </a:extLst>
          </p:cNvPr>
          <p:cNvSpPr>
            <a:spLocks xmlns:a="http://schemas.openxmlformats.org/drawingml/2006/main" noGrp="1"/>
          </p:cNvSpPr>
          <p:nvPr>
            <p:ph type="title" idx="0"/>
          </p:nvPr>
        </p:nvSpPr>
        <p:spPr>
          <a:xfrm xmlns:a="http://schemas.openxmlformats.org/drawingml/2006/main">
            <a:off x="838200" y="365125"/>
            <a:ext cx="10515600" cy="1325563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Click to edit Master title style</a:t>
            </a:r>
          </a:p>
        </p:txBody>
      </p:sp>
      <p:sp>
        <p:nvSpPr>
          <p:cNvPr id="3" name="Content Placeholder 2">
            <a:extLst xmlns:a="http://schemas.openxmlformats.org/drawingml/2006/main">
              <a:ext uri="{FF2B5EF4-FFF2-40B4-BE49-F238E27FC236}">
                <a16:creationId xmlns:a16="http://schemas.microsoft.com/office/drawing/2014/main" id="{9F565333-3885-5246-9997-584B944334CC}"/>
              </a:ext>
            </a:extLst>
          </p:cNvPr>
          <p:cNvSpPr>
            <a:spLocks xmlns:a="http://schemas.openxmlformats.org/drawingml/2006/main" noGrp="1"/>
          </p:cNvSpPr>
          <p:nvPr>
            <p:ph idx="1"/>
          </p:nvPr>
        </p:nvSpPr>
        <p:spPr>
          <a:xfrm xmlns:a="http://schemas.openxmlformats.org/drawingml/2006/main">
            <a:off x="838200" y="1825625"/>
            <a:ext cx="5181600" cy="4351338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lvl="0">
              <a:buNone/>
            </a:pPr>
            <a:r>
              <a:t>Click to edit Master text styles</a:t>
            </a:r>
          </a:p>
          <a:p xmlns:a="http://schemas.openxmlformats.org/drawingml/2006/main">
            <a:pPr lvl="1">
              <a:buNone/>
            </a:pPr>
            <a:r>
              <a:t>Second level</a:t>
            </a:r>
          </a:p>
          <a:p xmlns:a="http://schemas.openxmlformats.org/drawingml/2006/main">
            <a:pPr lvl="2">
              <a:buNone/>
            </a:pPr>
            <a:r>
              <a:t>Third level</a:t>
            </a:r>
          </a:p>
          <a:p xmlns:a="http://schemas.openxmlformats.org/drawingml/2006/main">
            <a:pPr lvl="3">
              <a:buNone/>
            </a:pPr>
            <a:r>
              <a:t>Fourth level</a:t>
            </a:r>
          </a:p>
          <a:p xmlns:a="http://schemas.openxmlformats.org/drawingml/2006/main">
            <a:pPr lvl="4">
              <a:buNone/>
            </a:pPr>
            <a:r>
              <a:t>Fifth level</a:t>
            </a:r>
          </a:p>
        </p:txBody>
      </p:sp>
      <p:sp>
        <p:nvSpPr>
          <p:cNvPr id="4" name="Content Placeholder 3">
            <a:extLst xmlns:a="http://schemas.openxmlformats.org/drawingml/2006/main">
              <a:ext uri="{FF2B5EF4-FFF2-40B4-BE49-F238E27FC236}">
                <a16:creationId xmlns:a16="http://schemas.microsoft.com/office/drawing/2014/main" id="{32A3D495-0AB7-4245-BD03-FEF725EE8B32}"/>
              </a:ext>
            </a:extLst>
          </p:cNvPr>
          <p:cNvSpPr>
            <a:spLocks xmlns:a="http://schemas.openxmlformats.org/drawingml/2006/main" noGrp="1"/>
          </p:cNvSpPr>
          <p:nvPr>
            <p:ph idx="2"/>
          </p:nvPr>
        </p:nvSpPr>
        <p:spPr>
          <a:xfrm xmlns:a="http://schemas.openxmlformats.org/drawingml/2006/main">
            <a:off x="6172200" y="1825625"/>
            <a:ext cx="5181600" cy="4351338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lvl="0">
              <a:buNone/>
            </a:pPr>
            <a:r>
              <a:t>Click to edit Master text styles</a:t>
            </a:r>
          </a:p>
          <a:p xmlns:a="http://schemas.openxmlformats.org/drawingml/2006/main">
            <a:pPr lvl="1">
              <a:buNone/>
            </a:pPr>
            <a:r>
              <a:t>Second level</a:t>
            </a:r>
          </a:p>
          <a:p xmlns:a="http://schemas.openxmlformats.org/drawingml/2006/main">
            <a:pPr lvl="2">
              <a:buNone/>
            </a:pPr>
            <a:r>
              <a:t>Third level</a:t>
            </a:r>
          </a:p>
          <a:p xmlns:a="http://schemas.openxmlformats.org/drawingml/2006/main">
            <a:pPr lvl="3">
              <a:buNone/>
            </a:pPr>
            <a:r>
              <a:t>Fourth level</a:t>
            </a:r>
          </a:p>
          <a:p xmlns:a="http://schemas.openxmlformats.org/drawingml/2006/main">
            <a:pPr lvl="4">
              <a:buNone/>
            </a:pPr>
            <a:r>
              <a:t>Fifth level</a:t>
            </a:r>
          </a:p>
        </p:txBody>
      </p:sp>
      <p:sp>
        <p:nvSpPr>
          <p:cNvPr id="5" name="Date Placeholder 4">
            <a:extLst xmlns:a="http://schemas.openxmlformats.org/drawingml/2006/main">
              <a:ext uri="{FF2B5EF4-FFF2-40B4-BE49-F238E27FC236}">
                <a16:creationId xmlns:a16="http://schemas.microsoft.com/office/drawing/2014/main" id="{F7A3532B-22A8-4948-8614-690AB67FC7F6}"/>
              </a:ext>
            </a:extLst>
          </p:cNvPr>
          <p:cNvSpPr>
            <a:spLocks xmlns:a="http://schemas.openxmlformats.org/drawingml/2006/main" noGrp="1"/>
          </p:cNvSpPr>
          <p:nvPr>
            <p:ph type="dt" idx="10"/>
          </p:nvPr>
        </p:nvSpPr>
        <p:spPr>
          <a:xfrm xmlns:a="http://schemas.openxmlformats.org/drawingml/2006/main">
            <a:off x="838200" y="6356350"/>
            <a:ext cx="2743200" cy="365125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fld id="{5E4E5C39-FE1E-4048-9E78-68F07A4195FB}" type="datetimeFigureOut">
              <a:t>1/27/22</a:t>
            </a:fld>
            <a:endParaRPr/>
          </a:p>
        </p:txBody>
      </p:sp>
      <p:sp>
        <p:nvSpPr>
          <p:cNvPr id="6" name="Footer Placeholder 5">
            <a:extLst xmlns:a="http://schemas.openxmlformats.org/drawingml/2006/main">
              <a:ext uri="{FF2B5EF4-FFF2-40B4-BE49-F238E27FC236}">
                <a16:creationId xmlns:a16="http://schemas.microsoft.com/office/drawing/2014/main" id="{BE45A5D6-868E-4849-A5DA-84702CEDFE81}"/>
              </a:ext>
            </a:extLst>
          </p:cNvPr>
          <p:cNvSpPr>
            <a:spLocks xmlns:a="http://schemas.openxmlformats.org/drawingml/2006/main" noGrp="1"/>
          </p:cNvSpPr>
          <p:nvPr>
            <p:ph type="ftr" idx="11"/>
          </p:nvPr>
        </p:nvSpPr>
        <p:spPr>
          <a:xfrm xmlns:a="http://schemas.openxmlformats.org/drawingml/2006/main">
            <a:off x="4038600" y="6356350"/>
            <a:ext cx="4114800" cy="365125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endParaRPr/>
          </a:p>
        </p:txBody>
      </p:sp>
      <p:sp>
        <p:nvSpPr>
          <p:cNvPr id="7" name="Slide Number Placeholder 6">
            <a:extLst xmlns:a="http://schemas.openxmlformats.org/drawingml/2006/main">
              <a:ext uri="{FF2B5EF4-FFF2-40B4-BE49-F238E27FC236}">
                <a16:creationId xmlns:a16="http://schemas.microsoft.com/office/drawing/2014/main" id="{7D682E35-43FC-E946-AA84-7E00546A24B6}"/>
              </a:ext>
            </a:extLst>
          </p:cNvPr>
          <p:cNvSpPr>
            <a:spLocks xmlns:a="http://schemas.openxmlformats.org/drawingml/2006/main" noGrp="1"/>
          </p:cNvSpPr>
          <p:nvPr>
            <p:ph type="sldNum" idx="12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fld id="{A190C97C-0095-2443-AC12-FA4CBA4ACD4D}" type="slidenum">
              <a:t>‹#›</a:t>
            </a:fld>
            <a:endParaRPr/>
          </a:p>
        </p:txBody>
      </p:sp>
    </p:spTree>
  </p:cSld>
</p:sldLayout>
</file>

<file path=ppt/slideLayouts/slideLayout5.xml><?xml version="1.0" encoding="utf-8"?>
<p:sldLayout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Title 1">
            <a:extLst xmlns:a="http://schemas.openxmlformats.org/drawingml/2006/main">
              <a:ext uri="{FF2B5EF4-FFF2-40B4-BE49-F238E27FC236}">
                <a16:creationId xmlns:a16="http://schemas.microsoft.com/office/drawing/2014/main" id="{D6E14121-1457-7D45-BFFD-BECD6649741B}"/>
              </a:ext>
            </a:extLst>
          </p:cNvPr>
          <p:cNvSpPr>
            <a:spLocks xmlns:a="http://schemas.openxmlformats.org/drawingml/2006/main" noGrp="1"/>
          </p:cNvSpPr>
          <p:nvPr>
            <p:ph type="title" idx="0"/>
          </p:nvPr>
        </p:nvSpPr>
        <p:spPr>
          <a:xfrm xmlns:a="http://schemas.openxmlformats.org/drawingml/2006/main">
            <a:off x="839788" y="365125"/>
            <a:ext cx="10515600" cy="1325563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Click to edit Master title style</a:t>
            </a:r>
          </a:p>
        </p:txBody>
      </p:sp>
      <p:sp>
        <p:nvSpPr>
          <p:cNvPr id="3" name="Text Placeholder 2">
            <a:extLst xmlns:a="http://schemas.openxmlformats.org/drawingml/2006/main">
              <a:ext uri="{FF2B5EF4-FFF2-40B4-BE49-F238E27FC236}">
                <a16:creationId xmlns:a16="http://schemas.microsoft.com/office/drawing/2014/main" id="{6CE09A76-C125-0945-BCD8-FF2A0498A56E}"/>
              </a:ext>
            </a:extLst>
          </p:cNvPr>
          <p:cNvSpPr>
            <a:spLocks xmlns:a="http://schemas.openxmlformats.org/drawingml/2006/main" noGrp="1"/>
          </p:cNvSpPr>
          <p:nvPr>
            <p:ph type="body" idx="1"/>
          </p:nvPr>
        </p:nvSpPr>
        <p:spPr>
          <a:xfrm xmlns:a="http://schemas.openxmlformats.org/drawingml/2006/main">
            <a:off x="839788" y="1681163"/>
            <a:ext cx="5157787" cy="823912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anchor="b"/>
          <a:lstStyle xmlns:a="http://schemas.openxmlformats.org/drawingml/2006/main"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 xmlns:a="http://schemas.openxmlformats.org/drawingml/2006/main">
            <a:pPr lvl="0">
              <a:buNone/>
            </a:pPr>
            <a:r>
              <a:t>Click to edit Master text styles</a:t>
            </a:r>
          </a:p>
        </p:txBody>
      </p:sp>
      <p:sp>
        <p:nvSpPr>
          <p:cNvPr id="4" name="Content Placeholder 3">
            <a:extLst xmlns:a="http://schemas.openxmlformats.org/drawingml/2006/main">
              <a:ext uri="{FF2B5EF4-FFF2-40B4-BE49-F238E27FC236}">
                <a16:creationId xmlns:a16="http://schemas.microsoft.com/office/drawing/2014/main" id="{65B142CC-BC3F-664E-A6C2-3854B8D4E8C7}"/>
              </a:ext>
            </a:extLst>
          </p:cNvPr>
          <p:cNvSpPr>
            <a:spLocks xmlns:a="http://schemas.openxmlformats.org/drawingml/2006/main" noGrp="1"/>
          </p:cNvSpPr>
          <p:nvPr>
            <p:ph idx="2"/>
          </p:nvPr>
        </p:nvSpPr>
        <p:spPr>
          <a:xfrm xmlns:a="http://schemas.openxmlformats.org/drawingml/2006/main">
            <a:off x="839788" y="2505075"/>
            <a:ext cx="5157787" cy="3684588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lvl="0">
              <a:buNone/>
            </a:pPr>
            <a:r>
              <a:t>Click to edit Master text styles</a:t>
            </a:r>
          </a:p>
          <a:p xmlns:a="http://schemas.openxmlformats.org/drawingml/2006/main">
            <a:pPr lvl="1">
              <a:buNone/>
            </a:pPr>
            <a:r>
              <a:t>Second level</a:t>
            </a:r>
          </a:p>
          <a:p xmlns:a="http://schemas.openxmlformats.org/drawingml/2006/main">
            <a:pPr lvl="2">
              <a:buNone/>
            </a:pPr>
            <a:r>
              <a:t>Third level</a:t>
            </a:r>
          </a:p>
          <a:p xmlns:a="http://schemas.openxmlformats.org/drawingml/2006/main">
            <a:pPr lvl="3">
              <a:buNone/>
            </a:pPr>
            <a:r>
              <a:t>Fourth level</a:t>
            </a:r>
          </a:p>
          <a:p xmlns:a="http://schemas.openxmlformats.org/drawingml/2006/main">
            <a:pPr lvl="4">
              <a:buNone/>
            </a:pPr>
            <a:r>
              <a:t>Fifth level</a:t>
            </a:r>
          </a:p>
        </p:txBody>
      </p:sp>
      <p:sp>
        <p:nvSpPr>
          <p:cNvPr id="5" name="Text Placeholder 4">
            <a:extLst xmlns:a="http://schemas.openxmlformats.org/drawingml/2006/main">
              <a:ext uri="{FF2B5EF4-FFF2-40B4-BE49-F238E27FC236}">
                <a16:creationId xmlns:a16="http://schemas.microsoft.com/office/drawing/2014/main" id="{D2FA8D54-9ED9-E345-B69E-FF5D485B134B}"/>
              </a:ext>
            </a:extLst>
          </p:cNvPr>
          <p:cNvSpPr>
            <a:spLocks xmlns:a="http://schemas.openxmlformats.org/drawingml/2006/main" noGrp="1"/>
          </p:cNvSpPr>
          <p:nvPr>
            <p:ph type="body" idx="3"/>
          </p:nvPr>
        </p:nvSpPr>
        <p:spPr>
          <a:xfrm xmlns:a="http://schemas.openxmlformats.org/drawingml/2006/main">
            <a:off x="6172200" y="1681163"/>
            <a:ext cx="5183188" cy="823912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anchor="b"/>
          <a:lstStyle xmlns:a="http://schemas.openxmlformats.org/drawingml/2006/main"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 xmlns:a="http://schemas.openxmlformats.org/drawingml/2006/main">
            <a:pPr lvl="0">
              <a:buNone/>
            </a:pPr>
            <a:r>
              <a:t>Click to edit Master text styles</a:t>
            </a:r>
          </a:p>
        </p:txBody>
      </p:sp>
      <p:sp>
        <p:nvSpPr>
          <p:cNvPr id="6" name="Content Placeholder 5">
            <a:extLst xmlns:a="http://schemas.openxmlformats.org/drawingml/2006/main">
              <a:ext uri="{FF2B5EF4-FFF2-40B4-BE49-F238E27FC236}">
                <a16:creationId xmlns:a16="http://schemas.microsoft.com/office/drawing/2014/main" id="{009B295F-F3C2-5646-A5F3-194FE6EFEB29}"/>
              </a:ext>
            </a:extLst>
          </p:cNvPr>
          <p:cNvSpPr>
            <a:spLocks xmlns:a="http://schemas.openxmlformats.org/drawingml/2006/main" noGrp="1"/>
          </p:cNvSpPr>
          <p:nvPr>
            <p:ph idx="4"/>
          </p:nvPr>
        </p:nvSpPr>
        <p:spPr>
          <a:xfrm xmlns:a="http://schemas.openxmlformats.org/drawingml/2006/main">
            <a:off x="6172200" y="2505075"/>
            <a:ext cx="5183188" cy="3684588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lvl="0">
              <a:buNone/>
            </a:pPr>
            <a:r>
              <a:t>Click to edit Master text styles</a:t>
            </a:r>
          </a:p>
          <a:p xmlns:a="http://schemas.openxmlformats.org/drawingml/2006/main">
            <a:pPr lvl="1">
              <a:buNone/>
            </a:pPr>
            <a:r>
              <a:t>Second level</a:t>
            </a:r>
          </a:p>
          <a:p xmlns:a="http://schemas.openxmlformats.org/drawingml/2006/main">
            <a:pPr lvl="2">
              <a:buNone/>
            </a:pPr>
            <a:r>
              <a:t>Third level</a:t>
            </a:r>
          </a:p>
          <a:p xmlns:a="http://schemas.openxmlformats.org/drawingml/2006/main">
            <a:pPr lvl="3">
              <a:buNone/>
            </a:pPr>
            <a:r>
              <a:t>Fourth level</a:t>
            </a:r>
          </a:p>
          <a:p xmlns:a="http://schemas.openxmlformats.org/drawingml/2006/main">
            <a:pPr lvl="4">
              <a:buNone/>
            </a:pPr>
            <a:r>
              <a:t>Fifth level</a:t>
            </a:r>
          </a:p>
        </p:txBody>
      </p:sp>
      <p:sp>
        <p:nvSpPr>
          <p:cNvPr id="7" name="Date Placeholder 6">
            <a:extLst xmlns:a="http://schemas.openxmlformats.org/drawingml/2006/main">
              <a:ext uri="{FF2B5EF4-FFF2-40B4-BE49-F238E27FC236}">
                <a16:creationId xmlns:a16="http://schemas.microsoft.com/office/drawing/2014/main" id="{00516157-5FC9-E841-A6FC-14EBCFDEC672}"/>
              </a:ext>
            </a:extLst>
          </p:cNvPr>
          <p:cNvSpPr>
            <a:spLocks xmlns:a="http://schemas.openxmlformats.org/drawingml/2006/main" noGrp="1"/>
          </p:cNvSpPr>
          <p:nvPr>
            <p:ph type="dt" idx="10"/>
          </p:nvPr>
        </p:nvSpPr>
        <p:spPr>
          <a:xfrm xmlns:a="http://schemas.openxmlformats.org/drawingml/2006/main">
            <a:off x="838200" y="6356350"/>
            <a:ext cx="2743200" cy="365125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fld id="{5E4E5C39-FE1E-4048-9E78-68F07A4195FB}" type="datetimeFigureOut">
              <a:t>1/27/22</a:t>
            </a:fld>
            <a:endParaRPr/>
          </a:p>
        </p:txBody>
      </p:sp>
      <p:sp>
        <p:nvSpPr>
          <p:cNvPr id="8" name="Footer Placeholder 7">
            <a:extLst xmlns:a="http://schemas.openxmlformats.org/drawingml/2006/main">
              <a:ext uri="{FF2B5EF4-FFF2-40B4-BE49-F238E27FC236}">
                <a16:creationId xmlns:a16="http://schemas.microsoft.com/office/drawing/2014/main" id="{3544E072-D5B7-D647-82C0-40BEAE857D43}"/>
              </a:ext>
            </a:extLst>
          </p:cNvPr>
          <p:cNvSpPr>
            <a:spLocks xmlns:a="http://schemas.openxmlformats.org/drawingml/2006/main" noGrp="1"/>
          </p:cNvSpPr>
          <p:nvPr>
            <p:ph type="ftr" idx="11"/>
          </p:nvPr>
        </p:nvSpPr>
        <p:spPr>
          <a:xfrm xmlns:a="http://schemas.openxmlformats.org/drawingml/2006/main">
            <a:off x="4038600" y="6356350"/>
            <a:ext cx="4114800" cy="365125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endParaRPr/>
          </a:p>
        </p:txBody>
      </p:sp>
      <p:sp>
        <p:nvSpPr>
          <p:cNvPr id="9" name="Slide Number Placeholder 8">
            <a:extLst xmlns:a="http://schemas.openxmlformats.org/drawingml/2006/main">
              <a:ext uri="{FF2B5EF4-FFF2-40B4-BE49-F238E27FC236}">
                <a16:creationId xmlns:a16="http://schemas.microsoft.com/office/drawing/2014/main" id="{47A73D6E-2A82-7344-BB8C-513E6DA4E143}"/>
              </a:ext>
            </a:extLst>
          </p:cNvPr>
          <p:cNvSpPr>
            <a:spLocks xmlns:a="http://schemas.openxmlformats.org/drawingml/2006/main" noGrp="1"/>
          </p:cNvSpPr>
          <p:nvPr>
            <p:ph type="sldNum" idx="12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fld id="{A190C97C-0095-2443-AC12-FA4CBA4ACD4D}" type="slidenum">
              <a:t>‹#›</a:t>
            </a:fld>
            <a:endParaRPr/>
          </a:p>
        </p:txBody>
      </p:sp>
    </p:spTree>
  </p:cSld>
</p:sldLayout>
</file>

<file path=ppt/slideLayouts/slideLayout6.xml><?xml version="1.0" encoding="utf-8"?>
<p:sldLayout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Title 1">
            <a:extLst xmlns:a="http://schemas.openxmlformats.org/drawingml/2006/main">
              <a:ext uri="{FF2B5EF4-FFF2-40B4-BE49-F238E27FC236}">
                <a16:creationId xmlns:a16="http://schemas.microsoft.com/office/drawing/2014/main" id="{6099B4CE-9E7B-564C-A6C3-DCABF996FBD2}"/>
              </a:ext>
            </a:extLst>
          </p:cNvPr>
          <p:cNvSpPr>
            <a:spLocks xmlns:a="http://schemas.openxmlformats.org/drawingml/2006/main" noGrp="1"/>
          </p:cNvSpPr>
          <p:nvPr>
            <p:ph type="title" idx="0"/>
          </p:nvPr>
        </p:nvSpPr>
        <p:spPr>
          <a:xfrm xmlns:a="http://schemas.openxmlformats.org/drawingml/2006/main">
            <a:off x="838200" y="365125"/>
            <a:ext cx="10515600" cy="1325563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Click to edit Master title style</a:t>
            </a:r>
          </a:p>
        </p:txBody>
      </p:sp>
      <p:sp>
        <p:nvSpPr>
          <p:cNvPr id="3" name="Date Placeholder 2">
            <a:extLst xmlns:a="http://schemas.openxmlformats.org/drawingml/2006/main">
              <a:ext uri="{FF2B5EF4-FFF2-40B4-BE49-F238E27FC236}">
                <a16:creationId xmlns:a16="http://schemas.microsoft.com/office/drawing/2014/main" id="{4CF8A31D-92A5-DF47-9C3A-9F9C1CF8FC6B}"/>
              </a:ext>
            </a:extLst>
          </p:cNvPr>
          <p:cNvSpPr>
            <a:spLocks xmlns:a="http://schemas.openxmlformats.org/drawingml/2006/main" noGrp="1"/>
          </p:cNvSpPr>
          <p:nvPr>
            <p:ph type="dt" idx="10"/>
          </p:nvPr>
        </p:nvSpPr>
        <p:spPr>
          <a:xfrm xmlns:a="http://schemas.openxmlformats.org/drawingml/2006/main">
            <a:off x="838200" y="6356350"/>
            <a:ext cx="2743200" cy="365125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fld id="{5E4E5C39-FE1E-4048-9E78-68F07A4195FB}" type="datetimeFigureOut">
              <a:t>1/27/22</a:t>
            </a:fld>
            <a:endParaRPr/>
          </a:p>
        </p:txBody>
      </p:sp>
      <p:sp>
        <p:nvSpPr>
          <p:cNvPr id="4" name="Footer Placeholder 3">
            <a:extLst xmlns:a="http://schemas.openxmlformats.org/drawingml/2006/main">
              <a:ext uri="{FF2B5EF4-FFF2-40B4-BE49-F238E27FC236}">
                <a16:creationId xmlns:a16="http://schemas.microsoft.com/office/drawing/2014/main" id="{FFE7EADA-8BC4-974C-BBA1-7390F15FD580}"/>
              </a:ext>
            </a:extLst>
          </p:cNvPr>
          <p:cNvSpPr>
            <a:spLocks xmlns:a="http://schemas.openxmlformats.org/drawingml/2006/main" noGrp="1"/>
          </p:cNvSpPr>
          <p:nvPr>
            <p:ph type="ftr" idx="11"/>
          </p:nvPr>
        </p:nvSpPr>
        <p:spPr>
          <a:xfrm xmlns:a="http://schemas.openxmlformats.org/drawingml/2006/main">
            <a:off x="4038600" y="6356350"/>
            <a:ext cx="4114800" cy="365125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endParaRPr/>
          </a:p>
        </p:txBody>
      </p:sp>
      <p:sp>
        <p:nvSpPr>
          <p:cNvPr id="5" name="Slide Number Placeholder 4">
            <a:extLst xmlns:a="http://schemas.openxmlformats.org/drawingml/2006/main">
              <a:ext uri="{FF2B5EF4-FFF2-40B4-BE49-F238E27FC236}">
                <a16:creationId xmlns:a16="http://schemas.microsoft.com/office/drawing/2014/main" id="{E89EC0A8-C281-FF40-A774-EAF6089BB00F}"/>
              </a:ext>
            </a:extLst>
          </p:cNvPr>
          <p:cNvSpPr>
            <a:spLocks xmlns:a="http://schemas.openxmlformats.org/drawingml/2006/main" noGrp="1"/>
          </p:cNvSpPr>
          <p:nvPr>
            <p:ph type="sldNum" idx="12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fld id="{A190C97C-0095-2443-AC12-FA4CBA4ACD4D}" type="slidenum">
              <a:t>‹#›</a:t>
            </a:fld>
            <a:endParaRPr/>
          </a:p>
        </p:txBody>
      </p:sp>
    </p:spTree>
  </p:cSld>
</p:sldLayout>
</file>

<file path=ppt/slideLayouts/slideLayout7.xml><?xml version="1.0" encoding="utf-8"?>
<p:sldLayout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Date Placeholder 1">
            <a:extLst xmlns:a="http://schemas.openxmlformats.org/drawingml/2006/main">
              <a:ext uri="{FF2B5EF4-FFF2-40B4-BE49-F238E27FC236}">
                <a16:creationId xmlns:a16="http://schemas.microsoft.com/office/drawing/2014/main" id="{FF027EBC-C9EC-5844-B3BF-5151B2F70EA4}"/>
              </a:ext>
            </a:extLst>
          </p:cNvPr>
          <p:cNvSpPr>
            <a:spLocks xmlns:a="http://schemas.openxmlformats.org/drawingml/2006/main" noGrp="1"/>
          </p:cNvSpPr>
          <p:nvPr>
            <p:ph type="dt" idx="10"/>
          </p:nvPr>
        </p:nvSpPr>
        <p:spPr>
          <a:xfrm xmlns:a="http://schemas.openxmlformats.org/drawingml/2006/main">
            <a:off x="838200" y="6356350"/>
            <a:ext cx="2743200" cy="365125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fld id="{5E4E5C39-FE1E-4048-9E78-68F07A4195FB}" type="datetimeFigureOut">
              <a:t>1/27/22</a:t>
            </a:fld>
            <a:endParaRPr/>
          </a:p>
        </p:txBody>
      </p:sp>
      <p:sp>
        <p:nvSpPr>
          <p:cNvPr id="3" name="Footer Placeholder 2">
            <a:extLst xmlns:a="http://schemas.openxmlformats.org/drawingml/2006/main">
              <a:ext uri="{FF2B5EF4-FFF2-40B4-BE49-F238E27FC236}">
                <a16:creationId xmlns:a16="http://schemas.microsoft.com/office/drawing/2014/main" id="{A9F664BF-C7CE-DC46-9D6D-A9335EE9D8B1}"/>
              </a:ext>
            </a:extLst>
          </p:cNvPr>
          <p:cNvSpPr>
            <a:spLocks xmlns:a="http://schemas.openxmlformats.org/drawingml/2006/main" noGrp="1"/>
          </p:cNvSpPr>
          <p:nvPr>
            <p:ph type="ftr" idx="11"/>
          </p:nvPr>
        </p:nvSpPr>
        <p:spPr>
          <a:xfrm xmlns:a="http://schemas.openxmlformats.org/drawingml/2006/main">
            <a:off x="4038600" y="6356350"/>
            <a:ext cx="4114800" cy="365125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endParaRPr/>
          </a:p>
        </p:txBody>
      </p:sp>
      <p:sp>
        <p:nvSpPr>
          <p:cNvPr id="4" name="Slide Number Placeholder 3">
            <a:extLst xmlns:a="http://schemas.openxmlformats.org/drawingml/2006/main">
              <a:ext uri="{FF2B5EF4-FFF2-40B4-BE49-F238E27FC236}">
                <a16:creationId xmlns:a16="http://schemas.microsoft.com/office/drawing/2014/main" id="{6A1AAD4E-B732-E349-8793-C20A3D6B70AE}"/>
              </a:ext>
            </a:extLst>
          </p:cNvPr>
          <p:cNvSpPr>
            <a:spLocks xmlns:a="http://schemas.openxmlformats.org/drawingml/2006/main" noGrp="1"/>
          </p:cNvSpPr>
          <p:nvPr>
            <p:ph type="sldNum" idx="12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fld id="{A190C97C-0095-2443-AC12-FA4CBA4ACD4D}" type="slidenum">
              <a:t>‹#›</a:t>
            </a:fld>
            <a:endParaRPr/>
          </a:p>
        </p:txBody>
      </p:sp>
    </p:spTree>
  </p:cSld>
</p:sldLayout>
</file>

<file path=ppt/slideLayouts/slideLayout8.xml><?xml version="1.0" encoding="utf-8"?>
<p:sldLayout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Title 1">
            <a:extLst xmlns:a="http://schemas.openxmlformats.org/drawingml/2006/main">
              <a:ext uri="{FF2B5EF4-FFF2-40B4-BE49-F238E27FC236}">
                <a16:creationId xmlns:a16="http://schemas.microsoft.com/office/drawing/2014/main" id="{4E73A651-FEEA-2140-82D8-9C06A36F929A}"/>
              </a:ext>
            </a:extLst>
          </p:cNvPr>
          <p:cNvSpPr>
            <a:spLocks xmlns:a="http://schemas.openxmlformats.org/drawingml/2006/main" noGrp="1"/>
          </p:cNvSpPr>
          <p:nvPr>
            <p:ph type="title" idx="0"/>
          </p:nvPr>
        </p:nvSpPr>
        <p:spPr>
          <a:xfrm xmlns:a="http://schemas.openxmlformats.org/drawingml/2006/main">
            <a:off x="839788" y="457200"/>
            <a:ext cx="3932237" cy="16002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anchor="b"/>
          <a:lstStyle xmlns:a="http://schemas.openxmlformats.org/drawingml/2006/main">
            <a:lvl1pPr>
              <a:buNone/>
              <a:defRPr sz="3200"/>
            </a:lvl1pPr>
          </a:lstStyle>
          <a:p xmlns:a="http://schemas.openxmlformats.org/drawingml/2006/main">
            <a:r>
              <a:t>Click to edit Master title style</a:t>
            </a:r>
          </a:p>
        </p:txBody>
      </p:sp>
      <p:sp>
        <p:nvSpPr>
          <p:cNvPr id="3" name="Content Placeholder 2">
            <a:extLst xmlns:a="http://schemas.openxmlformats.org/drawingml/2006/main">
              <a:ext uri="{FF2B5EF4-FFF2-40B4-BE49-F238E27FC236}">
                <a16:creationId xmlns:a16="http://schemas.microsoft.com/office/drawing/2014/main" id="{04D2DAEA-C881-354D-A17E-2A95857F0CA4}"/>
              </a:ext>
            </a:extLst>
          </p:cNvPr>
          <p:cNvSpPr>
            <a:spLocks xmlns:a="http://schemas.openxmlformats.org/drawingml/2006/main" noGrp="1"/>
          </p:cNvSpPr>
          <p:nvPr>
            <p:ph idx="1"/>
          </p:nvPr>
        </p:nvSpPr>
        <p:spPr>
          <a:xfrm xmlns:a="http://schemas.openxmlformats.org/drawingml/2006/main">
            <a:off x="5183188" y="987425"/>
            <a:ext cx="6172200" cy="4873625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>
            <a:lvl1pPr>
              <a:buNone/>
              <a:defRPr sz="3200"/>
            </a:lvl1pPr>
            <a:lvl2pPr>
              <a:buNone/>
              <a:defRPr sz="2800"/>
            </a:lvl2pPr>
            <a:lvl3pPr>
              <a:buNone/>
              <a:defRPr sz="2400"/>
            </a:lvl3pPr>
            <a:lvl4pPr>
              <a:buNone/>
              <a:defRPr sz="2000"/>
            </a:lvl4pPr>
            <a:lvl5pPr>
              <a:buNone/>
              <a:defRPr sz="2000"/>
            </a:lvl5pPr>
            <a:lvl6pPr>
              <a:buNone/>
              <a:defRPr sz="2000"/>
            </a:lvl6pPr>
            <a:lvl7pPr>
              <a:buNone/>
              <a:defRPr sz="2000"/>
            </a:lvl7pPr>
            <a:lvl8pPr>
              <a:buNone/>
              <a:defRPr sz="2000"/>
            </a:lvl8pPr>
            <a:lvl9pPr>
              <a:buNone/>
              <a:defRPr sz="2000"/>
            </a:lvl9pPr>
          </a:lstStyle>
          <a:p xmlns:a="http://schemas.openxmlformats.org/drawingml/2006/main">
            <a:pPr lvl="0">
              <a:buNone/>
            </a:pPr>
            <a:r>
              <a:t>Click to edit Master text styles</a:t>
            </a:r>
          </a:p>
          <a:p xmlns:a="http://schemas.openxmlformats.org/drawingml/2006/main">
            <a:pPr lvl="1">
              <a:buNone/>
            </a:pPr>
            <a:r>
              <a:t>Second level</a:t>
            </a:r>
          </a:p>
          <a:p xmlns:a="http://schemas.openxmlformats.org/drawingml/2006/main">
            <a:pPr lvl="2">
              <a:buNone/>
            </a:pPr>
            <a:r>
              <a:t>Third level</a:t>
            </a:r>
          </a:p>
          <a:p xmlns:a="http://schemas.openxmlformats.org/drawingml/2006/main">
            <a:pPr lvl="3">
              <a:buNone/>
            </a:pPr>
            <a:r>
              <a:t>Fourth level</a:t>
            </a:r>
          </a:p>
          <a:p xmlns:a="http://schemas.openxmlformats.org/drawingml/2006/main">
            <a:pPr lvl="4">
              <a:buNone/>
            </a:pPr>
            <a:r>
              <a:t>Fifth level</a:t>
            </a:r>
          </a:p>
        </p:txBody>
      </p:sp>
      <p:sp>
        <p:nvSpPr>
          <p:cNvPr id="4" name="Text Placeholder 3">
            <a:extLst xmlns:a="http://schemas.openxmlformats.org/drawingml/2006/main">
              <a:ext uri="{FF2B5EF4-FFF2-40B4-BE49-F238E27FC236}">
                <a16:creationId xmlns:a16="http://schemas.microsoft.com/office/drawing/2014/main" id="{802148C2-62EB-B446-BB7C-69F5E480649F}"/>
              </a:ext>
            </a:extLst>
          </p:cNvPr>
          <p:cNvSpPr>
            <a:spLocks xmlns:a="http://schemas.openxmlformats.org/drawingml/2006/main" noGrp="1"/>
          </p:cNvSpPr>
          <p:nvPr>
            <p:ph type="body" idx="2"/>
          </p:nvPr>
        </p:nvSpPr>
        <p:spPr>
          <a:xfrm xmlns:a="http://schemas.openxmlformats.org/drawingml/2006/main">
            <a:off x="839788" y="2057400"/>
            <a:ext cx="3932237" cy="3811588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 xmlns:a="http://schemas.openxmlformats.org/drawingml/2006/main">
            <a:pPr lvl="0">
              <a:buNone/>
            </a:pPr>
            <a:r>
              <a:t>Click to edit Master text styles</a:t>
            </a:r>
          </a:p>
        </p:txBody>
      </p:sp>
      <p:sp>
        <p:nvSpPr>
          <p:cNvPr id="5" name="Date Placeholder 4">
            <a:extLst xmlns:a="http://schemas.openxmlformats.org/drawingml/2006/main">
              <a:ext uri="{FF2B5EF4-FFF2-40B4-BE49-F238E27FC236}">
                <a16:creationId xmlns:a16="http://schemas.microsoft.com/office/drawing/2014/main" id="{2114D069-D155-9141-9045-DB41904753A7}"/>
              </a:ext>
            </a:extLst>
          </p:cNvPr>
          <p:cNvSpPr>
            <a:spLocks xmlns:a="http://schemas.openxmlformats.org/drawingml/2006/main" noGrp="1"/>
          </p:cNvSpPr>
          <p:nvPr>
            <p:ph type="dt" idx="10"/>
          </p:nvPr>
        </p:nvSpPr>
        <p:spPr>
          <a:xfrm xmlns:a="http://schemas.openxmlformats.org/drawingml/2006/main">
            <a:off x="838200" y="6356350"/>
            <a:ext cx="2743200" cy="365125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fld id="{5E4E5C39-FE1E-4048-9E78-68F07A4195FB}" type="datetimeFigureOut">
              <a:t>1/27/22</a:t>
            </a:fld>
            <a:endParaRPr/>
          </a:p>
        </p:txBody>
      </p:sp>
      <p:sp>
        <p:nvSpPr>
          <p:cNvPr id="6" name="Footer Placeholder 5">
            <a:extLst xmlns:a="http://schemas.openxmlformats.org/drawingml/2006/main">
              <a:ext uri="{FF2B5EF4-FFF2-40B4-BE49-F238E27FC236}">
                <a16:creationId xmlns:a16="http://schemas.microsoft.com/office/drawing/2014/main" id="{2C0EE34C-EABB-6848-A341-7CA0C2937980}"/>
              </a:ext>
            </a:extLst>
          </p:cNvPr>
          <p:cNvSpPr>
            <a:spLocks xmlns:a="http://schemas.openxmlformats.org/drawingml/2006/main" noGrp="1"/>
          </p:cNvSpPr>
          <p:nvPr>
            <p:ph type="ftr" idx="11"/>
          </p:nvPr>
        </p:nvSpPr>
        <p:spPr>
          <a:xfrm xmlns:a="http://schemas.openxmlformats.org/drawingml/2006/main">
            <a:off x="4038600" y="6356350"/>
            <a:ext cx="4114800" cy="365125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endParaRPr/>
          </a:p>
        </p:txBody>
      </p:sp>
      <p:sp>
        <p:nvSpPr>
          <p:cNvPr id="7" name="Slide Number Placeholder 6">
            <a:extLst xmlns:a="http://schemas.openxmlformats.org/drawingml/2006/main">
              <a:ext uri="{FF2B5EF4-FFF2-40B4-BE49-F238E27FC236}">
                <a16:creationId xmlns:a16="http://schemas.microsoft.com/office/drawing/2014/main" id="{C0C04AAD-C125-DD44-8102-9F28820805FD}"/>
              </a:ext>
            </a:extLst>
          </p:cNvPr>
          <p:cNvSpPr>
            <a:spLocks xmlns:a="http://schemas.openxmlformats.org/drawingml/2006/main" noGrp="1"/>
          </p:cNvSpPr>
          <p:nvPr>
            <p:ph type="sldNum" idx="12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fld id="{A190C97C-0095-2443-AC12-FA4CBA4ACD4D}" type="slidenum">
              <a:t>‹#›</a:t>
            </a:fld>
            <a:endParaRPr/>
          </a:p>
        </p:txBody>
      </p:sp>
    </p:spTree>
  </p:cSld>
</p:sldLayout>
</file>

<file path=ppt/slideLayouts/slideLayout9.xml><?xml version="1.0" encoding="utf-8"?>
<p:sldLayout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Title 1">
            <a:extLst xmlns:a="http://schemas.openxmlformats.org/drawingml/2006/main">
              <a:ext uri="{FF2B5EF4-FFF2-40B4-BE49-F238E27FC236}">
                <a16:creationId xmlns:a16="http://schemas.microsoft.com/office/drawing/2014/main" id="{D8BD611A-FFDF-C848-A433-C5B125C402E0}"/>
              </a:ext>
            </a:extLst>
          </p:cNvPr>
          <p:cNvSpPr>
            <a:spLocks xmlns:a="http://schemas.openxmlformats.org/drawingml/2006/main" noGrp="1"/>
          </p:cNvSpPr>
          <p:nvPr>
            <p:ph type="title" idx="0"/>
          </p:nvPr>
        </p:nvSpPr>
        <p:spPr>
          <a:xfrm xmlns:a="http://schemas.openxmlformats.org/drawingml/2006/main">
            <a:off x="839788" y="457200"/>
            <a:ext cx="3932237" cy="16002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anchor="b"/>
          <a:lstStyle xmlns:a="http://schemas.openxmlformats.org/drawingml/2006/main">
            <a:lvl1pPr>
              <a:buNone/>
              <a:defRPr sz="3200"/>
            </a:lvl1pPr>
          </a:lstStyle>
          <a:p xmlns:a="http://schemas.openxmlformats.org/drawingml/2006/main">
            <a:r>
              <a:t>Click to edit Master title style</a:t>
            </a:r>
          </a:p>
        </p:txBody>
      </p:sp>
      <p:sp>
        <p:nvSpPr>
          <p:cNvPr id="3" name="Picture Placeholder 2">
            <a:extLst xmlns:a="http://schemas.openxmlformats.org/drawingml/2006/main">
              <a:ext uri="{FF2B5EF4-FFF2-40B4-BE49-F238E27FC236}">
                <a16:creationId xmlns:a16="http://schemas.microsoft.com/office/drawing/2014/main" id="{296C0E97-AC3D-784B-96B7-0D18B5A35AE1}"/>
              </a:ext>
            </a:extLst>
          </p:cNvPr>
          <p:cNvSpPr>
            <a:spLocks xmlns:a="http://schemas.openxmlformats.org/drawingml/2006/main" noGrp="1"/>
          </p:cNvSpPr>
          <p:nvPr>
            <p:ph type="pic" idx="1"/>
          </p:nvPr>
        </p:nvSpPr>
        <p:spPr>
          <a:xfrm xmlns:a="http://schemas.openxmlformats.org/drawingml/2006/main">
            <a:off x="5183188" y="987425"/>
            <a:ext cx="6172200" cy="4873625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 xmlns:a="http://schemas.openxmlformats.org/drawingml/2006/main">
            <a:endParaRPr/>
          </a:p>
        </p:txBody>
      </p:sp>
      <p:sp>
        <p:nvSpPr>
          <p:cNvPr id="4" name="Text Placeholder 3">
            <a:extLst xmlns:a="http://schemas.openxmlformats.org/drawingml/2006/main">
              <a:ext uri="{FF2B5EF4-FFF2-40B4-BE49-F238E27FC236}">
                <a16:creationId xmlns:a16="http://schemas.microsoft.com/office/drawing/2014/main" id="{86B37986-0214-C348-AB5F-D54BF2881077}"/>
              </a:ext>
            </a:extLst>
          </p:cNvPr>
          <p:cNvSpPr>
            <a:spLocks xmlns:a="http://schemas.openxmlformats.org/drawingml/2006/main" noGrp="1"/>
          </p:cNvSpPr>
          <p:nvPr>
            <p:ph type="body" idx="2"/>
          </p:nvPr>
        </p:nvSpPr>
        <p:spPr>
          <a:xfrm xmlns:a="http://schemas.openxmlformats.org/drawingml/2006/main">
            <a:off x="839788" y="2057400"/>
            <a:ext cx="3932237" cy="3811588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 xmlns:a="http://schemas.openxmlformats.org/drawingml/2006/main">
            <a:pPr lvl="0">
              <a:buNone/>
            </a:pPr>
            <a:r>
              <a:t>Click to edit Master text styles</a:t>
            </a:r>
          </a:p>
        </p:txBody>
      </p:sp>
      <p:sp>
        <p:nvSpPr>
          <p:cNvPr id="5" name="Date Placeholder 4">
            <a:extLst xmlns:a="http://schemas.openxmlformats.org/drawingml/2006/main">
              <a:ext uri="{FF2B5EF4-FFF2-40B4-BE49-F238E27FC236}">
                <a16:creationId xmlns:a16="http://schemas.microsoft.com/office/drawing/2014/main" id="{EF6860A9-8610-9347-BAE7-F23CCA13E55B}"/>
              </a:ext>
            </a:extLst>
          </p:cNvPr>
          <p:cNvSpPr>
            <a:spLocks xmlns:a="http://schemas.openxmlformats.org/drawingml/2006/main" noGrp="1"/>
          </p:cNvSpPr>
          <p:nvPr>
            <p:ph type="dt" idx="10"/>
          </p:nvPr>
        </p:nvSpPr>
        <p:spPr>
          <a:xfrm xmlns:a="http://schemas.openxmlformats.org/drawingml/2006/main">
            <a:off x="838200" y="6356350"/>
            <a:ext cx="2743200" cy="365125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fld id="{5E4E5C39-FE1E-4048-9E78-68F07A4195FB}" type="datetimeFigureOut">
              <a:t>1/27/22</a:t>
            </a:fld>
            <a:endParaRPr/>
          </a:p>
        </p:txBody>
      </p:sp>
      <p:sp>
        <p:nvSpPr>
          <p:cNvPr id="6" name="Footer Placeholder 5">
            <a:extLst xmlns:a="http://schemas.openxmlformats.org/drawingml/2006/main">
              <a:ext uri="{FF2B5EF4-FFF2-40B4-BE49-F238E27FC236}">
                <a16:creationId xmlns:a16="http://schemas.microsoft.com/office/drawing/2014/main" id="{14249D7C-BCAA-DE44-AE89-5178DA8D82A1}"/>
              </a:ext>
            </a:extLst>
          </p:cNvPr>
          <p:cNvSpPr>
            <a:spLocks xmlns:a="http://schemas.openxmlformats.org/drawingml/2006/main" noGrp="1"/>
          </p:cNvSpPr>
          <p:nvPr>
            <p:ph type="ftr" idx="11"/>
          </p:nvPr>
        </p:nvSpPr>
        <p:spPr>
          <a:xfrm xmlns:a="http://schemas.openxmlformats.org/drawingml/2006/main">
            <a:off x="4038600" y="6356350"/>
            <a:ext cx="4114800" cy="365125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endParaRPr/>
          </a:p>
        </p:txBody>
      </p:sp>
      <p:sp>
        <p:nvSpPr>
          <p:cNvPr id="7" name="Slide Number Placeholder 6">
            <a:extLst xmlns:a="http://schemas.openxmlformats.org/drawingml/2006/main">
              <a:ext uri="{FF2B5EF4-FFF2-40B4-BE49-F238E27FC236}">
                <a16:creationId xmlns:a16="http://schemas.microsoft.com/office/drawing/2014/main" id="{355319C3-A65D-764B-BD49-57D0082AE9A9}"/>
              </a:ext>
            </a:extLst>
          </p:cNvPr>
          <p:cNvSpPr>
            <a:spLocks xmlns:a="http://schemas.openxmlformats.org/drawingml/2006/main" noGrp="1"/>
          </p:cNvSpPr>
          <p:nvPr>
            <p:ph type="sldNum" idx="12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fld id="{A190C97C-0095-2443-AC12-FA4CBA4ACD4D}" type="slidenum">
              <a:t>‹#›</a:t>
            </a:fld>
            <a:endParaRPr/>
          </a:p>
        </p:txBody>
      </p:sp>
    </p:spTree>
  </p:cSld>
</p:sldLayout>
</file>

<file path=ppt/slideLayouts/slideLayout10.xml><?xml version="1.0" encoding="utf-8"?>
<p:sldLayout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Title 1">
            <a:extLst xmlns:a="http://schemas.openxmlformats.org/drawingml/2006/main">
              <a:ext uri="{FF2B5EF4-FFF2-40B4-BE49-F238E27FC236}">
                <a16:creationId xmlns:a16="http://schemas.microsoft.com/office/drawing/2014/main" id="{E8DDD383-EB92-5540-96BB-199B7760EF4D}"/>
              </a:ext>
            </a:extLst>
          </p:cNvPr>
          <p:cNvSpPr>
            <a:spLocks xmlns:a="http://schemas.openxmlformats.org/drawingml/2006/main" noGrp="1"/>
          </p:cNvSpPr>
          <p:nvPr>
            <p:ph type="title" idx="0"/>
          </p:nvPr>
        </p:nvSpPr>
        <p:spPr>
          <a:xfrm xmlns:a="http://schemas.openxmlformats.org/drawingml/2006/main">
            <a:off x="838200" y="365125"/>
            <a:ext cx="10515600" cy="1325563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Click to edit Master title style</a:t>
            </a:r>
          </a:p>
        </p:txBody>
      </p:sp>
      <p:sp>
        <p:nvSpPr>
          <p:cNvPr id="3" name="Vertical Text Placeholder 2">
            <a:extLst xmlns:a="http://schemas.openxmlformats.org/drawingml/2006/main">
              <a:ext uri="{FF2B5EF4-FFF2-40B4-BE49-F238E27FC236}">
                <a16:creationId xmlns:a16="http://schemas.microsoft.com/office/drawing/2014/main" id="{FE9FED7B-4DA5-4346-B7E2-D18782430F68}"/>
              </a:ext>
            </a:extLst>
          </p:cNvPr>
          <p:cNvSpPr>
            <a:spLocks xmlns:a="http://schemas.openxmlformats.org/drawingml/2006/main" noGrp="1"/>
          </p:cNvSpPr>
          <p:nvPr>
            <p:ph type="body" idx="1"/>
          </p:nvPr>
        </p:nvSpPr>
        <p:spPr>
          <a:xfrm xmlns:a="http://schemas.openxmlformats.org/drawingml/2006/main">
            <a:off x="838200" y="1825625"/>
            <a:ext cx="10515600" cy="4351338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vert="eaVert"/>
          <a:lstStyle xmlns:a="http://schemas.openxmlformats.org/drawingml/2006/main"/>
          <a:p xmlns:a="http://schemas.openxmlformats.org/drawingml/2006/main">
            <a:pPr lvl="0">
              <a:buNone/>
            </a:pPr>
            <a:r>
              <a:t>Click to edit Master text styles</a:t>
            </a:r>
          </a:p>
          <a:p xmlns:a="http://schemas.openxmlformats.org/drawingml/2006/main">
            <a:pPr lvl="1">
              <a:buNone/>
            </a:pPr>
            <a:r>
              <a:t>Second level</a:t>
            </a:r>
          </a:p>
          <a:p xmlns:a="http://schemas.openxmlformats.org/drawingml/2006/main">
            <a:pPr lvl="2">
              <a:buNone/>
            </a:pPr>
            <a:r>
              <a:t>Third level</a:t>
            </a:r>
          </a:p>
          <a:p xmlns:a="http://schemas.openxmlformats.org/drawingml/2006/main">
            <a:pPr lvl="3">
              <a:buNone/>
            </a:pPr>
            <a:r>
              <a:t>Fourth level</a:t>
            </a:r>
          </a:p>
          <a:p xmlns:a="http://schemas.openxmlformats.org/drawingml/2006/main">
            <a:pPr lvl="4">
              <a:buNone/>
            </a:pPr>
            <a:r>
              <a:t>Fifth level</a:t>
            </a:r>
          </a:p>
        </p:txBody>
      </p:sp>
      <p:sp>
        <p:nvSpPr>
          <p:cNvPr id="4" name="Date Placeholder 3">
            <a:extLst xmlns:a="http://schemas.openxmlformats.org/drawingml/2006/main">
              <a:ext uri="{FF2B5EF4-FFF2-40B4-BE49-F238E27FC236}">
                <a16:creationId xmlns:a16="http://schemas.microsoft.com/office/drawing/2014/main" id="{6E2B5F2C-52A9-3047-A473-9FFC051518A0}"/>
              </a:ext>
            </a:extLst>
          </p:cNvPr>
          <p:cNvSpPr>
            <a:spLocks xmlns:a="http://schemas.openxmlformats.org/drawingml/2006/main" noGrp="1"/>
          </p:cNvSpPr>
          <p:nvPr>
            <p:ph type="dt" idx="10"/>
          </p:nvPr>
        </p:nvSpPr>
        <p:spPr>
          <a:xfrm xmlns:a="http://schemas.openxmlformats.org/drawingml/2006/main">
            <a:off x="838200" y="6356350"/>
            <a:ext cx="2743200" cy="365125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fld id="{5E4E5C39-FE1E-4048-9E78-68F07A4195FB}" type="datetimeFigureOut">
              <a:t>1/27/22</a:t>
            </a:fld>
            <a:endParaRPr/>
          </a:p>
        </p:txBody>
      </p:sp>
      <p:sp>
        <p:nvSpPr>
          <p:cNvPr id="5" name="Footer Placeholder 4">
            <a:extLst xmlns:a="http://schemas.openxmlformats.org/drawingml/2006/main">
              <a:ext uri="{FF2B5EF4-FFF2-40B4-BE49-F238E27FC236}">
                <a16:creationId xmlns:a16="http://schemas.microsoft.com/office/drawing/2014/main" id="{DAC041C9-0677-664D-B2BB-69B0A6A70931}"/>
              </a:ext>
            </a:extLst>
          </p:cNvPr>
          <p:cNvSpPr>
            <a:spLocks xmlns:a="http://schemas.openxmlformats.org/drawingml/2006/main" noGrp="1"/>
          </p:cNvSpPr>
          <p:nvPr>
            <p:ph type="ftr" idx="11"/>
          </p:nvPr>
        </p:nvSpPr>
        <p:spPr>
          <a:xfrm xmlns:a="http://schemas.openxmlformats.org/drawingml/2006/main">
            <a:off x="4038600" y="6356350"/>
            <a:ext cx="4114800" cy="365125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endParaRPr/>
          </a:p>
        </p:txBody>
      </p:sp>
      <p:sp>
        <p:nvSpPr>
          <p:cNvPr id="6" name="Slide Number Placeholder 5">
            <a:extLst xmlns:a="http://schemas.openxmlformats.org/drawingml/2006/main">
              <a:ext uri="{FF2B5EF4-FFF2-40B4-BE49-F238E27FC236}">
                <a16:creationId xmlns:a16="http://schemas.microsoft.com/office/drawing/2014/main" id="{E0B34EA4-D670-2C41-9EF4-392023D22E4F}"/>
              </a:ext>
            </a:extLst>
          </p:cNvPr>
          <p:cNvSpPr>
            <a:spLocks xmlns:a="http://schemas.openxmlformats.org/drawingml/2006/main" noGrp="1"/>
          </p:cNvSpPr>
          <p:nvPr>
            <p:ph type="sldNum" idx="12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fld id="{A190C97C-0095-2443-AC12-FA4CBA4ACD4D}" type="slidenum">
              <a:t>‹#›</a:t>
            </a:fld>
            <a:endParaRPr/>
          </a:p>
        </p:txBody>
      </p:sp>
    </p:spTree>
  </p:cSld>
</p:sldLayout>
</file>

<file path=ppt/slideLayouts/slideLayout11.xml><?xml version="1.0" encoding="utf-8"?>
<p:sldLayout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Vertical Title 1">
            <a:extLst xmlns:a="http://schemas.openxmlformats.org/drawingml/2006/main">
              <a:ext uri="{FF2B5EF4-FFF2-40B4-BE49-F238E27FC236}">
                <a16:creationId xmlns:a16="http://schemas.microsoft.com/office/drawing/2014/main" id="{BD05DB93-A58E-714C-BD6E-76F1D21AEA05}"/>
              </a:ext>
            </a:extLst>
          </p:cNvPr>
          <p:cNvSpPr>
            <a:spLocks xmlns:a="http://schemas.openxmlformats.org/drawingml/2006/main" noGrp="1"/>
          </p:cNvSpPr>
          <p:nvPr>
            <p:ph type="title" idx="0"/>
          </p:nvPr>
        </p:nvSpPr>
        <p:spPr>
          <a:xfrm xmlns:a="http://schemas.openxmlformats.org/drawingml/2006/main">
            <a:off x="8724900" y="365125"/>
            <a:ext cx="2628900" cy="5811838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vert="eaVert"/>
          <a:lstStyle xmlns:a="http://schemas.openxmlformats.org/drawingml/2006/main"/>
          <a:p xmlns:a="http://schemas.openxmlformats.org/drawingml/2006/main">
            <a:r>
              <a:t>Click to edit Master title style</a:t>
            </a:r>
          </a:p>
        </p:txBody>
      </p:sp>
      <p:sp>
        <p:nvSpPr>
          <p:cNvPr id="3" name="Vertical Text Placeholder 2">
            <a:extLst xmlns:a="http://schemas.openxmlformats.org/drawingml/2006/main">
              <a:ext uri="{FF2B5EF4-FFF2-40B4-BE49-F238E27FC236}">
                <a16:creationId xmlns:a16="http://schemas.microsoft.com/office/drawing/2014/main" id="{9DF83819-F149-7645-A0DD-B53DD9D84837}"/>
              </a:ext>
            </a:extLst>
          </p:cNvPr>
          <p:cNvSpPr>
            <a:spLocks xmlns:a="http://schemas.openxmlformats.org/drawingml/2006/main" noGrp="1"/>
          </p:cNvSpPr>
          <p:nvPr>
            <p:ph type="body" idx="1"/>
          </p:nvPr>
        </p:nvSpPr>
        <p:spPr>
          <a:xfrm xmlns:a="http://schemas.openxmlformats.org/drawingml/2006/main">
            <a:off x="838200" y="365125"/>
            <a:ext cx="7734300" cy="5811838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vert="eaVert"/>
          <a:lstStyle xmlns:a="http://schemas.openxmlformats.org/drawingml/2006/main"/>
          <a:p xmlns:a="http://schemas.openxmlformats.org/drawingml/2006/main">
            <a:pPr lvl="0">
              <a:buNone/>
            </a:pPr>
            <a:r>
              <a:t>Click to edit Master text styles</a:t>
            </a:r>
          </a:p>
          <a:p xmlns:a="http://schemas.openxmlformats.org/drawingml/2006/main">
            <a:pPr lvl="1">
              <a:buNone/>
            </a:pPr>
            <a:r>
              <a:t>Second level</a:t>
            </a:r>
          </a:p>
          <a:p xmlns:a="http://schemas.openxmlformats.org/drawingml/2006/main">
            <a:pPr lvl="2">
              <a:buNone/>
            </a:pPr>
            <a:r>
              <a:t>Third level</a:t>
            </a:r>
          </a:p>
          <a:p xmlns:a="http://schemas.openxmlformats.org/drawingml/2006/main">
            <a:pPr lvl="3">
              <a:buNone/>
            </a:pPr>
            <a:r>
              <a:t>Fourth level</a:t>
            </a:r>
          </a:p>
          <a:p xmlns:a="http://schemas.openxmlformats.org/drawingml/2006/main">
            <a:pPr lvl="4">
              <a:buNone/>
            </a:pPr>
            <a:r>
              <a:t>Fifth level</a:t>
            </a:r>
          </a:p>
        </p:txBody>
      </p:sp>
      <p:sp>
        <p:nvSpPr>
          <p:cNvPr id="4" name="Date Placeholder 3">
            <a:extLst xmlns:a="http://schemas.openxmlformats.org/drawingml/2006/main">
              <a:ext uri="{FF2B5EF4-FFF2-40B4-BE49-F238E27FC236}">
                <a16:creationId xmlns:a16="http://schemas.microsoft.com/office/drawing/2014/main" id="{7DFB065F-A67E-EF4E-A12F-EB30F584E490}"/>
              </a:ext>
            </a:extLst>
          </p:cNvPr>
          <p:cNvSpPr>
            <a:spLocks xmlns:a="http://schemas.openxmlformats.org/drawingml/2006/main" noGrp="1"/>
          </p:cNvSpPr>
          <p:nvPr>
            <p:ph type="dt" idx="10"/>
          </p:nvPr>
        </p:nvSpPr>
        <p:spPr>
          <a:xfrm xmlns:a="http://schemas.openxmlformats.org/drawingml/2006/main">
            <a:off x="838200" y="6356350"/>
            <a:ext cx="2743200" cy="365125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fld id="{5E4E5C39-FE1E-4048-9E78-68F07A4195FB}" type="datetimeFigureOut">
              <a:t>1/27/22</a:t>
            </a:fld>
            <a:endParaRPr/>
          </a:p>
        </p:txBody>
      </p:sp>
      <p:sp>
        <p:nvSpPr>
          <p:cNvPr id="5" name="Footer Placeholder 4">
            <a:extLst xmlns:a="http://schemas.openxmlformats.org/drawingml/2006/main">
              <a:ext uri="{FF2B5EF4-FFF2-40B4-BE49-F238E27FC236}">
                <a16:creationId xmlns:a16="http://schemas.microsoft.com/office/drawing/2014/main" id="{356E9D5F-8CC5-8740-9426-35E9D812FC6B}"/>
              </a:ext>
            </a:extLst>
          </p:cNvPr>
          <p:cNvSpPr>
            <a:spLocks xmlns:a="http://schemas.openxmlformats.org/drawingml/2006/main" noGrp="1"/>
          </p:cNvSpPr>
          <p:nvPr>
            <p:ph type="ftr" idx="11"/>
          </p:nvPr>
        </p:nvSpPr>
        <p:spPr>
          <a:xfrm xmlns:a="http://schemas.openxmlformats.org/drawingml/2006/main">
            <a:off x="4038600" y="6356350"/>
            <a:ext cx="4114800" cy="365125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endParaRPr/>
          </a:p>
        </p:txBody>
      </p:sp>
      <p:sp>
        <p:nvSpPr>
          <p:cNvPr id="6" name="Slide Number Placeholder 5">
            <a:extLst xmlns:a="http://schemas.openxmlformats.org/drawingml/2006/main">
              <a:ext uri="{FF2B5EF4-FFF2-40B4-BE49-F238E27FC236}">
                <a16:creationId xmlns:a16="http://schemas.microsoft.com/office/drawing/2014/main" id="{DBB1DE0B-93CB-5C41-B581-C00D0F9F7CC2}"/>
              </a:ext>
            </a:extLst>
          </p:cNvPr>
          <p:cNvSpPr>
            <a:spLocks xmlns:a="http://schemas.openxmlformats.org/drawingml/2006/main" noGrp="1"/>
          </p:cNvSpPr>
          <p:nvPr>
            <p:ph type="sldNum" idx="12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fld id="{A190C97C-0095-2443-AC12-FA4CBA4ACD4D}" type="slidenum">
              <a:t>‹#›</a:t>
            </a:fld>
            <a:endParaRPr/>
          </a:p>
        </p:txBody>
      </p:sp>
    </p:spTree>
  </p:cSld>
</p:sldLayout>
</file>

<file path=ppt/slideLayouts/slideLayout12.xml><?xml version="1.0" encoding="utf-8"?>
<p:sldLayout xmlns:p="http://schemas.openxmlformats.org/presentationml/2006/main" showMasterSp="0">
  <p:cSld name="1_Blank"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9" name="Title 1">
            <a:extLst xmlns:a="http://schemas.openxmlformats.org/drawingml/2006/main">
              <a:ext uri="{FF2B5EF4-FFF2-40B4-BE49-F238E27FC236}">
                <a16:creationId xmlns:a16="http://schemas.microsoft.com/office/drawing/2014/main" id="{489F01B7-A4E8-4D5E-8929-0BC547ECA1AF}"/>
              </a:ext>
            </a:extLst>
          </p:cNvPr>
          <p:cNvSpPr>
            <a:spLocks xmlns:a="http://schemas.openxmlformats.org/drawingml/2006/main" noGrp="1"/>
          </p:cNvSpPr>
          <p:nvPr>
            <p:ph type="ctrTitle" idx="0"/>
          </p:nvPr>
        </p:nvSpPr>
        <p:spPr>
          <a:xfrm xmlns:a="http://schemas.openxmlformats.org/drawingml/2006/main">
            <a:off x="1524000" y="1122363"/>
            <a:ext cx="9144000" cy="23876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anchor="b">
            <a:normAutofit/>
          </a:bodyPr>
          <a:lstStyle xmlns:a="http://schemas.openxmlformats.org/drawingml/2006/main">
            <a:lvl1pPr algn="ctr">
              <a:buNone/>
              <a:defRPr sz="4800">
                <a:solidFill>
                  <a:srgbClr val="005493"/>
                </a:solidFill>
                <a:latin typeface="IBM Plex Mono SemiBold"/>
                <a:ea typeface="IBM Plex Mono SemiBold"/>
                <a:cs typeface="IBM Plex Mono SemiBold"/>
              </a:defRPr>
            </a:lvl1pPr>
          </a:lstStyle>
          <a:p xmlns:a="http://schemas.openxmlformats.org/drawingml/2006/main">
            <a:r>
              <a:t>Click to edit Master title style</a:t>
            </a:r>
          </a:p>
        </p:txBody>
      </p:sp>
      <p:sp>
        <p:nvSpPr>
          <p:cNvPr id="2" name="Footer Placeholder 1">
            <a:extLst xmlns:a="http://schemas.openxmlformats.org/drawingml/2006/main">
              <a:ext uri="{FF2B5EF4-FFF2-40B4-BE49-F238E27FC236}">
                <a16:creationId xmlns:a16="http://schemas.microsoft.com/office/drawing/2014/main" id="{FD30FDD2-E0CC-3E4C-A49E-91BE8BE0367F}"/>
              </a:ext>
            </a:extLst>
          </p:cNvPr>
          <p:cNvSpPr>
            <a:spLocks xmlns:a="http://schemas.openxmlformats.org/drawingml/2006/main" noGrp="1"/>
          </p:cNvSpPr>
          <p:nvPr>
            <p:ph type="ftr" idx="10"/>
          </p:nvPr>
        </p:nvSpPr>
        <p:spPr>
          <a:xfrm xmlns:a="http://schemas.openxmlformats.org/drawingml/2006/main">
            <a:off x="4038600" y="6356350"/>
            <a:ext cx="4114800" cy="365125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endParaRPr/>
          </a:p>
        </p:txBody>
      </p:sp>
    </p:spTree>
  </p:cSld>
</p:sldLayout>
</file>

<file path=ppt/slideLayouts/slideLayout13.xml><?xml version="1.0" encoding="utf-8"?>
<p:sldLayout xmlns:p="http://schemas.openxmlformats.org/presentationml/2006/main" userDrawn="1">
  <p:cSld name="1_Vertical Title and Text"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3" name="Vertical Text Placeholder 2">
            <a:extLst xmlns:a="http://schemas.openxmlformats.org/drawingml/2006/main">
              <a:ext uri="{FF2B5EF4-FFF2-40B4-BE49-F238E27FC236}">
                <a16:creationId xmlns:a16="http://schemas.microsoft.com/office/drawing/2014/main" id="{818D5DE0-031D-4D06-AEBB-12119CD2D800}"/>
              </a:ext>
            </a:extLst>
          </p:cNvPr>
          <p:cNvSpPr>
            <a:spLocks xmlns:a="http://schemas.openxmlformats.org/drawingml/2006/main" noGrp="1"/>
          </p:cNvSpPr>
          <p:nvPr>
            <p:ph type="body" idx="1"/>
          </p:nvPr>
        </p:nvSpPr>
        <p:spPr>
          <a:xfrm xmlns:a="http://schemas.openxmlformats.org/drawingml/2006/main">
            <a:off x="838200" y="365125"/>
            <a:ext cx="7734300" cy="5811838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vert="eaVert"/>
          <a:lstStyle xmlns:a="http://schemas.openxmlformats.org/drawingml/2006/main"/>
          <a:p xmlns:a="http://schemas.openxmlformats.org/drawingml/2006/main">
            <a:pPr lvl="0">
              <a:buNone/>
            </a:pPr>
            <a:r>
              <a:t>Click to edit Master text styles</a:t>
            </a:r>
          </a:p>
          <a:p xmlns:a="http://schemas.openxmlformats.org/drawingml/2006/main">
            <a:pPr lvl="1">
              <a:buNone/>
            </a:pPr>
            <a:r>
              <a:t>Second level</a:t>
            </a:r>
          </a:p>
          <a:p xmlns:a="http://schemas.openxmlformats.org/drawingml/2006/main">
            <a:pPr lvl="2">
              <a:buNone/>
            </a:pPr>
            <a:r>
              <a:t>Third level</a:t>
            </a:r>
          </a:p>
          <a:p xmlns:a="http://schemas.openxmlformats.org/drawingml/2006/main">
            <a:pPr lvl="3">
              <a:buNone/>
            </a:pPr>
            <a:r>
              <a:t>Fourth level</a:t>
            </a:r>
          </a:p>
          <a:p xmlns:a="http://schemas.openxmlformats.org/drawingml/2006/main">
            <a:pPr lvl="4">
              <a:buNone/>
            </a:pPr>
            <a:r>
              <a:t>Fifth level</a:t>
            </a:r>
          </a:p>
        </p:txBody>
      </p:sp>
      <p:sp>
        <p:nvSpPr>
          <p:cNvPr id="4" name="Footer Placeholder 3">
            <a:extLst xmlns:a="http://schemas.openxmlformats.org/drawingml/2006/main">
              <a:ext uri="{FF2B5EF4-FFF2-40B4-BE49-F238E27FC236}">
                <a16:creationId xmlns:a16="http://schemas.microsoft.com/office/drawing/2014/main" id="{AA119083-F06C-6F4F-9852-321B8C953CC2}"/>
              </a:ext>
            </a:extLst>
          </p:cNvPr>
          <p:cNvSpPr>
            <a:spLocks xmlns:a="http://schemas.openxmlformats.org/drawingml/2006/main" noGrp="1"/>
          </p:cNvSpPr>
          <p:nvPr>
            <p:ph type="ftr" idx="10"/>
          </p:nvPr>
        </p:nvSpPr>
        <p:spPr>
          <a:xfrm xmlns:a="http://schemas.openxmlformats.org/drawingml/2006/main">
            <a:off x="4038600" y="6356350"/>
            <a:ext cx="4114800" cy="365125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endParaRPr/>
          </a:p>
        </p:txBody>
      </p:sp>
    </p:spTree>
  </p:cSld>
</p:sldLayout>
</file>

<file path=ppt/slideMasters/_rels/slideMaster1.xml.rels>&#65279;<?xml version="1.0" encoding="utf-8"?><Relationships xmlns="http://schemas.openxmlformats.org/package/2006/relationships"><Relationship Type="http://schemas.openxmlformats.org/officeDocument/2006/relationships/theme" Target="/ppt/slideMasters/theme/theme2.xml" Id="R7e2d3a9fa88a4bf6" /><Relationship Type="http://schemas.openxmlformats.org/officeDocument/2006/relationships/slideLayout" Target="/ppt/slideLayouts/slideLayout1.xml" Id="Re8b40393060e4633" /><Relationship Type="http://schemas.openxmlformats.org/officeDocument/2006/relationships/slideLayout" Target="/ppt/slideLayouts/slideLayout2.xml" Id="R9de94f4e711a4b7c" /><Relationship Type="http://schemas.openxmlformats.org/officeDocument/2006/relationships/slideLayout" Target="/ppt/slideLayouts/slideLayout3.xml" Id="Re8fa6b36b0c749f3" /><Relationship Type="http://schemas.openxmlformats.org/officeDocument/2006/relationships/slideLayout" Target="/ppt/slideLayouts/slideLayout4.xml" Id="R748ffe8c5d294dd9" /><Relationship Type="http://schemas.openxmlformats.org/officeDocument/2006/relationships/slideLayout" Target="/ppt/slideLayouts/slideLayout5.xml" Id="R7b36c6d58332430c" /><Relationship Type="http://schemas.openxmlformats.org/officeDocument/2006/relationships/slideLayout" Target="/ppt/slideLayouts/slideLayout6.xml" Id="Rfabbeef8004b4abb" /><Relationship Type="http://schemas.openxmlformats.org/officeDocument/2006/relationships/slideLayout" Target="/ppt/slideLayouts/slideLayout7.xml" Id="Rd6e14235702d45ad" /><Relationship Type="http://schemas.openxmlformats.org/officeDocument/2006/relationships/slideLayout" Target="/ppt/slideLayouts/slideLayout8.xml" Id="R3de87ef3be3c4b5d" /><Relationship Type="http://schemas.openxmlformats.org/officeDocument/2006/relationships/slideLayout" Target="/ppt/slideLayouts/slideLayout9.xml" Id="R1992680d39a244eb" /><Relationship Type="http://schemas.openxmlformats.org/officeDocument/2006/relationships/slideLayout" Target="/ppt/slideLayouts/slideLayout10.xml" Id="Rb4f28d7067e54b71" /><Relationship Type="http://schemas.openxmlformats.org/officeDocument/2006/relationships/slideLayout" Target="/ppt/slideLayouts/slideLayout11.xml" Id="R1d028270fd194c1e" /><Relationship Type="http://schemas.openxmlformats.org/officeDocument/2006/relationships/slideLayout" Target="/ppt/slideLayouts/slideLayout12.xml" Id="Ra7b441756d074a6e" /><Relationship Type="http://schemas.openxmlformats.org/officeDocument/2006/relationships/slideLayout" Target="/ppt/slideLayouts/slideLayout13.xml" Id="Re58e5dc482124079" /></Relationships>
</file>

<file path=ppt/slideMasters/slideMaster1.xml><?xml version="1.0" encoding="utf-8"?>
<p:sldMaster xmlns:p="http://schemas.openxmlformats.org/presentationml/2006/main">
  <p:cSld>
    <p:bg>
      <p:bgRef idx="1001">
        <a:schemeClr xmlns:a="http://schemas.openxmlformats.org/drawingml/2006/main" val="bg1"/>
      </p:bgRef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6" name="Slide Number Placeholder 5">
            <a:extLst xmlns:a="http://schemas.openxmlformats.org/drawingml/2006/main">
              <a:ext uri="{FF2B5EF4-FFF2-40B4-BE49-F238E27FC236}">
                <a16:creationId xmlns:a16="http://schemas.microsoft.com/office/drawing/2014/main" id="{A0D5B246-E282-3742-BD72-B1BCDC5A64B4}"/>
              </a:ext>
            </a:extLst>
          </p:cNvPr>
          <p:cNvSpPr>
            <a:spLocks xmlns:a="http://schemas.openxmlformats.org/drawingml/2006/main" noGrp="1"/>
          </p:cNvSpPr>
          <p:nvPr>
            <p:ph type="sldNum" idx="4"/>
          </p:nvPr>
        </p:nvSpPr>
        <p:spPr>
          <a:xfrm xmlns:a="http://schemas.openxmlformats.org/drawingml/2006/main">
            <a:off x="8714772" y="6025573"/>
            <a:ext cx="2743200" cy="401638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vert="horz" lIns="91440" tIns="45720" rIns="91440" bIns="45720" anchor="ctr"/>
          <a:lstStyle xmlns:a="http://schemas.openxmlformats.org/drawingml/2006/main">
            <a:lvl1pPr algn="r">
              <a:buNone/>
              <a:defRPr sz="1600">
                <a:solidFill>
                  <a:srgbClr val="1C7DDB"/>
                </a:solidFill>
                <a:latin typeface="Abadi"/>
                <a:ea typeface="Abadi"/>
                <a:cs typeface="Abadi"/>
              </a:defRPr>
            </a:lvl1pPr>
          </a:lstStyle>
          <a:p xmlns:a="http://schemas.openxmlformats.org/drawingml/2006/main">
            <a:fld id="{A190C97C-0095-2443-AC12-FA4CBA4ACD4D}" type="slidenum">
              <a:t>‹#›</a:t>
            </a:fld>
            <a:endParaRPr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xmlns:r="http://schemas.openxmlformats.org/officeDocument/2006/relationships" id="2147483649" r:id="Re8b40393060e4633"/>
    <p:sldLayoutId xmlns:r="http://schemas.openxmlformats.org/officeDocument/2006/relationships" id="2147483650" r:id="R9de94f4e711a4b7c"/>
    <p:sldLayoutId xmlns:r="http://schemas.openxmlformats.org/officeDocument/2006/relationships" id="2147483651" r:id="Re8fa6b36b0c749f3"/>
    <p:sldLayoutId xmlns:r="http://schemas.openxmlformats.org/officeDocument/2006/relationships" id="2147483652" r:id="R748ffe8c5d294dd9"/>
    <p:sldLayoutId xmlns:r="http://schemas.openxmlformats.org/officeDocument/2006/relationships" id="2147483653" r:id="R7b36c6d58332430c"/>
    <p:sldLayoutId xmlns:r="http://schemas.openxmlformats.org/officeDocument/2006/relationships" id="2147483654" r:id="Rfabbeef8004b4abb"/>
    <p:sldLayoutId xmlns:r="http://schemas.openxmlformats.org/officeDocument/2006/relationships" id="2147483655" r:id="Rd6e14235702d45ad"/>
    <p:sldLayoutId xmlns:r="http://schemas.openxmlformats.org/officeDocument/2006/relationships" id="2147483656" r:id="R3de87ef3be3c4b5d"/>
    <p:sldLayoutId xmlns:r="http://schemas.openxmlformats.org/officeDocument/2006/relationships" id="2147483657" r:id="R1992680d39a244eb"/>
    <p:sldLayoutId xmlns:r="http://schemas.openxmlformats.org/officeDocument/2006/relationships" id="2147483658" r:id="Rb4f28d7067e54b71"/>
    <p:sldLayoutId xmlns:r="http://schemas.openxmlformats.org/officeDocument/2006/relationships" id="2147483659" r:id="R1d028270fd194c1e"/>
    <p:sldLayoutId xmlns:r="http://schemas.openxmlformats.org/officeDocument/2006/relationships" id="2147483660" r:id="Ra7b441756d074a6e"/>
    <p:sldLayoutId xmlns:r="http://schemas.openxmlformats.org/officeDocument/2006/relationships" id="2147483661" r:id="Re58e5dc482124079"/>
  </p:sldLayoutIdLst>
  <p:txStyles>
    <p:titleStyle>
      <a:lvl1pPr xmlns:a="http://schemas.openxmlformats.org/drawingml/2006/main" algn="l" defTabSz="914400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lt"/>
          <a:cs typeface="+mj-lt"/>
        </a:defRPr>
      </a:lvl1pPr>
    </p:titleStyle>
    <p:bodyStyle>
      <a:lvl1pPr xmlns:a="http://schemas.openxmlformats.org/drawingml/2006/main" marL="228600" indent="-228600" algn="l" defTabSz="914400">
        <a:lnSpc>
          <a:spcPct val="90000"/>
        </a:lnSpc>
        <a:spcBef>
          <a:spcPts val="1000"/>
        </a:spcBef>
        <a:buFont typeface="Arial"/>
        <a:buChar char="•"/>
        <a:defRPr sz="2800" kern="1200">
          <a:solidFill>
            <a:schemeClr val="tx1"/>
          </a:solidFill>
          <a:latin typeface="+mn-lt"/>
          <a:ea typeface="+mn-lt"/>
          <a:cs typeface="+mn-lt"/>
        </a:defRPr>
      </a:lvl1pPr>
      <a:lvl2pPr xmlns:a="http://schemas.openxmlformats.org/drawingml/2006/main" marL="685800" indent="-228600" algn="l" defTabSz="914400">
        <a:lnSpc>
          <a:spcPct val="90000"/>
        </a:lnSpc>
        <a:spcBef>
          <a:spcPts val="5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lt"/>
          <a:cs typeface="+mn-lt"/>
        </a:defRPr>
      </a:lvl2pPr>
      <a:lvl3pPr xmlns:a="http://schemas.openxmlformats.org/drawingml/2006/main" marL="1143000" indent="-228600" algn="l" defTabSz="914400">
        <a:lnSpc>
          <a:spcPct val="90000"/>
        </a:lnSpc>
        <a:spcBef>
          <a:spcPts val="5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lt"/>
          <a:cs typeface="+mn-lt"/>
        </a:defRPr>
      </a:lvl3pPr>
      <a:lvl4pPr xmlns:a="http://schemas.openxmlformats.org/drawingml/2006/main" marL="1600200" indent="-228600" algn="l" defTabSz="914400">
        <a:lnSpc>
          <a:spcPct val="90000"/>
        </a:lnSpc>
        <a:spcBef>
          <a:spcPts val="500"/>
        </a:spcBef>
        <a:buFont typeface="Arial"/>
        <a:buChar char="•"/>
        <a:defRPr sz="1800" kern="1200">
          <a:solidFill>
            <a:schemeClr val="tx1"/>
          </a:solidFill>
          <a:latin typeface="+mn-lt"/>
          <a:ea typeface="+mn-lt"/>
          <a:cs typeface="+mn-lt"/>
        </a:defRPr>
      </a:lvl4pPr>
      <a:lvl5pPr xmlns:a="http://schemas.openxmlformats.org/drawingml/2006/main" marL="2057400" indent="-228600" algn="l" defTabSz="914400">
        <a:lnSpc>
          <a:spcPct val="90000"/>
        </a:lnSpc>
        <a:spcBef>
          <a:spcPts val="500"/>
        </a:spcBef>
        <a:buFont typeface="Arial"/>
        <a:buChar char="•"/>
        <a:defRPr sz="1800" kern="1200">
          <a:solidFill>
            <a:schemeClr val="tx1"/>
          </a:solidFill>
          <a:latin typeface="+mn-lt"/>
          <a:ea typeface="+mn-lt"/>
          <a:cs typeface="+mn-lt"/>
        </a:defRPr>
      </a:lvl5pPr>
      <a:lvl6pPr xmlns:a="http://schemas.openxmlformats.org/drawingml/2006/main" marL="2514600" indent="-228600" algn="l" defTabSz="914400">
        <a:lnSpc>
          <a:spcPct val="90000"/>
        </a:lnSpc>
        <a:spcBef>
          <a:spcPts val="500"/>
        </a:spcBef>
        <a:buFont typeface="Arial"/>
        <a:buChar char="•"/>
        <a:defRPr sz="1800" kern="1200">
          <a:solidFill>
            <a:schemeClr val="tx1"/>
          </a:solidFill>
          <a:latin typeface="+mn-lt"/>
          <a:ea typeface="+mn-lt"/>
          <a:cs typeface="+mn-lt"/>
        </a:defRPr>
      </a:lvl6pPr>
      <a:lvl7pPr xmlns:a="http://schemas.openxmlformats.org/drawingml/2006/main" marL="2971800" indent="-228600" algn="l" defTabSz="914400">
        <a:lnSpc>
          <a:spcPct val="90000"/>
        </a:lnSpc>
        <a:spcBef>
          <a:spcPts val="500"/>
        </a:spcBef>
        <a:buFont typeface="Arial"/>
        <a:buChar char="•"/>
        <a:defRPr sz="1800" kern="1200">
          <a:solidFill>
            <a:schemeClr val="tx1"/>
          </a:solidFill>
          <a:latin typeface="+mn-lt"/>
          <a:ea typeface="+mn-lt"/>
          <a:cs typeface="+mn-lt"/>
        </a:defRPr>
      </a:lvl7pPr>
      <a:lvl8pPr xmlns:a="http://schemas.openxmlformats.org/drawingml/2006/main" marL="3429000" indent="-228600" algn="l" defTabSz="914400">
        <a:lnSpc>
          <a:spcPct val="90000"/>
        </a:lnSpc>
        <a:spcBef>
          <a:spcPts val="500"/>
        </a:spcBef>
        <a:buFont typeface="Arial"/>
        <a:buChar char="•"/>
        <a:defRPr sz="1800" kern="1200">
          <a:solidFill>
            <a:schemeClr val="tx1"/>
          </a:solidFill>
          <a:latin typeface="+mn-lt"/>
          <a:ea typeface="+mn-lt"/>
          <a:cs typeface="+mn-lt"/>
        </a:defRPr>
      </a:lvl8pPr>
      <a:lvl9pPr xmlns:a="http://schemas.openxmlformats.org/drawingml/2006/main" marL="3886200" indent="-228600" algn="l" defTabSz="914400">
        <a:lnSpc>
          <a:spcPct val="90000"/>
        </a:lnSpc>
        <a:spcBef>
          <a:spcPts val="500"/>
        </a:spcBef>
        <a:buFont typeface="Arial"/>
        <a:buChar char="•"/>
        <a:defRPr sz="1800" kern="1200">
          <a:solidFill>
            <a:schemeClr val="tx1"/>
          </a:solidFill>
          <a:latin typeface="+mn-lt"/>
          <a:ea typeface="+mn-lt"/>
          <a:cs typeface="+mn-lt"/>
        </a:defRPr>
      </a:lvl9pPr>
    </p:bodyStyle>
    <p:otherStyle>
      <a:lvl1pPr xmlns:a="http://schemas.openxmlformats.org/drawingml/2006/main" marL="0" algn="l" defTabSz="914400">
        <a:buNone/>
        <a:defRPr sz="1800" kern="1200">
          <a:solidFill>
            <a:schemeClr val="tx1"/>
          </a:solidFill>
          <a:latin typeface="+mn-lt"/>
          <a:ea typeface="+mn-lt"/>
          <a:cs typeface="+mn-lt"/>
        </a:defRPr>
      </a:lvl1pPr>
      <a:lvl2pPr xmlns:a="http://schemas.openxmlformats.org/drawingml/2006/main" marL="457200" algn="l" defTabSz="914400">
        <a:buNone/>
        <a:defRPr sz="1800" kern="1200">
          <a:solidFill>
            <a:schemeClr val="tx1"/>
          </a:solidFill>
          <a:latin typeface="+mn-lt"/>
          <a:ea typeface="+mn-lt"/>
          <a:cs typeface="+mn-lt"/>
        </a:defRPr>
      </a:lvl2pPr>
      <a:lvl3pPr xmlns:a="http://schemas.openxmlformats.org/drawingml/2006/main" marL="914400" algn="l" defTabSz="914400">
        <a:buNone/>
        <a:defRPr sz="1800" kern="1200">
          <a:solidFill>
            <a:schemeClr val="tx1"/>
          </a:solidFill>
          <a:latin typeface="+mn-lt"/>
          <a:ea typeface="+mn-lt"/>
          <a:cs typeface="+mn-lt"/>
        </a:defRPr>
      </a:lvl3pPr>
      <a:lvl4pPr xmlns:a="http://schemas.openxmlformats.org/drawingml/2006/main" marL="1371600" algn="l" defTabSz="914400">
        <a:buNone/>
        <a:defRPr sz="1800" kern="1200">
          <a:solidFill>
            <a:schemeClr val="tx1"/>
          </a:solidFill>
          <a:latin typeface="+mn-lt"/>
          <a:ea typeface="+mn-lt"/>
          <a:cs typeface="+mn-lt"/>
        </a:defRPr>
      </a:lvl4pPr>
      <a:lvl5pPr xmlns:a="http://schemas.openxmlformats.org/drawingml/2006/main" marL="1828800" algn="l" defTabSz="914400">
        <a:buNone/>
        <a:defRPr sz="1800" kern="1200">
          <a:solidFill>
            <a:schemeClr val="tx1"/>
          </a:solidFill>
          <a:latin typeface="+mn-lt"/>
          <a:ea typeface="+mn-lt"/>
          <a:cs typeface="+mn-lt"/>
        </a:defRPr>
      </a:lvl5pPr>
      <a:lvl6pPr xmlns:a="http://schemas.openxmlformats.org/drawingml/2006/main" marL="2286000" algn="l" defTabSz="914400">
        <a:buNone/>
        <a:defRPr sz="1800" kern="1200">
          <a:solidFill>
            <a:schemeClr val="tx1"/>
          </a:solidFill>
          <a:latin typeface="+mn-lt"/>
          <a:ea typeface="+mn-lt"/>
          <a:cs typeface="+mn-lt"/>
        </a:defRPr>
      </a:lvl6pPr>
      <a:lvl7pPr xmlns:a="http://schemas.openxmlformats.org/drawingml/2006/main" marL="2743200" algn="l" defTabSz="914400">
        <a:buNone/>
        <a:defRPr sz="1800" kern="1200">
          <a:solidFill>
            <a:schemeClr val="tx1"/>
          </a:solidFill>
          <a:latin typeface="+mn-lt"/>
          <a:ea typeface="+mn-lt"/>
          <a:cs typeface="+mn-lt"/>
        </a:defRPr>
      </a:lvl7pPr>
      <a:lvl8pPr xmlns:a="http://schemas.openxmlformats.org/drawingml/2006/main" marL="3200400" algn="l" defTabSz="914400">
        <a:buNone/>
        <a:defRPr sz="1800" kern="1200">
          <a:solidFill>
            <a:schemeClr val="tx1"/>
          </a:solidFill>
          <a:latin typeface="+mn-lt"/>
          <a:ea typeface="+mn-lt"/>
          <a:cs typeface="+mn-lt"/>
        </a:defRPr>
      </a:lvl8pPr>
      <a:lvl9pPr xmlns:a="http://schemas.openxmlformats.org/drawingml/2006/main" marL="3657600" algn="l" defTabSz="914400">
        <a:buNone/>
        <a:defRPr sz="1800" kern="1200">
          <a:solidFill>
            <a:schemeClr val="tx1"/>
          </a:solidFill>
          <a:latin typeface="+mn-lt"/>
          <a:ea typeface="+mn-lt"/>
          <a:cs typeface="+mn-lt"/>
        </a:defRPr>
      </a:lvl9pPr>
    </p:otherStyle>
  </p:txStyles>
</p:sldMaster>
</file>

<file path=ppt/slideMasters/theme/theme2.xml><?xml version="1.0" encoding="utf-8"?>
<a:theme xmlns:a="http://schemas.openxmlformats.org/drawingml/2006/main" name="Custom Design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6350">
          <a:solidFill>
            <a:schemeClr val="phClr"/>
          </a:solidFill>
          <a:prstDash val="solid"/>
        </a:ln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ppt/slides/_rels/slide1.xml.rels>&#65279;<?xml version="1.0" encoding="utf-8"?><Relationships xmlns="http://schemas.openxmlformats.org/package/2006/relationships"><Relationship Type="http://schemas.openxmlformats.org/officeDocument/2006/relationships/slideLayout" Target="/ppt/slideLayouts/slideLayout12.xml" Id="Ra59a5de8891b406f" /><Relationship Type="http://schemas.openxmlformats.org/officeDocument/2006/relationships/image" Target="/ppt/media/image.jpeg" Id="R54c9a03f24a84b22" /><Relationship Type="http://schemas.openxmlformats.org/officeDocument/2006/relationships/image" Target="/ppt/media/image.png" Id="R2bf8332b20d54e52" /><Relationship Type="http://schemas.openxmlformats.org/officeDocument/2006/relationships/notesSlide" Target="/ppt/notesSlides/notesSlide1.xml" Id="Rb293b4e3943741c1" /></Relationships>
</file>

<file path=ppt/slides/_rels/slide2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e93d306fe7174c8d" /><Relationship Type="http://schemas.openxmlformats.org/officeDocument/2006/relationships/notesSlide" Target="/ppt/notesSlides/notesSlide2.xml" Id="R099cc51e19e1447c" /></Relationships>
</file>

<file path=ppt/slides/_rels/slide3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4ef80839236a4003" /><Relationship Type="http://schemas.openxmlformats.org/officeDocument/2006/relationships/notesSlide" Target="/ppt/notesSlides/notesSlide3.xml" Id="R30b33839d2424ad6" /></Relationships>
</file>

<file path=ppt/slides/_rels/slide4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2d02fb0057834975" /><Relationship Type="http://schemas.openxmlformats.org/officeDocument/2006/relationships/image" Target="/ppt/media/image2.png" Id="R2982f16df50f4b9a" /><Relationship Type="http://schemas.openxmlformats.org/officeDocument/2006/relationships/chart" Target="/ppt/slides/charts/chart1.xml" Id="R3f66744d0df14e5e" /><Relationship Type="http://schemas.openxmlformats.org/officeDocument/2006/relationships/notesSlide" Target="/ppt/notesSlides/notesSlide4.xml" Id="Rdd32043bec96465e" /></Relationships>
</file>

<file path=ppt/slides/_rels/slide5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7d414d341b0a454d" /><Relationship Type="http://schemas.openxmlformats.org/officeDocument/2006/relationships/image" Target="/ppt/media/image2.png" Id="R0a5a2e9549ae492f" /><Relationship Type="http://schemas.openxmlformats.org/officeDocument/2006/relationships/notesSlide" Target="/ppt/notesSlides/notesSlide5.xml" Id="R2a733f89096643dc" /></Relationships>
</file>

<file path=ppt/slides/_rels/slide6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b960645032104ee6" /><Relationship Type="http://schemas.openxmlformats.org/officeDocument/2006/relationships/notesSlide" Target="/ppt/notesSlides/notesSlide6.xml" Id="Rf86da5b4c1c74797" /></Relationships>
</file>

<file path=ppt/slides/_rels/slide7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0b00e3c60f4f48e4" /><Relationship Type="http://schemas.openxmlformats.org/officeDocument/2006/relationships/notesSlide" Target="/ppt/notesSlides/notesSlide7.xml" Id="R00a6eb36c3194b49" /></Relationships>
</file>

<file path=ppt/slides/_rels/slide8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fe413ec18e3d446c" /><Relationship Type="http://schemas.openxmlformats.org/officeDocument/2006/relationships/notesSlide" Target="/ppt/notesSlides/notesSlide8.xml" Id="Rc5615cb20bc445cc" /></Relationships>
</file>

<file path=ppt/slides/_rels/slide9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7104df2157cf4cd1" /><Relationship Type="http://schemas.openxmlformats.org/officeDocument/2006/relationships/image" Target="/ppt/media/image2.png" Id="R54acc88a86d74cb7" /><Relationship Type="http://schemas.openxmlformats.org/officeDocument/2006/relationships/notesSlide" Target="/ppt/notesSlides/notesSlide9.xml" Id="Rac24de995f9c40a4" /></Relationships>
</file>

<file path=ppt/slides/_rels/slide10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fdda8446b75f4373" /><Relationship Type="http://schemas.openxmlformats.org/officeDocument/2006/relationships/image" Target="/ppt/media/image2.png" Id="R6855a6dc4aff47b0" /><Relationship Type="http://schemas.openxmlformats.org/officeDocument/2006/relationships/notesSlide" Target="/ppt/notesSlides/notesSlide10.xml" Id="R3b61024de4104d15" /></Relationships>
</file>

<file path=ppt/slides/_rels/slide11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d2eb3acf82e84747" /><Relationship Type="http://schemas.openxmlformats.org/officeDocument/2006/relationships/image" Target="/ppt/media/image2.png" Id="R4c62b115fb824939" /><Relationship Type="http://schemas.openxmlformats.org/officeDocument/2006/relationships/notesSlide" Target="/ppt/notesSlides/notesSlide11.xml" Id="R45308a15ad984783" /></Relationships>
</file>

<file path=ppt/slides/_rels/slide12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1851cf7fdbe648bf" /><Relationship Type="http://schemas.openxmlformats.org/officeDocument/2006/relationships/image" Target="/ppt/media/image2.png" Id="Rfbcc32127fd14e36" /><Relationship Type="http://schemas.openxmlformats.org/officeDocument/2006/relationships/notesSlide" Target="/ppt/notesSlides/notesSlide12.xml" Id="R1204d7a5a2ee4ab7" /></Relationships>
</file>

<file path=ppt/slides/_rels/slide13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ff2387d8bcdc4878" /><Relationship Type="http://schemas.openxmlformats.org/officeDocument/2006/relationships/image" Target="/ppt/media/image2.png" Id="Rcaf83f73a8524224" /><Relationship Type="http://schemas.openxmlformats.org/officeDocument/2006/relationships/notesSlide" Target="/ppt/notesSlides/notesSlide13.xml" Id="Rcdc6a7f2f5b541e2" /></Relationships>
</file>

<file path=ppt/slides/_rels/slide14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62d53e007d47492d" /><Relationship Type="http://schemas.openxmlformats.org/officeDocument/2006/relationships/image" Target="/ppt/media/image2.png" Id="R913f4533ef0848a2" /><Relationship Type="http://schemas.openxmlformats.org/officeDocument/2006/relationships/notesSlide" Target="/ppt/notesSlides/notesSlide14.xml" Id="R24dabd40ef96439d" /></Relationships>
</file>

<file path=ppt/slides/_rels/slide15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d3efa0ead777435d" /><Relationship Type="http://schemas.openxmlformats.org/officeDocument/2006/relationships/image" Target="/ppt/media/image2.png" Id="Rb38ff92ba1084eb1" /><Relationship Type="http://schemas.openxmlformats.org/officeDocument/2006/relationships/notesSlide" Target="/ppt/notesSlides/notesSlide15.xml" Id="Rbf4f5929c4bc4108" /></Relationships>
</file>

<file path=ppt/slides/_rels/slide16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5e6dde9a5a054baa" /><Relationship Type="http://schemas.openxmlformats.org/officeDocument/2006/relationships/image" Target="/ppt/media/image2.png" Id="Re101a65240a3456c" /><Relationship Type="http://schemas.openxmlformats.org/officeDocument/2006/relationships/notesSlide" Target="/ppt/notesSlides/notesSlide16.xml" Id="Ra23874b9bfaf4acd" /></Relationships>
</file>

<file path=ppt/slides/_rels/slide17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894ce93cfc834832" /><Relationship Type="http://schemas.openxmlformats.org/officeDocument/2006/relationships/image" Target="/ppt/media/image2.png" Id="R03b4fa45f7c34482" /><Relationship Type="http://schemas.openxmlformats.org/officeDocument/2006/relationships/notesSlide" Target="/ppt/notesSlides/notesSlide17.xml" Id="R296bbd2562dd4b31" /></Relationships>
</file>

<file path=ppt/slides/_rels/slide18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21b70607de044c59" /><Relationship Type="http://schemas.openxmlformats.org/officeDocument/2006/relationships/image" Target="/ppt/media/image2.png" Id="Raa288e537deb4eea" /><Relationship Type="http://schemas.openxmlformats.org/officeDocument/2006/relationships/chart" Target="/ppt/slides/charts/chart2.xml" Id="R55f6877a67724d5b" /><Relationship Type="http://schemas.openxmlformats.org/officeDocument/2006/relationships/notesSlide" Target="/ppt/notesSlides/notesSlide18.xml" Id="Re4f0b44a7acc4d15" /></Relationships>
</file>

<file path=ppt/slides/_rels/slide19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3efc7354cd0842f0" /><Relationship Type="http://schemas.openxmlformats.org/officeDocument/2006/relationships/image" Target="/ppt/media/image2.png" Id="R1edff6f0b41b4604" /><Relationship Type="http://schemas.openxmlformats.org/officeDocument/2006/relationships/chart" Target="/ppt/slides/charts/chart3.xml" Id="R593c1c4731e64a04" /><Relationship Type="http://schemas.openxmlformats.org/officeDocument/2006/relationships/notesSlide" Target="/ppt/notesSlides/notesSlide19.xml" Id="R23166be25d4a4af1" /></Relationships>
</file>

<file path=ppt/slides/_rels/slide20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2ab2cead20a34b93" /><Relationship Type="http://schemas.openxmlformats.org/officeDocument/2006/relationships/image" Target="/ppt/media/image2.png" Id="R60883dff221f4647" /><Relationship Type="http://schemas.openxmlformats.org/officeDocument/2006/relationships/chart" Target="/ppt/slides/charts/chart4.xml" Id="R3dd3db4260744d60" /><Relationship Type="http://schemas.openxmlformats.org/officeDocument/2006/relationships/notesSlide" Target="/ppt/notesSlides/notesSlide20.xml" Id="Ref2a3bdfe493489b" /></Relationships>
</file>

<file path=ppt/slides/_rels/slide21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669fb8878fa0487a" /><Relationship Type="http://schemas.openxmlformats.org/officeDocument/2006/relationships/image" Target="/ppt/media/image2.png" Id="Rbc7dca1dc75d4a95" /><Relationship Type="http://schemas.openxmlformats.org/officeDocument/2006/relationships/chart" Target="/ppt/slides/charts/chart5.xml" Id="Rd868c07a1eaa48cb" /><Relationship Type="http://schemas.openxmlformats.org/officeDocument/2006/relationships/notesSlide" Target="/ppt/notesSlides/notesSlide21.xml" Id="R0ed1805bdc904ed6" /></Relationships>
</file>

<file path=ppt/slides/_rels/slide22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c542e6e8ca334a79" /><Relationship Type="http://schemas.openxmlformats.org/officeDocument/2006/relationships/image" Target="/ppt/media/image2.png" Id="Rfe5550351e0b4223" /><Relationship Type="http://schemas.openxmlformats.org/officeDocument/2006/relationships/chart" Target="/ppt/slides/charts/chart6.xml" Id="Rce28e1974e504545" /><Relationship Type="http://schemas.openxmlformats.org/officeDocument/2006/relationships/notesSlide" Target="/ppt/notesSlides/notesSlide22.xml" Id="R7dbee176d94c4585" /></Relationships>
</file>

<file path=ppt/slides/_rels/slide23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2bf91a5359c64916" /><Relationship Type="http://schemas.openxmlformats.org/officeDocument/2006/relationships/image" Target="/ppt/media/image2.png" Id="Rce535a9eab23457d" /><Relationship Type="http://schemas.openxmlformats.org/officeDocument/2006/relationships/chart" Target="/ppt/slides/charts/chart7.xml" Id="R435e2f3450c649f2" /><Relationship Type="http://schemas.openxmlformats.org/officeDocument/2006/relationships/notesSlide" Target="/ppt/notesSlides/notesSlide23.xml" Id="Rf3919842f48547a0" /></Relationships>
</file>

<file path=ppt/slides/_rels/slide24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6e3d8e6698784181" /><Relationship Type="http://schemas.openxmlformats.org/officeDocument/2006/relationships/image" Target="/ppt/media/image2.png" Id="R2e992038e3684749" /><Relationship Type="http://schemas.openxmlformats.org/officeDocument/2006/relationships/notesSlide" Target="/ppt/notesSlides/notesSlide24.xml" Id="R1d8eb00b08994a56" /></Relationships>
</file>

<file path=ppt/slides/_rels/slide25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53960f2fc3f74148" /><Relationship Type="http://schemas.openxmlformats.org/officeDocument/2006/relationships/image" Target="/ppt/media/image2.png" Id="R2c8da11d16ec4ce1" /><Relationship Type="http://schemas.openxmlformats.org/officeDocument/2006/relationships/notesSlide" Target="/ppt/notesSlides/notesSlide25.xml" Id="Rcc9404de813a478e" /></Relationships>
</file>

<file path=ppt/slides/_rels/slide26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df8476e3c55f43ef" /><Relationship Type="http://schemas.openxmlformats.org/officeDocument/2006/relationships/image" Target="/ppt/media/image2.png" Id="R605b7f5210b64fc0" /><Relationship Type="http://schemas.openxmlformats.org/officeDocument/2006/relationships/notesSlide" Target="/ppt/notesSlides/notesSlide26.xml" Id="R5586b55233694233" /></Relationships>
</file>

<file path=ppt/slides/_rels/slide27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36af5f5098d2434e" /><Relationship Type="http://schemas.openxmlformats.org/officeDocument/2006/relationships/image" Target="/ppt/media/image2.png" Id="R996ef832138d4479" /><Relationship Type="http://schemas.openxmlformats.org/officeDocument/2006/relationships/notesSlide" Target="/ppt/notesSlides/notesSlide27.xml" Id="Rdd5a7f3746094738" /></Relationships>
</file>

<file path=ppt/slides/_rels/slide28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6457ae92b4c541a8" /><Relationship Type="http://schemas.openxmlformats.org/officeDocument/2006/relationships/image" Target="/ppt/media/image2.png" Id="R1f28a4fb493e4ca7" /><Relationship Type="http://schemas.openxmlformats.org/officeDocument/2006/relationships/notesSlide" Target="/ppt/notesSlides/notesSlide28.xml" Id="Rdad273b0d8914a65" /></Relationships>
</file>

<file path=ppt/slides/_rels/slide29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b5df11e8ff7245e4" /><Relationship Type="http://schemas.openxmlformats.org/officeDocument/2006/relationships/image" Target="/ppt/media/image2.png" Id="Rc732ad6087434192" /><Relationship Type="http://schemas.openxmlformats.org/officeDocument/2006/relationships/notesSlide" Target="/ppt/notesSlides/notesSlide29.xml" Id="Rb1fe19a8fe464f27" /></Relationships>
</file>

<file path=ppt/slides/_rels/slide30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d54d656299704b73" /><Relationship Type="http://schemas.openxmlformats.org/officeDocument/2006/relationships/image" Target="/ppt/media/image2.png" Id="Rb25b4d2be2584142" /><Relationship Type="http://schemas.openxmlformats.org/officeDocument/2006/relationships/notesSlide" Target="/ppt/notesSlides/notesSlide30.xml" Id="R1489a5e21d0f4496" /></Relationships>
</file>

<file path=ppt/slides/_rels/slide31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2dba21ea8d174635" /><Relationship Type="http://schemas.openxmlformats.org/officeDocument/2006/relationships/image" Target="/ppt/media/image2.png" Id="Rc965f975c5934263" /><Relationship Type="http://schemas.openxmlformats.org/officeDocument/2006/relationships/notesSlide" Target="/ppt/notesSlides/notesSlide31.xml" Id="R3f7eebdc8f5c4678" /></Relationships>
</file>

<file path=ppt/slides/_rels/slide32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b1e8760f179c4154" /><Relationship Type="http://schemas.openxmlformats.org/officeDocument/2006/relationships/image" Target="/ppt/media/image2.png" Id="R6cb44b2531c449b6" /><Relationship Type="http://schemas.openxmlformats.org/officeDocument/2006/relationships/notesSlide" Target="/ppt/notesSlides/notesSlide32.xml" Id="R1fa0271467b84b2e" /></Relationships>
</file>

<file path=ppt/slides/_rels/slide33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0e510aea719e4695" /><Relationship Type="http://schemas.openxmlformats.org/officeDocument/2006/relationships/image" Target="/ppt/media/image2.png" Id="R0b60b856ef894889" /><Relationship Type="http://schemas.openxmlformats.org/officeDocument/2006/relationships/notesSlide" Target="/ppt/notesSlides/notesSlide33.xml" Id="Rdc2edf1cc84d424a" /></Relationships>
</file>

<file path=ppt/slides/_rels/slide34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1b7b184710964b0a" /><Relationship Type="http://schemas.openxmlformats.org/officeDocument/2006/relationships/image" Target="/ppt/media/image2.png" Id="Raf4ed027d9914da7" /><Relationship Type="http://schemas.openxmlformats.org/officeDocument/2006/relationships/image" Target="/ppt/media/image2.jpeg" Id="R273dbd8162ca46b0" /><Relationship Type="http://schemas.openxmlformats.org/officeDocument/2006/relationships/notesSlide" Target="/ppt/notesSlides/notesSlide34.xml" Id="R3d83da45f68a4b75" /></Relationships>
</file>

<file path=ppt/slides/_rels/slide35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49d75cd80ed04875" /><Relationship Type="http://schemas.openxmlformats.org/officeDocument/2006/relationships/image" Target="/ppt/media/image2.png" Id="Ra383c7dd65b3470d" /><Relationship Type="http://schemas.openxmlformats.org/officeDocument/2006/relationships/image" Target="/ppt/media/image3.jpeg" Id="R4e3863fdbce248bf" /><Relationship Type="http://schemas.openxmlformats.org/officeDocument/2006/relationships/notesSlide" Target="/ppt/notesSlides/notesSlide35.xml" Id="R55ab3933af8a433a" /></Relationships>
</file>

<file path=ppt/slides/_rels/slide36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071fa734d72e4393" /><Relationship Type="http://schemas.openxmlformats.org/officeDocument/2006/relationships/image" Target="/ppt/media/image2.png" Id="Rcf8fba942e3c4328" /><Relationship Type="http://schemas.openxmlformats.org/officeDocument/2006/relationships/image" Target="/ppt/media/image4.jpeg" Id="R68295788c0ae4efc" /><Relationship Type="http://schemas.openxmlformats.org/officeDocument/2006/relationships/notesSlide" Target="/ppt/notesSlides/notesSlide36.xml" Id="R9e6ba48729af46db" /></Relationships>
</file>

<file path=ppt/slides/_rels/slide37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62431b269eb24e7d" /><Relationship Type="http://schemas.openxmlformats.org/officeDocument/2006/relationships/image" Target="/ppt/media/image2.png" Id="R89717ccd1f3c43ca" /><Relationship Type="http://schemas.openxmlformats.org/officeDocument/2006/relationships/image" Target="/ppt/media/image5.jpeg" Id="Rc6866f63eca8442c" /><Relationship Type="http://schemas.openxmlformats.org/officeDocument/2006/relationships/notesSlide" Target="/ppt/notesSlides/notesSlide37.xml" Id="Ra5f316eb62514e40" /></Relationships>
</file>

<file path=ppt/slides/_rels/slide38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f81f43d5c4eb4453" /><Relationship Type="http://schemas.openxmlformats.org/officeDocument/2006/relationships/image" Target="/ppt/media/image2.png" Id="R631469b823d94674" /><Relationship Type="http://schemas.openxmlformats.org/officeDocument/2006/relationships/image" Target="/ppt/media/image6.jpeg" Id="R6847f3c195f6414a" /><Relationship Type="http://schemas.openxmlformats.org/officeDocument/2006/relationships/notesSlide" Target="/ppt/notesSlides/notesSlide38.xml" Id="Rb945b939ea664fd0" /></Relationships>
</file>

<file path=ppt/slides/_rels/slide39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a65f06f8e1324a4b" /><Relationship Type="http://schemas.openxmlformats.org/officeDocument/2006/relationships/image" Target="/ppt/media/image2.png" Id="R61125e069b4e4591" /><Relationship Type="http://schemas.openxmlformats.org/officeDocument/2006/relationships/image" Target="/ppt/media/image7.jpeg" Id="R53d1a6f91d2d4d19" /><Relationship Type="http://schemas.openxmlformats.org/officeDocument/2006/relationships/image" Target="/ppt/media/image8.jpeg" Id="Ra28605ff9f9f481d" /><Relationship Type="http://schemas.openxmlformats.org/officeDocument/2006/relationships/notesSlide" Target="/ppt/notesSlides/notesSlide39.xml" Id="R997594a152e748da" /></Relationships>
</file>

<file path=ppt/slides/_rels/slide40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b83d087aa2704d8e" /><Relationship Type="http://schemas.openxmlformats.org/officeDocument/2006/relationships/image" Target="/ppt/media/image2.png" Id="R9ab7734c5d2e431c" /><Relationship Type="http://schemas.openxmlformats.org/officeDocument/2006/relationships/notesSlide" Target="/ppt/notesSlides/notesSlide40.xml" Id="R4c5b0c01cfd0497d" /></Relationships>
</file>

<file path=ppt/slides/charts/_rels/chart1.xml.rels><Relationships xmlns="http://schemas.openxmlformats.org/package/2006/relationships"><Relationship Id="rIdChartSnapshot1" Type="http://schemas.openxmlformats.org/officeDocument/2006/relationships/package" Target="../../embeddings/chart-data-snapshot-001.xlsx"/></Relationships>
</file>

<file path=ppt/slides/charts/_rels/chart2.xml.rels><Relationships xmlns="http://schemas.openxmlformats.org/package/2006/relationships"><Relationship Id="rIdChartSnapshot1" Type="http://schemas.openxmlformats.org/officeDocument/2006/relationships/package" Target="../../embeddings/chart-data-snapshot-002.xlsx"/></Relationships>
</file>

<file path=ppt/slides/charts/_rels/chart3.xml.rels><Relationships xmlns="http://schemas.openxmlformats.org/package/2006/relationships"><Relationship Id="rIdChartSnapshot1" Type="http://schemas.openxmlformats.org/officeDocument/2006/relationships/package" Target="../../embeddings/chart-data-snapshot-003.xlsx"/></Relationships>
</file>

<file path=ppt/slides/charts/_rels/chart4.xml.rels><Relationships xmlns="http://schemas.openxmlformats.org/package/2006/relationships"><Relationship Id="rIdChartSnapshot1" Type="http://schemas.openxmlformats.org/officeDocument/2006/relationships/package" Target="../../embeddings/chart-data-snapshot-004.xlsx"/></Relationships>
</file>

<file path=ppt/slides/charts/_rels/chart5.xml.rels><Relationships xmlns="http://schemas.openxmlformats.org/package/2006/relationships"><Relationship Id="rIdChartSnapshot1" Type="http://schemas.openxmlformats.org/officeDocument/2006/relationships/package" Target="../../embeddings/chart-data-snapshot-005.xlsx"/></Relationships>
</file>

<file path=ppt/slides/charts/_rels/chart6.xml.rels><Relationships xmlns="http://schemas.openxmlformats.org/package/2006/relationships"><Relationship Id="rIdChartSnapshot1" Type="http://schemas.openxmlformats.org/officeDocument/2006/relationships/package" Target="../../embeddings/chart-data-snapshot-006.xlsx"/></Relationships>
</file>

<file path=ppt/slides/charts/_rels/chart7.xml.rels><Relationships xmlns="http://schemas.openxmlformats.org/package/2006/relationships"><Relationship Id="rIdChartSnapshot1" Type="http://schemas.openxmlformats.org/officeDocument/2006/relationships/package" Target="../../embeddings/chart-data-snapshot-007.xlsx"/></Relationships>
</file>

<file path=ppt/slides/charts/chart1.xml><?xml version="1.0" encoding="utf-8"?>
<c:chartSpace xmlns:c="http://schemas.openxmlformats.org/drawingml/2006/chart" xmlns:r="http://schemas.openxmlformats.org/officeDocument/2006/relationships">
  <c:lang val="en-US"/>
  <c:chart>
    <c:plotArea>
      <c:barChart>
        <c:barDir val="col"/>
        <c:grouping val="clustered"/>
        <c:varyColors val="0"/>
        <c:ser>
          <c:idx val="0"/>
          <c:order val="0"/>
          <c:tx>
            <c:v>10-fold CV</c:v>
          </c:tx>
          <c:spPr>
            <a:solidFill xmlns:a="http://schemas.openxmlformats.org/drawingml/2006/main">
              <a:srgbClr val="0B49CB"/>
            </a:solidFill>
          </c:spPr>
          <c:invertIfNegative val="0"/>
          <c:cat>
            <c:strRef>
              <c:f>'Chart Data'!$A$2:$A$5</c:f>
              <c:strCache>
                <c:ptCount val="4"/>
                <c:pt idx="0">
                  <c:v>Logistic regression</c:v>
                </c:pt>
                <c:pt idx="1">
                  <c:v>SVM</c:v>
                </c:pt>
                <c:pt idx="2">
                  <c:v>Decision tree</c:v>
                </c:pt>
                <c:pt idx="3">
                  <c:v>KNN</c:v>
                </c:pt>
              </c:strCache>
            </c:strRef>
          </c:cat>
          <c:val>
            <c:numRef>
              <c:f>'Chart Data'!$B$2:$B$5</c:f>
              <c:numCache>
                <c:formatCode>0%</c:formatCode>
                <c:ptCount val="4"/>
                <c:pt idx="0">
                  <c:v>0.8464285714</c:v>
                </c:pt>
                <c:pt idx="1">
                  <c:v>0.8482142857</c:v>
                </c:pt>
                <c:pt idx="2">
                  <c:v>0.8767857143</c:v>
                </c:pt>
                <c:pt idx="3">
                  <c:v>0.8482142857</c:v>
                </c:pt>
              </c:numCache>
            </c:numRef>
          </c:val>
        </c:ser>
        <c:ser>
          <c:idx val="1"/>
          <c:order val="1"/>
          <c:tx>
            <c:v>Test</c:v>
          </c:tx>
          <c:spPr>
            <a:solidFill xmlns:a="http://schemas.openxmlformats.org/drawingml/2006/main">
              <a:srgbClr val="F1A54B"/>
            </a:solidFill>
          </c:spPr>
          <c:invertIfNegative val="0"/>
          <c:cat>
            <c:strRef>
              <c:f>'Chart Data'!$C$2:$C$5</c:f>
              <c:strCache>
                <c:ptCount val="4"/>
                <c:pt idx="0">
                  <c:v>Logistic regression</c:v>
                </c:pt>
                <c:pt idx="1">
                  <c:v>SVM</c:v>
                </c:pt>
                <c:pt idx="2">
                  <c:v>Decision tree</c:v>
                </c:pt>
                <c:pt idx="3">
                  <c:v>KNN</c:v>
                </c:pt>
              </c:strCache>
            </c:strRef>
          </c:cat>
          <c:val>
            <c:numRef>
              <c:f>'Chart Data'!$D$2:$D$5</c:f>
              <c:numCache>
                <c:formatCode>0%</c:formatCode>
                <c:ptCount val="4"/>
                <c:pt idx="0">
                  <c:v>0.83333333333333</c:v>
                </c:pt>
                <c:pt idx="1">
                  <c:v>0.83333333333333</c:v>
                </c:pt>
                <c:pt idx="2">
                  <c:v>0.83333333333333</c:v>
                </c:pt>
                <c:pt idx="3">
                  <c:v>0.83333333333333</c:v>
                </c:pt>
              </c:numCache>
            </c:numRef>
          </c:val>
        </c:ser>
        <c:dLbls>
          <c:numFmt formatCode="0.0%" sourceLinked="0"/>
          <c:dLblPos val="outEnd"/>
          <c:showLegendKey val="0"/>
          <c:showVal val="1"/>
          <c:showCatName val="0"/>
          <c:showSerName val="0"/>
          <c:showPercent val="0"/>
          <c:showBubbleSize val="0"/>
          <c:showLeaderLines val="0"/>
        </c:dLbls>
        <c:axId val="48650112"/>
        <c:axId val="48672768"/>
      </c:barChart>
      <c:catAx>
        <c:axId val="48650112"/>
        <c:scaling>
          <c:orientation val="minMax"/>
        </c:scaling>
        <c:delete val="0"/>
        <c:axPos val="b"/>
        <c:numFmt formatCode="General"/>
        <c:majorTickMark val="none"/>
        <c:minorTickMark val="none"/>
        <c:spPr>
          <a:ln xmlns:a="http://schemas.openxmlformats.org/drawingml/2006/main" w="9525">
            <a:solidFill>
              <a:srgbClr val="D4D4D4"/>
            </a:solidFill>
            <a:prstDash val="solid"/>
          </a:ln>
        </c:spPr>
        <c:txPr>
          <a:bodyPr xmlns:a="http://schemas.openxmlformats.org/drawingml/2006/main" anchorCtr="1"/>
          <a:lstStyle xmlns:a="http://schemas.openxmlformats.org/drawingml/2006/main"/>
          <a:p xmlns:a="http://schemas.openxmlformats.org/drawingml/2006/main">
            <a:pPr>
              <a:defRPr sz="1275">
                <a:solidFill>
                  <a:srgbClr val="666666"/>
                </a:solidFill>
              </a:defRPr>
            </a:pPr>
          </a:p>
        </c:txPr>
        <c:crossAx val="48672768"/>
      </c:catAx>
      <c:valAx>
        <c:axId val="48672768"/>
        <c:scaling>
          <c:orientation val="minMax"/>
          <c:max val="1"/>
          <c:min val="0"/>
        </c:scaling>
        <c:delete val="0"/>
        <c:axPos val="l"/>
        <c:numFmt formatCode="0%"/>
        <c:majorTickMark val="none"/>
        <c:minorTickMark val="none"/>
        <c:spPr>
          <a:ln xmlns:a="http://schemas.openxmlformats.org/drawingml/2006/main" w="9525">
            <a:solidFill>
              <a:srgbClr val="D4D4D4"/>
            </a:solidFill>
            <a:prstDash val="solid"/>
          </a:ln>
        </c:spPr>
        <c:txPr>
          <a:bodyPr xmlns:a="http://schemas.openxmlformats.org/drawingml/2006/main" anchorCtr="1"/>
          <a:lstStyle xmlns:a="http://schemas.openxmlformats.org/drawingml/2006/main"/>
          <a:p xmlns:a="http://schemas.openxmlformats.org/drawingml/2006/main">
            <a:pPr>
              <a:defRPr>
                <a:solidFill>
                  <a:srgbClr val="666666"/>
                </a:solidFill>
              </a:defRPr>
            </a:pPr>
          </a:p>
        </c:txPr>
        <c:crossAx val="48650112"/>
        <c:crossBetween val="between"/>
      </c:valAx>
    </c:plotArea>
    <c:legend>
      <c:legendPos val="b"/>
      <c:overlay val="0"/>
      <c:txPr>
        <a:bodyPr xmlns:a="http://schemas.openxmlformats.org/drawingml/2006/main" anchorCtr="1"/>
        <a:lstStyle xmlns:a="http://schemas.openxmlformats.org/drawingml/2006/main"/>
        <a:p xmlns:a="http://schemas.openxmlformats.org/drawingml/2006/main">
          <a:pPr>
            <a:defRPr sz="1350"/>
          </a:pPr>
        </a:p>
      </c:txPr>
    </c:legend>
    <c:plotVisOnly val="1"/>
  </c:chart>
  <c:spPr>
    <a:solidFill xmlns:a="http://schemas.openxmlformats.org/drawingml/2006/main">
      <a:srgbClr val="FFFFFF"/>
    </a:solidFill>
  </c:spPr>
  <c:externalData r:id="rIdChartSnapshot1">
    <c:autoUpdate val="0"/>
  </c:externalData>
</c:chartSpace>
</file>

<file path=ppt/slides/charts/chart2.xml><?xml version="1.0" encoding="utf-8"?>
<c:chartSpace xmlns:c="http://schemas.openxmlformats.org/drawingml/2006/chart" xmlns:r="http://schemas.openxmlformats.org/officeDocument/2006/relationships">
  <c:lang val="en-US"/>
  <c:chart>
    <c:plotArea>
      <c:scatterChart>
        <c:scatterStyle val="marker"/>
        <c:varyColors val="0"/>
        <c:ser>
          <c:idx val="0"/>
          <c:order val="0"/>
          <c:tx>
            <c:v>Class 0</c:v>
          </c:tx>
          <c:spPr>
            <a:solidFill xmlns:a="http://schemas.openxmlformats.org/drawingml/2006/main">
              <a:srgbClr val="CC5C55"/>
            </a:solidFill>
            <a:ln xmlns:a="http://schemas.openxmlformats.org/drawingml/2006/main" w="0">
              <a:noFill/>
            </a:ln>
          </c:spPr>
          <c:marker>
            <c:symbol val="x"/>
            <c:size val="7"/>
            <c:spPr>
              <a:solidFill xmlns:a="http://schemas.openxmlformats.org/drawingml/2006/main">
                <a:srgbClr val="CC5C55"/>
              </a:solidFill>
            </c:spPr>
          </c:marker>
          <c:xVal>
            <c:numRef>
              <c:f>'Chart Data'!$A$2:$A$31</c:f>
              <c:numCache>
                <c:formatCode>General</c:formatCode>
                <c:ptCount val="30"/>
                <c:pt idx="0">
                  <c:v>1</c:v>
                </c:pt>
                <c:pt idx="1">
                  <c:v>2</c:v>
                </c:pt>
                <c:pt idx="2">
                  <c:v>3</c:v>
                </c:pt>
                <c:pt idx="3">
                  <c:v>4</c:v>
                </c:pt>
                <c:pt idx="4">
                  <c:v>5</c:v>
                </c:pt>
                <c:pt idx="5">
                  <c:v>6</c:v>
                </c:pt>
                <c:pt idx="6">
                  <c:v>9</c:v>
                </c:pt>
                <c:pt idx="7">
                  <c:v>10</c:v>
                </c:pt>
                <c:pt idx="8">
                  <c:v>11</c:v>
                </c:pt>
                <c:pt idx="9">
                  <c:v>12</c:v>
                </c:pt>
                <c:pt idx="10">
                  <c:v>14</c:v>
                </c:pt>
                <c:pt idx="11">
                  <c:v>15</c:v>
                </c:pt>
                <c:pt idx="12">
                  <c:v>16</c:v>
                </c:pt>
                <c:pt idx="13">
                  <c:v>18</c:v>
                </c:pt>
                <c:pt idx="14">
                  <c:v>19</c:v>
                </c:pt>
                <c:pt idx="15">
                  <c:v>25</c:v>
                </c:pt>
                <c:pt idx="16">
                  <c:v>28</c:v>
                </c:pt>
                <c:pt idx="17">
                  <c:v>31</c:v>
                </c:pt>
                <c:pt idx="18">
                  <c:v>35</c:v>
                </c:pt>
                <c:pt idx="19">
                  <c:v>46</c:v>
                </c:pt>
                <c:pt idx="20">
                  <c:v>47</c:v>
                </c:pt>
                <c:pt idx="21">
                  <c:v>48</c:v>
                </c:pt>
                <c:pt idx="22">
                  <c:v>51</c:v>
                </c:pt>
                <c:pt idx="23">
                  <c:v>52</c:v>
                </c:pt>
                <c:pt idx="24">
                  <c:v>60</c:v>
                </c:pt>
                <c:pt idx="25">
                  <c:v>61</c:v>
                </c:pt>
                <c:pt idx="26">
                  <c:v>68</c:v>
                </c:pt>
                <c:pt idx="27">
                  <c:v>73</c:v>
                </c:pt>
                <c:pt idx="28">
                  <c:v>75</c:v>
                </c:pt>
                <c:pt idx="29">
                  <c:v>77</c:v>
                </c:pt>
              </c:numCache>
            </c:numRef>
          </c:xVal>
          <c:yVal>
            <c:numRef>
              <c:f>'Chart Data'!$B$2:$B$31</c:f>
              <c:numCache>
                <c:formatCode>General</c:formatCode>
                <c:ptCount val="30"/>
                <c:pt idx="0">
                  <c:v>1</c:v>
                </c:pt>
                <c:pt idx="1">
                  <c:v>1</c:v>
                </c:pt>
                <c:pt idx="2">
                  <c:v>1</c:v>
                </c:pt>
                <c:pt idx="3">
                  <c:v>3</c:v>
                </c:pt>
                <c:pt idx="4">
                  <c:v>1</c:v>
                </c:pt>
                <c:pt idx="5">
                  <c:v>1</c:v>
                </c:pt>
                <c:pt idx="6">
                  <c:v>1</c:v>
                </c:pt>
                <c:pt idx="7">
                  <c:v>1</c:v>
                </c:pt>
                <c:pt idx="8">
                  <c:v>1</c:v>
                </c:pt>
                <c:pt idx="9">
                  <c:v>1</c:v>
                </c:pt>
                <c:pt idx="10">
                  <c:v>1</c:v>
                </c:pt>
                <c:pt idx="11">
                  <c:v>1</c:v>
                </c:pt>
                <c:pt idx="12">
                  <c:v>1</c:v>
                </c:pt>
                <c:pt idx="13">
                  <c:v>3</c:v>
                </c:pt>
                <c:pt idx="14">
                  <c:v>1</c:v>
                </c:pt>
                <c:pt idx="15">
                  <c:v>1</c:v>
                </c:pt>
                <c:pt idx="16">
                  <c:v>2</c:v>
                </c:pt>
                <c:pt idx="17">
                  <c:v>2</c:v>
                </c:pt>
                <c:pt idx="18">
                  <c:v>2</c:v>
                </c:pt>
                <c:pt idx="19">
                  <c:v>1</c:v>
                </c:pt>
                <c:pt idx="20">
                  <c:v>3</c:v>
                </c:pt>
                <c:pt idx="21">
                  <c:v>1</c:v>
                </c:pt>
                <c:pt idx="22">
                  <c:v>1</c:v>
                </c:pt>
                <c:pt idx="23">
                  <c:v>1</c:v>
                </c:pt>
                <c:pt idx="24">
                  <c:v>1</c:v>
                </c:pt>
                <c:pt idx="25">
                  <c:v>1</c:v>
                </c:pt>
                <c:pt idx="26">
                  <c:v>1</c:v>
                </c:pt>
                <c:pt idx="27">
                  <c:v>2</c:v>
                </c:pt>
                <c:pt idx="28">
                  <c:v>1</c:v>
                </c:pt>
                <c:pt idx="29">
                  <c:v>2</c:v>
                </c:pt>
              </c:numCache>
            </c:numRef>
          </c:yVal>
        </c:ser>
        <c:ser>
          <c:idx val="1"/>
          <c:order val="1"/>
          <c:tx>
            <c:v>Class 1</c:v>
          </c:tx>
          <c:spPr>
            <a:solidFill xmlns:a="http://schemas.openxmlformats.org/drawingml/2006/main">
              <a:srgbClr val="179B76"/>
            </a:solidFill>
            <a:ln xmlns:a="http://schemas.openxmlformats.org/drawingml/2006/main" w="0">
              <a:noFill/>
            </a:ln>
          </c:spPr>
          <c:marker>
            <c:symbol val="circle"/>
            <c:size val="7"/>
            <c:spPr>
              <a:solidFill xmlns:a="http://schemas.openxmlformats.org/drawingml/2006/main">
                <a:srgbClr val="179B76"/>
              </a:solidFill>
            </c:spPr>
          </c:marker>
          <c:xVal>
            <c:numRef>
              <c:f>'Chart Data'!$C$2:$C$61</c:f>
              <c:numCache>
                <c:formatCode>General</c:formatCode>
                <c:ptCount val="60"/>
                <c:pt idx="0">
                  <c:v>7</c:v>
                </c:pt>
                <c:pt idx="1">
                  <c:v>8</c:v>
                </c:pt>
                <c:pt idx="2">
                  <c:v>13</c:v>
                </c:pt>
                <c:pt idx="3">
                  <c:v>17</c:v>
                </c:pt>
                <c:pt idx="4">
                  <c:v>20</c:v>
                </c:pt>
                <c:pt idx="5">
                  <c:v>21</c:v>
                </c:pt>
                <c:pt idx="6">
                  <c:v>22</c:v>
                </c:pt>
                <c:pt idx="7">
                  <c:v>23</c:v>
                </c:pt>
                <c:pt idx="8">
                  <c:v>24</c:v>
                </c:pt>
                <c:pt idx="9">
                  <c:v>26</c:v>
                </c:pt>
                <c:pt idx="10">
                  <c:v>27</c:v>
                </c:pt>
                <c:pt idx="11">
                  <c:v>29</c:v>
                </c:pt>
                <c:pt idx="12">
                  <c:v>30</c:v>
                </c:pt>
                <c:pt idx="13">
                  <c:v>32</c:v>
                </c:pt>
                <c:pt idx="14">
                  <c:v>33</c:v>
                </c:pt>
                <c:pt idx="15">
                  <c:v>34</c:v>
                </c:pt>
                <c:pt idx="16">
                  <c:v>36</c:v>
                </c:pt>
                <c:pt idx="17">
                  <c:v>37</c:v>
                </c:pt>
                <c:pt idx="18">
                  <c:v>38</c:v>
                </c:pt>
                <c:pt idx="19">
                  <c:v>39</c:v>
                </c:pt>
                <c:pt idx="20">
                  <c:v>40</c:v>
                </c:pt>
                <c:pt idx="21">
                  <c:v>41</c:v>
                </c:pt>
                <c:pt idx="22">
                  <c:v>42</c:v>
                </c:pt>
                <c:pt idx="23">
                  <c:v>43</c:v>
                </c:pt>
                <c:pt idx="24">
                  <c:v>44</c:v>
                </c:pt>
                <c:pt idx="25">
                  <c:v>45</c:v>
                </c:pt>
                <c:pt idx="26">
                  <c:v>49</c:v>
                </c:pt>
                <c:pt idx="27">
                  <c:v>50</c:v>
                </c:pt>
                <c:pt idx="28">
                  <c:v>53</c:v>
                </c:pt>
                <c:pt idx="29">
                  <c:v>54</c:v>
                </c:pt>
                <c:pt idx="30">
                  <c:v>55</c:v>
                </c:pt>
                <c:pt idx="31">
                  <c:v>56</c:v>
                </c:pt>
                <c:pt idx="32">
                  <c:v>57</c:v>
                </c:pt>
                <c:pt idx="33">
                  <c:v>58</c:v>
                </c:pt>
                <c:pt idx="34">
                  <c:v>59</c:v>
                </c:pt>
                <c:pt idx="35">
                  <c:v>62</c:v>
                </c:pt>
                <c:pt idx="36">
                  <c:v>63</c:v>
                </c:pt>
                <c:pt idx="37">
                  <c:v>64</c:v>
                </c:pt>
                <c:pt idx="38">
                  <c:v>65</c:v>
                </c:pt>
                <c:pt idx="39">
                  <c:v>66</c:v>
                </c:pt>
                <c:pt idx="40">
                  <c:v>67</c:v>
                </c:pt>
                <c:pt idx="41">
                  <c:v>69</c:v>
                </c:pt>
                <c:pt idx="42">
                  <c:v>70</c:v>
                </c:pt>
                <c:pt idx="43">
                  <c:v>71</c:v>
                </c:pt>
                <c:pt idx="44">
                  <c:v>72</c:v>
                </c:pt>
                <c:pt idx="45">
                  <c:v>74</c:v>
                </c:pt>
                <c:pt idx="46">
                  <c:v>76</c:v>
                </c:pt>
                <c:pt idx="47">
                  <c:v>78</c:v>
                </c:pt>
                <c:pt idx="48">
                  <c:v>79</c:v>
                </c:pt>
                <c:pt idx="49">
                  <c:v>80</c:v>
                </c:pt>
                <c:pt idx="50">
                  <c:v>81</c:v>
                </c:pt>
                <c:pt idx="51">
                  <c:v>82</c:v>
                </c:pt>
                <c:pt idx="52">
                  <c:v>83</c:v>
                </c:pt>
                <c:pt idx="53">
                  <c:v>84</c:v>
                </c:pt>
                <c:pt idx="54">
                  <c:v>85</c:v>
                </c:pt>
                <c:pt idx="55">
                  <c:v>86</c:v>
                </c:pt>
                <c:pt idx="56">
                  <c:v>87</c:v>
                </c:pt>
                <c:pt idx="57">
                  <c:v>88</c:v>
                </c:pt>
                <c:pt idx="58">
                  <c:v>89</c:v>
                </c:pt>
                <c:pt idx="59">
                  <c:v>90</c:v>
                </c:pt>
              </c:numCache>
            </c:numRef>
          </c:xVal>
          <c:yVal>
            <c:numRef>
              <c:f>'Chart Data'!$D$2:$D$61</c:f>
              <c:numCache>
                <c:formatCode>General</c:formatCode>
                <c:ptCount val="60"/>
                <c:pt idx="0">
                  <c:v>1</c:v>
                </c:pt>
                <c:pt idx="1">
                  <c:v>1</c:v>
                </c:pt>
                <c:pt idx="2">
                  <c:v>1</c:v>
                </c:pt>
                <c:pt idx="3">
                  <c:v>1</c:v>
                </c:pt>
                <c:pt idx="4">
                  <c:v>1</c:v>
                </c:pt>
                <c:pt idx="5">
                  <c:v>1</c:v>
                </c:pt>
                <c:pt idx="6">
                  <c:v>1</c:v>
                </c:pt>
                <c:pt idx="7">
                  <c:v>1</c:v>
                </c:pt>
                <c:pt idx="8">
                  <c:v>1</c:v>
                </c:pt>
                <c:pt idx="9">
                  <c:v>3</c:v>
                </c:pt>
                <c:pt idx="10">
                  <c:v>2</c:v>
                </c:pt>
                <c:pt idx="11">
                  <c:v>2</c:v>
                </c:pt>
                <c:pt idx="12">
                  <c:v>2</c:v>
                </c:pt>
                <c:pt idx="13">
                  <c:v>2</c:v>
                </c:pt>
                <c:pt idx="14">
                  <c:v>2</c:v>
                </c:pt>
                <c:pt idx="15">
                  <c:v>3</c:v>
                </c:pt>
                <c:pt idx="16">
                  <c:v>2</c:v>
                </c:pt>
                <c:pt idx="17">
                  <c:v>3</c:v>
                </c:pt>
                <c:pt idx="18">
                  <c:v>2</c:v>
                </c:pt>
                <c:pt idx="19">
                  <c:v>3</c:v>
                </c:pt>
                <c:pt idx="20">
                  <c:v>2</c:v>
                </c:pt>
                <c:pt idx="21">
                  <c:v>2</c:v>
                </c:pt>
                <c:pt idx="22">
                  <c:v>1</c:v>
                </c:pt>
                <c:pt idx="23">
                  <c:v>3</c:v>
                </c:pt>
                <c:pt idx="24">
                  <c:v>1</c:v>
                </c:pt>
                <c:pt idx="25">
                  <c:v>1</c:v>
                </c:pt>
                <c:pt idx="26">
                  <c:v>1</c:v>
                </c:pt>
                <c:pt idx="27">
                  <c:v>2</c:v>
                </c:pt>
                <c:pt idx="28">
                  <c:v>1</c:v>
                </c:pt>
                <c:pt idx="29">
                  <c:v>3</c:v>
                </c:pt>
                <c:pt idx="30">
                  <c:v>1</c:v>
                </c:pt>
                <c:pt idx="31">
                  <c:v>1</c:v>
                </c:pt>
                <c:pt idx="32">
                  <c:v>3</c:v>
                </c:pt>
                <c:pt idx="33">
                  <c:v>2</c:v>
                </c:pt>
                <c:pt idx="34">
                  <c:v>3</c:v>
                </c:pt>
                <c:pt idx="35">
                  <c:v>3</c:v>
                </c:pt>
                <c:pt idx="36">
                  <c:v>2</c:v>
                </c:pt>
                <c:pt idx="37">
                  <c:v>1</c:v>
                </c:pt>
                <c:pt idx="38">
                  <c:v>1</c:v>
                </c:pt>
                <c:pt idx="39">
                  <c:v>3</c:v>
                </c:pt>
                <c:pt idx="40">
                  <c:v>1</c:v>
                </c:pt>
                <c:pt idx="41">
                  <c:v>1</c:v>
                </c:pt>
                <c:pt idx="42">
                  <c:v>1</c:v>
                </c:pt>
                <c:pt idx="43">
                  <c:v>1</c:v>
                </c:pt>
                <c:pt idx="44">
                  <c:v>1</c:v>
                </c:pt>
                <c:pt idx="45">
                  <c:v>1</c:v>
                </c:pt>
                <c:pt idx="46">
                  <c:v>1</c:v>
                </c:pt>
                <c:pt idx="47">
                  <c:v>2</c:v>
                </c:pt>
                <c:pt idx="48">
                  <c:v>2</c:v>
                </c:pt>
                <c:pt idx="49">
                  <c:v>1</c:v>
                </c:pt>
                <c:pt idx="50">
                  <c:v>1</c:v>
                </c:pt>
                <c:pt idx="51">
                  <c:v>1</c:v>
                </c:pt>
                <c:pt idx="52">
                  <c:v>1</c:v>
                </c:pt>
                <c:pt idx="53">
                  <c:v>1</c:v>
                </c:pt>
                <c:pt idx="54">
                  <c:v>1</c:v>
                </c:pt>
                <c:pt idx="55">
                  <c:v>2</c:v>
                </c:pt>
                <c:pt idx="56">
                  <c:v>2</c:v>
                </c:pt>
                <c:pt idx="57">
                  <c:v>2</c:v>
                </c:pt>
                <c:pt idx="58">
                  <c:v>1</c:v>
                </c:pt>
                <c:pt idx="59">
                  <c:v>1</c:v>
                </c:pt>
              </c:numCache>
            </c:numRef>
          </c:yVal>
        </c:ser>
        <c:axId val="48650112"/>
        <c:axId val="48672768"/>
      </c:scatterChart>
      <c:valAx>
        <c:axId val="48672768"/>
        <c:scaling>
          <c:orientation val="minMax"/>
          <c:max val="4"/>
          <c:min val="0"/>
        </c:scaling>
        <c:delete val="0"/>
        <c:axPos val="l"/>
        <c:title>
          <c:tx>
            <c:rich>
              <a:bodyPr xmlns:a="http://schemas.openxmlformats.org/drawingml/2006/main"/>
              <a:lstStyle xmlns:a="http://schemas.openxmlformats.org/drawingml/2006/main"/>
              <a:p xmlns:a="http://schemas.openxmlformats.org/drawingml/2006/main">
                <a:r>
                  <a:t>Site code</a:t>
                </a:r>
              </a:p>
            </c:rich>
          </c:tx>
          <c:overlay val="0"/>
        </c:title>
        <c:numFmt formatCode="General"/>
        <c:majorTickMark val="none"/>
        <c:minorTickMark val="none"/>
        <c:spPr>
          <a:ln xmlns:a="http://schemas.openxmlformats.org/drawingml/2006/main" w="9525">
            <a:solidFill>
              <a:srgbClr val="D4D4D4"/>
            </a:solidFill>
            <a:prstDash val="solid"/>
          </a:ln>
        </c:spPr>
        <c:txPr>
          <a:bodyPr xmlns:a="http://schemas.openxmlformats.org/drawingml/2006/main" anchorCtr="1"/>
          <a:lstStyle xmlns:a="http://schemas.openxmlformats.org/drawingml/2006/main"/>
          <a:p xmlns:a="http://schemas.openxmlformats.org/drawingml/2006/main">
            <a:pPr>
              <a:defRPr sz="1200">
                <a:solidFill>
                  <a:srgbClr val="666666"/>
                </a:solidFill>
              </a:defRPr>
            </a:pPr>
          </a:p>
        </c:txPr>
        <c:crossAx val="48650112"/>
        <c:majorUnit val="1"/>
      </c:valAx>
      <c:valAx>
        <c:axId val="48650112"/>
        <c:scaling>
          <c:orientation val="minMax"/>
        </c:scaling>
        <c:delete val="0"/>
        <c:axPos val="b"/>
        <c:title>
          <c:tx>
            <c:rich>
              <a:bodyPr xmlns:a="http://schemas.openxmlformats.org/drawingml/2006/main"/>
              <a:lstStyle xmlns:a="http://schemas.openxmlformats.org/drawingml/2006/main"/>
              <a:p xmlns:a="http://schemas.openxmlformats.org/drawingml/2006/main">
                <a:r>
                  <a:t>Flight number</a:t>
                </a:r>
              </a:p>
            </c:rich>
          </c:tx>
          <c:overlay val="0"/>
        </c:title>
        <c:numFmt formatCode="General"/>
        <c:majorTickMark val="none"/>
        <c:minorTickMark val="none"/>
        <c:spPr>
          <a:ln xmlns:a="http://schemas.openxmlformats.org/drawingml/2006/main" w="9525">
            <a:solidFill>
              <a:srgbClr val="D4D4D4"/>
            </a:solidFill>
            <a:prstDash val="solid"/>
          </a:ln>
        </c:spPr>
        <c:txPr>
          <a:bodyPr xmlns:a="http://schemas.openxmlformats.org/drawingml/2006/main" anchorCtr="1"/>
          <a:lstStyle xmlns:a="http://schemas.openxmlformats.org/drawingml/2006/main"/>
          <a:p xmlns:a="http://schemas.openxmlformats.org/drawingml/2006/main">
            <a:pPr>
              <a:defRPr sz="1200">
                <a:solidFill>
                  <a:srgbClr val="666666"/>
                </a:solidFill>
              </a:defRPr>
            </a:pPr>
          </a:p>
        </c:txPr>
        <c:crossAx val="48672768"/>
      </c:valAx>
    </c:plotArea>
    <c:legend>
      <c:legendPos val="b"/>
      <c:overlay val="0"/>
      <c:txPr>
        <a:bodyPr xmlns:a="http://schemas.openxmlformats.org/drawingml/2006/main" anchorCtr="1"/>
        <a:lstStyle xmlns:a="http://schemas.openxmlformats.org/drawingml/2006/main"/>
        <a:p xmlns:a="http://schemas.openxmlformats.org/drawingml/2006/main">
          <a:pPr>
            <a:defRPr sz="1350"/>
          </a:pPr>
        </a:p>
      </c:txPr>
    </c:legend>
    <c:plotVisOnly val="1"/>
  </c:chart>
  <c:spPr>
    <a:solidFill xmlns:a="http://schemas.openxmlformats.org/drawingml/2006/main">
      <a:srgbClr val="FFFFFF"/>
    </a:solidFill>
  </c:spPr>
  <c:externalData r:id="rIdChartSnapshot1">
    <c:autoUpdate val="0"/>
  </c:externalData>
</c:chartSpace>
</file>

<file path=ppt/slides/charts/chart3.xml><?xml version="1.0" encoding="utf-8"?>
<c:chartSpace xmlns:c="http://schemas.openxmlformats.org/drawingml/2006/chart" xmlns:r="http://schemas.openxmlformats.org/officeDocument/2006/relationships">
  <c:lang val="en-US"/>
  <c:chart>
    <c:plotArea>
      <c:scatterChart>
        <c:scatterStyle val="marker"/>
        <c:varyColors val="0"/>
        <c:ser>
          <c:idx val="0"/>
          <c:order val="0"/>
          <c:tx>
            <c:v>Class 0</c:v>
          </c:tx>
          <c:spPr>
            <a:solidFill xmlns:a="http://schemas.openxmlformats.org/drawingml/2006/main">
              <a:srgbClr val="CC5C55"/>
            </a:solidFill>
            <a:ln xmlns:a="http://schemas.openxmlformats.org/drawingml/2006/main" w="0">
              <a:noFill/>
            </a:ln>
          </c:spPr>
          <c:marker>
            <c:symbol val="x"/>
            <c:size val="7"/>
            <c:spPr>
              <a:solidFill xmlns:a="http://schemas.openxmlformats.org/drawingml/2006/main">
                <a:srgbClr val="CC5C55"/>
              </a:solidFill>
            </c:spPr>
          </c:marker>
          <c:xVal>
            <c:numRef>
              <c:f>'Chart Data'!$A$2:$A$31</c:f>
              <c:numCache>
                <c:formatCode>General</c:formatCode>
                <c:ptCount val="30"/>
                <c:pt idx="0">
                  <c:v>6104.9594117647</c:v>
                </c:pt>
                <c:pt idx="1">
                  <c:v>525</c:v>
                </c:pt>
                <c:pt idx="2">
                  <c:v>677</c:v>
                </c:pt>
                <c:pt idx="3">
                  <c:v>500</c:v>
                </c:pt>
                <c:pt idx="4">
                  <c:v>3170</c:v>
                </c:pt>
                <c:pt idx="5">
                  <c:v>3325</c:v>
                </c:pt>
                <c:pt idx="6">
                  <c:v>4535</c:v>
                </c:pt>
                <c:pt idx="7">
                  <c:v>4428</c:v>
                </c:pt>
                <c:pt idx="8">
                  <c:v>2216</c:v>
                </c:pt>
                <c:pt idx="9">
                  <c:v>2395</c:v>
                </c:pt>
                <c:pt idx="10">
                  <c:v>1898</c:v>
                </c:pt>
                <c:pt idx="11">
                  <c:v>4707</c:v>
                </c:pt>
                <c:pt idx="12">
                  <c:v>2477</c:v>
                </c:pt>
                <c:pt idx="13">
                  <c:v>553</c:v>
                </c:pt>
                <c:pt idx="14">
                  <c:v>5271</c:v>
                </c:pt>
                <c:pt idx="15">
                  <c:v>5500</c:v>
                </c:pt>
                <c:pt idx="16">
                  <c:v>5600</c:v>
                </c:pt>
                <c:pt idx="17">
                  <c:v>6070</c:v>
                </c:pt>
                <c:pt idx="18">
                  <c:v>6761</c:v>
                </c:pt>
                <c:pt idx="19">
                  <c:v>6092</c:v>
                </c:pt>
                <c:pt idx="20">
                  <c:v>9600</c:v>
                </c:pt>
                <c:pt idx="21">
                  <c:v>2760</c:v>
                </c:pt>
                <c:pt idx="22">
                  <c:v>5383.85</c:v>
                </c:pt>
                <c:pt idx="23">
                  <c:v>2410</c:v>
                </c:pt>
                <c:pt idx="24">
                  <c:v>2573</c:v>
                </c:pt>
                <c:pt idx="25">
                  <c:v>4400</c:v>
                </c:pt>
                <c:pt idx="26">
                  <c:v>6500</c:v>
                </c:pt>
                <c:pt idx="27">
                  <c:v>6104.9594117647</c:v>
                </c:pt>
                <c:pt idx="28">
                  <c:v>15400</c:v>
                </c:pt>
                <c:pt idx="29">
                  <c:v>15600</c:v>
                </c:pt>
              </c:numCache>
            </c:numRef>
          </c:xVal>
          <c:yVal>
            <c:numRef>
              <c:f>'Chart Data'!$B$2:$B$31</c:f>
              <c:numCache>
                <c:formatCode>General</c:formatCode>
                <c:ptCount val="30"/>
                <c:pt idx="0">
                  <c:v>1</c:v>
                </c:pt>
                <c:pt idx="1">
                  <c:v>1</c:v>
                </c:pt>
                <c:pt idx="2">
                  <c:v>1</c:v>
                </c:pt>
                <c:pt idx="3">
                  <c:v>3</c:v>
                </c:pt>
                <c:pt idx="4">
                  <c:v>1</c:v>
                </c:pt>
                <c:pt idx="5">
                  <c:v>1</c:v>
                </c:pt>
                <c:pt idx="6">
                  <c:v>1</c:v>
                </c:pt>
                <c:pt idx="7">
                  <c:v>1</c:v>
                </c:pt>
                <c:pt idx="8">
                  <c:v>1</c:v>
                </c:pt>
                <c:pt idx="9">
                  <c:v>1</c:v>
                </c:pt>
                <c:pt idx="10">
                  <c:v>1</c:v>
                </c:pt>
                <c:pt idx="11">
                  <c:v>1</c:v>
                </c:pt>
                <c:pt idx="12">
                  <c:v>1</c:v>
                </c:pt>
                <c:pt idx="13">
                  <c:v>3</c:v>
                </c:pt>
                <c:pt idx="14">
                  <c:v>1</c:v>
                </c:pt>
                <c:pt idx="15">
                  <c:v>1</c:v>
                </c:pt>
                <c:pt idx="16">
                  <c:v>2</c:v>
                </c:pt>
                <c:pt idx="17">
                  <c:v>2</c:v>
                </c:pt>
                <c:pt idx="18">
                  <c:v>2</c:v>
                </c:pt>
                <c:pt idx="19">
                  <c:v>1</c:v>
                </c:pt>
                <c:pt idx="20">
                  <c:v>3</c:v>
                </c:pt>
                <c:pt idx="21">
                  <c:v>1</c:v>
                </c:pt>
                <c:pt idx="22">
                  <c:v>1</c:v>
                </c:pt>
                <c:pt idx="23">
                  <c:v>1</c:v>
                </c:pt>
                <c:pt idx="24">
                  <c:v>1</c:v>
                </c:pt>
                <c:pt idx="25">
                  <c:v>1</c:v>
                </c:pt>
                <c:pt idx="26">
                  <c:v>1</c:v>
                </c:pt>
                <c:pt idx="27">
                  <c:v>2</c:v>
                </c:pt>
                <c:pt idx="28">
                  <c:v>1</c:v>
                </c:pt>
                <c:pt idx="29">
                  <c:v>2</c:v>
                </c:pt>
              </c:numCache>
            </c:numRef>
          </c:yVal>
        </c:ser>
        <c:ser>
          <c:idx val="1"/>
          <c:order val="1"/>
          <c:tx>
            <c:v>Class 1</c:v>
          </c:tx>
          <c:spPr>
            <a:solidFill xmlns:a="http://schemas.openxmlformats.org/drawingml/2006/main">
              <a:srgbClr val="179B76"/>
            </a:solidFill>
            <a:ln xmlns:a="http://schemas.openxmlformats.org/drawingml/2006/main" w="0">
              <a:noFill/>
            </a:ln>
          </c:spPr>
          <c:marker>
            <c:symbol val="circle"/>
            <c:size val="7"/>
            <c:spPr>
              <a:solidFill xmlns:a="http://schemas.openxmlformats.org/drawingml/2006/main">
                <a:srgbClr val="179B76"/>
              </a:solidFill>
            </c:spPr>
          </c:marker>
          <c:xVal>
            <c:numRef>
              <c:f>'Chart Data'!$C$2:$C$61</c:f>
              <c:numCache>
                <c:formatCode>General</c:formatCode>
                <c:ptCount val="60"/>
                <c:pt idx="0">
                  <c:v>2296</c:v>
                </c:pt>
                <c:pt idx="1">
                  <c:v>1316</c:v>
                </c:pt>
                <c:pt idx="2">
                  <c:v>570</c:v>
                </c:pt>
                <c:pt idx="3">
                  <c:v>2034</c:v>
                </c:pt>
                <c:pt idx="4">
                  <c:v>3136</c:v>
                </c:pt>
                <c:pt idx="5">
                  <c:v>4696</c:v>
                </c:pt>
                <c:pt idx="6">
                  <c:v>3100</c:v>
                </c:pt>
                <c:pt idx="7">
                  <c:v>2257</c:v>
                </c:pt>
                <c:pt idx="8">
                  <c:v>4600</c:v>
                </c:pt>
                <c:pt idx="9">
                  <c:v>9600</c:v>
                </c:pt>
                <c:pt idx="10">
                  <c:v>2490</c:v>
                </c:pt>
                <c:pt idx="11">
                  <c:v>5300</c:v>
                </c:pt>
                <c:pt idx="12">
                  <c:v>6104.9594117647</c:v>
                </c:pt>
                <c:pt idx="13">
                  <c:v>2708</c:v>
                </c:pt>
                <c:pt idx="14">
                  <c:v>3669</c:v>
                </c:pt>
                <c:pt idx="15">
                  <c:v>9600</c:v>
                </c:pt>
                <c:pt idx="16">
                  <c:v>2910</c:v>
                </c:pt>
                <c:pt idx="17">
                  <c:v>475</c:v>
                </c:pt>
                <c:pt idx="18">
                  <c:v>4990</c:v>
                </c:pt>
                <c:pt idx="19">
                  <c:v>9600</c:v>
                </c:pt>
                <c:pt idx="20">
                  <c:v>5200</c:v>
                </c:pt>
                <c:pt idx="21">
                  <c:v>3700</c:v>
                </c:pt>
                <c:pt idx="22">
                  <c:v>2205</c:v>
                </c:pt>
                <c:pt idx="23">
                  <c:v>9600</c:v>
                </c:pt>
                <c:pt idx="24">
                  <c:v>6104.9594117647</c:v>
                </c:pt>
                <c:pt idx="25">
                  <c:v>4230</c:v>
                </c:pt>
                <c:pt idx="26">
                  <c:v>350</c:v>
                </c:pt>
                <c:pt idx="27">
                  <c:v>3750</c:v>
                </c:pt>
                <c:pt idx="28">
                  <c:v>7076</c:v>
                </c:pt>
                <c:pt idx="29">
                  <c:v>9600</c:v>
                </c:pt>
                <c:pt idx="30">
                  <c:v>5800</c:v>
                </c:pt>
                <c:pt idx="31">
                  <c:v>7060</c:v>
                </c:pt>
                <c:pt idx="32">
                  <c:v>2800</c:v>
                </c:pt>
                <c:pt idx="33">
                  <c:v>3000</c:v>
                </c:pt>
                <c:pt idx="34">
                  <c:v>4000</c:v>
                </c:pt>
                <c:pt idx="35">
                  <c:v>9600</c:v>
                </c:pt>
                <c:pt idx="36">
                  <c:v>12259</c:v>
                </c:pt>
                <c:pt idx="37">
                  <c:v>2482</c:v>
                </c:pt>
                <c:pt idx="38">
                  <c:v>13620</c:v>
                </c:pt>
                <c:pt idx="39">
                  <c:v>1425</c:v>
                </c:pt>
                <c:pt idx="40">
                  <c:v>2227.7</c:v>
                </c:pt>
                <c:pt idx="41">
                  <c:v>15600</c:v>
                </c:pt>
                <c:pt idx="42">
                  <c:v>5000</c:v>
                </c:pt>
                <c:pt idx="43">
                  <c:v>6800</c:v>
                </c:pt>
                <c:pt idx="44">
                  <c:v>15400</c:v>
                </c:pt>
                <c:pt idx="45">
                  <c:v>15600</c:v>
                </c:pt>
                <c:pt idx="46">
                  <c:v>1977</c:v>
                </c:pt>
                <c:pt idx="47">
                  <c:v>15400</c:v>
                </c:pt>
                <c:pt idx="48">
                  <c:v>9525</c:v>
                </c:pt>
                <c:pt idx="49">
                  <c:v>15400</c:v>
                </c:pt>
                <c:pt idx="50">
                  <c:v>15400</c:v>
                </c:pt>
                <c:pt idx="51">
                  <c:v>3880</c:v>
                </c:pt>
                <c:pt idx="52">
                  <c:v>6104.9594117647</c:v>
                </c:pt>
                <c:pt idx="53">
                  <c:v>15400</c:v>
                </c:pt>
                <c:pt idx="54">
                  <c:v>1600</c:v>
                </c:pt>
                <c:pt idx="55">
                  <c:v>15400</c:v>
                </c:pt>
                <c:pt idx="56">
                  <c:v>15400</c:v>
                </c:pt>
                <c:pt idx="57">
                  <c:v>15400</c:v>
                </c:pt>
                <c:pt idx="58">
                  <c:v>15400</c:v>
                </c:pt>
                <c:pt idx="59">
                  <c:v>3681</c:v>
                </c:pt>
              </c:numCache>
            </c:numRef>
          </c:xVal>
          <c:yVal>
            <c:numRef>
              <c:f>'Chart Data'!$D$2:$D$61</c:f>
              <c:numCache>
                <c:formatCode>General</c:formatCode>
                <c:ptCount val="60"/>
                <c:pt idx="0">
                  <c:v>1</c:v>
                </c:pt>
                <c:pt idx="1">
                  <c:v>1</c:v>
                </c:pt>
                <c:pt idx="2">
                  <c:v>1</c:v>
                </c:pt>
                <c:pt idx="3">
                  <c:v>1</c:v>
                </c:pt>
                <c:pt idx="4">
                  <c:v>1</c:v>
                </c:pt>
                <c:pt idx="5">
                  <c:v>1</c:v>
                </c:pt>
                <c:pt idx="6">
                  <c:v>1</c:v>
                </c:pt>
                <c:pt idx="7">
                  <c:v>1</c:v>
                </c:pt>
                <c:pt idx="8">
                  <c:v>1</c:v>
                </c:pt>
                <c:pt idx="9">
                  <c:v>3</c:v>
                </c:pt>
                <c:pt idx="10">
                  <c:v>2</c:v>
                </c:pt>
                <c:pt idx="11">
                  <c:v>2</c:v>
                </c:pt>
                <c:pt idx="12">
                  <c:v>2</c:v>
                </c:pt>
                <c:pt idx="13">
                  <c:v>2</c:v>
                </c:pt>
                <c:pt idx="14">
                  <c:v>2</c:v>
                </c:pt>
                <c:pt idx="15">
                  <c:v>3</c:v>
                </c:pt>
                <c:pt idx="16">
                  <c:v>2</c:v>
                </c:pt>
                <c:pt idx="17">
                  <c:v>3</c:v>
                </c:pt>
                <c:pt idx="18">
                  <c:v>2</c:v>
                </c:pt>
                <c:pt idx="19">
                  <c:v>3</c:v>
                </c:pt>
                <c:pt idx="20">
                  <c:v>2</c:v>
                </c:pt>
                <c:pt idx="21">
                  <c:v>2</c:v>
                </c:pt>
                <c:pt idx="22">
                  <c:v>1</c:v>
                </c:pt>
                <c:pt idx="23">
                  <c:v>3</c:v>
                </c:pt>
                <c:pt idx="24">
                  <c:v>1</c:v>
                </c:pt>
                <c:pt idx="25">
                  <c:v>1</c:v>
                </c:pt>
                <c:pt idx="26">
                  <c:v>1</c:v>
                </c:pt>
                <c:pt idx="27">
                  <c:v>2</c:v>
                </c:pt>
                <c:pt idx="28">
                  <c:v>1</c:v>
                </c:pt>
                <c:pt idx="29">
                  <c:v>3</c:v>
                </c:pt>
                <c:pt idx="30">
                  <c:v>1</c:v>
                </c:pt>
                <c:pt idx="31">
                  <c:v>1</c:v>
                </c:pt>
                <c:pt idx="32">
                  <c:v>3</c:v>
                </c:pt>
                <c:pt idx="33">
                  <c:v>2</c:v>
                </c:pt>
                <c:pt idx="34">
                  <c:v>3</c:v>
                </c:pt>
                <c:pt idx="35">
                  <c:v>3</c:v>
                </c:pt>
                <c:pt idx="36">
                  <c:v>2</c:v>
                </c:pt>
                <c:pt idx="37">
                  <c:v>1</c:v>
                </c:pt>
                <c:pt idx="38">
                  <c:v>1</c:v>
                </c:pt>
                <c:pt idx="39">
                  <c:v>3</c:v>
                </c:pt>
                <c:pt idx="40">
                  <c:v>1</c:v>
                </c:pt>
                <c:pt idx="41">
                  <c:v>1</c:v>
                </c:pt>
                <c:pt idx="42">
                  <c:v>1</c:v>
                </c:pt>
                <c:pt idx="43">
                  <c:v>1</c:v>
                </c:pt>
                <c:pt idx="44">
                  <c:v>1</c:v>
                </c:pt>
                <c:pt idx="45">
                  <c:v>1</c:v>
                </c:pt>
                <c:pt idx="46">
                  <c:v>1</c:v>
                </c:pt>
                <c:pt idx="47">
                  <c:v>2</c:v>
                </c:pt>
                <c:pt idx="48">
                  <c:v>2</c:v>
                </c:pt>
                <c:pt idx="49">
                  <c:v>1</c:v>
                </c:pt>
                <c:pt idx="50">
                  <c:v>1</c:v>
                </c:pt>
                <c:pt idx="51">
                  <c:v>1</c:v>
                </c:pt>
                <c:pt idx="52">
                  <c:v>1</c:v>
                </c:pt>
                <c:pt idx="53">
                  <c:v>1</c:v>
                </c:pt>
                <c:pt idx="54">
                  <c:v>1</c:v>
                </c:pt>
                <c:pt idx="55">
                  <c:v>2</c:v>
                </c:pt>
                <c:pt idx="56">
                  <c:v>2</c:v>
                </c:pt>
                <c:pt idx="57">
                  <c:v>2</c:v>
                </c:pt>
                <c:pt idx="58">
                  <c:v>1</c:v>
                </c:pt>
                <c:pt idx="59">
                  <c:v>1</c:v>
                </c:pt>
              </c:numCache>
            </c:numRef>
          </c:yVal>
        </c:ser>
        <c:axId val="48650112"/>
        <c:axId val="48672768"/>
      </c:scatterChart>
      <c:valAx>
        <c:axId val="48672768"/>
        <c:scaling>
          <c:orientation val="minMax"/>
          <c:max val="4"/>
          <c:min val="0"/>
        </c:scaling>
        <c:delete val="0"/>
        <c:axPos val="l"/>
        <c:title>
          <c:tx>
            <c:rich>
              <a:bodyPr xmlns:a="http://schemas.openxmlformats.org/drawingml/2006/main"/>
              <a:lstStyle xmlns:a="http://schemas.openxmlformats.org/drawingml/2006/main"/>
              <a:p xmlns:a="http://schemas.openxmlformats.org/drawingml/2006/main">
                <a:r>
                  <a:t>Site code</a:t>
                </a:r>
              </a:p>
            </c:rich>
          </c:tx>
          <c:overlay val="0"/>
        </c:title>
        <c:numFmt formatCode="General"/>
        <c:majorTickMark val="none"/>
        <c:minorTickMark val="none"/>
        <c:spPr>
          <a:ln xmlns:a="http://schemas.openxmlformats.org/drawingml/2006/main" w="9525">
            <a:solidFill>
              <a:srgbClr val="D4D4D4"/>
            </a:solidFill>
            <a:prstDash val="solid"/>
          </a:ln>
        </c:spPr>
        <c:txPr>
          <a:bodyPr xmlns:a="http://schemas.openxmlformats.org/drawingml/2006/main" anchorCtr="1"/>
          <a:lstStyle xmlns:a="http://schemas.openxmlformats.org/drawingml/2006/main"/>
          <a:p xmlns:a="http://schemas.openxmlformats.org/drawingml/2006/main">
            <a:pPr>
              <a:defRPr sz="1200">
                <a:solidFill>
                  <a:srgbClr val="666666"/>
                </a:solidFill>
              </a:defRPr>
            </a:pPr>
          </a:p>
        </c:txPr>
        <c:crossAx val="48650112"/>
        <c:majorUnit val="1"/>
      </c:valAx>
      <c:valAx>
        <c:axId val="48650112"/>
        <c:scaling>
          <c:orientation val="minMax"/>
        </c:scaling>
        <c:delete val="0"/>
        <c:axPos val="b"/>
        <c:title>
          <c:tx>
            <c:rich>
              <a:bodyPr xmlns:a="http://schemas.openxmlformats.org/drawingml/2006/main"/>
              <a:lstStyle xmlns:a="http://schemas.openxmlformats.org/drawingml/2006/main"/>
              <a:p xmlns:a="http://schemas.openxmlformats.org/drawingml/2006/main">
                <a:r>
                  <a:t>Payload (kg)</a:t>
                </a:r>
              </a:p>
            </c:rich>
          </c:tx>
          <c:overlay val="0"/>
        </c:title>
        <c:numFmt formatCode="General"/>
        <c:majorTickMark val="none"/>
        <c:minorTickMark val="none"/>
        <c:spPr>
          <a:ln xmlns:a="http://schemas.openxmlformats.org/drawingml/2006/main" w="9525">
            <a:solidFill>
              <a:srgbClr val="D4D4D4"/>
            </a:solidFill>
            <a:prstDash val="solid"/>
          </a:ln>
        </c:spPr>
        <c:txPr>
          <a:bodyPr xmlns:a="http://schemas.openxmlformats.org/drawingml/2006/main" anchorCtr="1"/>
          <a:lstStyle xmlns:a="http://schemas.openxmlformats.org/drawingml/2006/main"/>
          <a:p xmlns:a="http://schemas.openxmlformats.org/drawingml/2006/main">
            <a:pPr>
              <a:defRPr sz="1200">
                <a:solidFill>
                  <a:srgbClr val="666666"/>
                </a:solidFill>
              </a:defRPr>
            </a:pPr>
          </a:p>
        </c:txPr>
        <c:crossAx val="48672768"/>
      </c:valAx>
    </c:plotArea>
    <c:legend>
      <c:legendPos val="b"/>
      <c:overlay val="0"/>
      <c:txPr>
        <a:bodyPr xmlns:a="http://schemas.openxmlformats.org/drawingml/2006/main" anchorCtr="1"/>
        <a:lstStyle xmlns:a="http://schemas.openxmlformats.org/drawingml/2006/main"/>
        <a:p xmlns:a="http://schemas.openxmlformats.org/drawingml/2006/main">
          <a:pPr>
            <a:defRPr sz="1350"/>
          </a:pPr>
        </a:p>
      </c:txPr>
    </c:legend>
    <c:plotVisOnly val="1"/>
  </c:chart>
  <c:spPr>
    <a:solidFill xmlns:a="http://schemas.openxmlformats.org/drawingml/2006/main">
      <a:srgbClr val="FFFFFF"/>
    </a:solidFill>
  </c:spPr>
  <c:externalData r:id="rIdChartSnapshot1">
    <c:autoUpdate val="0"/>
  </c:externalData>
</c:chartSpace>
</file>

<file path=ppt/slides/charts/chart4.xml><?xml version="1.0" encoding="utf-8"?>
<c:chartSpace xmlns:c="http://schemas.openxmlformats.org/drawingml/2006/chart" xmlns:r="http://schemas.openxmlformats.org/officeDocument/2006/relationships">
  <c:lang val="en-US"/>
  <c:chart>
    <c:plotArea>
      <c:barChart>
        <c:barDir val="col"/>
        <c:varyColors val="0"/>
        <c:ser>
          <c:idx val="0"/>
          <c:order val="0"/>
          <c:tx>
            <c:v>Success rate</c:v>
          </c:tx>
          <c:spPr>
            <a:solidFill xmlns:a="http://schemas.openxmlformats.org/drawingml/2006/main">
              <a:srgbClr val="0B49CB"/>
            </a:solidFill>
          </c:spPr>
          <c:invertIfNegative val="0"/>
          <c:cat>
            <c:strRef>
              <c:f>'Chart Data'!$A$2:$A$12</c:f>
              <c:strCache>
                <c:ptCount val="11"/>
                <c:pt idx="0">
                  <c:v>ES-L1 (n=1)</c:v>
                </c:pt>
                <c:pt idx="1">
                  <c:v>GEO (n=1)</c:v>
                </c:pt>
                <c:pt idx="2">
                  <c:v>GTO (n=27)</c:v>
                </c:pt>
                <c:pt idx="3">
                  <c:v>HEO (n=1)</c:v>
                </c:pt>
                <c:pt idx="4">
                  <c:v>ISS (n=21)</c:v>
                </c:pt>
                <c:pt idx="5">
                  <c:v>LEO (n=7)</c:v>
                </c:pt>
                <c:pt idx="6">
                  <c:v>MEO (n=3)</c:v>
                </c:pt>
                <c:pt idx="7">
                  <c:v>PO (n=9)</c:v>
                </c:pt>
                <c:pt idx="8">
                  <c:v>SO (n=1)</c:v>
                </c:pt>
                <c:pt idx="9">
                  <c:v>SSO (n=5)</c:v>
                </c:pt>
                <c:pt idx="10">
                  <c:v>VLEO (n=14)</c:v>
                </c:pt>
              </c:strCache>
            </c:strRef>
          </c:cat>
          <c:val>
            <c:numRef>
              <c:f>'Chart Data'!$B$2:$B$12</c:f>
              <c:numCache>
                <c:formatCode>0%</c:formatCode>
                <c:ptCount val="11"/>
                <c:pt idx="0">
                  <c:v>1</c:v>
                </c:pt>
                <c:pt idx="1">
                  <c:v>1</c:v>
                </c:pt>
                <c:pt idx="2">
                  <c:v>0.51851851851852</c:v>
                </c:pt>
                <c:pt idx="3">
                  <c:v>1</c:v>
                </c:pt>
                <c:pt idx="4">
                  <c:v>0.61904761904762</c:v>
                </c:pt>
                <c:pt idx="5">
                  <c:v>0.71428571428571</c:v>
                </c:pt>
                <c:pt idx="6">
                  <c:v>0.66666666666667</c:v>
                </c:pt>
                <c:pt idx="7">
                  <c:v>0.66666666666667</c:v>
                </c:pt>
                <c:pt idx="8">
                  <c:v>0</c:v>
                </c:pt>
                <c:pt idx="9">
                  <c:v>1</c:v>
                </c:pt>
                <c:pt idx="10">
                  <c:v>0.85714285714286</c:v>
                </c:pt>
              </c:numCache>
            </c:numRef>
          </c:val>
        </c:ser>
        <c:dLbls>
          <c:numFmt formatCode="0%" sourceLinked="0"/>
          <c:dLblPos val="outEnd"/>
          <c:showLegendKey val="0"/>
          <c:showVal val="1"/>
          <c:showCatName val="0"/>
          <c:showSerName val="0"/>
          <c:showPercent val="0"/>
          <c:showBubbleSize val="0"/>
          <c:showLeaderLines val="0"/>
        </c:dLbls>
        <c:axId val="48650112"/>
        <c:axId val="48672768"/>
      </c:barChart>
      <c:catAx>
        <c:axId val="48650112"/>
        <c:scaling>
          <c:orientation val="minMax"/>
        </c:scaling>
        <c:delete val="0"/>
        <c:axPos val="b"/>
        <c:numFmt formatCode="General"/>
        <c:majorTickMark val="none"/>
        <c:minorTickMark val="none"/>
        <c:spPr>
          <a:ln xmlns:a="http://schemas.openxmlformats.org/drawingml/2006/main" w="9525">
            <a:solidFill>
              <a:srgbClr val="D4D4D4"/>
            </a:solidFill>
            <a:prstDash val="solid"/>
          </a:ln>
        </c:spPr>
        <c:txPr>
          <a:bodyPr xmlns:a="http://schemas.openxmlformats.org/drawingml/2006/main" anchorCtr="1"/>
          <a:lstStyle xmlns:a="http://schemas.openxmlformats.org/drawingml/2006/main"/>
          <a:p xmlns:a="http://schemas.openxmlformats.org/drawingml/2006/main">
            <a:pPr>
              <a:defRPr sz="1275">
                <a:solidFill>
                  <a:srgbClr val="666666"/>
                </a:solidFill>
              </a:defRPr>
            </a:pPr>
          </a:p>
        </c:txPr>
        <c:crossAx val="48672768"/>
      </c:catAx>
      <c:valAx>
        <c:axId val="48672768"/>
        <c:scaling>
          <c:orientation val="minMax"/>
          <c:max val="1.15"/>
          <c:min val="0"/>
        </c:scaling>
        <c:delete val="0"/>
        <c:axPos val="l"/>
        <c:numFmt formatCode="0%"/>
        <c:majorTickMark val="none"/>
        <c:minorTickMark val="none"/>
        <c:spPr>
          <a:ln xmlns:a="http://schemas.openxmlformats.org/drawingml/2006/main" w="9525">
            <a:solidFill>
              <a:srgbClr val="D4D4D4"/>
            </a:solidFill>
            <a:prstDash val="solid"/>
          </a:ln>
        </c:spPr>
        <c:txPr>
          <a:bodyPr xmlns:a="http://schemas.openxmlformats.org/drawingml/2006/main" anchorCtr="1"/>
          <a:lstStyle xmlns:a="http://schemas.openxmlformats.org/drawingml/2006/main"/>
          <a:p xmlns:a="http://schemas.openxmlformats.org/drawingml/2006/main">
            <a:pPr>
              <a:defRPr sz="1275">
                <a:solidFill>
                  <a:srgbClr val="666666"/>
                </a:solidFill>
              </a:defRPr>
            </a:pPr>
          </a:p>
        </c:txPr>
        <c:crossAx val="48650112"/>
        <c:crossBetween val="between"/>
      </c:valAx>
    </c:plotArea>
    <c:plotVisOnly val="1"/>
  </c:chart>
  <c:spPr>
    <a:solidFill xmlns:a="http://schemas.openxmlformats.org/drawingml/2006/main">
      <a:srgbClr val="FFFFFF"/>
    </a:solidFill>
  </c:spPr>
  <c:externalData r:id="rIdChartSnapshot1">
    <c:autoUpdate val="0"/>
  </c:externalData>
</c:chartSpace>
</file>

<file path=ppt/slides/charts/chart5.xml><?xml version="1.0" encoding="utf-8"?>
<c:chartSpace xmlns:c="http://schemas.openxmlformats.org/drawingml/2006/chart" xmlns:r="http://schemas.openxmlformats.org/officeDocument/2006/relationships">
  <c:lang val="en-US"/>
  <c:chart>
    <c:plotArea>
      <c:scatterChart>
        <c:scatterStyle val="marker"/>
        <c:varyColors val="0"/>
        <c:ser>
          <c:idx val="0"/>
          <c:order val="0"/>
          <c:tx>
            <c:v>Class 0</c:v>
          </c:tx>
          <c:spPr>
            <a:solidFill xmlns:a="http://schemas.openxmlformats.org/drawingml/2006/main">
              <a:srgbClr val="CC5C55"/>
            </a:solidFill>
            <a:ln xmlns:a="http://schemas.openxmlformats.org/drawingml/2006/main" w="0">
              <a:noFill/>
            </a:ln>
          </c:spPr>
          <c:marker>
            <c:symbol val="x"/>
            <c:size val="7"/>
            <c:spPr>
              <a:solidFill xmlns:a="http://schemas.openxmlformats.org/drawingml/2006/main">
                <a:srgbClr val="CC5C55"/>
              </a:solidFill>
            </c:spPr>
          </c:marker>
          <c:xVal>
            <c:numRef>
              <c:f>'Chart Data'!$A$2:$A$31</c:f>
              <c:numCache>
                <c:formatCode>General</c:formatCode>
                <c:ptCount val="30"/>
                <c:pt idx="0">
                  <c:v>1</c:v>
                </c:pt>
                <c:pt idx="1">
                  <c:v>2</c:v>
                </c:pt>
                <c:pt idx="2">
                  <c:v>3</c:v>
                </c:pt>
                <c:pt idx="3">
                  <c:v>4</c:v>
                </c:pt>
                <c:pt idx="4">
                  <c:v>5</c:v>
                </c:pt>
                <c:pt idx="5">
                  <c:v>6</c:v>
                </c:pt>
                <c:pt idx="6">
                  <c:v>9</c:v>
                </c:pt>
                <c:pt idx="7">
                  <c:v>10</c:v>
                </c:pt>
                <c:pt idx="8">
                  <c:v>11</c:v>
                </c:pt>
                <c:pt idx="9">
                  <c:v>12</c:v>
                </c:pt>
                <c:pt idx="10">
                  <c:v>14</c:v>
                </c:pt>
                <c:pt idx="11">
                  <c:v>15</c:v>
                </c:pt>
                <c:pt idx="12">
                  <c:v>16</c:v>
                </c:pt>
                <c:pt idx="13">
                  <c:v>18</c:v>
                </c:pt>
                <c:pt idx="14">
                  <c:v>19</c:v>
                </c:pt>
                <c:pt idx="15">
                  <c:v>25</c:v>
                </c:pt>
                <c:pt idx="16">
                  <c:v>28</c:v>
                </c:pt>
                <c:pt idx="17">
                  <c:v>31</c:v>
                </c:pt>
                <c:pt idx="18">
                  <c:v>35</c:v>
                </c:pt>
                <c:pt idx="19">
                  <c:v>46</c:v>
                </c:pt>
                <c:pt idx="20">
                  <c:v>47</c:v>
                </c:pt>
                <c:pt idx="21">
                  <c:v>48</c:v>
                </c:pt>
                <c:pt idx="22">
                  <c:v>51</c:v>
                </c:pt>
                <c:pt idx="23">
                  <c:v>52</c:v>
                </c:pt>
                <c:pt idx="24">
                  <c:v>60</c:v>
                </c:pt>
                <c:pt idx="25">
                  <c:v>61</c:v>
                </c:pt>
                <c:pt idx="26">
                  <c:v>68</c:v>
                </c:pt>
                <c:pt idx="27">
                  <c:v>73</c:v>
                </c:pt>
                <c:pt idx="28">
                  <c:v>75</c:v>
                </c:pt>
                <c:pt idx="29">
                  <c:v>77</c:v>
                </c:pt>
              </c:numCache>
            </c:numRef>
          </c:xVal>
          <c:yVal>
            <c:numRef>
              <c:f>'Chart Data'!$B$2:$B$31</c:f>
              <c:numCache>
                <c:formatCode>General</c:formatCode>
                <c:ptCount val="30"/>
                <c:pt idx="0">
                  <c:v>6</c:v>
                </c:pt>
                <c:pt idx="1">
                  <c:v>6</c:v>
                </c:pt>
                <c:pt idx="2">
                  <c:v>5</c:v>
                </c:pt>
                <c:pt idx="3">
                  <c:v>8</c:v>
                </c:pt>
                <c:pt idx="4">
                  <c:v>3</c:v>
                </c:pt>
                <c:pt idx="5">
                  <c:v>3</c:v>
                </c:pt>
                <c:pt idx="6">
                  <c:v>3</c:v>
                </c:pt>
                <c:pt idx="7">
                  <c:v>3</c:v>
                </c:pt>
                <c:pt idx="8">
                  <c:v>5</c:v>
                </c:pt>
                <c:pt idx="9">
                  <c:v>5</c:v>
                </c:pt>
                <c:pt idx="10">
                  <c:v>5</c:v>
                </c:pt>
                <c:pt idx="11">
                  <c:v>3</c:v>
                </c:pt>
                <c:pt idx="12">
                  <c:v>5</c:v>
                </c:pt>
                <c:pt idx="13">
                  <c:v>8</c:v>
                </c:pt>
                <c:pt idx="14">
                  <c:v>3</c:v>
                </c:pt>
                <c:pt idx="15">
                  <c:v>3</c:v>
                </c:pt>
                <c:pt idx="16">
                  <c:v>3</c:v>
                </c:pt>
                <c:pt idx="17">
                  <c:v>3</c:v>
                </c:pt>
                <c:pt idx="18">
                  <c:v>3</c:v>
                </c:pt>
                <c:pt idx="19">
                  <c:v>3</c:v>
                </c:pt>
                <c:pt idx="20">
                  <c:v>8</c:v>
                </c:pt>
                <c:pt idx="21">
                  <c:v>5</c:v>
                </c:pt>
                <c:pt idx="22">
                  <c:v>3</c:v>
                </c:pt>
                <c:pt idx="23">
                  <c:v>5</c:v>
                </c:pt>
                <c:pt idx="24">
                  <c:v>5</c:v>
                </c:pt>
                <c:pt idx="25">
                  <c:v>7</c:v>
                </c:pt>
                <c:pt idx="26">
                  <c:v>3</c:v>
                </c:pt>
                <c:pt idx="27">
                  <c:v>9</c:v>
                </c:pt>
                <c:pt idx="28">
                  <c:v>11</c:v>
                </c:pt>
                <c:pt idx="29">
                  <c:v>11</c:v>
                </c:pt>
              </c:numCache>
            </c:numRef>
          </c:yVal>
        </c:ser>
        <c:ser>
          <c:idx val="1"/>
          <c:order val="1"/>
          <c:tx>
            <c:v>Class 1</c:v>
          </c:tx>
          <c:spPr>
            <a:solidFill xmlns:a="http://schemas.openxmlformats.org/drawingml/2006/main">
              <a:srgbClr val="179B76"/>
            </a:solidFill>
            <a:ln xmlns:a="http://schemas.openxmlformats.org/drawingml/2006/main" w="0">
              <a:noFill/>
            </a:ln>
          </c:spPr>
          <c:marker>
            <c:symbol val="circle"/>
            <c:size val="7"/>
            <c:spPr>
              <a:solidFill xmlns:a="http://schemas.openxmlformats.org/drawingml/2006/main">
                <a:srgbClr val="179B76"/>
              </a:solidFill>
            </c:spPr>
          </c:marker>
          <c:xVal>
            <c:numRef>
              <c:f>'Chart Data'!$C$2:$C$61</c:f>
              <c:numCache>
                <c:formatCode>General</c:formatCode>
                <c:ptCount val="60"/>
                <c:pt idx="0">
                  <c:v>7</c:v>
                </c:pt>
                <c:pt idx="1">
                  <c:v>8</c:v>
                </c:pt>
                <c:pt idx="2">
                  <c:v>13</c:v>
                </c:pt>
                <c:pt idx="3">
                  <c:v>17</c:v>
                </c:pt>
                <c:pt idx="4">
                  <c:v>20</c:v>
                </c:pt>
                <c:pt idx="5">
                  <c:v>21</c:v>
                </c:pt>
                <c:pt idx="6">
                  <c:v>22</c:v>
                </c:pt>
                <c:pt idx="7">
                  <c:v>23</c:v>
                </c:pt>
                <c:pt idx="8">
                  <c:v>24</c:v>
                </c:pt>
                <c:pt idx="9">
                  <c:v>26</c:v>
                </c:pt>
                <c:pt idx="10">
                  <c:v>27</c:v>
                </c:pt>
                <c:pt idx="11">
                  <c:v>29</c:v>
                </c:pt>
                <c:pt idx="12">
                  <c:v>30</c:v>
                </c:pt>
                <c:pt idx="13">
                  <c:v>32</c:v>
                </c:pt>
                <c:pt idx="14">
                  <c:v>33</c:v>
                </c:pt>
                <c:pt idx="15">
                  <c:v>34</c:v>
                </c:pt>
                <c:pt idx="16">
                  <c:v>36</c:v>
                </c:pt>
                <c:pt idx="17">
                  <c:v>37</c:v>
                </c:pt>
                <c:pt idx="18">
                  <c:v>38</c:v>
                </c:pt>
                <c:pt idx="19">
                  <c:v>39</c:v>
                </c:pt>
                <c:pt idx="20">
                  <c:v>40</c:v>
                </c:pt>
                <c:pt idx="21">
                  <c:v>41</c:v>
                </c:pt>
                <c:pt idx="22">
                  <c:v>42</c:v>
                </c:pt>
                <c:pt idx="23">
                  <c:v>43</c:v>
                </c:pt>
                <c:pt idx="24">
                  <c:v>44</c:v>
                </c:pt>
                <c:pt idx="25">
                  <c:v>45</c:v>
                </c:pt>
                <c:pt idx="26">
                  <c:v>49</c:v>
                </c:pt>
                <c:pt idx="27">
                  <c:v>50</c:v>
                </c:pt>
                <c:pt idx="28">
                  <c:v>53</c:v>
                </c:pt>
                <c:pt idx="29">
                  <c:v>54</c:v>
                </c:pt>
                <c:pt idx="30">
                  <c:v>55</c:v>
                </c:pt>
                <c:pt idx="31">
                  <c:v>56</c:v>
                </c:pt>
                <c:pt idx="32">
                  <c:v>57</c:v>
                </c:pt>
                <c:pt idx="33">
                  <c:v>58</c:v>
                </c:pt>
                <c:pt idx="34">
                  <c:v>59</c:v>
                </c:pt>
                <c:pt idx="35">
                  <c:v>62</c:v>
                </c:pt>
                <c:pt idx="36">
                  <c:v>63</c:v>
                </c:pt>
                <c:pt idx="37">
                  <c:v>64</c:v>
                </c:pt>
                <c:pt idx="38">
                  <c:v>65</c:v>
                </c:pt>
                <c:pt idx="39">
                  <c:v>66</c:v>
                </c:pt>
                <c:pt idx="40">
                  <c:v>67</c:v>
                </c:pt>
                <c:pt idx="41">
                  <c:v>69</c:v>
                </c:pt>
                <c:pt idx="42">
                  <c:v>70</c:v>
                </c:pt>
                <c:pt idx="43">
                  <c:v>71</c:v>
                </c:pt>
                <c:pt idx="44">
                  <c:v>72</c:v>
                </c:pt>
                <c:pt idx="45">
                  <c:v>74</c:v>
                </c:pt>
                <c:pt idx="46">
                  <c:v>76</c:v>
                </c:pt>
                <c:pt idx="47">
                  <c:v>78</c:v>
                </c:pt>
                <c:pt idx="48">
                  <c:v>79</c:v>
                </c:pt>
                <c:pt idx="49">
                  <c:v>80</c:v>
                </c:pt>
                <c:pt idx="50">
                  <c:v>81</c:v>
                </c:pt>
                <c:pt idx="51">
                  <c:v>82</c:v>
                </c:pt>
                <c:pt idx="52">
                  <c:v>83</c:v>
                </c:pt>
                <c:pt idx="53">
                  <c:v>84</c:v>
                </c:pt>
                <c:pt idx="54">
                  <c:v>85</c:v>
                </c:pt>
                <c:pt idx="55">
                  <c:v>86</c:v>
                </c:pt>
                <c:pt idx="56">
                  <c:v>87</c:v>
                </c:pt>
                <c:pt idx="57">
                  <c:v>88</c:v>
                </c:pt>
                <c:pt idx="58">
                  <c:v>89</c:v>
                </c:pt>
                <c:pt idx="59">
                  <c:v>90</c:v>
                </c:pt>
              </c:numCache>
            </c:numRef>
          </c:xVal>
          <c:yVal>
            <c:numRef>
              <c:f>'Chart Data'!$D$2:$D$61</c:f>
              <c:numCache>
                <c:formatCode>General</c:formatCode>
                <c:ptCount val="60"/>
                <c:pt idx="0">
                  <c:v>5</c:v>
                </c:pt>
                <c:pt idx="1">
                  <c:v>6</c:v>
                </c:pt>
                <c:pt idx="2">
                  <c:v>1</c:v>
                </c:pt>
                <c:pt idx="3">
                  <c:v>6</c:v>
                </c:pt>
                <c:pt idx="4">
                  <c:v>5</c:v>
                </c:pt>
                <c:pt idx="5">
                  <c:v>3</c:v>
                </c:pt>
                <c:pt idx="6">
                  <c:v>3</c:v>
                </c:pt>
                <c:pt idx="7">
                  <c:v>5</c:v>
                </c:pt>
                <c:pt idx="8">
                  <c:v>3</c:v>
                </c:pt>
                <c:pt idx="9">
                  <c:v>8</c:v>
                </c:pt>
                <c:pt idx="10">
                  <c:v>5</c:v>
                </c:pt>
                <c:pt idx="11">
                  <c:v>3</c:v>
                </c:pt>
                <c:pt idx="12">
                  <c:v>6</c:v>
                </c:pt>
                <c:pt idx="13">
                  <c:v>5</c:v>
                </c:pt>
                <c:pt idx="14">
                  <c:v>3</c:v>
                </c:pt>
                <c:pt idx="15">
                  <c:v>8</c:v>
                </c:pt>
                <c:pt idx="16">
                  <c:v>5</c:v>
                </c:pt>
                <c:pt idx="17">
                  <c:v>10</c:v>
                </c:pt>
                <c:pt idx="18">
                  <c:v>6</c:v>
                </c:pt>
                <c:pt idx="19">
                  <c:v>8</c:v>
                </c:pt>
                <c:pt idx="20">
                  <c:v>3</c:v>
                </c:pt>
                <c:pt idx="21">
                  <c:v>3</c:v>
                </c:pt>
                <c:pt idx="22">
                  <c:v>5</c:v>
                </c:pt>
                <c:pt idx="23">
                  <c:v>8</c:v>
                </c:pt>
                <c:pt idx="24">
                  <c:v>6</c:v>
                </c:pt>
                <c:pt idx="25">
                  <c:v>3</c:v>
                </c:pt>
                <c:pt idx="26">
                  <c:v>4</c:v>
                </c:pt>
                <c:pt idx="27">
                  <c:v>3</c:v>
                </c:pt>
                <c:pt idx="28">
                  <c:v>3</c:v>
                </c:pt>
                <c:pt idx="29">
                  <c:v>8</c:v>
                </c:pt>
                <c:pt idx="30">
                  <c:v>3</c:v>
                </c:pt>
                <c:pt idx="31">
                  <c:v>3</c:v>
                </c:pt>
                <c:pt idx="32">
                  <c:v>10</c:v>
                </c:pt>
                <c:pt idx="33">
                  <c:v>3</c:v>
                </c:pt>
                <c:pt idx="34">
                  <c:v>10</c:v>
                </c:pt>
                <c:pt idx="35">
                  <c:v>8</c:v>
                </c:pt>
                <c:pt idx="36">
                  <c:v>5</c:v>
                </c:pt>
                <c:pt idx="37">
                  <c:v>5</c:v>
                </c:pt>
                <c:pt idx="38">
                  <c:v>11</c:v>
                </c:pt>
                <c:pt idx="39">
                  <c:v>10</c:v>
                </c:pt>
                <c:pt idx="40">
                  <c:v>5</c:v>
                </c:pt>
                <c:pt idx="41">
                  <c:v>11</c:v>
                </c:pt>
                <c:pt idx="42">
                  <c:v>5</c:v>
                </c:pt>
                <c:pt idx="43">
                  <c:v>3</c:v>
                </c:pt>
                <c:pt idx="44">
                  <c:v>11</c:v>
                </c:pt>
                <c:pt idx="45">
                  <c:v>11</c:v>
                </c:pt>
                <c:pt idx="46">
                  <c:v>5</c:v>
                </c:pt>
                <c:pt idx="47">
                  <c:v>11</c:v>
                </c:pt>
                <c:pt idx="48">
                  <c:v>5</c:v>
                </c:pt>
                <c:pt idx="49">
                  <c:v>11</c:v>
                </c:pt>
                <c:pt idx="50">
                  <c:v>11</c:v>
                </c:pt>
                <c:pt idx="51">
                  <c:v>7</c:v>
                </c:pt>
                <c:pt idx="52">
                  <c:v>2</c:v>
                </c:pt>
                <c:pt idx="53">
                  <c:v>11</c:v>
                </c:pt>
                <c:pt idx="54">
                  <c:v>10</c:v>
                </c:pt>
                <c:pt idx="55">
                  <c:v>11</c:v>
                </c:pt>
                <c:pt idx="56">
                  <c:v>11</c:v>
                </c:pt>
                <c:pt idx="57">
                  <c:v>11</c:v>
                </c:pt>
                <c:pt idx="58">
                  <c:v>11</c:v>
                </c:pt>
                <c:pt idx="59">
                  <c:v>7</c:v>
                </c:pt>
              </c:numCache>
            </c:numRef>
          </c:yVal>
        </c:ser>
        <c:axId val="48650112"/>
        <c:axId val="48672768"/>
      </c:scatterChart>
      <c:valAx>
        <c:axId val="48672768"/>
        <c:scaling>
          <c:orientation val="minMax"/>
          <c:max val="12"/>
          <c:min val="0"/>
        </c:scaling>
        <c:delete val="0"/>
        <c:axPos val="l"/>
        <c:title>
          <c:tx>
            <c:rich>
              <a:bodyPr xmlns:a="http://schemas.openxmlformats.org/drawingml/2006/main"/>
              <a:lstStyle xmlns:a="http://schemas.openxmlformats.org/drawingml/2006/main"/>
              <a:p xmlns:a="http://schemas.openxmlformats.org/drawingml/2006/main">
                <a:r>
                  <a:t>Orbit code</a:t>
                </a:r>
              </a:p>
            </c:rich>
          </c:tx>
          <c:overlay val="0"/>
        </c:title>
        <c:numFmt formatCode="General"/>
        <c:majorTickMark val="none"/>
        <c:minorTickMark val="none"/>
        <c:spPr>
          <a:ln xmlns:a="http://schemas.openxmlformats.org/drawingml/2006/main" w="9525">
            <a:solidFill>
              <a:srgbClr val="D4D4D4"/>
            </a:solidFill>
            <a:prstDash val="solid"/>
          </a:ln>
        </c:spPr>
        <c:txPr>
          <a:bodyPr xmlns:a="http://schemas.openxmlformats.org/drawingml/2006/main" anchorCtr="1"/>
          <a:lstStyle xmlns:a="http://schemas.openxmlformats.org/drawingml/2006/main"/>
          <a:p xmlns:a="http://schemas.openxmlformats.org/drawingml/2006/main">
            <a:pPr>
              <a:defRPr sz="1200">
                <a:solidFill>
                  <a:srgbClr val="666666"/>
                </a:solidFill>
              </a:defRPr>
            </a:pPr>
          </a:p>
        </c:txPr>
        <c:crossAx val="48650112"/>
        <c:majorUnit val="1"/>
      </c:valAx>
      <c:valAx>
        <c:axId val="48650112"/>
        <c:scaling>
          <c:orientation val="minMax"/>
        </c:scaling>
        <c:delete val="0"/>
        <c:axPos val="b"/>
        <c:title>
          <c:tx>
            <c:rich>
              <a:bodyPr xmlns:a="http://schemas.openxmlformats.org/drawingml/2006/main"/>
              <a:lstStyle xmlns:a="http://schemas.openxmlformats.org/drawingml/2006/main"/>
              <a:p xmlns:a="http://schemas.openxmlformats.org/drawingml/2006/main">
                <a:r>
                  <a:t>Flight number</a:t>
                </a:r>
              </a:p>
            </c:rich>
          </c:tx>
          <c:overlay val="0"/>
        </c:title>
        <c:numFmt formatCode="General"/>
        <c:majorTickMark val="none"/>
        <c:minorTickMark val="none"/>
        <c:spPr>
          <a:ln xmlns:a="http://schemas.openxmlformats.org/drawingml/2006/main" w="9525">
            <a:solidFill>
              <a:srgbClr val="D4D4D4"/>
            </a:solidFill>
            <a:prstDash val="solid"/>
          </a:ln>
        </c:spPr>
        <c:txPr>
          <a:bodyPr xmlns:a="http://schemas.openxmlformats.org/drawingml/2006/main" anchorCtr="1"/>
          <a:lstStyle xmlns:a="http://schemas.openxmlformats.org/drawingml/2006/main"/>
          <a:p xmlns:a="http://schemas.openxmlformats.org/drawingml/2006/main">
            <a:pPr>
              <a:defRPr sz="1200">
                <a:solidFill>
                  <a:srgbClr val="666666"/>
                </a:solidFill>
              </a:defRPr>
            </a:pPr>
          </a:p>
        </c:txPr>
        <c:crossAx val="48672768"/>
      </c:valAx>
    </c:plotArea>
    <c:legend>
      <c:legendPos val="b"/>
      <c:overlay val="0"/>
      <c:txPr>
        <a:bodyPr xmlns:a="http://schemas.openxmlformats.org/drawingml/2006/main" anchorCtr="1"/>
        <a:lstStyle xmlns:a="http://schemas.openxmlformats.org/drawingml/2006/main"/>
        <a:p xmlns:a="http://schemas.openxmlformats.org/drawingml/2006/main">
          <a:pPr>
            <a:defRPr sz="1350"/>
          </a:pPr>
        </a:p>
      </c:txPr>
    </c:legend>
    <c:plotVisOnly val="1"/>
  </c:chart>
  <c:spPr>
    <a:solidFill xmlns:a="http://schemas.openxmlformats.org/drawingml/2006/main">
      <a:srgbClr val="FFFFFF"/>
    </a:solidFill>
  </c:spPr>
  <c:externalData r:id="rIdChartSnapshot1">
    <c:autoUpdate val="0"/>
  </c:externalData>
</c:chartSpace>
</file>

<file path=ppt/slides/charts/chart6.xml><?xml version="1.0" encoding="utf-8"?>
<c:chartSpace xmlns:c="http://schemas.openxmlformats.org/drawingml/2006/chart" xmlns:r="http://schemas.openxmlformats.org/officeDocument/2006/relationships">
  <c:lang val="en-US"/>
  <c:chart>
    <c:plotArea>
      <c:scatterChart>
        <c:scatterStyle val="marker"/>
        <c:varyColors val="0"/>
        <c:ser>
          <c:idx val="0"/>
          <c:order val="0"/>
          <c:tx>
            <c:v>Class 0</c:v>
          </c:tx>
          <c:spPr>
            <a:solidFill xmlns:a="http://schemas.openxmlformats.org/drawingml/2006/main">
              <a:srgbClr val="CC5C55"/>
            </a:solidFill>
            <a:ln xmlns:a="http://schemas.openxmlformats.org/drawingml/2006/main" w="0">
              <a:noFill/>
            </a:ln>
          </c:spPr>
          <c:marker>
            <c:symbol val="x"/>
            <c:size val="7"/>
            <c:spPr>
              <a:solidFill xmlns:a="http://schemas.openxmlformats.org/drawingml/2006/main">
                <a:srgbClr val="CC5C55"/>
              </a:solidFill>
            </c:spPr>
          </c:marker>
          <c:xVal>
            <c:numRef>
              <c:f>'Chart Data'!$A$2:$A$31</c:f>
              <c:numCache>
                <c:formatCode>General</c:formatCode>
                <c:ptCount val="30"/>
                <c:pt idx="0">
                  <c:v>6104.9594117647</c:v>
                </c:pt>
                <c:pt idx="1">
                  <c:v>525</c:v>
                </c:pt>
                <c:pt idx="2">
                  <c:v>677</c:v>
                </c:pt>
                <c:pt idx="3">
                  <c:v>500</c:v>
                </c:pt>
                <c:pt idx="4">
                  <c:v>3170</c:v>
                </c:pt>
                <c:pt idx="5">
                  <c:v>3325</c:v>
                </c:pt>
                <c:pt idx="6">
                  <c:v>4535</c:v>
                </c:pt>
                <c:pt idx="7">
                  <c:v>4428</c:v>
                </c:pt>
                <c:pt idx="8">
                  <c:v>2216</c:v>
                </c:pt>
                <c:pt idx="9">
                  <c:v>2395</c:v>
                </c:pt>
                <c:pt idx="10">
                  <c:v>1898</c:v>
                </c:pt>
                <c:pt idx="11">
                  <c:v>4707</c:v>
                </c:pt>
                <c:pt idx="12">
                  <c:v>2477</c:v>
                </c:pt>
                <c:pt idx="13">
                  <c:v>553</c:v>
                </c:pt>
                <c:pt idx="14">
                  <c:v>5271</c:v>
                </c:pt>
                <c:pt idx="15">
                  <c:v>5500</c:v>
                </c:pt>
                <c:pt idx="16">
                  <c:v>5600</c:v>
                </c:pt>
                <c:pt idx="17">
                  <c:v>6070</c:v>
                </c:pt>
                <c:pt idx="18">
                  <c:v>6761</c:v>
                </c:pt>
                <c:pt idx="19">
                  <c:v>6092</c:v>
                </c:pt>
                <c:pt idx="20">
                  <c:v>9600</c:v>
                </c:pt>
                <c:pt idx="21">
                  <c:v>2760</c:v>
                </c:pt>
                <c:pt idx="22">
                  <c:v>5383.85</c:v>
                </c:pt>
                <c:pt idx="23">
                  <c:v>2410</c:v>
                </c:pt>
                <c:pt idx="24">
                  <c:v>2573</c:v>
                </c:pt>
                <c:pt idx="25">
                  <c:v>4400</c:v>
                </c:pt>
                <c:pt idx="26">
                  <c:v>6500</c:v>
                </c:pt>
                <c:pt idx="27">
                  <c:v>6104.9594117647</c:v>
                </c:pt>
                <c:pt idx="28">
                  <c:v>15400</c:v>
                </c:pt>
                <c:pt idx="29">
                  <c:v>15600</c:v>
                </c:pt>
              </c:numCache>
            </c:numRef>
          </c:xVal>
          <c:yVal>
            <c:numRef>
              <c:f>'Chart Data'!$B$2:$B$31</c:f>
              <c:numCache>
                <c:formatCode>General</c:formatCode>
                <c:ptCount val="30"/>
                <c:pt idx="0">
                  <c:v>6</c:v>
                </c:pt>
                <c:pt idx="1">
                  <c:v>6</c:v>
                </c:pt>
                <c:pt idx="2">
                  <c:v>5</c:v>
                </c:pt>
                <c:pt idx="3">
                  <c:v>8</c:v>
                </c:pt>
                <c:pt idx="4">
                  <c:v>3</c:v>
                </c:pt>
                <c:pt idx="5">
                  <c:v>3</c:v>
                </c:pt>
                <c:pt idx="6">
                  <c:v>3</c:v>
                </c:pt>
                <c:pt idx="7">
                  <c:v>3</c:v>
                </c:pt>
                <c:pt idx="8">
                  <c:v>5</c:v>
                </c:pt>
                <c:pt idx="9">
                  <c:v>5</c:v>
                </c:pt>
                <c:pt idx="10">
                  <c:v>5</c:v>
                </c:pt>
                <c:pt idx="11">
                  <c:v>3</c:v>
                </c:pt>
                <c:pt idx="12">
                  <c:v>5</c:v>
                </c:pt>
                <c:pt idx="13">
                  <c:v>8</c:v>
                </c:pt>
                <c:pt idx="14">
                  <c:v>3</c:v>
                </c:pt>
                <c:pt idx="15">
                  <c:v>3</c:v>
                </c:pt>
                <c:pt idx="16">
                  <c:v>3</c:v>
                </c:pt>
                <c:pt idx="17">
                  <c:v>3</c:v>
                </c:pt>
                <c:pt idx="18">
                  <c:v>3</c:v>
                </c:pt>
                <c:pt idx="19">
                  <c:v>3</c:v>
                </c:pt>
                <c:pt idx="20">
                  <c:v>8</c:v>
                </c:pt>
                <c:pt idx="21">
                  <c:v>5</c:v>
                </c:pt>
                <c:pt idx="22">
                  <c:v>3</c:v>
                </c:pt>
                <c:pt idx="23">
                  <c:v>5</c:v>
                </c:pt>
                <c:pt idx="24">
                  <c:v>5</c:v>
                </c:pt>
                <c:pt idx="25">
                  <c:v>7</c:v>
                </c:pt>
                <c:pt idx="26">
                  <c:v>3</c:v>
                </c:pt>
                <c:pt idx="27">
                  <c:v>9</c:v>
                </c:pt>
                <c:pt idx="28">
                  <c:v>11</c:v>
                </c:pt>
                <c:pt idx="29">
                  <c:v>11</c:v>
                </c:pt>
              </c:numCache>
            </c:numRef>
          </c:yVal>
        </c:ser>
        <c:ser>
          <c:idx val="1"/>
          <c:order val="1"/>
          <c:tx>
            <c:v>Class 1</c:v>
          </c:tx>
          <c:spPr>
            <a:solidFill xmlns:a="http://schemas.openxmlformats.org/drawingml/2006/main">
              <a:srgbClr val="179B76"/>
            </a:solidFill>
            <a:ln xmlns:a="http://schemas.openxmlformats.org/drawingml/2006/main" w="0">
              <a:noFill/>
            </a:ln>
          </c:spPr>
          <c:marker>
            <c:symbol val="circle"/>
            <c:size val="7"/>
            <c:spPr>
              <a:solidFill xmlns:a="http://schemas.openxmlformats.org/drawingml/2006/main">
                <a:srgbClr val="179B76"/>
              </a:solidFill>
            </c:spPr>
          </c:marker>
          <c:xVal>
            <c:numRef>
              <c:f>'Chart Data'!$C$2:$C$61</c:f>
              <c:numCache>
                <c:formatCode>General</c:formatCode>
                <c:ptCount val="60"/>
                <c:pt idx="0">
                  <c:v>2296</c:v>
                </c:pt>
                <c:pt idx="1">
                  <c:v>1316</c:v>
                </c:pt>
                <c:pt idx="2">
                  <c:v>570</c:v>
                </c:pt>
                <c:pt idx="3">
                  <c:v>2034</c:v>
                </c:pt>
                <c:pt idx="4">
                  <c:v>3136</c:v>
                </c:pt>
                <c:pt idx="5">
                  <c:v>4696</c:v>
                </c:pt>
                <c:pt idx="6">
                  <c:v>3100</c:v>
                </c:pt>
                <c:pt idx="7">
                  <c:v>2257</c:v>
                </c:pt>
                <c:pt idx="8">
                  <c:v>4600</c:v>
                </c:pt>
                <c:pt idx="9">
                  <c:v>9600</c:v>
                </c:pt>
                <c:pt idx="10">
                  <c:v>2490</c:v>
                </c:pt>
                <c:pt idx="11">
                  <c:v>5300</c:v>
                </c:pt>
                <c:pt idx="12">
                  <c:v>6104.9594117647</c:v>
                </c:pt>
                <c:pt idx="13">
                  <c:v>2708</c:v>
                </c:pt>
                <c:pt idx="14">
                  <c:v>3669</c:v>
                </c:pt>
                <c:pt idx="15">
                  <c:v>9600</c:v>
                </c:pt>
                <c:pt idx="16">
                  <c:v>2910</c:v>
                </c:pt>
                <c:pt idx="17">
                  <c:v>475</c:v>
                </c:pt>
                <c:pt idx="18">
                  <c:v>4990</c:v>
                </c:pt>
                <c:pt idx="19">
                  <c:v>9600</c:v>
                </c:pt>
                <c:pt idx="20">
                  <c:v>5200</c:v>
                </c:pt>
                <c:pt idx="21">
                  <c:v>3700</c:v>
                </c:pt>
                <c:pt idx="22">
                  <c:v>2205</c:v>
                </c:pt>
                <c:pt idx="23">
                  <c:v>9600</c:v>
                </c:pt>
                <c:pt idx="24">
                  <c:v>6104.9594117647</c:v>
                </c:pt>
                <c:pt idx="25">
                  <c:v>4230</c:v>
                </c:pt>
                <c:pt idx="26">
                  <c:v>350</c:v>
                </c:pt>
                <c:pt idx="27">
                  <c:v>3750</c:v>
                </c:pt>
                <c:pt idx="28">
                  <c:v>7076</c:v>
                </c:pt>
                <c:pt idx="29">
                  <c:v>9600</c:v>
                </c:pt>
                <c:pt idx="30">
                  <c:v>5800</c:v>
                </c:pt>
                <c:pt idx="31">
                  <c:v>7060</c:v>
                </c:pt>
                <c:pt idx="32">
                  <c:v>2800</c:v>
                </c:pt>
                <c:pt idx="33">
                  <c:v>3000</c:v>
                </c:pt>
                <c:pt idx="34">
                  <c:v>4000</c:v>
                </c:pt>
                <c:pt idx="35">
                  <c:v>9600</c:v>
                </c:pt>
                <c:pt idx="36">
                  <c:v>12259</c:v>
                </c:pt>
                <c:pt idx="37">
                  <c:v>2482</c:v>
                </c:pt>
                <c:pt idx="38">
                  <c:v>13620</c:v>
                </c:pt>
                <c:pt idx="39">
                  <c:v>1425</c:v>
                </c:pt>
                <c:pt idx="40">
                  <c:v>2227.7</c:v>
                </c:pt>
                <c:pt idx="41">
                  <c:v>15600</c:v>
                </c:pt>
                <c:pt idx="42">
                  <c:v>5000</c:v>
                </c:pt>
                <c:pt idx="43">
                  <c:v>6800</c:v>
                </c:pt>
                <c:pt idx="44">
                  <c:v>15400</c:v>
                </c:pt>
                <c:pt idx="45">
                  <c:v>15600</c:v>
                </c:pt>
                <c:pt idx="46">
                  <c:v>1977</c:v>
                </c:pt>
                <c:pt idx="47">
                  <c:v>15400</c:v>
                </c:pt>
                <c:pt idx="48">
                  <c:v>9525</c:v>
                </c:pt>
                <c:pt idx="49">
                  <c:v>15400</c:v>
                </c:pt>
                <c:pt idx="50">
                  <c:v>15400</c:v>
                </c:pt>
                <c:pt idx="51">
                  <c:v>3880</c:v>
                </c:pt>
                <c:pt idx="52">
                  <c:v>6104.9594117647</c:v>
                </c:pt>
                <c:pt idx="53">
                  <c:v>15400</c:v>
                </c:pt>
                <c:pt idx="54">
                  <c:v>1600</c:v>
                </c:pt>
                <c:pt idx="55">
                  <c:v>15400</c:v>
                </c:pt>
                <c:pt idx="56">
                  <c:v>15400</c:v>
                </c:pt>
                <c:pt idx="57">
                  <c:v>15400</c:v>
                </c:pt>
                <c:pt idx="58">
                  <c:v>15400</c:v>
                </c:pt>
                <c:pt idx="59">
                  <c:v>3681</c:v>
                </c:pt>
              </c:numCache>
            </c:numRef>
          </c:xVal>
          <c:yVal>
            <c:numRef>
              <c:f>'Chart Data'!$D$2:$D$61</c:f>
              <c:numCache>
                <c:formatCode>General</c:formatCode>
                <c:ptCount val="60"/>
                <c:pt idx="0">
                  <c:v>5</c:v>
                </c:pt>
                <c:pt idx="1">
                  <c:v>6</c:v>
                </c:pt>
                <c:pt idx="2">
                  <c:v>1</c:v>
                </c:pt>
                <c:pt idx="3">
                  <c:v>6</c:v>
                </c:pt>
                <c:pt idx="4">
                  <c:v>5</c:v>
                </c:pt>
                <c:pt idx="5">
                  <c:v>3</c:v>
                </c:pt>
                <c:pt idx="6">
                  <c:v>3</c:v>
                </c:pt>
                <c:pt idx="7">
                  <c:v>5</c:v>
                </c:pt>
                <c:pt idx="8">
                  <c:v>3</c:v>
                </c:pt>
                <c:pt idx="9">
                  <c:v>8</c:v>
                </c:pt>
                <c:pt idx="10">
                  <c:v>5</c:v>
                </c:pt>
                <c:pt idx="11">
                  <c:v>3</c:v>
                </c:pt>
                <c:pt idx="12">
                  <c:v>6</c:v>
                </c:pt>
                <c:pt idx="13">
                  <c:v>5</c:v>
                </c:pt>
                <c:pt idx="14">
                  <c:v>3</c:v>
                </c:pt>
                <c:pt idx="15">
                  <c:v>8</c:v>
                </c:pt>
                <c:pt idx="16">
                  <c:v>5</c:v>
                </c:pt>
                <c:pt idx="17">
                  <c:v>10</c:v>
                </c:pt>
                <c:pt idx="18">
                  <c:v>6</c:v>
                </c:pt>
                <c:pt idx="19">
                  <c:v>8</c:v>
                </c:pt>
                <c:pt idx="20">
                  <c:v>3</c:v>
                </c:pt>
                <c:pt idx="21">
                  <c:v>3</c:v>
                </c:pt>
                <c:pt idx="22">
                  <c:v>5</c:v>
                </c:pt>
                <c:pt idx="23">
                  <c:v>8</c:v>
                </c:pt>
                <c:pt idx="24">
                  <c:v>6</c:v>
                </c:pt>
                <c:pt idx="25">
                  <c:v>3</c:v>
                </c:pt>
                <c:pt idx="26">
                  <c:v>4</c:v>
                </c:pt>
                <c:pt idx="27">
                  <c:v>3</c:v>
                </c:pt>
                <c:pt idx="28">
                  <c:v>3</c:v>
                </c:pt>
                <c:pt idx="29">
                  <c:v>8</c:v>
                </c:pt>
                <c:pt idx="30">
                  <c:v>3</c:v>
                </c:pt>
                <c:pt idx="31">
                  <c:v>3</c:v>
                </c:pt>
                <c:pt idx="32">
                  <c:v>10</c:v>
                </c:pt>
                <c:pt idx="33">
                  <c:v>3</c:v>
                </c:pt>
                <c:pt idx="34">
                  <c:v>10</c:v>
                </c:pt>
                <c:pt idx="35">
                  <c:v>8</c:v>
                </c:pt>
                <c:pt idx="36">
                  <c:v>5</c:v>
                </c:pt>
                <c:pt idx="37">
                  <c:v>5</c:v>
                </c:pt>
                <c:pt idx="38">
                  <c:v>11</c:v>
                </c:pt>
                <c:pt idx="39">
                  <c:v>10</c:v>
                </c:pt>
                <c:pt idx="40">
                  <c:v>5</c:v>
                </c:pt>
                <c:pt idx="41">
                  <c:v>11</c:v>
                </c:pt>
                <c:pt idx="42">
                  <c:v>5</c:v>
                </c:pt>
                <c:pt idx="43">
                  <c:v>3</c:v>
                </c:pt>
                <c:pt idx="44">
                  <c:v>11</c:v>
                </c:pt>
                <c:pt idx="45">
                  <c:v>11</c:v>
                </c:pt>
                <c:pt idx="46">
                  <c:v>5</c:v>
                </c:pt>
                <c:pt idx="47">
                  <c:v>11</c:v>
                </c:pt>
                <c:pt idx="48">
                  <c:v>5</c:v>
                </c:pt>
                <c:pt idx="49">
                  <c:v>11</c:v>
                </c:pt>
                <c:pt idx="50">
                  <c:v>11</c:v>
                </c:pt>
                <c:pt idx="51">
                  <c:v>7</c:v>
                </c:pt>
                <c:pt idx="52">
                  <c:v>2</c:v>
                </c:pt>
                <c:pt idx="53">
                  <c:v>11</c:v>
                </c:pt>
                <c:pt idx="54">
                  <c:v>10</c:v>
                </c:pt>
                <c:pt idx="55">
                  <c:v>11</c:v>
                </c:pt>
                <c:pt idx="56">
                  <c:v>11</c:v>
                </c:pt>
                <c:pt idx="57">
                  <c:v>11</c:v>
                </c:pt>
                <c:pt idx="58">
                  <c:v>11</c:v>
                </c:pt>
                <c:pt idx="59">
                  <c:v>7</c:v>
                </c:pt>
              </c:numCache>
            </c:numRef>
          </c:yVal>
        </c:ser>
        <c:axId val="48650112"/>
        <c:axId val="48672768"/>
      </c:scatterChart>
      <c:valAx>
        <c:axId val="48672768"/>
        <c:scaling>
          <c:orientation val="minMax"/>
          <c:max val="12"/>
          <c:min val="0"/>
        </c:scaling>
        <c:delete val="0"/>
        <c:axPos val="l"/>
        <c:title>
          <c:tx>
            <c:rich>
              <a:bodyPr xmlns:a="http://schemas.openxmlformats.org/drawingml/2006/main"/>
              <a:lstStyle xmlns:a="http://schemas.openxmlformats.org/drawingml/2006/main"/>
              <a:p xmlns:a="http://schemas.openxmlformats.org/drawingml/2006/main">
                <a:r>
                  <a:t>Orbit code</a:t>
                </a:r>
              </a:p>
            </c:rich>
          </c:tx>
          <c:overlay val="0"/>
        </c:title>
        <c:numFmt formatCode="General"/>
        <c:majorTickMark val="none"/>
        <c:minorTickMark val="none"/>
        <c:spPr>
          <a:ln xmlns:a="http://schemas.openxmlformats.org/drawingml/2006/main" w="9525">
            <a:solidFill>
              <a:srgbClr val="D4D4D4"/>
            </a:solidFill>
            <a:prstDash val="solid"/>
          </a:ln>
        </c:spPr>
        <c:txPr>
          <a:bodyPr xmlns:a="http://schemas.openxmlformats.org/drawingml/2006/main" anchorCtr="1"/>
          <a:lstStyle xmlns:a="http://schemas.openxmlformats.org/drawingml/2006/main"/>
          <a:p xmlns:a="http://schemas.openxmlformats.org/drawingml/2006/main">
            <a:pPr>
              <a:defRPr sz="1200">
                <a:solidFill>
                  <a:srgbClr val="666666"/>
                </a:solidFill>
              </a:defRPr>
            </a:pPr>
          </a:p>
        </c:txPr>
        <c:crossAx val="48650112"/>
        <c:majorUnit val="1"/>
      </c:valAx>
      <c:valAx>
        <c:axId val="48650112"/>
        <c:scaling>
          <c:orientation val="minMax"/>
        </c:scaling>
        <c:delete val="0"/>
        <c:axPos val="b"/>
        <c:title>
          <c:tx>
            <c:rich>
              <a:bodyPr xmlns:a="http://schemas.openxmlformats.org/drawingml/2006/main"/>
              <a:lstStyle xmlns:a="http://schemas.openxmlformats.org/drawingml/2006/main"/>
              <a:p xmlns:a="http://schemas.openxmlformats.org/drawingml/2006/main">
                <a:r>
                  <a:t>Payload (kg)</a:t>
                </a:r>
              </a:p>
            </c:rich>
          </c:tx>
          <c:overlay val="0"/>
        </c:title>
        <c:numFmt formatCode="General"/>
        <c:majorTickMark val="none"/>
        <c:minorTickMark val="none"/>
        <c:spPr>
          <a:ln xmlns:a="http://schemas.openxmlformats.org/drawingml/2006/main" w="9525">
            <a:solidFill>
              <a:srgbClr val="D4D4D4"/>
            </a:solidFill>
            <a:prstDash val="solid"/>
          </a:ln>
        </c:spPr>
        <c:txPr>
          <a:bodyPr xmlns:a="http://schemas.openxmlformats.org/drawingml/2006/main" anchorCtr="1"/>
          <a:lstStyle xmlns:a="http://schemas.openxmlformats.org/drawingml/2006/main"/>
          <a:p xmlns:a="http://schemas.openxmlformats.org/drawingml/2006/main">
            <a:pPr>
              <a:defRPr sz="1200">
                <a:solidFill>
                  <a:srgbClr val="666666"/>
                </a:solidFill>
              </a:defRPr>
            </a:pPr>
          </a:p>
        </c:txPr>
        <c:crossAx val="48672768"/>
      </c:valAx>
    </c:plotArea>
    <c:legend>
      <c:legendPos val="b"/>
      <c:overlay val="0"/>
      <c:txPr>
        <a:bodyPr xmlns:a="http://schemas.openxmlformats.org/drawingml/2006/main" anchorCtr="1"/>
        <a:lstStyle xmlns:a="http://schemas.openxmlformats.org/drawingml/2006/main"/>
        <a:p xmlns:a="http://schemas.openxmlformats.org/drawingml/2006/main">
          <a:pPr>
            <a:defRPr sz="1350"/>
          </a:pPr>
        </a:p>
      </c:txPr>
    </c:legend>
    <c:plotVisOnly val="1"/>
  </c:chart>
  <c:spPr>
    <a:solidFill xmlns:a="http://schemas.openxmlformats.org/drawingml/2006/main">
      <a:srgbClr val="FFFFFF"/>
    </a:solidFill>
  </c:spPr>
  <c:externalData r:id="rIdChartSnapshot1">
    <c:autoUpdate val="0"/>
  </c:externalData>
</c:chartSpace>
</file>

<file path=ppt/slides/charts/chart7.xml><?xml version="1.0" encoding="utf-8"?>
<c:chartSpace xmlns:c="http://schemas.openxmlformats.org/drawingml/2006/chart" xmlns:r="http://schemas.openxmlformats.org/officeDocument/2006/relationships">
  <c:lang val="en-US"/>
  <c:chart>
    <c:plotArea>
      <c:lineChart>
        <c:grouping val="standard"/>
        <c:varyColors val="0"/>
        <c:ser>
          <c:idx val="0"/>
          <c:order val="0"/>
          <c:tx>
            <c:v>Class 1 rate</c:v>
          </c:tx>
          <c:spPr>
            <a:ln xmlns:a="http://schemas.openxmlformats.org/drawingml/2006/main" w="28575">
              <a:solidFill>
                <a:srgbClr val="0B49CB"/>
              </a:solidFill>
            </a:ln>
          </c:spPr>
          <c:marker>
            <c:symbol val="circle"/>
            <c:size val="7"/>
            <c:spPr>
              <a:solidFill xmlns:a="http://schemas.openxmlformats.org/drawingml/2006/main">
                <a:srgbClr val="0B49CB"/>
              </a:solidFill>
            </c:spPr>
          </c:marker>
          <c:cat>
            <c:strRef>
              <c:f>'Chart Data'!$A$2:$A$11</c:f>
              <c:strCache>
                <c:ptCount val="10"/>
                <c:pt idx="0">
                  <c:v>2010 (n=1)</c:v>
                </c:pt>
                <c:pt idx="1">
                  <c:v>2012 (n=1)</c:v>
                </c:pt>
                <c:pt idx="2">
                  <c:v>2013 (n=3)</c:v>
                </c:pt>
                <c:pt idx="3">
                  <c:v>2014 (n=6)</c:v>
                </c:pt>
                <c:pt idx="4">
                  <c:v>2015 (n=6)</c:v>
                </c:pt>
                <c:pt idx="5">
                  <c:v>2016 (n=8)</c:v>
                </c:pt>
                <c:pt idx="6">
                  <c:v>2017 (n=18)</c:v>
                </c:pt>
                <c:pt idx="7">
                  <c:v>2018 (n=18)</c:v>
                </c:pt>
                <c:pt idx="8">
                  <c:v>2019 (n=10)</c:v>
                </c:pt>
                <c:pt idx="9">
                  <c:v>2020 (n=19)</c:v>
                </c:pt>
              </c:strCache>
            </c:strRef>
          </c:cat>
          <c:val>
            <c:numRef>
              <c:f>'Chart Data'!$B$2:$B$11</c:f>
              <c:numCache>
                <c:formatCode>0%</c:formatCode>
                <c:ptCount val="10"/>
                <c:pt idx="0">
                  <c:v>0</c:v>
                </c:pt>
                <c:pt idx="1">
                  <c:v>0</c:v>
                </c:pt>
                <c:pt idx="2">
                  <c:v>0</c:v>
                </c:pt>
                <c:pt idx="3">
                  <c:v>0.33333333333333</c:v>
                </c:pt>
                <c:pt idx="4">
                  <c:v>0.33333333333333</c:v>
                </c:pt>
                <c:pt idx="5">
                  <c:v>0.625</c:v>
                </c:pt>
                <c:pt idx="6">
                  <c:v>0.83333333333333</c:v>
                </c:pt>
                <c:pt idx="7">
                  <c:v>0.61111111111111</c:v>
                </c:pt>
                <c:pt idx="8">
                  <c:v>0.9</c:v>
                </c:pt>
                <c:pt idx="9">
                  <c:v>0.84210526315789</c:v>
                </c:pt>
              </c:numCache>
            </c:numRef>
          </c:val>
        </c:ser>
        <c:dLbls>
          <c:numFmt formatCode="0%" sourceLinked="0"/>
          <c:showLegendKey val="0"/>
          <c:showVal val="1"/>
          <c:showCatName val="0"/>
          <c:showSerName val="0"/>
          <c:showPercent val="0"/>
          <c:showBubbleSize val="0"/>
          <c:showLeaderLines val="0"/>
        </c:dLbls>
        <c:axId val="48650112"/>
        <c:axId val="48672768"/>
      </c:lineChart>
      <c:catAx>
        <c:axId val="48650112"/>
        <c:scaling>
          <c:orientation val="minMax"/>
        </c:scaling>
        <c:delete val="0"/>
        <c:axPos val="b"/>
        <c:numFmt formatCode="General"/>
        <c:majorTickMark val="none"/>
        <c:minorTickMark val="none"/>
        <c:spPr>
          <a:ln xmlns:a="http://schemas.openxmlformats.org/drawingml/2006/main" w="9525">
            <a:solidFill>
              <a:srgbClr val="D4D4D4"/>
            </a:solidFill>
            <a:prstDash val="solid"/>
          </a:ln>
        </c:spPr>
        <c:txPr>
          <a:bodyPr xmlns:a="http://schemas.openxmlformats.org/drawingml/2006/main" anchorCtr="1"/>
          <a:lstStyle xmlns:a="http://schemas.openxmlformats.org/drawingml/2006/main"/>
          <a:p xmlns:a="http://schemas.openxmlformats.org/drawingml/2006/main">
            <a:pPr>
              <a:defRPr sz="1275">
                <a:solidFill>
                  <a:srgbClr val="666666"/>
                </a:solidFill>
              </a:defRPr>
            </a:pPr>
          </a:p>
        </c:txPr>
        <c:crossAx val="48672768"/>
      </c:catAx>
      <c:valAx>
        <c:axId val="48672768"/>
        <c:scaling>
          <c:orientation val="minMax"/>
          <c:max val="1"/>
          <c:min val="0"/>
        </c:scaling>
        <c:delete val="0"/>
        <c:axPos val="l"/>
        <c:numFmt formatCode="0%"/>
        <c:majorTickMark val="none"/>
        <c:minorTickMark val="none"/>
        <c:spPr>
          <a:ln xmlns:a="http://schemas.openxmlformats.org/drawingml/2006/main" w="9525">
            <a:solidFill>
              <a:srgbClr val="D4D4D4"/>
            </a:solidFill>
            <a:prstDash val="solid"/>
          </a:ln>
        </c:spPr>
        <c:txPr>
          <a:bodyPr xmlns:a="http://schemas.openxmlformats.org/drawingml/2006/main" anchorCtr="1"/>
          <a:lstStyle xmlns:a="http://schemas.openxmlformats.org/drawingml/2006/main"/>
          <a:p xmlns:a="http://schemas.openxmlformats.org/drawingml/2006/main">
            <a:pPr>
              <a:defRPr sz="1275">
                <a:solidFill>
                  <a:srgbClr val="666666"/>
                </a:solidFill>
              </a:defRPr>
            </a:pPr>
          </a:p>
        </c:txPr>
        <c:crossAx val="48650112"/>
        <c:crossBetween val="between"/>
      </c:valAx>
    </c:plotArea>
    <c:plotVisOnly val="1"/>
  </c:chart>
  <c:spPr>
    <a:solidFill xmlns:a="http://schemas.openxmlformats.org/drawingml/2006/main">
      <a:srgbClr val="FFFFFF"/>
    </a:solidFill>
  </c:spPr>
  <c:externalData r:id="rIdChartSnapshot1">
    <c:autoUpdate val="0"/>
  </c:externalData>
</c:chartSpace>
</file>

<file path=ppt/slides/slide1.xml><?xml version="1.0" encoding="utf-8"?>
<p:sld xmlns:p="http://schemas.openxmlformats.org/presentationml/2006/main">
  <p:cSld>
    <p:bg>
      <p:bgPr>
        <a:blipFill xmlns:a="http://schemas.openxmlformats.org/drawingml/2006/main" rotWithShape="1">
          <a:blip xmlns:r="http://schemas.openxmlformats.org/officeDocument/2006/relationships" r:embed="R54c9a03f24a84b22"/>
          <a:srcRect l="0" t="0" r="0" b="0"/>
          <a:stretch>
            <a:fillRect l="0" t="0" r="0" b="0"/>
          </a:stretch>
        </a:blip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6" name="TextBox 5">
            <a:extLst xmlns:a="http://schemas.openxmlformats.org/drawingml/2006/main">
              <a:ext uri="{FF2B5EF4-FFF2-40B4-BE49-F238E27FC236}">
                <a16:creationId xmlns:a16="http://schemas.microsoft.com/office/drawing/2014/main" id="{2C36AF9D-A911-994B-90EA-013D4CDA560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88587" y="4568762"/>
            <a:ext cx="3810000" cy="64008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91440" tIns="45720" rIns="91440" bIns="45720" anchor="t">
            <a:spAutoFit/>
          </a:bodyPr>
          <a:lstStyle xmlns:a="http://schemas.openxmlformats.org/drawingml/2006/main"/>
          <a:p xmlns:a="http://schemas.openxmlformats.org/drawingml/2006/main">
            <a:r>
              <a:rPr>
                <a:solidFill>
                  <a:schemeClr val="bg2"/>
                </a:solidFill>
                <a:latin typeface="Abadi"/>
                <a:ea typeface="Abadi"/>
                <a:cs typeface="Abadi"/>
              </a:rPr>
              <a:t>Nicholas Yap</a:t>
            </a:r>
          </a:p>
          <a:p xmlns:a="http://schemas.openxmlformats.org/drawingml/2006/main">
            <a:r>
              <a:rPr>
                <a:solidFill>
                  <a:schemeClr val="bg2"/>
                </a:solidFill>
                <a:latin typeface="Abadi"/>
                <a:ea typeface="Abadi"/>
                <a:cs typeface="Abadi"/>
              </a:rPr>
              <a:t>12 October 2026</a:t>
            </a:r>
          </a:p>
        </p:txBody>
      </p:sp>
      <p:pic>
        <p:nvPicPr>
          <p:cNvPr id="2" name="Picture 2">
            <a:extLst xmlns:a="http://schemas.openxmlformats.org/drawingml/2006/main">
              <a:ext uri="{FF2B5EF4-FFF2-40B4-BE49-F238E27FC236}">
                <a16:creationId xmlns:a16="http://schemas.microsoft.com/office/drawing/2014/main" id="{45692C1E-8E72-4709-845B-DB412A268184}"/>
              </a:ext>
            </a:extLst>
          </p:cNvPr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2bf8332b20d54e52"/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>
            <a:off x="889820" y="676828"/>
            <a:ext cx="2104103" cy="629183"/>
          </a:xfrm>
          <a:prstGeom xmlns:a="http://schemas.openxmlformats.org/drawingml/2006/main" prst="rect">
            <a:avLst/>
          </a:prstGeom>
        </p:spPr>
      </p:pic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253EC9B3-CE27-47EB-B665-123D40248B1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85825" y="5572125"/>
            <a:ext cx="1000125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/>
          <a:lstStyle xmlns:a="http://schemas.openxmlformats.org/drawingml/2006/main">
            <a:defPPr>
              <a:defRPr sz="1425">
                <a:solidFill>
                  <a:srgbClr val="FFFFFF"/>
                </a:solidFill>
              </a:defRPr>
            </a:defPPr>
          </a:lstStyle>
          <a:p xmlns:a="http://schemas.openxmlformats.org/drawingml/2006/main">
            <a:pPr>
              <a:defRPr sz="1425">
                <a:solidFill>
                  <a:srgbClr val="FFFFFF"/>
                </a:solidFill>
              </a:defRPr>
            </a:pPr>
            <a:r>
              <a:rPr sz="1425">
                <a:solidFill>
                  <a:srgbClr val="FFFFFF"/>
                </a:solidFill>
              </a:rPr>
              <a:t>https://github.com/nicholas-yap/spacex-data-science-capstone</a:t>
            </a:r>
          </a:p>
        </p:txBody>
      </p:sp>
    </p:spTree>
    <p:extLst>
      <p:ext uri="{BB962C8B-B14F-4D97-AF65-F5344CB8AC3E}">
        <p14:creationId xmlns:p14="http://schemas.microsoft.com/office/powerpoint/2010/main" val="1277611629"/>
      </p:ext>
    </p:extLst>
  </p:cSld>
</p:sld>
</file>

<file path=ppt/slides/slide2.xml><?xml version="1.0" encoding="utf-8"?>
<p:sld xmlns:p="http://schemas.openxmlformats.org/presentationml/2006/main">
  <p:cSld>
    <p:bg>
      <p:bgPr>
        <a:solidFill xmlns:a="http://schemas.openxmlformats.org/drawingml/2006/main">
          <a:srgbClr val="F1F3F7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BC880CB4-E1D1-4D20-AC78-14088703213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70001" y="538639"/>
            <a:ext cx="10572750" cy="952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/>
          <a:lstStyle xmlns:a="http://schemas.openxmlformats.org/drawingml/2006/main">
            <a:defPPr>
              <a:defRPr sz="3720">
                <a:solidFill>
                  <a:srgbClr val="0B49CB"/>
                </a:solidFill>
              </a:defRPr>
            </a:defPPr>
          </a:lstStyle>
          <a:p xmlns:a="http://schemas.openxmlformats.org/drawingml/2006/main">
            <a:pPr>
              <a:defRPr sz="3720">
                <a:solidFill>
                  <a:srgbClr val="0B49CB"/>
                </a:solidFill>
              </a:defRPr>
            </a:pPr>
            <a:r>
              <a:rPr sz="3720">
                <a:solidFill>
                  <a:srgbClr val="0B49CB"/>
                </a:solidFill>
              </a:rPr>
              <a:t>Rubric Evidence Index</a:t>
            </a:r>
          </a:p>
        </p:txBody>
      </p:sp>
      <p:graphicFrame>
        <p:nvGraphicFrame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63A40400-D181-44B8-8601-A06B2858E669}"/>
              </a:ext>
            </a:extLst>
          </p:cNvPr>
          <p:cNvGraphicFramePr/>
          <p:nvPr/>
        </p:nvGraphicFramePr>
        <p:xfrm>
          <a:off xmlns:a="http://schemas.openxmlformats.org/drawingml/2006/main" x="857250" y="1457325"/>
          <a:ext xmlns:a="http://schemas.openxmlformats.org/drawingml/2006/main" cx="10477500" cy="4953000"/>
        </p:xfrm>
        <a:graphic xmlns:a="http://schemas.openxmlformats.org/drawingml/2006/main">
          <a:graphicData uri="http://schemas.openxmlformats.org/drawingml/2006/table">
            <a:tbl>
              <a:tblPr/>
              <a:tblGrid>
                <a:gridCol w="4524375"/>
                <a:gridCol w="5953125"/>
              </a:tblGrid>
              <a:tr h="309563">
                <a:tc>
                  <a:txBody>
                    <a:bodyPr/>
                    <a:lstStyle/>
                    <a:p>
                      <a:r>
                        <a:rPr sz="1350" b="1">
                          <a:solidFill>
                            <a:srgbClr val="FFFFFF"/>
                          </a:solidFill>
                        </a:rPr>
                        <a:t>Criterion</a:t>
                      </a:r>
                    </a:p>
                  </a:txBody>
                  <a:tcPr marL="76200" marR="76200" marT="19050" marB="19050">
                    <a:solidFill>
                      <a:srgbClr val="0B49CB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350" b="1">
                          <a:solidFill>
                            <a:srgbClr val="FFFFFF"/>
                          </a:solidFill>
                        </a:rPr>
                        <a:t>Evidence in this report</a:t>
                      </a:r>
                    </a:p>
                  </a:txBody>
                  <a:tcPr marL="76200" marR="76200" marT="19050" marB="19050">
                    <a:solidFill>
                      <a:srgbClr val="0B49CB"/>
                    </a:solidFill>
                  </a:tcPr>
                </a:tc>
              </a:tr>
              <a:tr h="309563">
                <a:tc>
                  <a:txBody>
                    <a:bodyPr/>
                    <a:lstStyle/>
                    <a:p>
                      <a:r>
                        <a:rPr sz="1350" b="0">
                          <a:solidFill>
                            <a:srgbClr val="292929"/>
                          </a:solidFill>
                        </a:rPr>
                        <a:t>Q1  Repository and completed files</a:t>
                      </a:r>
                    </a:p>
                  </a:txBody>
                  <a:tcPr marL="76200" marR="76200" marT="19050" marB="19050">
                    <a:solidFill>
                      <a:srgbClr val="F1F5FC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350" b="0">
                          <a:solidFill>
                            <a:srgbClr val="292929"/>
                          </a:solidFill>
                        </a:rPr>
                        <a:t>Public repository URL: pages 1, 40.</a:t>
                      </a:r>
                    </a:p>
                  </a:txBody>
                  <a:tcPr marL="76200" marR="76200" marT="19050" marB="19050">
                    <a:solidFill>
                      <a:srgbClr val="F1F5FC"/>
                    </a:solidFill>
                  </a:tcPr>
                </a:tc>
              </a:tr>
              <a:tr h="309563">
                <a:tc>
                  <a:txBody>
                    <a:bodyPr/>
                    <a:lstStyle/>
                    <a:p>
                      <a:r>
                        <a:rPr sz="1350" b="0">
                          <a:solidFill>
                            <a:srgbClr val="292929"/>
                          </a:solidFill>
                        </a:rPr>
                        <a:t>Q2  Final presentation in PDF format</a:t>
                      </a:r>
                    </a:p>
                  </a:txBody>
                  <a:tcPr marL="76200" marR="76200" marT="19050" marB="1905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350" b="0">
                          <a:solidFill>
                            <a:srgbClr val="292929"/>
                          </a:solidFill>
                        </a:rPr>
                        <a:t>Complete PDF: 40 pages.</a:t>
                      </a:r>
                    </a:p>
                  </a:txBody>
                  <a:tcPr marL="76200" marR="76200" marT="19050" marB="19050">
                    <a:solidFill>
                      <a:srgbClr val="FFFFFF"/>
                    </a:solidFill>
                  </a:tcPr>
                </a:tc>
              </a:tr>
              <a:tr h="309563">
                <a:tc>
                  <a:txBody>
                    <a:bodyPr/>
                    <a:lstStyle/>
                    <a:p>
                      <a:r>
                        <a:rPr sz="1350" b="0">
                          <a:solidFill>
                            <a:srgbClr val="292929"/>
                          </a:solidFill>
                        </a:rPr>
                        <a:t>Q3  Executive summary</a:t>
                      </a:r>
                    </a:p>
                  </a:txBody>
                  <a:tcPr marL="76200" marR="76200" marT="19050" marB="19050">
                    <a:solidFill>
                      <a:srgbClr val="F1F5FC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350" b="0">
                          <a:solidFill>
                            <a:srgbClr val="292929"/>
                          </a:solidFill>
                        </a:rPr>
                        <a:t>Page 3: methods, results and limitations.</a:t>
                      </a:r>
                    </a:p>
                  </a:txBody>
                  <a:tcPr marL="76200" marR="76200" marT="19050" marB="19050">
                    <a:solidFill>
                      <a:srgbClr val="F1F5FC"/>
                    </a:solidFill>
                  </a:tcPr>
                </a:tc>
              </a:tr>
              <a:tr h="309563">
                <a:tc>
                  <a:txBody>
                    <a:bodyPr/>
                    <a:lstStyle/>
                    <a:p>
                      <a:r>
                        <a:rPr sz="1350" b="0">
                          <a:solidFill>
                            <a:srgbClr val="292929"/>
                          </a:solidFill>
                        </a:rPr>
                        <a:t>Q4  Introduction</a:t>
                      </a:r>
                    </a:p>
                  </a:txBody>
                  <a:tcPr marL="76200" marR="76200" marT="19050" marB="1905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350" b="0">
                          <a:solidFill>
                            <a:srgbClr val="292929"/>
                          </a:solidFill>
                        </a:rPr>
                        <a:t>Page 9: business question and scope.</a:t>
                      </a:r>
                    </a:p>
                  </a:txBody>
                  <a:tcPr marL="76200" marR="76200" marT="19050" marB="19050">
                    <a:solidFill>
                      <a:srgbClr val="FFFFFF"/>
                    </a:solidFill>
                  </a:tcPr>
                </a:tc>
              </a:tr>
              <a:tr h="309563">
                <a:tc>
                  <a:txBody>
                    <a:bodyPr/>
                    <a:lstStyle/>
                    <a:p>
                      <a:r>
                        <a:rPr sz="1350" b="0">
                          <a:solidFill>
                            <a:srgbClr val="292929"/>
                          </a:solidFill>
                        </a:rPr>
                        <a:t>Q5  Collection and wrangling</a:t>
                      </a:r>
                    </a:p>
                  </a:txBody>
                  <a:tcPr marL="76200" marR="76200" marT="19050" marB="19050">
                    <a:solidFill>
                      <a:srgbClr val="F1F5FC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350" b="0">
                          <a:solidFill>
                            <a:srgbClr val="292929"/>
                          </a:solidFill>
                        </a:rPr>
                        <a:t>Pages 10-12: collection and wrangling.</a:t>
                      </a:r>
                    </a:p>
                  </a:txBody>
                  <a:tcPr marL="76200" marR="76200" marT="19050" marB="19050">
                    <a:solidFill>
                      <a:srgbClr val="F1F5FC"/>
                    </a:solidFill>
                  </a:tcPr>
                </a:tc>
              </a:tr>
              <a:tr h="309563">
                <a:tc>
                  <a:txBody>
                    <a:bodyPr/>
                    <a:lstStyle/>
                    <a:p>
                      <a:r>
                        <a:rPr sz="1350" b="0">
                          <a:solidFill>
                            <a:srgbClr val="292929"/>
                          </a:solidFill>
                        </a:rPr>
                        <a:t>Q6  EDA methodology</a:t>
                      </a:r>
                    </a:p>
                  </a:txBody>
                  <a:tcPr marL="76200" marR="76200" marT="19050" marB="1905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350" b="0">
                          <a:solidFill>
                            <a:srgbClr val="292929"/>
                          </a:solidFill>
                        </a:rPr>
                        <a:t>Pages 13-14: charts and SQL methods.</a:t>
                      </a:r>
                    </a:p>
                  </a:txBody>
                  <a:tcPr marL="76200" marR="76200" marT="19050" marB="19050">
                    <a:solidFill>
                      <a:srgbClr val="FFFFFF"/>
                    </a:solidFill>
                  </a:tcPr>
                </a:tc>
              </a:tr>
              <a:tr h="309563">
                <a:tc>
                  <a:txBody>
                    <a:bodyPr/>
                    <a:lstStyle/>
                    <a:p>
                      <a:r>
                        <a:rPr sz="1350" b="0">
                          <a:solidFill>
                            <a:srgbClr val="292929"/>
                          </a:solidFill>
                        </a:rPr>
                        <a:t>Q7  Classification methodology</a:t>
                      </a:r>
                    </a:p>
                  </a:txBody>
                  <a:tcPr marL="76200" marR="76200" marT="19050" marB="19050">
                    <a:solidFill>
                      <a:srgbClr val="F1F5FC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350" b="0">
                          <a:solidFill>
                            <a:srgbClr val="292929"/>
                          </a:solidFill>
                        </a:rPr>
                        <a:t>Page 17: split, scaling and tuning.</a:t>
                      </a:r>
                    </a:p>
                  </a:txBody>
                  <a:tcPr marL="76200" marR="76200" marT="19050" marB="19050">
                    <a:solidFill>
                      <a:srgbClr val="F1F5FC"/>
                    </a:solidFill>
                  </a:tcPr>
                </a:tc>
              </a:tr>
              <a:tr h="309563">
                <a:tc>
                  <a:txBody>
                    <a:bodyPr/>
                    <a:lstStyle/>
                    <a:p>
                      <a:r>
                        <a:rPr sz="1350" b="0">
                          <a:solidFill>
                            <a:srgbClr val="292929"/>
                          </a:solidFill>
                        </a:rPr>
                        <a:t>Q8  EDA visualizations</a:t>
                      </a:r>
                    </a:p>
                  </a:txBody>
                  <a:tcPr marL="76200" marR="76200" marT="19050" marB="1905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350" b="0">
                          <a:solidFill>
                            <a:srgbClr val="292929"/>
                          </a:solidFill>
                        </a:rPr>
                        <a:t>Pages 18-23: six charts with analysis.</a:t>
                      </a:r>
                    </a:p>
                  </a:txBody>
                  <a:tcPr marL="76200" marR="76200" marT="19050" marB="19050">
                    <a:solidFill>
                      <a:srgbClr val="FFFFFF"/>
                    </a:solidFill>
                  </a:tcPr>
                </a:tc>
              </a:tr>
              <a:tr h="309563">
                <a:tc>
                  <a:txBody>
                    <a:bodyPr/>
                    <a:lstStyle/>
                    <a:p>
                      <a:r>
                        <a:rPr sz="1350" b="0">
                          <a:solidFill>
                            <a:srgbClr val="292929"/>
                          </a:solidFill>
                        </a:rPr>
                        <a:t>Q9  SQL results and queries</a:t>
                      </a:r>
                    </a:p>
                  </a:txBody>
                  <a:tcPr marL="76200" marR="76200" marT="19050" marB="19050">
                    <a:solidFill>
                      <a:srgbClr val="F1F5FC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350" b="0">
                          <a:solidFill>
                            <a:srgbClr val="292929"/>
                          </a:solidFill>
                        </a:rPr>
                        <a:t>Pages 14, 24-33: ten SQL results.</a:t>
                      </a:r>
                    </a:p>
                  </a:txBody>
                  <a:tcPr marL="76200" marR="76200" marT="19050" marB="19050">
                    <a:solidFill>
                      <a:srgbClr val="F1F5FC"/>
                    </a:solidFill>
                  </a:tcPr>
                </a:tc>
              </a:tr>
              <a:tr h="309563">
                <a:tc>
                  <a:txBody>
                    <a:bodyPr/>
                    <a:lstStyle/>
                    <a:p>
                      <a:r>
                        <a:rPr sz="1350" b="0">
                          <a:solidFill>
                            <a:srgbClr val="292929"/>
                          </a:solidFill>
                        </a:rPr>
                        <a:t>Q10  Folium maps</a:t>
                      </a:r>
                    </a:p>
                  </a:txBody>
                  <a:tcPr marL="76200" marR="76200" marT="19050" marB="1905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350" b="0">
                          <a:solidFill>
                            <a:srgbClr val="292929"/>
                          </a:solidFill>
                        </a:rPr>
                        <a:t>Pages 15, 34-36: three map views.</a:t>
                      </a:r>
                    </a:p>
                  </a:txBody>
                  <a:tcPr marL="76200" marR="76200" marT="19050" marB="19050">
                    <a:solidFill>
                      <a:srgbClr val="FFFFFF"/>
                    </a:solidFill>
                  </a:tcPr>
                </a:tc>
              </a:tr>
              <a:tr h="309563">
                <a:tc>
                  <a:txBody>
                    <a:bodyPr/>
                    <a:lstStyle/>
                    <a:p>
                      <a:r>
                        <a:rPr sz="1350" b="0">
                          <a:solidFill>
                            <a:srgbClr val="292929"/>
                          </a:solidFill>
                        </a:rPr>
                        <a:t>Q11  Plotly Dash</a:t>
                      </a:r>
                    </a:p>
                  </a:txBody>
                  <a:tcPr marL="76200" marR="76200" marT="19050" marB="19050">
                    <a:solidFill>
                      <a:srgbClr val="F1F5FC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350" b="0">
                          <a:solidFill>
                            <a:srgbClr val="292929"/>
                          </a:solidFill>
                        </a:rPr>
                        <a:t>Pages 16, 37-39: dashboard interactions.</a:t>
                      </a:r>
                    </a:p>
                  </a:txBody>
                  <a:tcPr marL="76200" marR="76200" marT="19050" marB="19050">
                    <a:solidFill>
                      <a:srgbClr val="F1F5FC"/>
                    </a:solidFill>
                  </a:tcPr>
                </a:tc>
              </a:tr>
              <a:tr h="309563">
                <a:tc>
                  <a:txBody>
                    <a:bodyPr/>
                    <a:lstStyle/>
                    <a:p>
                      <a:r>
                        <a:rPr sz="1350" b="0">
                          <a:solidFill>
                            <a:srgbClr val="292929"/>
                          </a:solidFill>
                        </a:rPr>
                        <a:t>Q12  Predictive results</a:t>
                      </a:r>
                    </a:p>
                  </a:txBody>
                  <a:tcPr marL="76200" marR="76200" marT="19050" marB="1905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350" b="0">
                          <a:solidFill>
                            <a:srgbClr val="292929"/>
                          </a:solidFill>
                        </a:rPr>
                        <a:t>Pages 4-6: accuracy, matrix and selection.</a:t>
                      </a:r>
                    </a:p>
                  </a:txBody>
                  <a:tcPr marL="76200" marR="76200" marT="19050" marB="19050">
                    <a:solidFill>
                      <a:srgbClr val="FFFFFF"/>
                    </a:solidFill>
                  </a:tcPr>
                </a:tc>
              </a:tr>
              <a:tr h="309563">
                <a:tc>
                  <a:txBody>
                    <a:bodyPr/>
                    <a:lstStyle/>
                    <a:p>
                      <a:r>
                        <a:rPr sz="1350" b="0">
                          <a:solidFill>
                            <a:srgbClr val="292929"/>
                          </a:solidFill>
                        </a:rPr>
                        <a:t>Q13  Conclusion</a:t>
                      </a:r>
                    </a:p>
                  </a:txBody>
                  <a:tcPr marL="76200" marR="76200" marT="19050" marB="19050">
                    <a:solidFill>
                      <a:srgbClr val="F1F5FC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350" b="0">
                          <a:solidFill>
                            <a:srgbClr val="292929"/>
                          </a:solidFill>
                        </a:rPr>
                        <a:t>Page 7: findings, limits and next steps.</a:t>
                      </a:r>
                    </a:p>
                  </a:txBody>
                  <a:tcPr marL="76200" marR="76200" marT="19050" marB="19050">
                    <a:solidFill>
                      <a:srgbClr val="F1F5FC"/>
                    </a:solidFill>
                  </a:tcPr>
                </a:tc>
              </a:tr>
              <a:tr h="309563">
                <a:tc>
                  <a:txBody>
                    <a:bodyPr/>
                    <a:lstStyle/>
                    <a:p>
                      <a:r>
                        <a:rPr sz="1350" b="0">
                          <a:solidFill>
                            <a:srgbClr val="292929"/>
                          </a:solidFill>
                        </a:rPr>
                        <a:t>Q14  Creativity</a:t>
                      </a:r>
                    </a:p>
                  </a:txBody>
                  <a:tcPr marL="76200" marR="76200" marT="19050" marB="1905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350" b="0">
                          <a:solidFill>
                            <a:srgbClr val="292929"/>
                          </a:solidFill>
                        </a:rPr>
                        <a:t>Custom flows/charts: 10-12, 18-23. Maps: 34-39.</a:t>
                      </a:r>
                    </a:p>
                  </a:txBody>
                  <a:tcPr marL="76200" marR="76200" marT="19050" marB="19050">
                    <a:solidFill>
                      <a:srgbClr val="FFFFFF"/>
                    </a:solidFill>
                  </a:tcPr>
                </a:tc>
              </a:tr>
              <a:tr h="309563">
                <a:tc>
                  <a:txBody>
                    <a:bodyPr/>
                    <a:lstStyle/>
                    <a:p>
                      <a:r>
                        <a:rPr sz="1350" b="0">
                          <a:solidFill>
                            <a:srgbClr val="292929"/>
                          </a:solidFill>
                        </a:rPr>
                        <a:t>Q15  Additional insights</a:t>
                      </a:r>
                    </a:p>
                  </a:txBody>
                  <a:tcPr marL="76200" marR="76200" marT="19050" marB="19050">
                    <a:solidFill>
                      <a:srgbClr val="F1F5FC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350" b="0">
                          <a:solidFill>
                            <a:srgbClr val="292929"/>
                          </a:solidFill>
                        </a:rPr>
                        <a:t>Page 8: three insights with numerical evidence.</a:t>
                      </a:r>
                    </a:p>
                  </a:txBody>
                  <a:tcPr marL="76200" marR="76200" marT="19050" marB="19050">
                    <a:solidFill>
                      <a:srgbClr val="F1F5FC"/>
                    </a:solidFill>
                  </a:tcPr>
                </a:tc>
              </a:tr>
            </a:tbl>
          </a:graphicData>
        </a:graphic>
      </p:graphicFrame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E19981A2-02EF-4103-92EE-6836BCC503C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925175" y="6477000"/>
            <a:ext cx="428625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/>
          <a:lstStyle xmlns:a="http://schemas.openxmlformats.org/drawingml/2006/main">
            <a:defPPr>
              <a:defRPr sz="1600">
                <a:solidFill>
                  <a:srgbClr val="1C7DDB"/>
                </a:solidFill>
              </a:defRPr>
            </a:defPPr>
          </a:lstStyle>
          <a:p xmlns:a="http://schemas.openxmlformats.org/drawingml/2006/main">
            <a:pPr>
              <a:defRPr sz="1600">
                <a:solidFill>
                  <a:srgbClr val="1C7DDB"/>
                </a:solidFill>
              </a:defRPr>
            </a:pPr>
            <a:r>
              <a:rPr sz="1600">
                <a:solidFill>
                  <a:srgbClr val="1C7DDB"/>
                </a:solidFill>
              </a:rPr>
              <a:t>2</a:t>
            </a:r>
          </a:p>
        </p:txBody>
      </p:sp>
    </p:spTree>
    <p:extLst>
      <p:ext uri="{BB962C8B-B14F-4D97-AF65-F5344CB8AC3E}">
        <p14:creationId xmlns:p14="http://schemas.microsoft.com/office/powerpoint/2010/main" val="724038033"/>
      </p:ext>
    </p:extLst>
  </p:cSld>
</p:sld>
</file>

<file path=ppt/slides/slide3.xml><?xml version="1.0" encoding="utf-8"?>
<p:sld xmlns:p="http://schemas.openxmlformats.org/presentationml/2006/main">
  <p:cSld>
    <p:bg>
      <p:bgPr>
        <a:solidFill xmlns:a="http://schemas.openxmlformats.org/drawingml/2006/main">
          <a:srgbClr val="F1F3F7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8307DABA-29E3-4A25-B151-D8ED8082BB9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70001" y="538639"/>
            <a:ext cx="10572750" cy="952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/>
          <a:lstStyle xmlns:a="http://schemas.openxmlformats.org/drawingml/2006/main">
            <a:defPPr>
              <a:defRPr sz="3720">
                <a:solidFill>
                  <a:srgbClr val="0B49CB"/>
                </a:solidFill>
              </a:defRPr>
            </a:defPPr>
          </a:lstStyle>
          <a:p xmlns:a="http://schemas.openxmlformats.org/drawingml/2006/main">
            <a:pPr>
              <a:defRPr sz="3720">
                <a:solidFill>
                  <a:srgbClr val="0B49CB"/>
                </a:solidFill>
              </a:defRPr>
            </a:pPr>
            <a:r>
              <a:rPr sz="3720">
                <a:solidFill>
                  <a:srgbClr val="0B49CB"/>
                </a:solidFill>
              </a:rPr>
              <a:t>Executive Summary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873184CE-D72A-4E24-B043-3FB16EE0D04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7250" y="1695450"/>
            <a:ext cx="10477500" cy="400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/>
          <a:lstStyle xmlns:a="http://schemas.openxmlformats.org/drawingml/2006/main">
            <a:defPPr>
              <a:defRPr sz="2200">
                <a:solidFill>
                  <a:srgbClr val="292929"/>
                </a:solidFill>
              </a:defRPr>
            </a:defPPr>
          </a:lstStyle>
          <a:p xmlns:a="http://schemas.openxmlformats.org/drawingml/2006/main">
            <a:pPr>
              <a:defRPr sz="2200">
                <a:solidFill>
                  <a:srgbClr val="292929"/>
                </a:solidFill>
              </a:defRPr>
            </a:pPr>
            <a:r>
              <a:rPr sz="2200">
                <a:solidFill>
                  <a:srgbClr val="292929"/>
                </a:solidFill>
              </a:rPr>
              <a:t>Methods: archived API data and web scraping, data cleaning, SQL and visual EDA, Folium maps, a Dash dashboard and four tuned classifiers.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pPr>
              <a:defRPr sz="2200">
                <a:solidFill>
                  <a:srgbClr val="292929"/>
                </a:solidFill>
              </a:defRPr>
            </a:pPr>
            <a:r>
              <a:rPr sz="2200">
                <a:solidFill>
                  <a:srgbClr val="292929"/>
                </a:solidFill>
              </a:rPr>
              <a:t>Results: 60 of 90 launches have Class 1 outcomes (66.7%). KSC LC 39A has the highest observed site rate at 17/22 (77.3%).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pPr>
              <a:defRPr sz="2200">
                <a:solidFill>
                  <a:srgbClr val="292929"/>
                </a:solidFill>
              </a:defRPr>
            </a:pPr>
            <a:r>
              <a:rPr sz="2200">
                <a:solidFill>
                  <a:srgbClr val="292929"/>
                </a:solidFill>
              </a:rPr>
              <a:t>Prediction: all four classifiers score 83.33% on 18 test launches. Decision tree leads cross-validation at 87.68%.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pPr>
              <a:defRPr sz="2200">
                <a:solidFill>
                  <a:srgbClr val="292929"/>
                </a:solidFill>
              </a:defRPr>
            </a:pPr>
            <a:r>
              <a:rPr sz="2200">
                <a:solidFill>
                  <a:srgbClr val="292929"/>
                </a:solidFill>
              </a:rPr>
              <a:t>Interpretation: outcome definition, mission mix, small samples and preprocessing leakage limit business use of these predictions.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12D15193-DE04-41C7-90AC-CA54392F57C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925175" y="6025610"/>
            <a:ext cx="428625" cy="401669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/>
          <a:lstStyle xmlns:a="http://schemas.openxmlformats.org/drawingml/2006/main">
            <a:defPPr>
              <a:defRPr sz="1600">
                <a:solidFill>
                  <a:srgbClr val="1C7DDB"/>
                </a:solidFill>
              </a:defRPr>
            </a:defPPr>
          </a:lstStyle>
          <a:p xmlns:a="http://schemas.openxmlformats.org/drawingml/2006/main">
            <a:pPr>
              <a:defRPr sz="1600">
                <a:solidFill>
                  <a:srgbClr val="1C7DDB"/>
                </a:solidFill>
              </a:defRPr>
            </a:pPr>
            <a:r>
              <a:rPr sz="1600">
                <a:solidFill>
                  <a:srgbClr val="1C7DDB"/>
                </a:solidFill>
              </a:rPr>
              <a:t>3</a:t>
            </a:r>
          </a:p>
        </p:txBody>
      </p:sp>
    </p:spTree>
    <p:extLst>
      <p:ext uri="{BB962C8B-B14F-4D97-AF65-F5344CB8AC3E}">
        <p14:creationId xmlns:p14="http://schemas.microsoft.com/office/powerpoint/2010/main" val="1980221439"/>
      </p:ext>
    </p:extLst>
  </p:cSld>
</p:sld>
</file>

<file path=ppt/slides/slide4.xml><?xml version="1.0" encoding="utf-8"?>
<p:sld xmlns:p="http://schemas.openxmlformats.org/presentationml/2006/main">
  <p:cSld>
    <p:bg>
      <p:bgPr>
        <a:blipFill xmlns:a="http://schemas.openxmlformats.org/drawingml/2006/main">
          <a:blip xmlns:r="http://schemas.openxmlformats.org/officeDocument/2006/relationships" r:embed="R2982f16df50f4b9a"/>
          <a:stretch>
            <a:fillRect l="0" t="0" r="0" b="0"/>
          </a:stretch>
        </a:blip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4" name="Slide Number Placeholder 3">
            <a:extLst xmlns:a="http://schemas.openxmlformats.org/drawingml/2006/main">
              <a:ext uri="{FF2B5EF4-FFF2-40B4-BE49-F238E27FC236}">
                <a16:creationId xmlns:a16="http://schemas.microsoft.com/office/drawing/2014/main" id="{336C985E-BCEF-DD49-BB47-C4649A79F0D8}"/>
              </a:ext>
            </a:extLst>
          </p:cNvPr>
          <p:cNvSpPr>
            <a:spLocks xmlns:a="http://schemas.openxmlformats.org/drawingml/2006/main" noGrp="1"/>
          </p:cNvSpPr>
          <p:nvPr>
            <p:ph type="sldNum" idx="12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fld id="{EFD6AB9A-5F9E-5F59-51AB-3C8734130965}" type="slidenum">
              <a:t>4</a:t>
            </a:fld>
            <a:endParaRPr/>
          </a:p>
        </p:txBody>
      </p:sp>
      <p:sp>
        <p:nvSpPr>
          <p:cNvPr id="9" name="Title 1">
            <a:extLst xmlns:a="http://schemas.openxmlformats.org/drawingml/2006/main">
              <a:ext uri="{FF2B5EF4-FFF2-40B4-BE49-F238E27FC236}">
                <a16:creationId xmlns:a16="http://schemas.microsoft.com/office/drawing/2014/main" id="{B68D8986-45AC-4FB5-96E8-C45F9603EB5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70001" y="538639"/>
            <a:ext cx="10572750" cy="9525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vert="horz" lIns="91440" tIns="45720" rIns="91440" bIns="45720" anchor="ctr">
            <a:normAutofit fontScale="100000" lnSpcReduction="20000"/>
          </a:bodyPr>
          <a:lstStyle xmlns:a="http://schemas.openxmlformats.org/drawingml/2006/main">
            <a:defPPr>
              <a:defRPr sz="3720">
                <a:solidFill>
                  <a:srgbClr val="0B49CB"/>
                </a:solidFill>
              </a:defRPr>
            </a:defPPr>
            <a:lvl1pPr algn="l" defTabSz="914400">
              <a:lnSpc>
                <a:spcPct val="90000"/>
              </a:lnSpc>
              <a:spcBef>
                <a:spcPct val="0"/>
              </a:spcBef>
              <a:buNone/>
              <a:defRPr sz="4000" kern="1200">
                <a:solidFill>
                  <a:srgbClr val="005493"/>
                </a:solidFill>
                <a:latin typeface="IBM Plex Mono SemiBold"/>
                <a:ea typeface="IBM Plex Mono SemiBold"/>
                <a:cs typeface="IBM Plex Mono SemiBold"/>
              </a:defRPr>
            </a:lvl1pPr>
          </a:lstStyle>
          <a:p xmlns:a="http://schemas.openxmlformats.org/drawingml/2006/main">
            <a:pPr>
              <a:defRPr sz="3720">
                <a:solidFill>
                  <a:srgbClr val="0B49CB"/>
                </a:solidFill>
              </a:defRPr>
            </a:pPr>
            <a:r>
              <a:rPr sz="3720">
                <a:solidFill>
                  <a:srgbClr val="0B49CB"/>
                </a:solidFill>
                <a:latin typeface="Abadi"/>
                <a:ea typeface="Abadi"/>
                <a:cs typeface="Abadi"/>
              </a:rPr>
              <a:t>Classification Accuracy</a:t>
            </a:r>
            <a:endParaRPr>
              <a:solidFill>
                <a:srgbClr val="0B49CB"/>
              </a:solidFill>
            </a:endParaRPr>
          </a:p>
        </p:txBody>
      </p:sp>
      <p:graphicFrame>
        <p:nvGraphicFramePr>
          <p:cNvPr id="10" name="Chart">
            <a:extLst xmlns:a="http://schemas.openxmlformats.org/drawingml/2006/main">
              <a:ext uri="{FF2B5EF4-FFF2-40B4-BE49-F238E27FC236}">
                <a16:creationId xmlns:a16="http://schemas.microsoft.com/office/drawing/2014/main" id="{10177935-3D9B-4F00-BF84-A9A1A74D8B4B}"/>
              </a:ext>
            </a:extLst>
          </p:cNvPr>
          <p:cNvGraphicFramePr/>
          <p:nvPr/>
        </p:nvGraphicFramePr>
        <p:xfrm>
          <a:off xmlns:a="http://schemas.openxmlformats.org/drawingml/2006/main" x="809625" y="1571625"/>
          <a:ext xmlns:a="http://schemas.openxmlformats.org/drawingml/2006/main" cx="10477500" cy="3524250"/>
        </p:xfrm>
        <a:graphic xmlns:a="http://schemas.openxmlformats.org/drawingml/2006/main">
          <a:graphicData uri="http://schemas.openxmlformats.org/drawingml/2006/chart">
            <c:chart xmlns:r="http://schemas.openxmlformats.org/officeDocument/2006/relationships" xmlns:c="http://schemas.openxmlformats.org/drawingml/2006/chart" r:id="R3f66744d0df14e5e"/>
          </a:graphicData>
        </a:graphic>
      </p:graphicFrame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86FA3251-8C01-4E5C-9920-7A2AF5BD9EA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7250" y="5257800"/>
            <a:ext cx="1047750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/>
          <a:lstStyle xmlns:a="http://schemas.openxmlformats.org/drawingml/2006/main">
            <a:defPPr>
              <a:defRPr sz="1800">
                <a:solidFill>
                  <a:srgbClr val="292929"/>
                </a:solidFill>
              </a:defRPr>
            </a:defPPr>
          </a:lstStyle>
          <a:p xmlns:a="http://schemas.openxmlformats.org/drawingml/2006/main">
            <a:pPr>
              <a:defRPr sz="1800">
                <a:solidFill>
                  <a:srgbClr val="292929"/>
                </a:solidFill>
              </a:defRPr>
            </a:pPr>
            <a:r>
              <a:rPr sz="1800">
                <a:solidFill>
                  <a:srgbClr val="292929"/>
                </a:solidFill>
              </a:rPr>
              <a:t>All models tie at 83.33% on the test set. The decision tree leads CV at 87.68%. The always-Class-1 test baseline is 66.67%.</a:t>
            </a:r>
          </a:p>
        </p:txBody>
      </p:sp>
    </p:spTree>
    <p:extLst>
      <p:ext uri="{BB962C8B-B14F-4D97-AF65-F5344CB8AC3E}">
        <p14:creationId xmlns:p14="http://schemas.microsoft.com/office/powerpoint/2010/main" val="2459446073"/>
      </p:ext>
    </p:extLst>
  </p:cSld>
</p:sld>
</file>

<file path=ppt/slides/slide5.xml><?xml version="1.0" encoding="utf-8"?>
<p:sld xmlns:p="http://schemas.openxmlformats.org/presentationml/2006/main">
  <p:cSld>
    <p:bg>
      <p:bgPr>
        <a:blipFill xmlns:a="http://schemas.openxmlformats.org/drawingml/2006/main">
          <a:blip xmlns:r="http://schemas.openxmlformats.org/officeDocument/2006/relationships" r:embed="R0a5a2e9549ae492f"/>
          <a:stretch>
            <a:fillRect l="0" t="0" r="0" b="0"/>
          </a:stretch>
        </a:blip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4" name="Slide Number Placeholder 3">
            <a:extLst xmlns:a="http://schemas.openxmlformats.org/drawingml/2006/main">
              <a:ext uri="{FF2B5EF4-FFF2-40B4-BE49-F238E27FC236}">
                <a16:creationId xmlns:a16="http://schemas.microsoft.com/office/drawing/2014/main" id="{336C985E-BCEF-DD49-BB47-C4649A79F0D8}"/>
              </a:ext>
            </a:extLst>
          </p:cNvPr>
          <p:cNvSpPr>
            <a:spLocks xmlns:a="http://schemas.openxmlformats.org/drawingml/2006/main" noGrp="1"/>
          </p:cNvSpPr>
          <p:nvPr>
            <p:ph type="sldNum" idx="12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fld id="{EE5B3003-2C54-13C6-9832-7637201064DE}" type="slidenum">
              <a:t>5</a:t>
            </a:fld>
            <a:endParaRPr/>
          </a:p>
        </p:txBody>
      </p:sp>
      <p:sp>
        <p:nvSpPr>
          <p:cNvPr id="9" name="Title 1">
            <a:extLst xmlns:a="http://schemas.openxmlformats.org/drawingml/2006/main">
              <a:ext uri="{FF2B5EF4-FFF2-40B4-BE49-F238E27FC236}">
                <a16:creationId xmlns:a16="http://schemas.microsoft.com/office/drawing/2014/main" id="{533106AC-60D7-46AE-8E64-7B84ABDBD09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70001" y="538639"/>
            <a:ext cx="10572750" cy="9525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vert="horz" lIns="91440" tIns="45720" rIns="91440" bIns="45720" anchor="ctr">
            <a:normAutofit fontScale="100000" lnSpcReduction="20000"/>
          </a:bodyPr>
          <a:lstStyle xmlns:a="http://schemas.openxmlformats.org/drawingml/2006/main">
            <a:defPPr>
              <a:defRPr sz="3720">
                <a:solidFill>
                  <a:srgbClr val="0B49CB"/>
                </a:solidFill>
              </a:defRPr>
            </a:defPPr>
            <a:lvl1pPr algn="l" defTabSz="914400">
              <a:lnSpc>
                <a:spcPct val="90000"/>
              </a:lnSpc>
              <a:spcBef>
                <a:spcPct val="0"/>
              </a:spcBef>
              <a:buNone/>
              <a:defRPr sz="4000" kern="1200">
                <a:solidFill>
                  <a:srgbClr val="005493"/>
                </a:solidFill>
                <a:latin typeface="IBM Plex Mono SemiBold"/>
                <a:ea typeface="IBM Plex Mono SemiBold"/>
                <a:cs typeface="IBM Plex Mono SemiBold"/>
              </a:defRPr>
            </a:lvl1pPr>
          </a:lstStyle>
          <a:p xmlns:a="http://schemas.openxmlformats.org/drawingml/2006/main">
            <a:pPr>
              <a:defRPr sz="3720">
                <a:solidFill>
                  <a:srgbClr val="0B49CB"/>
                </a:solidFill>
              </a:defRPr>
            </a:pPr>
            <a:r>
              <a:rPr sz="3720">
                <a:solidFill>
                  <a:srgbClr val="0B49CB"/>
                </a:solidFill>
                <a:latin typeface="Abadi"/>
                <a:ea typeface="Abadi"/>
                <a:cs typeface="Abadi"/>
              </a:rPr>
              <a:t>Decision Tree Confusion Matrix</a:t>
            </a:r>
            <a:endParaRPr>
              <a:solidFill>
                <a:srgbClr val="0B49CB"/>
              </a:solidFill>
            </a:endParaRPr>
          </a:p>
        </p:txBody>
      </p:sp>
      <p:graphicFrame>
        <p:nvGraphicFrame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1D3232CB-AC7B-4607-95A0-CCCCBF8AEE48}"/>
              </a:ext>
            </a:extLst>
          </p:cNvPr>
          <p:cNvGraphicFramePr/>
          <p:nvPr/>
        </p:nvGraphicFramePr>
        <p:xfrm>
          <a:off xmlns:a="http://schemas.openxmlformats.org/drawingml/2006/main" x="857250" y="1905000"/>
          <a:ext xmlns:a="http://schemas.openxmlformats.org/drawingml/2006/main" cx="10477500" cy="2286000"/>
        </p:xfrm>
        <a:graphic xmlns:a="http://schemas.openxmlformats.org/drawingml/2006/main">
          <a:graphicData uri="http://schemas.openxmlformats.org/drawingml/2006/table">
            <a:tbl>
              <a:tblPr/>
              <a:tblGrid>
                <a:gridCol w="5143500"/>
                <a:gridCol w="2667000"/>
                <a:gridCol w="2667000"/>
              </a:tblGrid>
              <a:tr h="762000">
                <a:tc>
                  <a:txBody>
                    <a:bodyPr/>
                    <a:lstStyle/>
                    <a:p>
                      <a:r>
                        <a:rPr sz="1725" b="1">
                          <a:solidFill>
                            <a:srgbClr val="FFFFFF"/>
                          </a:solidFill>
                        </a:rPr>
                        <a:t>Actual / Predicted</a:t>
                      </a:r>
                    </a:p>
                  </a:txBody>
                  <a:tcPr marL="91440" marR="91440" marT="45720" marB="45720">
                    <a:solidFill>
                      <a:srgbClr val="0B49CB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725" b="1">
                          <a:solidFill>
                            <a:srgbClr val="FFFFFF"/>
                          </a:solidFill>
                        </a:rPr>
                        <a:t>Class 0</a:t>
                      </a:r>
                    </a:p>
                  </a:txBody>
                  <a:tcPr marL="91440" marR="91440" marT="45720" marB="45720">
                    <a:solidFill>
                      <a:srgbClr val="0B49CB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725" b="1">
                          <a:solidFill>
                            <a:srgbClr val="FFFFFF"/>
                          </a:solidFill>
                        </a:rPr>
                        <a:t>Class 1</a:t>
                      </a:r>
                    </a:p>
                  </a:txBody>
                  <a:tcPr marL="91440" marR="91440" marT="45720" marB="45720">
                    <a:solidFill>
                      <a:srgbClr val="0B49CB"/>
                    </a:solidFill>
                  </a:tcPr>
                </a:tc>
              </a:tr>
              <a:tr h="762000">
                <a:tc>
                  <a:txBody>
                    <a:bodyPr/>
                    <a:lstStyle/>
                    <a:p>
                      <a:r>
                        <a:rPr sz="1725" b="0">
                          <a:solidFill>
                            <a:srgbClr val="292929"/>
                          </a:solidFill>
                        </a:rPr>
                        <a:t>Class 0</a:t>
                      </a:r>
                    </a:p>
                  </a:txBody>
                  <a:tcPr marL="91440" marR="91440" marT="45720" marB="45720">
                    <a:solidFill>
                      <a:srgbClr val="F1F5FC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725" b="0">
                          <a:solidFill>
                            <a:srgbClr val="292929"/>
                          </a:solidFill>
                        </a:rPr>
                        <a:t>3</a:t>
                      </a:r>
                    </a:p>
                  </a:txBody>
                  <a:tcPr marL="91440" marR="91440" marT="45720" marB="45720">
                    <a:solidFill>
                      <a:srgbClr val="F1F5FC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725" b="0">
                          <a:solidFill>
                            <a:srgbClr val="292929"/>
                          </a:solidFill>
                        </a:rPr>
                        <a:t>3</a:t>
                      </a:r>
                    </a:p>
                  </a:txBody>
                  <a:tcPr marL="91440" marR="91440" marT="45720" marB="45720">
                    <a:solidFill>
                      <a:srgbClr val="F1F5FC"/>
                    </a:solidFill>
                  </a:tcPr>
                </a:tc>
              </a:tr>
              <a:tr h="762000">
                <a:tc>
                  <a:txBody>
                    <a:bodyPr/>
                    <a:lstStyle/>
                    <a:p>
                      <a:r>
                        <a:rPr sz="1725" b="0">
                          <a:solidFill>
                            <a:srgbClr val="292929"/>
                          </a:solidFill>
                        </a:rPr>
                        <a:t>Class 1</a:t>
                      </a:r>
                    </a:p>
                  </a:txBody>
                  <a:tcPr marL="91440" marR="91440" marT="45720" marB="4572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725" b="0">
                          <a:solidFill>
                            <a:srgbClr val="292929"/>
                          </a:solidFill>
                        </a:rPr>
                        <a:t>0</a:t>
                      </a:r>
                    </a:p>
                  </a:txBody>
                  <a:tcPr marL="91440" marR="91440" marT="45720" marB="4572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725" b="0">
                          <a:solidFill>
                            <a:srgbClr val="292929"/>
                          </a:solidFill>
                        </a:rPr>
                        <a:t>12</a:t>
                      </a:r>
                    </a:p>
                  </a:txBody>
                  <a:tcPr marL="91440" marR="91440" marT="45720" marB="45720"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3BF1CC41-2B6D-4100-90D6-037A83CF4F4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7250" y="4476750"/>
            <a:ext cx="10477500" cy="1381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/>
          <a:lstStyle xmlns:a="http://schemas.openxmlformats.org/drawingml/2006/main">
            <a:defPPr>
              <a:defRPr sz="1950">
                <a:solidFill>
                  <a:srgbClr val="292929"/>
                </a:solidFill>
              </a:defRPr>
            </a:defPPr>
          </a:lstStyle>
          <a:p xmlns:a="http://schemas.openxmlformats.org/drawingml/2006/main">
            <a:pPr>
              <a:defRPr sz="1950">
                <a:solidFill>
                  <a:srgbClr val="292929"/>
                </a:solidFill>
              </a:defRPr>
            </a:pPr>
            <a:r>
              <a:rPr sz="1950">
                <a:solidFill>
                  <a:srgbClr val="292929"/>
                </a:solidFill>
              </a:rPr>
              <a:t>15/18 correct (83.33%)</a:t>
            </a:r>
          </a:p>
          <a:p xmlns:a="http://schemas.openxmlformats.org/drawingml/2006/main">
            <a:pPr>
              <a:defRPr sz="1950">
                <a:solidFill>
                  <a:srgbClr val="292929"/>
                </a:solidFill>
              </a:defRPr>
            </a:pPr>
            <a:r>
              <a:rPr sz="1950">
                <a:solidFill>
                  <a:srgbClr val="292929"/>
                </a:solidFill>
              </a:rPr>
              <a:t>Class 1 precision: 12/15 = 80%</a:t>
            </a:r>
          </a:p>
          <a:p xmlns:a="http://schemas.openxmlformats.org/drawingml/2006/main">
            <a:pPr>
              <a:defRPr sz="1950">
                <a:solidFill>
                  <a:srgbClr val="292929"/>
                </a:solidFill>
              </a:defRPr>
            </a:pPr>
            <a:r>
              <a:rPr sz="1950">
                <a:solidFill>
                  <a:srgbClr val="292929"/>
                </a:solidFill>
              </a:rPr>
              <a:t>Class 1 recall: 12/12 = 100%</a:t>
            </a:r>
          </a:p>
          <a:p xmlns:a="http://schemas.openxmlformats.org/drawingml/2006/main">
            <a:pPr>
              <a:defRPr sz="1950">
                <a:solidFill>
                  <a:srgbClr val="292929"/>
                </a:solidFill>
              </a:defRPr>
            </a:pPr>
            <a:r>
              <a:rPr sz="1950">
                <a:solidFill>
                  <a:srgbClr val="292929"/>
                </a:solidFill>
              </a:rPr>
              <a:t>3 of 6 actual Class 0 outcomes are false positives</a:t>
            </a:r>
          </a:p>
        </p:txBody>
      </p:sp>
    </p:spTree>
    <p:extLst>
      <p:ext uri="{BB962C8B-B14F-4D97-AF65-F5344CB8AC3E}">
        <p14:creationId xmlns:p14="http://schemas.microsoft.com/office/powerpoint/2010/main" val="3645034231"/>
      </p:ext>
    </p:extLst>
  </p:cSld>
</p:sld>
</file>

<file path=ppt/slides/slide6.xml><?xml version="1.0" encoding="utf-8"?>
<p:sld xmlns:p="http://schemas.openxmlformats.org/presentationml/2006/main">
  <p:cSld>
    <p:bg>
      <p:bgPr>
        <a:solidFill xmlns:a="http://schemas.openxmlformats.org/drawingml/2006/main">
          <a:srgbClr val="F1F3F7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6641DAD4-6701-44B2-A60F-4A76A7AD387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70001" y="538639"/>
            <a:ext cx="10572750" cy="952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/>
          <a:lstStyle xmlns:a="http://schemas.openxmlformats.org/drawingml/2006/main">
            <a:defPPr>
              <a:defRPr sz="3720">
                <a:solidFill>
                  <a:srgbClr val="0B49CB"/>
                </a:solidFill>
              </a:defRPr>
            </a:defPPr>
          </a:lstStyle>
          <a:p xmlns:a="http://schemas.openxmlformats.org/drawingml/2006/main">
            <a:pPr>
              <a:defRPr sz="3720">
                <a:solidFill>
                  <a:srgbClr val="0B49CB"/>
                </a:solidFill>
              </a:defRPr>
            </a:pPr>
            <a:r>
              <a:rPr sz="3720">
                <a:solidFill>
                  <a:srgbClr val="0B49CB"/>
                </a:solidFill>
              </a:rPr>
              <a:t>Model Evaluation and Selection</a:t>
            </a:r>
          </a:p>
        </p:txBody>
      </p:sp>
      <p:graphicFrame>
        <p:nvGraphicFrame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457A6795-B4AF-4326-92B9-C90A71119D3A}"/>
              </a:ext>
            </a:extLst>
          </p:cNvPr>
          <p:cNvGraphicFramePr/>
          <p:nvPr/>
        </p:nvGraphicFramePr>
        <p:xfrm>
          <a:off xmlns:a="http://schemas.openxmlformats.org/drawingml/2006/main" x="857250" y="1714500"/>
          <a:ext xmlns:a="http://schemas.openxmlformats.org/drawingml/2006/main" cx="10477500" cy="2190750"/>
        </p:xfrm>
        <a:graphic xmlns:a="http://schemas.openxmlformats.org/drawingml/2006/main">
          <a:graphicData uri="http://schemas.openxmlformats.org/drawingml/2006/table">
            <a:tbl>
              <a:tblPr/>
              <a:tblGrid>
                <a:gridCol w="4191000"/>
                <a:gridCol w="3143250"/>
                <a:gridCol w="3143250"/>
              </a:tblGrid>
              <a:tr h="438150">
                <a:tc>
                  <a:txBody>
                    <a:bodyPr/>
                    <a:lstStyle/>
                    <a:p>
                      <a:r>
                        <a:rPr sz="1725" b="1">
                          <a:solidFill>
                            <a:srgbClr val="FFFFFF"/>
                          </a:solidFill>
                        </a:rPr>
                        <a:t>Classifier</a:t>
                      </a:r>
                    </a:p>
                  </a:txBody>
                  <a:tcPr marL="91440" marR="91440" marT="45720" marB="45720">
                    <a:solidFill>
                      <a:srgbClr val="0B49CB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725" b="1">
                          <a:solidFill>
                            <a:srgbClr val="FFFFFF"/>
                          </a:solidFill>
                        </a:rPr>
                        <a:t>10-fold CV accuracy</a:t>
                      </a:r>
                    </a:p>
                  </a:txBody>
                  <a:tcPr marL="91440" marR="91440" marT="45720" marB="45720">
                    <a:solidFill>
                      <a:srgbClr val="0B49CB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725" b="1">
                          <a:solidFill>
                            <a:srgbClr val="FFFFFF"/>
                          </a:solidFill>
                        </a:rPr>
                        <a:t>Test accuracy</a:t>
                      </a:r>
                    </a:p>
                  </a:txBody>
                  <a:tcPr marL="91440" marR="91440" marT="45720" marB="45720">
                    <a:solidFill>
                      <a:srgbClr val="0B49CB"/>
                    </a:solidFill>
                  </a:tcPr>
                </a:tc>
              </a:tr>
              <a:tr h="438150">
                <a:tc>
                  <a:txBody>
                    <a:bodyPr/>
                    <a:lstStyle/>
                    <a:p>
                      <a:r>
                        <a:rPr sz="1725" b="0">
                          <a:solidFill>
                            <a:srgbClr val="292929"/>
                          </a:solidFill>
                        </a:rPr>
                        <a:t>Logistic regression</a:t>
                      </a:r>
                    </a:p>
                  </a:txBody>
                  <a:tcPr marL="91440" marR="91440" marT="45720" marB="45720">
                    <a:solidFill>
                      <a:srgbClr val="F1F5FC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725" b="0">
                          <a:solidFill>
                            <a:srgbClr val="292929"/>
                          </a:solidFill>
                        </a:rPr>
                        <a:t>84.64%</a:t>
                      </a:r>
                    </a:p>
                  </a:txBody>
                  <a:tcPr marL="91440" marR="91440" marT="45720" marB="45720">
                    <a:solidFill>
                      <a:srgbClr val="F1F5FC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725" b="0">
                          <a:solidFill>
                            <a:srgbClr val="292929"/>
                          </a:solidFill>
                        </a:rPr>
                        <a:t>83.33%</a:t>
                      </a:r>
                    </a:p>
                  </a:txBody>
                  <a:tcPr marL="91440" marR="91440" marT="45720" marB="45720">
                    <a:solidFill>
                      <a:srgbClr val="F1F5FC"/>
                    </a:solidFill>
                  </a:tcPr>
                </a:tc>
              </a:tr>
              <a:tr h="438150">
                <a:tc>
                  <a:txBody>
                    <a:bodyPr/>
                    <a:lstStyle/>
                    <a:p>
                      <a:r>
                        <a:rPr sz="1725" b="0">
                          <a:solidFill>
                            <a:srgbClr val="292929"/>
                          </a:solidFill>
                        </a:rPr>
                        <a:t>Support vector machine</a:t>
                      </a:r>
                    </a:p>
                  </a:txBody>
                  <a:tcPr marL="91440" marR="91440" marT="45720" marB="4572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725" b="0">
                          <a:solidFill>
                            <a:srgbClr val="292929"/>
                          </a:solidFill>
                        </a:rPr>
                        <a:t>84.82%</a:t>
                      </a:r>
                    </a:p>
                  </a:txBody>
                  <a:tcPr marL="91440" marR="91440" marT="45720" marB="4572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725" b="0">
                          <a:solidFill>
                            <a:srgbClr val="292929"/>
                          </a:solidFill>
                        </a:rPr>
                        <a:t>83.33%</a:t>
                      </a:r>
                    </a:p>
                  </a:txBody>
                  <a:tcPr marL="91440" marR="91440" marT="45720" marB="45720">
                    <a:solidFill>
                      <a:srgbClr val="FFFFFF"/>
                    </a:solidFill>
                  </a:tcPr>
                </a:tc>
              </a:tr>
              <a:tr h="438150">
                <a:tc>
                  <a:txBody>
                    <a:bodyPr/>
                    <a:lstStyle/>
                    <a:p>
                      <a:r>
                        <a:rPr sz="1725" b="0">
                          <a:solidFill>
                            <a:srgbClr val="292929"/>
                          </a:solidFill>
                        </a:rPr>
                        <a:t>Decision tree</a:t>
                      </a:r>
                    </a:p>
                  </a:txBody>
                  <a:tcPr marL="91440" marR="91440" marT="45720" marB="45720">
                    <a:solidFill>
                      <a:srgbClr val="F1F5FC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725" b="0">
                          <a:solidFill>
                            <a:srgbClr val="292929"/>
                          </a:solidFill>
                        </a:rPr>
                        <a:t>87.68%</a:t>
                      </a:r>
                    </a:p>
                  </a:txBody>
                  <a:tcPr marL="91440" marR="91440" marT="45720" marB="45720">
                    <a:solidFill>
                      <a:srgbClr val="F1F5FC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725" b="0">
                          <a:solidFill>
                            <a:srgbClr val="292929"/>
                          </a:solidFill>
                        </a:rPr>
                        <a:t>83.33%</a:t>
                      </a:r>
                    </a:p>
                  </a:txBody>
                  <a:tcPr marL="91440" marR="91440" marT="45720" marB="45720">
                    <a:solidFill>
                      <a:srgbClr val="F1F5FC"/>
                    </a:solidFill>
                  </a:tcPr>
                </a:tc>
              </a:tr>
              <a:tr h="438150">
                <a:tc>
                  <a:txBody>
                    <a:bodyPr/>
                    <a:lstStyle/>
                    <a:p>
                      <a:r>
                        <a:rPr sz="1725" b="0">
                          <a:solidFill>
                            <a:srgbClr val="292929"/>
                          </a:solidFill>
                        </a:rPr>
                        <a:t>K-nearest neighbors</a:t>
                      </a:r>
                    </a:p>
                  </a:txBody>
                  <a:tcPr marL="91440" marR="91440" marT="45720" marB="4572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725" b="0">
                          <a:solidFill>
                            <a:srgbClr val="292929"/>
                          </a:solidFill>
                        </a:rPr>
                        <a:t>84.82%</a:t>
                      </a:r>
                    </a:p>
                  </a:txBody>
                  <a:tcPr marL="91440" marR="91440" marT="45720" marB="4572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725" b="0">
                          <a:solidFill>
                            <a:srgbClr val="292929"/>
                          </a:solidFill>
                        </a:rPr>
                        <a:t>83.33%</a:t>
                      </a:r>
                    </a:p>
                  </a:txBody>
                  <a:tcPr marL="91440" marR="91440" marT="45720" marB="45720"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9F50ABA9-3963-4BD0-AFD7-FCE2CB3B0BC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7250" y="4133850"/>
            <a:ext cx="10477500" cy="1295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/>
          <a:lstStyle xmlns:a="http://schemas.openxmlformats.org/drawingml/2006/main">
            <a:defPPr>
              <a:defRPr sz="1800">
                <a:solidFill>
                  <a:srgbClr val="292929"/>
                </a:solidFill>
              </a:defRPr>
            </a:defPPr>
          </a:lstStyle>
          <a:p xmlns:a="http://schemas.openxmlformats.org/drawingml/2006/main">
            <a:pPr>
              <a:defRPr sz="1800">
                <a:solidFill>
                  <a:srgbClr val="292929"/>
                </a:solidFill>
              </a:defRPr>
            </a:pPr>
            <a:r>
              <a:rPr sz="1800">
                <a:solidFill>
                  <a:srgbClr val="292929"/>
                </a:solidFill>
              </a:rPr>
              <a:t>Decision tree is selected for its highest cross-validation accuracy: 87.68%. All four models tie at 83.33% on 18 test launches.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pPr>
              <a:defRPr sz="1800">
                <a:solidFill>
                  <a:srgbClr val="292929"/>
                </a:solidFill>
              </a:defRPr>
            </a:pPr>
            <a:r>
              <a:rPr sz="1800">
                <a:solidFill>
                  <a:srgbClr val="292929"/>
                </a:solidFill>
              </a:rPr>
              <a:t>Split: 72 train, 18 test. Small samples and preprocessing leakage limit confidence.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CAAA31CF-1E7E-4A26-98B9-4DA3519C863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7250" y="5505450"/>
            <a:ext cx="10477500" cy="590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/>
          <a:lstStyle xmlns:a="http://schemas.openxmlformats.org/drawingml/2006/main">
            <a:defPPr>
              <a:defRPr sz="1425">
                <a:solidFill>
                  <a:srgbClr val="292929"/>
                </a:solidFill>
              </a:defRPr>
            </a:defPPr>
          </a:lstStyle>
          <a:p xmlns:a="http://schemas.openxmlformats.org/drawingml/2006/main">
            <a:pPr>
              <a:defRPr sz="1425">
                <a:solidFill>
                  <a:srgbClr val="292929"/>
                </a:solidFill>
              </a:defRPr>
            </a:pPr>
            <a:r>
              <a:rPr sz="1425">
                <a:solidFill>
                  <a:srgbClr val="292929"/>
                </a:solidFill>
              </a:rPr>
              <a:t>https://github.com/nicholas-yap/spacex-data-science-capstone/blob/main/</a:t>
            </a:r>
          </a:p>
          <a:p xmlns:a="http://schemas.openxmlformats.org/drawingml/2006/main">
            <a:pPr>
              <a:defRPr sz="1425">
                <a:solidFill>
                  <a:srgbClr val="292929"/>
                </a:solidFill>
              </a:defRPr>
            </a:pPr>
            <a:r>
              <a:rPr sz="1425">
                <a:solidFill>
                  <a:srgbClr val="292929"/>
                </a:solidFill>
              </a:rPr>
              <a:t>notebooks/SpaceX-Machine-Learning-Prediction-Part-5-v1.ipynb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C3C184AF-91D2-44E4-8F9D-FADD7DEBBA7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925175" y="6025610"/>
            <a:ext cx="428625" cy="401669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/>
          <a:lstStyle xmlns:a="http://schemas.openxmlformats.org/drawingml/2006/main">
            <a:defPPr>
              <a:defRPr sz="1600">
                <a:solidFill>
                  <a:srgbClr val="1C7DDB"/>
                </a:solidFill>
              </a:defRPr>
            </a:defPPr>
          </a:lstStyle>
          <a:p xmlns:a="http://schemas.openxmlformats.org/drawingml/2006/main">
            <a:pPr>
              <a:defRPr sz="1600">
                <a:solidFill>
                  <a:srgbClr val="1C7DDB"/>
                </a:solidFill>
              </a:defRPr>
            </a:pPr>
            <a:r>
              <a:rPr sz="1600">
                <a:solidFill>
                  <a:srgbClr val="1C7DDB"/>
                </a:solidFill>
              </a:rPr>
              <a:t>6</a:t>
            </a:r>
          </a:p>
        </p:txBody>
      </p:sp>
    </p:spTree>
    <p:extLst>
      <p:ext uri="{BB962C8B-B14F-4D97-AF65-F5344CB8AC3E}">
        <p14:creationId xmlns:p14="http://schemas.microsoft.com/office/powerpoint/2010/main" val="1290394134"/>
      </p:ext>
    </p:extLst>
  </p:cSld>
</p:sld>
</file>

<file path=ppt/slides/slide7.xml><?xml version="1.0" encoding="utf-8"?>
<p:sld xmlns:p="http://schemas.openxmlformats.org/presentationml/2006/main">
  <p:cSld>
    <p:bg>
      <p:bgPr>
        <a:solidFill xmlns:a="http://schemas.openxmlformats.org/drawingml/2006/main">
          <a:srgbClr val="F1F3F7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9C13AD69-3195-4CC6-B838-AD4C1BFB09D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70001" y="538639"/>
            <a:ext cx="10572750" cy="952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/>
          <a:lstStyle xmlns:a="http://schemas.openxmlformats.org/drawingml/2006/main">
            <a:defPPr>
              <a:defRPr sz="3720">
                <a:solidFill>
                  <a:srgbClr val="0B49CB"/>
                </a:solidFill>
              </a:defRPr>
            </a:defPPr>
          </a:lstStyle>
          <a:p xmlns:a="http://schemas.openxmlformats.org/drawingml/2006/main">
            <a:pPr>
              <a:defRPr sz="3720">
                <a:solidFill>
                  <a:srgbClr val="0B49CB"/>
                </a:solidFill>
              </a:defRPr>
            </a:pPr>
            <a:r>
              <a:rPr sz="3720">
                <a:solidFill>
                  <a:srgbClr val="0B49CB"/>
                </a:solidFill>
              </a:rPr>
              <a:t>Conclusions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6CE4B2E3-1918-4E0B-9CB0-CF9491676AC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7250" y="1695450"/>
            <a:ext cx="10477500" cy="400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/>
          <a:lstStyle xmlns:a="http://schemas.openxmlformats.org/drawingml/2006/main">
            <a:defPPr>
              <a:defRPr sz="2200">
                <a:solidFill>
                  <a:srgbClr val="292929"/>
                </a:solidFill>
              </a:defRPr>
            </a:defPPr>
          </a:lstStyle>
          <a:p xmlns:a="http://schemas.openxmlformats.org/drawingml/2006/main">
            <a:pPr>
              <a:defRPr sz="2200">
                <a:solidFill>
                  <a:srgbClr val="292929"/>
                </a:solidFill>
              </a:defRPr>
            </a:pPr>
            <a:r>
              <a:rPr sz="2200">
                <a:solidFill>
                  <a:srgbClr val="292929"/>
                </a:solidFill>
              </a:rPr>
              <a:t>Historical results: 60/90 Class 1 outcomes (66.7%), rising to 16/19 (84.2%) in 2020.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pPr>
              <a:defRPr sz="2200">
                <a:solidFill>
                  <a:srgbClr val="292929"/>
                </a:solidFill>
              </a:defRPr>
            </a:pPr>
            <a:r>
              <a:rPr sz="2200">
                <a:solidFill>
                  <a:srgbClr val="292929"/>
                </a:solidFill>
              </a:rPr>
              <a:t>KSC leads observed site rate at 17/22 (77.3%). CCAFS contributes the most successes, 33. Mission mix limits comparisons between sites.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pPr>
              <a:defRPr sz="2200">
                <a:solidFill>
                  <a:srgbClr val="292929"/>
                </a:solidFill>
              </a:defRPr>
            </a:pPr>
            <a:r>
              <a:rPr sz="2200">
                <a:solidFill>
                  <a:srgbClr val="292929"/>
                </a:solidFill>
              </a:rPr>
              <a:t>All four classifiers achieve 83.33% test accuracy. Decision tree leads CV at 87.68%, but predicts success for 3 of 6 actual Class 0 outcomes.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pPr>
              <a:defRPr sz="2200">
                <a:solidFill>
                  <a:srgbClr val="292929"/>
                </a:solidFill>
              </a:defRPr>
            </a:pPr>
            <a:r>
              <a:rPr sz="2200">
                <a:solidFill>
                  <a:srgbClr val="292929"/>
                </a:solidFill>
              </a:rPr>
              <a:t>Next steps: fit preprocessing inside cross-validation, check which features are available before launch, and test on later launches before using predictions in business decisions.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9B271F8E-1186-4205-959C-58ADB8940F3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925175" y="6025610"/>
            <a:ext cx="428625" cy="401669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/>
          <a:lstStyle xmlns:a="http://schemas.openxmlformats.org/drawingml/2006/main">
            <a:defPPr>
              <a:defRPr sz="1600">
                <a:solidFill>
                  <a:srgbClr val="1C7DDB"/>
                </a:solidFill>
              </a:defRPr>
            </a:defPPr>
          </a:lstStyle>
          <a:p xmlns:a="http://schemas.openxmlformats.org/drawingml/2006/main">
            <a:pPr>
              <a:defRPr sz="1600">
                <a:solidFill>
                  <a:srgbClr val="1C7DDB"/>
                </a:solidFill>
              </a:defRPr>
            </a:pPr>
            <a:r>
              <a:rPr sz="1600">
                <a:solidFill>
                  <a:srgbClr val="1C7DDB"/>
                </a:solidFill>
              </a:rPr>
              <a:t>7</a:t>
            </a:r>
          </a:p>
        </p:txBody>
      </p:sp>
    </p:spTree>
    <p:extLst>
      <p:ext uri="{BB962C8B-B14F-4D97-AF65-F5344CB8AC3E}">
        <p14:creationId xmlns:p14="http://schemas.microsoft.com/office/powerpoint/2010/main" val="1630123617"/>
      </p:ext>
    </p:extLst>
  </p:cSld>
</p:sld>
</file>

<file path=ppt/slides/slide8.xml><?xml version="1.0" encoding="utf-8"?>
<p:sld xmlns:p="http://schemas.openxmlformats.org/presentationml/2006/main">
  <p:cSld>
    <p:bg>
      <p:bgPr>
        <a:solidFill xmlns:a="http://schemas.openxmlformats.org/drawingml/2006/main">
          <a:srgbClr val="F1F3F7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3B943E1C-7983-40D5-BE24-DD9FCD92529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70001" y="538639"/>
            <a:ext cx="10572750" cy="952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/>
          <a:lstStyle xmlns:a="http://schemas.openxmlformats.org/drawingml/2006/main">
            <a:defPPr>
              <a:defRPr sz="3720">
                <a:solidFill>
                  <a:srgbClr val="0B49CB"/>
                </a:solidFill>
              </a:defRPr>
            </a:defPPr>
          </a:lstStyle>
          <a:p xmlns:a="http://schemas.openxmlformats.org/drawingml/2006/main">
            <a:pPr>
              <a:defRPr sz="3720">
                <a:solidFill>
                  <a:srgbClr val="0B49CB"/>
                </a:solidFill>
              </a:defRPr>
            </a:pPr>
            <a:r>
              <a:rPr sz="3720">
                <a:solidFill>
                  <a:srgbClr val="0B49CB"/>
                </a:solidFill>
              </a:rPr>
              <a:t>Additional Insights</a:t>
            </a:r>
          </a:p>
        </p:txBody>
      </p:sp>
      <p:graphicFrame>
        <p:nvGraphicFrame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DE34599B-518D-4C76-B68A-068BB3393CEE}"/>
              </a:ext>
            </a:extLst>
          </p:cNvPr>
          <p:cNvGraphicFramePr/>
          <p:nvPr/>
        </p:nvGraphicFramePr>
        <p:xfrm>
          <a:off xmlns:a="http://schemas.openxmlformats.org/drawingml/2006/main" x="857250" y="1714500"/>
          <a:ext xmlns:a="http://schemas.openxmlformats.org/drawingml/2006/main" cx="10477500" cy="3286125"/>
        </p:xfrm>
        <a:graphic xmlns:a="http://schemas.openxmlformats.org/drawingml/2006/main">
          <a:graphicData uri="http://schemas.openxmlformats.org/drawingml/2006/table">
            <a:tbl>
              <a:tblPr/>
              <a:tblGrid>
                <a:gridCol w="3000375"/>
                <a:gridCol w="3619500"/>
                <a:gridCol w="3857625"/>
              </a:tblGrid>
              <a:tr h="821531">
                <a:tc>
                  <a:txBody>
                    <a:bodyPr/>
                    <a:lstStyle/>
                    <a:p>
                      <a:r>
                        <a:rPr sz="1725" b="1">
                          <a:solidFill>
                            <a:srgbClr val="FFFFFF"/>
                          </a:solidFill>
                        </a:rPr>
                        <a:t>Finding</a:t>
                      </a:r>
                    </a:p>
                  </a:txBody>
                  <a:tcPr marL="91440" marR="91440" marT="45720" marB="45720">
                    <a:solidFill>
                      <a:srgbClr val="0B49CB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725" b="1">
                          <a:solidFill>
                            <a:srgbClr val="FFFFFF"/>
                          </a:solidFill>
                        </a:rPr>
                        <a:t>Numerical evidence</a:t>
                      </a:r>
                    </a:p>
                  </a:txBody>
                  <a:tcPr marL="91440" marR="91440" marT="45720" marB="45720">
                    <a:solidFill>
                      <a:srgbClr val="0B49CB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725" b="1">
                          <a:solidFill>
                            <a:srgbClr val="FFFFFF"/>
                          </a:solidFill>
                        </a:rPr>
                        <a:t>Interpretation</a:t>
                      </a:r>
                    </a:p>
                  </a:txBody>
                  <a:tcPr marL="91440" marR="91440" marT="45720" marB="45720">
                    <a:solidFill>
                      <a:srgbClr val="0B49CB"/>
                    </a:solidFill>
                  </a:tcPr>
                </a:tc>
              </a:tr>
              <a:tr h="821531">
                <a:tc>
                  <a:txBody>
                    <a:bodyPr/>
                    <a:lstStyle/>
                    <a:p>
                      <a:r>
                        <a:rPr sz="1725" b="0">
                          <a:solidFill>
                            <a:srgbClr val="292929"/>
                          </a:solidFill>
                        </a:rPr>
                        <a:t>Count differs from rate</a:t>
                      </a:r>
                    </a:p>
                  </a:txBody>
                  <a:tcPr marL="91440" marR="91440" marT="45720" marB="45720">
                    <a:solidFill>
                      <a:srgbClr val="F1F5FC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725" b="0">
                          <a:solidFill>
                            <a:srgbClr val="292929"/>
                          </a:solidFill>
                        </a:rPr>
                        <a:t>CCAFS: 33/55 (60.0%)</a:t>
                      </a:r>
                    </a:p>
                    <a:p>
                      <a:r>
                        <a:rPr sz="1725" b="0">
                          <a:solidFill>
                            <a:srgbClr val="292929"/>
                          </a:solidFill>
                        </a:rPr>
                        <a:t>KSC: 17/22 (77.3%)</a:t>
                      </a:r>
                    </a:p>
                  </a:txBody>
                  <a:tcPr marL="91440" marR="91440" marT="45720" marB="45720">
                    <a:solidFill>
                      <a:srgbClr val="F1F5FC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725" b="0">
                          <a:solidFill>
                            <a:srgbClr val="292929"/>
                          </a:solidFill>
                        </a:rPr>
                        <a:t>Most successes and highest success rate occur at different sites.</a:t>
                      </a:r>
                    </a:p>
                  </a:txBody>
                  <a:tcPr marL="91440" marR="91440" marT="45720" marB="45720">
                    <a:solidFill>
                      <a:srgbClr val="F1F5FC"/>
                    </a:solidFill>
                  </a:tcPr>
                </a:tc>
              </a:tr>
              <a:tr h="821531">
                <a:tc>
                  <a:txBody>
                    <a:bodyPr/>
                    <a:lstStyle/>
                    <a:p>
                      <a:r>
                        <a:rPr sz="1725" b="0">
                          <a:solidFill>
                            <a:srgbClr val="292929"/>
                          </a:solidFill>
                        </a:rPr>
                        <a:t>Outcome label differs from pad landing</a:t>
                      </a:r>
                    </a:p>
                  </a:txBody>
                  <a:tcPr marL="91440" marR="91440" marT="45720" marB="4572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725" b="0">
                          <a:solidFill>
                            <a:srgbClr val="292929"/>
                          </a:solidFill>
                        </a:rPr>
                        <a:t>Class 1: 60/90 (66.7%)</a:t>
                      </a:r>
                    </a:p>
                    <a:p>
                      <a:r>
                        <a:rPr sz="1725" b="0">
                          <a:solidFill>
                            <a:srgbClr val="292929"/>
                          </a:solidFill>
                        </a:rPr>
                        <a:t>ASDS or RTLS: 55/90 (61.1%)</a:t>
                      </a:r>
                    </a:p>
                  </a:txBody>
                  <a:tcPr marL="91440" marR="91440" marT="45720" marB="4572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725" b="0">
                          <a:solidFill>
                            <a:srgbClr val="292929"/>
                          </a:solidFill>
                        </a:rPr>
                        <a:t>Five controlled ocean outcomes add 5.6 percentage points to Class 1 rate.</a:t>
                      </a:r>
                    </a:p>
                  </a:txBody>
                  <a:tcPr marL="91440" marR="91440" marT="45720" marB="45720">
                    <a:solidFill>
                      <a:srgbClr val="FFFFFF"/>
                    </a:solidFill>
                  </a:tcPr>
                </a:tc>
              </a:tr>
              <a:tr h="821531">
                <a:tc>
                  <a:txBody>
                    <a:bodyPr/>
                    <a:lstStyle/>
                    <a:p>
                      <a:r>
                        <a:rPr sz="1725" b="0">
                          <a:solidFill>
                            <a:srgbClr val="292929"/>
                          </a:solidFill>
                        </a:rPr>
                        <a:t>Booster era matters</a:t>
                      </a:r>
                    </a:p>
                  </a:txBody>
                  <a:tcPr marL="91440" marR="91440" marT="45720" marB="45720">
                    <a:solidFill>
                      <a:srgbClr val="F1F5FC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725" b="0">
                          <a:solidFill>
                            <a:srgbClr val="292929"/>
                          </a:solidFill>
                        </a:rPr>
                        <a:t>Block 5: 33/39 (84.6%)</a:t>
                      </a:r>
                    </a:p>
                    <a:p>
                      <a:r>
                        <a:rPr sz="1725" b="0">
                          <a:solidFill>
                            <a:srgbClr val="292929"/>
                          </a:solidFill>
                        </a:rPr>
                        <a:t>Block 1: 4/19 (21.1%)</a:t>
                      </a:r>
                    </a:p>
                  </a:txBody>
                  <a:tcPr marL="91440" marR="91440" marT="45720" marB="45720">
                    <a:solidFill>
                      <a:srgbClr val="F1F5FC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725" b="0">
                          <a:solidFill>
                            <a:srgbClr val="292929"/>
                          </a:solidFill>
                        </a:rPr>
                        <a:t>Technology and date overlap. This comparison does not isolate a causal effect.</a:t>
                      </a:r>
                    </a:p>
                  </a:txBody>
                  <a:tcPr marL="91440" marR="91440" marT="45720" marB="45720">
                    <a:solidFill>
                      <a:srgbClr val="F1F5FC"/>
                    </a:solidFill>
                  </a:tcPr>
                </a:tc>
              </a:tr>
            </a:tbl>
          </a:graphicData>
        </a:graphic>
      </p:graphicFrame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9250E5FE-1BE7-4842-8D7A-1AE0262C341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7250" y="5238750"/>
            <a:ext cx="10477500" cy="7143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/>
          <a:lstStyle xmlns:a="http://schemas.openxmlformats.org/drawingml/2006/main">
            <a:defPPr>
              <a:defRPr sz="1800">
                <a:solidFill>
                  <a:srgbClr val="292929"/>
                </a:solidFill>
              </a:defRPr>
            </a:defPPr>
          </a:lstStyle>
          <a:p xmlns:a="http://schemas.openxmlformats.org/drawingml/2006/main">
            <a:pPr>
              <a:defRPr sz="1800">
                <a:solidFill>
                  <a:srgbClr val="292929"/>
                </a:solidFill>
              </a:defRPr>
            </a:pPr>
            <a:r>
              <a:rPr sz="1800">
                <a:solidFill>
                  <a:srgbClr val="292929"/>
                </a:solidFill>
              </a:rPr>
              <a:t>Block 2 has 6/6 successes, but its small sample prevents a strong reliability claim. These are historical associations, not estimates of launch price or savings.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8248FECE-7F7E-430C-9EF0-FFA8B62CA1F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925175" y="6025610"/>
            <a:ext cx="428625" cy="401669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/>
          <a:lstStyle xmlns:a="http://schemas.openxmlformats.org/drawingml/2006/main">
            <a:defPPr>
              <a:defRPr sz="1600">
                <a:solidFill>
                  <a:srgbClr val="1C7DDB"/>
                </a:solidFill>
              </a:defRPr>
            </a:defPPr>
          </a:lstStyle>
          <a:p xmlns:a="http://schemas.openxmlformats.org/drawingml/2006/main">
            <a:pPr>
              <a:defRPr sz="1600">
                <a:solidFill>
                  <a:srgbClr val="1C7DDB"/>
                </a:solidFill>
              </a:defRPr>
            </a:pPr>
            <a:r>
              <a:rPr sz="1600">
                <a:solidFill>
                  <a:srgbClr val="1C7DDB"/>
                </a:solidFill>
              </a:rPr>
              <a:t>8</a:t>
            </a:r>
          </a:p>
        </p:txBody>
      </p:sp>
    </p:spTree>
    <p:extLst>
      <p:ext uri="{BB962C8B-B14F-4D97-AF65-F5344CB8AC3E}">
        <p14:creationId xmlns:p14="http://schemas.microsoft.com/office/powerpoint/2010/main" val="3288665831"/>
      </p:ext>
    </p:extLst>
  </p:cSld>
</p:sld>
</file>

<file path=ppt/slides/slide9.xml><?xml version="1.0" encoding="utf-8"?>
<p:sld xmlns:p="http://schemas.openxmlformats.org/presentationml/2006/main">
  <p:cSld>
    <p:bg>
      <p:bgPr>
        <a:blipFill xmlns:a="http://schemas.openxmlformats.org/drawingml/2006/main">
          <a:blip xmlns:r="http://schemas.openxmlformats.org/officeDocument/2006/relationships" r:embed="R54acc88a86d74cb7"/>
          <a:stretch>
            <a:fillRect l="0" t="0" r="0" b="0"/>
          </a:stretch>
        </a:blip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4" name="Slide Number Placeholder 3">
            <a:extLst xmlns:a="http://schemas.openxmlformats.org/drawingml/2006/main">
              <a:ext uri="{FF2B5EF4-FFF2-40B4-BE49-F238E27FC236}">
                <a16:creationId xmlns:a16="http://schemas.microsoft.com/office/drawing/2014/main" id="{E2403FD9-22AB-4833-9FE0-E1E67C96862D}"/>
              </a:ext>
            </a:extLst>
          </p:cNvPr>
          <p:cNvSpPr>
            <a:spLocks xmlns:a="http://schemas.openxmlformats.org/drawingml/2006/main" noGrp="1"/>
          </p:cNvSpPr>
          <p:nvPr>
            <p:ph type="sldNum" idx="12"/>
          </p:nvPr>
        </p:nvSpPr>
        <p:spPr/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>
              <a:spcAft>
                <a:spcPts val="600"/>
              </a:spcAft>
              <a:buNone/>
            </a:pPr>
            <a:fld id="{388657AE-30A1-5A7A-6A7F-315D84436430}" type="slidenum">
              <a:t>9</a:t>
            </a:fld>
            <a:endParaRPr/>
          </a:p>
        </p:txBody>
      </p:sp>
      <p:sp>
        <p:nvSpPr>
          <p:cNvPr id="19" name="Title 1">
            <a:extLst xmlns:a="http://schemas.openxmlformats.org/drawingml/2006/main">
              <a:ext uri="{FF2B5EF4-FFF2-40B4-BE49-F238E27FC236}">
                <a16:creationId xmlns:a16="http://schemas.microsoft.com/office/drawing/2014/main" id="{6CA66F18-AF00-434A-AB3C-61097BEAE5F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70001" y="538639"/>
            <a:ext cx="10572750" cy="9525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vert="horz" lIns="91440" tIns="45720" rIns="91440" bIns="45720" anchor="ctr">
            <a:normAutofit fontScale="100000" lnSpcReduction="20000"/>
          </a:bodyPr>
          <a:lstStyle xmlns:a="http://schemas.openxmlformats.org/drawingml/2006/main">
            <a:defPPr>
              <a:defRPr sz="3720">
                <a:solidFill>
                  <a:srgbClr val="0B49CB"/>
                </a:solidFill>
              </a:defRPr>
            </a:defPPr>
            <a:lvl1pPr algn="l" defTabSz="914400">
              <a:lnSpc>
                <a:spcPct val="90000"/>
              </a:lnSpc>
              <a:spcBef>
                <a:spcPct val="0"/>
              </a:spcBef>
              <a:buNone/>
              <a:defRPr sz="4000" kern="1200">
                <a:solidFill>
                  <a:srgbClr val="005493"/>
                </a:solidFill>
                <a:latin typeface="IBM Plex Mono SemiBold"/>
                <a:ea typeface="IBM Plex Mono SemiBold"/>
                <a:cs typeface="IBM Plex Mono SemiBold"/>
              </a:defRPr>
            </a:lvl1pPr>
          </a:lstStyle>
          <a:p xmlns:a="http://schemas.openxmlformats.org/drawingml/2006/main">
            <a:pPr>
              <a:defRPr sz="3720">
                <a:solidFill>
                  <a:srgbClr val="0B49CB"/>
                </a:solidFill>
              </a:defRPr>
            </a:pPr>
            <a:r>
              <a:rPr sz="3720">
                <a:solidFill>
                  <a:srgbClr val="0B49CB"/>
                </a:solidFill>
                <a:latin typeface="Abadi"/>
                <a:ea typeface="Abadi"/>
                <a:cs typeface="Abadi"/>
              </a:rPr>
              <a:t>Introduction</a:t>
            </a:r>
            <a:endParaRPr>
              <a:solidFill>
                <a:srgbClr val="0B49CB"/>
              </a:solidFill>
            </a:endParaRPr>
          </a:p>
        </p:txBody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1425D75D-A630-4BE8-AA29-BCF0315BE50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7250" y="1695450"/>
            <a:ext cx="10477500" cy="3810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/>
          <a:lstStyle xmlns:a="http://schemas.openxmlformats.org/drawingml/2006/main">
            <a:defPPr>
              <a:defRPr sz="2200">
                <a:solidFill>
                  <a:srgbClr val="292929"/>
                </a:solidFill>
              </a:defRPr>
            </a:defPPr>
          </a:lstStyle>
          <a:p xmlns:a="http://schemas.openxmlformats.org/drawingml/2006/main">
            <a:pPr>
              <a:defRPr sz="2200">
                <a:solidFill>
                  <a:srgbClr val="292929"/>
                </a:solidFill>
              </a:defRPr>
            </a:pPr>
            <a:r>
              <a:rPr sz="2200">
                <a:solidFill>
                  <a:srgbClr val="292929"/>
                </a:solidFill>
              </a:rPr>
              <a:t>Business question: how can historical launch characteristics help estimate the chance of a successful first-stage outcome?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pPr>
              <a:defRPr sz="2200">
                <a:solidFill>
                  <a:srgbClr val="292929"/>
                </a:solidFill>
              </a:defRPr>
            </a:pPr>
            <a:r>
              <a:rPr sz="2200">
                <a:solidFill>
                  <a:srgbClr val="292929"/>
                </a:solidFill>
              </a:rPr>
              <a:t>Reusable boosters create a reason to study landing outcomes. This project predicts the course outcome label, not launch price or cost savings.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pPr>
              <a:defRPr sz="2200">
                <a:solidFill>
                  <a:srgbClr val="292929"/>
                </a:solidFill>
              </a:defRPr>
            </a:pPr>
            <a:r>
              <a:rPr sz="2200">
                <a:solidFill>
                  <a:srgbClr val="292929"/>
                </a:solidFill>
              </a:rPr>
              <a:t>Compare launch sites, payload, orbit and experience, then evaluate four classification models.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pPr>
              <a:defRPr sz="2200">
                <a:solidFill>
                  <a:srgbClr val="292929"/>
                </a:solidFill>
              </a:defRPr>
            </a:pPr>
            <a:r>
              <a:rPr sz="2200">
                <a:solidFill>
                  <a:srgbClr val="292929"/>
                </a:solidFill>
              </a:rPr>
              <a:t>Scope: historical course snapshots. A successful mission and a successful first-stage outcome measure different events.</a:t>
            </a:r>
          </a:p>
        </p:txBody>
      </p:sp>
    </p:spTree>
    <p:extLst>
      <p:ext uri="{BB962C8B-B14F-4D97-AF65-F5344CB8AC3E}">
        <p14:creationId xmlns:p14="http://schemas.microsoft.com/office/powerpoint/2010/main" val="2560061391"/>
      </p:ext>
    </p:extLst>
  </p:cSld>
</p:sld>
</file>

<file path=ppt/slides/slide10.xml><?xml version="1.0" encoding="utf-8"?>
<p:sld xmlns:p="http://schemas.openxmlformats.org/presentationml/2006/main">
  <p:cSld>
    <p:bg>
      <p:bgPr>
        <a:blipFill xmlns:a="http://schemas.openxmlformats.org/drawingml/2006/main">
          <a:blip xmlns:r="http://schemas.openxmlformats.org/officeDocument/2006/relationships" r:embed="R6855a6dc4aff47b0"/>
          <a:stretch>
            <a:fillRect l="0" t="0" r="0" b="0"/>
          </a:stretch>
        </a:blip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6" name="Slide Number Placeholder 5">
            <a:extLst xmlns:a="http://schemas.openxmlformats.org/drawingml/2006/main">
              <a:ext uri="{FF2B5EF4-FFF2-40B4-BE49-F238E27FC236}">
                <a16:creationId xmlns:a16="http://schemas.microsoft.com/office/drawing/2014/main" id="{772D0411-8FF8-C540-84AE-DBA0703D368C}"/>
              </a:ext>
            </a:extLst>
          </p:cNvPr>
          <p:cNvSpPr>
            <a:spLocks xmlns:a="http://schemas.openxmlformats.org/drawingml/2006/main" noGrp="1"/>
          </p:cNvSpPr>
          <p:nvPr>
            <p:ph type="sldNum" idx="12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fld id="{DB7BEEEC-A170-5376-2B6E-CB54687B0CB1}" type="slidenum">
              <a:t>10</a:t>
            </a:fld>
            <a:endParaRPr/>
          </a:p>
        </p:txBody>
      </p:sp>
      <p:sp>
        <p:nvSpPr>
          <p:cNvPr id="4" name="Title 1">
            <a:extLst xmlns:a="http://schemas.openxmlformats.org/drawingml/2006/main">
              <a:ext uri="{FF2B5EF4-FFF2-40B4-BE49-F238E27FC236}">
                <a16:creationId xmlns:a16="http://schemas.microsoft.com/office/drawing/2014/main" id="{5066AA34-20EE-4A59-B343-346A8DB5667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70001" y="538639"/>
            <a:ext cx="10572750" cy="9525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vert="horz" lIns="91440" tIns="45720" rIns="91440" bIns="45720" anchor="ctr">
            <a:normAutofit fontScale="100000" lnSpcReduction="20000"/>
          </a:bodyPr>
          <a:lstStyle xmlns:a="http://schemas.openxmlformats.org/drawingml/2006/main">
            <a:defPPr>
              <a:defRPr sz="3720">
                <a:solidFill>
                  <a:srgbClr val="0B49CB"/>
                </a:solidFill>
              </a:defRPr>
            </a:defPPr>
            <a:lvl1pPr algn="l" defTabSz="914400">
              <a:lnSpc>
                <a:spcPct val="90000"/>
              </a:lnSpc>
              <a:spcBef>
                <a:spcPct val="0"/>
              </a:spcBef>
              <a:buNone/>
              <a:defRPr sz="4000" kern="1200">
                <a:solidFill>
                  <a:srgbClr val="005493"/>
                </a:solidFill>
                <a:latin typeface="IBM Plex Mono SemiBold"/>
                <a:ea typeface="IBM Plex Mono SemiBold"/>
                <a:cs typeface="IBM Plex Mono SemiBold"/>
              </a:defRPr>
            </a:lvl1pPr>
          </a:lstStyle>
          <a:p xmlns:a="http://schemas.openxmlformats.org/drawingml/2006/main">
            <a:pPr>
              <a:defRPr sz="3720">
                <a:solidFill>
                  <a:srgbClr val="0B49CB"/>
                </a:solidFill>
              </a:defRPr>
            </a:pPr>
            <a:r>
              <a:rPr sz="3720">
                <a:solidFill>
                  <a:srgbClr val="0B49CB"/>
                </a:solidFill>
                <a:latin typeface="Abadi"/>
                <a:ea typeface="Abadi"/>
                <a:cs typeface="Abadi"/>
              </a:rPr>
              <a:t>Data Collection – SpaceX API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A9CC2DD0-ED21-47F5-ADA6-67DCBFBEEDA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7250" y="1809750"/>
            <a:ext cx="2376488" cy="13811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1F5FC"/>
          </a:solidFill>
          <a:ln xmlns:a="http://schemas.openxmlformats.org/drawingml/2006/main" w="9525">
            <a:solidFill>
              <a:srgbClr val="0B49CB"/>
            </a:solidFill>
          </a:ln>
        </p:spPr>
        <p:txBody>
          <a:bodyPr xmlns:a="http://schemas.openxmlformats.org/drawingml/2006/main" anchor="ctr"/>
          <a:lstStyle xmlns:a="http://schemas.openxmlformats.org/drawingml/2006/main">
            <a:defPPr algn="ctr">
              <a:defRPr sz="1725">
                <a:solidFill>
                  <a:srgbClr val="292929"/>
                </a:solidFill>
              </a:defRPr>
            </a:defPPr>
          </a:lstStyle>
          <a:p xmlns:a="http://schemas.openxmlformats.org/drawingml/2006/main">
            <a:pPr algn="ctr">
              <a:defRPr sz="1725">
                <a:solidFill>
                  <a:srgbClr val="292929"/>
                </a:solidFill>
              </a:defRPr>
            </a:pPr>
            <a:r>
              <a:rPr sz="1725">
                <a:solidFill>
                  <a:srgbClr val="292929"/>
                </a:solidFill>
              </a:rPr>
              <a:t>GET launches/past</a:t>
            </a:r>
          </a:p>
          <a:p xmlns:a="http://schemas.openxmlformats.org/drawingml/2006/main">
            <a:pPr algn="ctr">
              <a:defRPr sz="1725">
                <a:solidFill>
                  <a:srgbClr val="292929"/>
                </a:solidFill>
              </a:defRPr>
            </a:pPr>
            <a:r>
              <a:rPr sz="1725">
                <a:solidFill>
                  <a:srgbClr val="292929"/>
                </a:solidFill>
              </a:rPr>
              <a:t>Archived JSON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5CBB01BC-FBDC-4ACD-82B6-5BED9B7B065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271838" y="2343150"/>
            <a:ext cx="247650" cy="219075"/>
          </a:xfrm>
          <a:prstGeom xmlns:a="http://schemas.openxmlformats.org/drawingml/2006/main" prst="rightArrow">
            <a:avLst/>
          </a:prstGeom>
          <a:solidFill xmlns:a="http://schemas.openxmlformats.org/drawingml/2006/main">
            <a:srgbClr val="0B49CB"/>
          </a:solidFill>
          <a:ln xmlns:a="http://schemas.openxmlformats.org/drawingml/2006/main" w="0">
            <a:noFill/>
          </a:ln>
        </p:spPr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24170948-767A-44BD-922E-2CA73C70375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557588" y="1809750"/>
            <a:ext cx="2376488" cy="13811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1F5FC"/>
          </a:solidFill>
          <a:ln xmlns:a="http://schemas.openxmlformats.org/drawingml/2006/main" w="9525">
            <a:solidFill>
              <a:srgbClr val="0B49CB"/>
            </a:solidFill>
          </a:ln>
        </p:spPr>
        <p:txBody>
          <a:bodyPr xmlns:a="http://schemas.openxmlformats.org/drawingml/2006/main" anchor="ctr"/>
          <a:lstStyle xmlns:a="http://schemas.openxmlformats.org/drawingml/2006/main">
            <a:defPPr algn="ctr">
              <a:defRPr sz="1725">
                <a:solidFill>
                  <a:srgbClr val="292929"/>
                </a:solidFill>
              </a:defRPr>
            </a:defPPr>
          </a:lstStyle>
          <a:p xmlns:a="http://schemas.openxmlformats.org/drawingml/2006/main">
            <a:pPr algn="ctr">
              <a:defRPr sz="1725">
                <a:solidFill>
                  <a:srgbClr val="292929"/>
                </a:solidFill>
              </a:defRPr>
            </a:pPr>
            <a:r>
              <a:rPr sz="1725">
                <a:solidFill>
                  <a:srgbClr val="292929"/>
                </a:solidFill>
              </a:rPr>
              <a:t>Filter single core</a:t>
            </a:r>
          </a:p>
          <a:p xmlns:a="http://schemas.openxmlformats.org/drawingml/2006/main">
            <a:pPr algn="ctr">
              <a:defRPr sz="1725">
                <a:solidFill>
                  <a:srgbClr val="292929"/>
                </a:solidFill>
              </a:defRPr>
            </a:pPr>
            <a:r>
              <a:rPr sz="1725">
                <a:solidFill>
                  <a:srgbClr val="292929"/>
                </a:solidFill>
              </a:rPr>
              <a:t>and single payload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B6390850-0D07-4474-B2A0-B147331810D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72175" y="2343150"/>
            <a:ext cx="247650" cy="219075"/>
          </a:xfrm>
          <a:prstGeom xmlns:a="http://schemas.openxmlformats.org/drawingml/2006/main" prst="rightArrow">
            <a:avLst/>
          </a:prstGeom>
          <a:solidFill xmlns:a="http://schemas.openxmlformats.org/drawingml/2006/main">
            <a:srgbClr val="0B49CB"/>
          </a:solidFill>
          <a:ln xmlns:a="http://schemas.openxmlformats.org/drawingml/2006/main" w="0">
            <a:noFill/>
          </a:ln>
        </p:spPr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BA4668A1-BCED-4E77-B3DB-D0CCD21AD4B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57925" y="1809750"/>
            <a:ext cx="2376488" cy="13811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1F5FC"/>
          </a:solidFill>
          <a:ln xmlns:a="http://schemas.openxmlformats.org/drawingml/2006/main" w="9525">
            <a:solidFill>
              <a:srgbClr val="0B49CB"/>
            </a:solidFill>
          </a:ln>
        </p:spPr>
        <p:txBody>
          <a:bodyPr xmlns:a="http://schemas.openxmlformats.org/drawingml/2006/main" anchor="ctr"/>
          <a:lstStyle xmlns:a="http://schemas.openxmlformats.org/drawingml/2006/main">
            <a:defPPr algn="ctr">
              <a:defRPr sz="1725">
                <a:solidFill>
                  <a:srgbClr val="292929"/>
                </a:solidFill>
              </a:defRPr>
            </a:defPPr>
          </a:lstStyle>
          <a:p xmlns:a="http://schemas.openxmlformats.org/drawingml/2006/main">
            <a:pPr algn="ctr">
              <a:defRPr sz="1725">
                <a:solidFill>
                  <a:srgbClr val="292929"/>
                </a:solidFill>
              </a:defRPr>
            </a:pPr>
            <a:r>
              <a:rPr sz="1725">
                <a:solidFill>
                  <a:srgbClr val="292929"/>
                </a:solidFill>
              </a:rPr>
              <a:t>Resolve IDs</a:t>
            </a:r>
          </a:p>
          <a:p xmlns:a="http://schemas.openxmlformats.org/drawingml/2006/main">
            <a:pPr algn="ctr">
              <a:defRPr sz="1725">
                <a:solidFill>
                  <a:srgbClr val="292929"/>
                </a:solidFill>
              </a:defRPr>
            </a:pPr>
            <a:r>
              <a:rPr sz="1725">
                <a:solidFill>
                  <a:srgbClr val="292929"/>
                </a:solidFill>
              </a:rPr>
              <a:t>Rocket, pad, payload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B950027E-D0E5-4AC8-BBA7-D4E641BA307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672513" y="2343150"/>
            <a:ext cx="247650" cy="219075"/>
          </a:xfrm>
          <a:prstGeom xmlns:a="http://schemas.openxmlformats.org/drawingml/2006/main" prst="rightArrow">
            <a:avLst/>
          </a:prstGeom>
          <a:solidFill xmlns:a="http://schemas.openxmlformats.org/drawingml/2006/main">
            <a:srgbClr val="0B49CB"/>
          </a:solidFill>
          <a:ln xmlns:a="http://schemas.openxmlformats.org/drawingml/2006/main" w="0">
            <a:noFill/>
          </a:ln>
        </p:spPr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7186B416-62D4-41CC-BD5A-39CC346C8EB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958263" y="1809750"/>
            <a:ext cx="2376488" cy="13811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1F5FC"/>
          </a:solidFill>
          <a:ln xmlns:a="http://schemas.openxmlformats.org/drawingml/2006/main" w="9525">
            <a:solidFill>
              <a:srgbClr val="0B49CB"/>
            </a:solidFill>
          </a:ln>
        </p:spPr>
        <p:txBody>
          <a:bodyPr xmlns:a="http://schemas.openxmlformats.org/drawingml/2006/main" anchor="ctr"/>
          <a:lstStyle xmlns:a="http://schemas.openxmlformats.org/drawingml/2006/main">
            <a:defPPr algn="ctr">
              <a:defRPr sz="1725">
                <a:solidFill>
                  <a:srgbClr val="292929"/>
                </a:solidFill>
              </a:defRPr>
            </a:defPPr>
          </a:lstStyle>
          <a:p xmlns:a="http://schemas.openxmlformats.org/drawingml/2006/main">
            <a:pPr algn="ctr">
              <a:defRPr sz="1725">
                <a:solidFill>
                  <a:srgbClr val="292929"/>
                </a:solidFill>
              </a:defRPr>
            </a:pPr>
            <a:r>
              <a:rPr sz="1725">
                <a:solidFill>
                  <a:srgbClr val="292929"/>
                </a:solidFill>
              </a:rPr>
              <a:t>Falcon 9 features</a:t>
            </a:r>
          </a:p>
          <a:p xmlns:a="http://schemas.openxmlformats.org/drawingml/2006/main">
            <a:pPr algn="ctr">
              <a:defRPr sz="1725">
                <a:solidFill>
                  <a:srgbClr val="292929"/>
                </a:solidFill>
              </a:defRPr>
            </a:pPr>
            <a:r>
              <a:rPr sz="1725">
                <a:solidFill>
                  <a:srgbClr val="292929"/>
                </a:solidFill>
              </a:rPr>
              <a:t>90 saved records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EC18657B-7140-4EAA-A13B-7ACAFF8623F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7250" y="3667125"/>
            <a:ext cx="10477500" cy="1762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/>
          <a:lstStyle xmlns:a="http://schemas.openxmlformats.org/drawingml/2006/main">
            <a:defPPr>
              <a:defRPr sz="2025">
                <a:solidFill>
                  <a:srgbClr val="292929"/>
                </a:solidFill>
              </a:defRPr>
            </a:defPPr>
          </a:lstStyle>
          <a:p xmlns:a="http://schemas.openxmlformats.org/drawingml/2006/main">
            <a:pPr>
              <a:defRPr sz="2025">
                <a:solidFill>
                  <a:srgbClr val="292929"/>
                </a:solidFill>
              </a:defRPr>
            </a:pPr>
            <a:r>
              <a:rPr sz="2025">
                <a:solidFill>
                  <a:srgbClr val="292929"/>
                </a:solidFill>
              </a:rPr>
              <a:t>The archived launch response supports reproducible inspection. The supplied course CSV contains the enriched rocket, launchpad, payload and core fields.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pPr>
              <a:defRPr sz="2025">
                <a:solidFill>
                  <a:srgbClr val="292929"/>
                </a:solidFill>
              </a:defRPr>
            </a:pPr>
            <a:r>
              <a:rPr sz="2025">
                <a:solidFill>
                  <a:srgbClr val="292929"/>
                </a:solidFill>
              </a:rPr>
              <a:t>The companion notebook validates the snapshot and the 90-row feature table without claiming a fresh API extraction.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9440D2F8-D6A5-4EE9-97E0-A391DA7B3B0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7250" y="5505450"/>
            <a:ext cx="10477500" cy="590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/>
          <a:lstStyle xmlns:a="http://schemas.openxmlformats.org/drawingml/2006/main">
            <a:defPPr>
              <a:defRPr sz="1425">
                <a:solidFill>
                  <a:srgbClr val="292929"/>
                </a:solidFill>
              </a:defRPr>
            </a:defPPr>
          </a:lstStyle>
          <a:p xmlns:a="http://schemas.openxmlformats.org/drawingml/2006/main">
            <a:pPr>
              <a:defRPr sz="1425">
                <a:solidFill>
                  <a:srgbClr val="292929"/>
                </a:solidFill>
              </a:defRPr>
            </a:pPr>
            <a:r>
              <a:rPr sz="1425">
                <a:solidFill>
                  <a:srgbClr val="292929"/>
                </a:solidFill>
              </a:rPr>
              <a:t>https://github.com/nicholas-yap/spacex-data-science-capstone/blob/main/</a:t>
            </a:r>
          </a:p>
          <a:p xmlns:a="http://schemas.openxmlformats.org/drawingml/2006/main">
            <a:pPr>
              <a:defRPr sz="1425">
                <a:solidFill>
                  <a:srgbClr val="292929"/>
                </a:solidFill>
              </a:defRPr>
            </a:pPr>
            <a:r>
              <a:rPr sz="1425">
                <a:solidFill>
                  <a:srgbClr val="292929"/>
                </a:solidFill>
              </a:rPr>
              <a:t>notebooks/01-data-collection.ipynb</a:t>
            </a:r>
          </a:p>
        </p:txBody>
      </p:sp>
    </p:spTree>
    <p:extLst>
      <p:ext uri="{BB962C8B-B14F-4D97-AF65-F5344CB8AC3E}">
        <p14:creationId xmlns:p14="http://schemas.microsoft.com/office/powerpoint/2010/main" val="280316088"/>
      </p:ext>
    </p:extLst>
  </p:cSld>
</p:sld>
</file>

<file path=ppt/slides/slide11.xml><?xml version="1.0" encoding="utf-8"?>
<p:sld xmlns:p="http://schemas.openxmlformats.org/presentationml/2006/main">
  <p:cSld>
    <p:bg>
      <p:bgPr>
        <a:blipFill xmlns:a="http://schemas.openxmlformats.org/drawingml/2006/main">
          <a:blip xmlns:r="http://schemas.openxmlformats.org/officeDocument/2006/relationships" r:embed="R4c62b115fb824939"/>
          <a:stretch>
            <a:fillRect l="0" t="0" r="0" b="0"/>
          </a:stretch>
        </a:blip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6" name="Slide Number Placeholder 5">
            <a:extLst xmlns:a="http://schemas.openxmlformats.org/drawingml/2006/main">
              <a:ext uri="{FF2B5EF4-FFF2-40B4-BE49-F238E27FC236}">
                <a16:creationId xmlns:a16="http://schemas.microsoft.com/office/drawing/2014/main" id="{772D0411-8FF8-C540-84AE-DBA0703D368C}"/>
              </a:ext>
            </a:extLst>
          </p:cNvPr>
          <p:cNvSpPr>
            <a:spLocks xmlns:a="http://schemas.openxmlformats.org/drawingml/2006/main" noGrp="1"/>
          </p:cNvSpPr>
          <p:nvPr>
            <p:ph type="sldNum" idx="12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fld id="{30394428-F1DC-E5F6-DB0C-7DE31F3D8A23}" type="slidenum">
              <a:t>11</a:t>
            </a:fld>
            <a:endParaRPr/>
          </a:p>
        </p:txBody>
      </p:sp>
      <p:sp>
        <p:nvSpPr>
          <p:cNvPr id="4" name="Title 1">
            <a:extLst xmlns:a="http://schemas.openxmlformats.org/drawingml/2006/main">
              <a:ext uri="{FF2B5EF4-FFF2-40B4-BE49-F238E27FC236}">
                <a16:creationId xmlns:a16="http://schemas.microsoft.com/office/drawing/2014/main" id="{6B84506E-0B2F-4BA8-892E-8CE3753AF95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70011" y="538650"/>
            <a:ext cx="10515600" cy="549049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vert="horz" lIns="91440" tIns="45720" rIns="91440" bIns="45720" anchor="ctr">
            <a:normAutofit fontScale="92500" lnSpcReduction="20000"/>
          </a:bodyPr>
          <a:lstStyle xmlns:a="http://schemas.openxmlformats.org/drawingml/2006/main">
            <a:lvl1pPr algn="l" defTabSz="914400">
              <a:lnSpc>
                <a:spcPct val="90000"/>
              </a:lnSpc>
              <a:spcBef>
                <a:spcPct val="0"/>
              </a:spcBef>
              <a:buNone/>
              <a:defRPr sz="4000" kern="1200">
                <a:solidFill>
                  <a:srgbClr val="005493"/>
                </a:solidFill>
                <a:latin typeface="IBM Plex Mono SemiBold"/>
                <a:ea typeface="IBM Plex Mono SemiBold"/>
                <a:cs typeface="IBM Plex Mono SemiBold"/>
              </a:defRPr>
            </a:lvl1pPr>
          </a:lstStyle>
          <a:p xmlns:a="http://schemas.openxmlformats.org/drawingml/2006/main">
            <a:endParaRPr>
              <a:solidFill>
                <a:srgbClr val="1C7DDB"/>
              </a:solidFill>
              <a:latin typeface="Abadi"/>
              <a:ea typeface="Abadi"/>
              <a:cs typeface="Abadi"/>
            </a:endParaRPr>
          </a:p>
        </p:txBody>
      </p:sp>
      <p:sp>
        <p:nvSpPr>
          <p:cNvPr id="11" name="Title 1">
            <a:extLst xmlns:a="http://schemas.openxmlformats.org/drawingml/2006/main">
              <a:ext uri="{FF2B5EF4-FFF2-40B4-BE49-F238E27FC236}">
                <a16:creationId xmlns:a16="http://schemas.microsoft.com/office/drawing/2014/main" id="{84F5ABFD-B4D4-43FF-959F-AFAF45B4526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70001" y="538639"/>
            <a:ext cx="10572750" cy="9525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vert="horz" lIns="91440" tIns="45720" rIns="91440" bIns="45720" anchor="ctr">
            <a:normAutofit fontScale="100000" lnSpcReduction="20000"/>
          </a:bodyPr>
          <a:lstStyle xmlns:a="http://schemas.openxmlformats.org/drawingml/2006/main">
            <a:defPPr>
              <a:defRPr sz="3720">
                <a:solidFill>
                  <a:srgbClr val="0B49CB"/>
                </a:solidFill>
              </a:defRPr>
            </a:defPPr>
            <a:lvl1pPr algn="l" defTabSz="914400">
              <a:lnSpc>
                <a:spcPct val="90000"/>
              </a:lnSpc>
              <a:spcBef>
                <a:spcPct val="0"/>
              </a:spcBef>
              <a:buNone/>
              <a:defRPr sz="4000" kern="1200">
                <a:solidFill>
                  <a:srgbClr val="005493"/>
                </a:solidFill>
                <a:latin typeface="IBM Plex Mono SemiBold"/>
                <a:ea typeface="IBM Plex Mono SemiBold"/>
                <a:cs typeface="IBM Plex Mono SemiBold"/>
              </a:defRPr>
            </a:lvl1pPr>
          </a:lstStyle>
          <a:p xmlns:a="http://schemas.openxmlformats.org/drawingml/2006/main">
            <a:pPr>
              <a:defRPr sz="3720">
                <a:solidFill>
                  <a:srgbClr val="0B49CB"/>
                </a:solidFill>
              </a:defRPr>
            </a:pPr>
            <a:r>
              <a:rPr sz="3720">
                <a:solidFill>
                  <a:srgbClr val="0B49CB"/>
                </a:solidFill>
                <a:latin typeface="Abadi"/>
                <a:ea typeface="Abadi"/>
                <a:cs typeface="Abadi"/>
              </a:rPr>
              <a:t>Data Collection – Web Scraping</a:t>
            </a:r>
            <a:endParaRPr>
              <a:solidFill>
                <a:srgbClr val="0B49CB"/>
              </a:solidFill>
            </a:endParaRP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7E38C534-95DA-4F5C-BD90-92EBAACC06F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7250" y="1809750"/>
            <a:ext cx="2376488" cy="13811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1F5FC"/>
          </a:solidFill>
          <a:ln xmlns:a="http://schemas.openxmlformats.org/drawingml/2006/main" w="9525">
            <a:solidFill>
              <a:srgbClr val="0B49CB"/>
            </a:solidFill>
          </a:ln>
        </p:spPr>
        <p:txBody>
          <a:bodyPr xmlns:a="http://schemas.openxmlformats.org/drawingml/2006/main" anchor="ctr"/>
          <a:lstStyle xmlns:a="http://schemas.openxmlformats.org/drawingml/2006/main">
            <a:defPPr algn="ctr">
              <a:defRPr sz="1725">
                <a:solidFill>
                  <a:srgbClr val="292929"/>
                </a:solidFill>
              </a:defRPr>
            </a:defPPr>
          </a:lstStyle>
          <a:p xmlns:a="http://schemas.openxmlformats.org/drawingml/2006/main">
            <a:pPr algn="ctr">
              <a:defRPr sz="1725">
                <a:solidFill>
                  <a:srgbClr val="292929"/>
                </a:solidFill>
              </a:defRPr>
            </a:pPr>
            <a:r>
              <a:rPr sz="1725">
                <a:solidFill>
                  <a:srgbClr val="292929"/>
                </a:solidFill>
              </a:rPr>
              <a:t>Wikipedia snapshot</a:t>
            </a:r>
          </a:p>
          <a:p xmlns:a="http://schemas.openxmlformats.org/drawingml/2006/main">
            <a:pPr algn="ctr">
              <a:defRPr sz="1725">
                <a:solidFill>
                  <a:srgbClr val="292929"/>
                </a:solidFill>
              </a:defRPr>
            </a:pPr>
            <a:r>
              <a:rPr sz="1725">
                <a:solidFill>
                  <a:srgbClr val="292929"/>
                </a:solidFill>
              </a:rPr>
              <a:t>Revision 1027686922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6096ED33-0475-4E7A-B12A-F5DDB356729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271838" y="2343150"/>
            <a:ext cx="247650" cy="219075"/>
          </a:xfrm>
          <a:prstGeom xmlns:a="http://schemas.openxmlformats.org/drawingml/2006/main" prst="rightArrow">
            <a:avLst/>
          </a:prstGeom>
          <a:solidFill xmlns:a="http://schemas.openxmlformats.org/drawingml/2006/main">
            <a:srgbClr val="0B49CB"/>
          </a:solidFill>
          <a:ln xmlns:a="http://schemas.openxmlformats.org/drawingml/2006/main" w="0">
            <a:noFill/>
          </a:ln>
        </p:spPr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2E952F54-FF2B-4FEE-B10E-8DE6C8ECA4A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557588" y="1809750"/>
            <a:ext cx="2376488" cy="13811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1F5FC"/>
          </a:solidFill>
          <a:ln xmlns:a="http://schemas.openxmlformats.org/drawingml/2006/main" w="9525">
            <a:solidFill>
              <a:srgbClr val="0B49CB"/>
            </a:solidFill>
          </a:ln>
        </p:spPr>
        <p:txBody>
          <a:bodyPr xmlns:a="http://schemas.openxmlformats.org/drawingml/2006/main" anchor="ctr"/>
          <a:lstStyle xmlns:a="http://schemas.openxmlformats.org/drawingml/2006/main">
            <a:defPPr algn="ctr">
              <a:defRPr sz="1725">
                <a:solidFill>
                  <a:srgbClr val="292929"/>
                </a:solidFill>
              </a:defRPr>
            </a:defPPr>
          </a:lstStyle>
          <a:p xmlns:a="http://schemas.openxmlformats.org/drawingml/2006/main">
            <a:pPr algn="ctr">
              <a:defRPr sz="1725">
                <a:solidFill>
                  <a:srgbClr val="292929"/>
                </a:solidFill>
              </a:defRPr>
            </a:pPr>
            <a:r>
              <a:rPr sz="1725">
                <a:solidFill>
                  <a:srgbClr val="292929"/>
                </a:solidFill>
              </a:rPr>
              <a:t>BeautifulSoup</a:t>
            </a:r>
          </a:p>
          <a:p xmlns:a="http://schemas.openxmlformats.org/drawingml/2006/main">
            <a:pPr algn="ctr">
              <a:defRPr sz="1725">
                <a:solidFill>
                  <a:srgbClr val="292929"/>
                </a:solidFill>
              </a:defRPr>
            </a:pPr>
            <a:r>
              <a:rPr sz="1725">
                <a:solidFill>
                  <a:srgbClr val="292929"/>
                </a:solidFill>
              </a:rPr>
              <a:t>Launch tables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13627094-ECC1-4A6B-80C5-DD08D07D01A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72175" y="2343150"/>
            <a:ext cx="247650" cy="219075"/>
          </a:xfrm>
          <a:prstGeom xmlns:a="http://schemas.openxmlformats.org/drawingml/2006/main" prst="rightArrow">
            <a:avLst/>
          </a:prstGeom>
          <a:solidFill xmlns:a="http://schemas.openxmlformats.org/drawingml/2006/main">
            <a:srgbClr val="0B49CB"/>
          </a:solidFill>
          <a:ln xmlns:a="http://schemas.openxmlformats.org/drawingml/2006/main" w="0">
            <a:noFill/>
          </a:ln>
        </p:spPr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BAE12960-A8A0-45D3-9BE4-E0A37147AD4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57925" y="1809750"/>
            <a:ext cx="2376488" cy="13811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1F5FC"/>
          </a:solidFill>
          <a:ln xmlns:a="http://schemas.openxmlformats.org/drawingml/2006/main" w="9525">
            <a:solidFill>
              <a:srgbClr val="0B49CB"/>
            </a:solidFill>
          </a:ln>
        </p:spPr>
        <p:txBody>
          <a:bodyPr xmlns:a="http://schemas.openxmlformats.org/drawingml/2006/main" anchor="ctr"/>
          <a:lstStyle xmlns:a="http://schemas.openxmlformats.org/drawingml/2006/main">
            <a:defPPr algn="ctr">
              <a:defRPr sz="1725">
                <a:solidFill>
                  <a:srgbClr val="292929"/>
                </a:solidFill>
              </a:defRPr>
            </a:defPPr>
          </a:lstStyle>
          <a:p xmlns:a="http://schemas.openxmlformats.org/drawingml/2006/main">
            <a:pPr algn="ctr">
              <a:defRPr sz="1725">
                <a:solidFill>
                  <a:srgbClr val="292929"/>
                </a:solidFill>
              </a:defRPr>
            </a:pPr>
            <a:r>
              <a:rPr sz="1725">
                <a:solidFill>
                  <a:srgbClr val="292929"/>
                </a:solidFill>
              </a:rPr>
              <a:t>Parse cells</a:t>
            </a:r>
          </a:p>
          <a:p xmlns:a="http://schemas.openxmlformats.org/drawingml/2006/main">
            <a:pPr algn="ctr">
              <a:defRPr sz="1725">
                <a:solidFill>
                  <a:srgbClr val="292929"/>
                </a:solidFill>
              </a:defRPr>
            </a:pPr>
            <a:r>
              <a:rPr sz="1725">
                <a:solidFill>
                  <a:srgbClr val="292929"/>
                </a:solidFill>
              </a:rPr>
              <a:t>Dates, payload, orbit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ED4A60B5-5667-419C-9579-FE037746001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672513" y="2343150"/>
            <a:ext cx="247650" cy="219075"/>
          </a:xfrm>
          <a:prstGeom xmlns:a="http://schemas.openxmlformats.org/drawingml/2006/main" prst="rightArrow">
            <a:avLst/>
          </a:prstGeom>
          <a:solidFill xmlns:a="http://schemas.openxmlformats.org/drawingml/2006/main">
            <a:srgbClr val="0B49CB"/>
          </a:solidFill>
          <a:ln xmlns:a="http://schemas.openxmlformats.org/drawingml/2006/main" w="0">
            <a:noFill/>
          </a:ln>
        </p:spPr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9DB2C2A9-0509-4153-9304-C28E718A01A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958263" y="1809750"/>
            <a:ext cx="2376488" cy="13811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1F5FC"/>
          </a:solidFill>
          <a:ln xmlns:a="http://schemas.openxmlformats.org/drawingml/2006/main" w="9525">
            <a:solidFill>
              <a:srgbClr val="0B49CB"/>
            </a:solidFill>
          </a:ln>
        </p:spPr>
        <p:txBody>
          <a:bodyPr xmlns:a="http://schemas.openxmlformats.org/drawingml/2006/main" anchor="ctr"/>
          <a:lstStyle xmlns:a="http://schemas.openxmlformats.org/drawingml/2006/main">
            <a:defPPr algn="ctr">
              <a:defRPr sz="1725">
                <a:solidFill>
                  <a:srgbClr val="292929"/>
                </a:solidFill>
              </a:defRPr>
            </a:defPPr>
          </a:lstStyle>
          <a:p xmlns:a="http://schemas.openxmlformats.org/drawingml/2006/main">
            <a:pPr algn="ctr">
              <a:defRPr sz="1725">
                <a:solidFill>
                  <a:srgbClr val="292929"/>
                </a:solidFill>
              </a:defRPr>
            </a:pPr>
            <a:r>
              <a:rPr sz="1725">
                <a:solidFill>
                  <a:srgbClr val="292929"/>
                </a:solidFill>
              </a:rPr>
              <a:t>Validate and export</a:t>
            </a:r>
          </a:p>
          <a:p xmlns:a="http://schemas.openxmlformats.org/drawingml/2006/main">
            <a:pPr algn="ctr">
              <a:defRPr sz="1725">
                <a:solidFill>
                  <a:srgbClr val="292929"/>
                </a:solidFill>
              </a:defRPr>
            </a:pPr>
            <a:r>
              <a:rPr sz="1725">
                <a:solidFill>
                  <a:srgbClr val="292929"/>
                </a:solidFill>
              </a:rPr>
              <a:t>121 rows, 11 columns</a:t>
            </a:r>
          </a:p>
        </p:txBody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6C2D06A3-AE05-4A39-8AE8-F99FE3334D0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7250" y="3714750"/>
            <a:ext cx="10477500" cy="1619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/>
          <a:lstStyle xmlns:a="http://schemas.openxmlformats.org/drawingml/2006/main">
            <a:defPPr>
              <a:defRPr sz="2200">
                <a:solidFill>
                  <a:srgbClr val="292929"/>
                </a:solidFill>
              </a:defRPr>
            </a:defPPr>
          </a:lstStyle>
          <a:p xmlns:a="http://schemas.openxmlformats.org/drawingml/2006/main">
            <a:pPr>
              <a:defRPr sz="2200">
                <a:solidFill>
                  <a:srgbClr val="292929"/>
                </a:solidFill>
              </a:defRPr>
            </a:pPr>
            <a:r>
              <a:rPr sz="2200">
                <a:solidFill>
                  <a:srgbClr val="292929"/>
                </a:solidFill>
              </a:rPr>
              <a:t>The completed notebook extracts numbered launch rows and checks flight IDs, dates and times.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pPr>
              <a:defRPr sz="2200">
                <a:solidFill>
                  <a:srgbClr val="292929"/>
                </a:solidFill>
              </a:defRPr>
            </a:pPr>
            <a:r>
              <a:rPr sz="2200">
                <a:solidFill>
                  <a:srgbClr val="292929"/>
                </a:solidFill>
              </a:rPr>
              <a:t>The June 2021 page snapshot extends beyond the 90-row modeling sample. The scraped table remains a separate source.</a:t>
            </a:r>
          </a:p>
        </p:txBody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9B4928AE-0165-41A0-882A-68B14AB2F9B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7250" y="5505450"/>
            <a:ext cx="10477500" cy="590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/>
          <a:lstStyle xmlns:a="http://schemas.openxmlformats.org/drawingml/2006/main">
            <a:defPPr>
              <a:defRPr sz="1425">
                <a:solidFill>
                  <a:srgbClr val="292929"/>
                </a:solidFill>
              </a:defRPr>
            </a:defPPr>
          </a:lstStyle>
          <a:p xmlns:a="http://schemas.openxmlformats.org/drawingml/2006/main">
            <a:pPr>
              <a:defRPr sz="1425">
                <a:solidFill>
                  <a:srgbClr val="292929"/>
                </a:solidFill>
              </a:defRPr>
            </a:pPr>
            <a:r>
              <a:rPr sz="1425">
                <a:solidFill>
                  <a:srgbClr val="292929"/>
                </a:solidFill>
              </a:rPr>
              <a:t>https://github.com/nicholas-yap/spacex-data-science-capstone/blob/main/</a:t>
            </a:r>
          </a:p>
          <a:p xmlns:a="http://schemas.openxmlformats.org/drawingml/2006/main">
            <a:pPr>
              <a:defRPr sz="1425">
                <a:solidFill>
                  <a:srgbClr val="292929"/>
                </a:solidFill>
              </a:defRPr>
            </a:pPr>
            <a:r>
              <a:rPr sz="1425">
                <a:solidFill>
                  <a:srgbClr val="292929"/>
                </a:solidFill>
              </a:rPr>
              <a:t>notebooks/jupyter-labs-webscraping.ipynb</a:t>
            </a:r>
          </a:p>
        </p:txBody>
      </p:sp>
    </p:spTree>
    <p:extLst>
      <p:ext uri="{BB962C8B-B14F-4D97-AF65-F5344CB8AC3E}">
        <p14:creationId xmlns:p14="http://schemas.microsoft.com/office/powerpoint/2010/main" val="1385553969"/>
      </p:ext>
    </p:extLst>
  </p:cSld>
</p:sld>
</file>

<file path=ppt/slides/slide12.xml><?xml version="1.0" encoding="utf-8"?>
<p:sld xmlns:p="http://schemas.openxmlformats.org/presentationml/2006/main">
  <p:cSld>
    <p:bg>
      <p:bgPr>
        <a:blipFill xmlns:a="http://schemas.openxmlformats.org/drawingml/2006/main">
          <a:blip xmlns:r="http://schemas.openxmlformats.org/officeDocument/2006/relationships" r:embed="Rfbcc32127fd14e36"/>
          <a:stretch>
            <a:fillRect l="0" t="0" r="0" b="0"/>
          </a:stretch>
        </a:blip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4" name="Slide Number Placeholder 3">
            <a:extLst xmlns:a="http://schemas.openxmlformats.org/drawingml/2006/main">
              <a:ext uri="{FF2B5EF4-FFF2-40B4-BE49-F238E27FC236}">
                <a16:creationId xmlns:a16="http://schemas.microsoft.com/office/drawing/2014/main" id="{EE021CA9-7CB7-1046-8FA0-21F127C19A59}"/>
              </a:ext>
            </a:extLst>
          </p:cNvPr>
          <p:cNvSpPr>
            <a:spLocks xmlns:a="http://schemas.openxmlformats.org/drawingml/2006/main" noGrp="1"/>
          </p:cNvSpPr>
          <p:nvPr>
            <p:ph type="sldNum" idx="12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fld id="{4DB16885-0D3F-A391-B669-3211DB3B26E8}" type="slidenum">
              <a:t>12</a:t>
            </a:fld>
            <a:endParaRPr/>
          </a:p>
        </p:txBody>
      </p:sp>
      <p:sp>
        <p:nvSpPr>
          <p:cNvPr id="8" name="Title 1">
            <a:extLst xmlns:a="http://schemas.openxmlformats.org/drawingml/2006/main">
              <a:ext uri="{FF2B5EF4-FFF2-40B4-BE49-F238E27FC236}">
                <a16:creationId xmlns:a16="http://schemas.microsoft.com/office/drawing/2014/main" id="{2A665A13-3129-46DF-B847-F273F3E96BE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70001" y="538639"/>
            <a:ext cx="10572750" cy="9525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vert="horz" lIns="91440" tIns="45720" rIns="91440" bIns="45720" anchor="ctr">
            <a:normAutofit fontScale="100000" lnSpcReduction="20000"/>
          </a:bodyPr>
          <a:lstStyle xmlns:a="http://schemas.openxmlformats.org/drawingml/2006/main">
            <a:defPPr>
              <a:defRPr sz="3720">
                <a:solidFill>
                  <a:srgbClr val="0B49CB"/>
                </a:solidFill>
              </a:defRPr>
            </a:defPPr>
            <a:lvl1pPr algn="l" defTabSz="914400">
              <a:lnSpc>
                <a:spcPct val="90000"/>
              </a:lnSpc>
              <a:spcBef>
                <a:spcPct val="0"/>
              </a:spcBef>
              <a:buNone/>
              <a:defRPr sz="4000" kern="1200">
                <a:solidFill>
                  <a:srgbClr val="005493"/>
                </a:solidFill>
                <a:latin typeface="IBM Plex Mono SemiBold"/>
                <a:ea typeface="IBM Plex Mono SemiBold"/>
                <a:cs typeface="IBM Plex Mono SemiBold"/>
              </a:defRPr>
            </a:lvl1pPr>
          </a:lstStyle>
          <a:p xmlns:a="http://schemas.openxmlformats.org/drawingml/2006/main">
            <a:pPr>
              <a:defRPr sz="3720">
                <a:solidFill>
                  <a:srgbClr val="0B49CB"/>
                </a:solidFill>
              </a:defRPr>
            </a:pPr>
            <a:r>
              <a:rPr sz="3720">
                <a:solidFill>
                  <a:srgbClr val="0B49CB"/>
                </a:solidFill>
                <a:latin typeface="Abadi"/>
                <a:ea typeface="Abadi"/>
                <a:cs typeface="Abadi"/>
              </a:rPr>
              <a:t>Data Wrangling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5FCB0E27-0BFF-4249-8C2F-E487120B2BC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7250" y="1809750"/>
            <a:ext cx="2376488" cy="13811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1F5FC"/>
          </a:solidFill>
          <a:ln xmlns:a="http://schemas.openxmlformats.org/drawingml/2006/main" w="9525">
            <a:solidFill>
              <a:srgbClr val="0B49CB"/>
            </a:solidFill>
          </a:ln>
        </p:spPr>
        <p:txBody>
          <a:bodyPr xmlns:a="http://schemas.openxmlformats.org/drawingml/2006/main" anchor="ctr"/>
          <a:lstStyle xmlns:a="http://schemas.openxmlformats.org/drawingml/2006/main">
            <a:defPPr algn="ctr">
              <a:defRPr sz="1725">
                <a:solidFill>
                  <a:srgbClr val="292929"/>
                </a:solidFill>
              </a:defRPr>
            </a:defPPr>
          </a:lstStyle>
          <a:p xmlns:a="http://schemas.openxmlformats.org/drawingml/2006/main">
            <a:pPr algn="ctr">
              <a:defRPr sz="1725">
                <a:solidFill>
                  <a:srgbClr val="292929"/>
                </a:solidFill>
              </a:defRPr>
            </a:pPr>
            <a:r>
              <a:rPr sz="1725">
                <a:solidFill>
                  <a:srgbClr val="292929"/>
                </a:solidFill>
              </a:rPr>
              <a:t>Validate schema</a:t>
            </a:r>
          </a:p>
          <a:p xmlns:a="http://schemas.openxmlformats.org/drawingml/2006/main">
            <a:pPr algn="ctr">
              <a:defRPr sz="1725">
                <a:solidFill>
                  <a:srgbClr val="292929"/>
                </a:solidFill>
              </a:defRPr>
            </a:pPr>
            <a:r>
              <a:rPr sz="1725">
                <a:solidFill>
                  <a:srgbClr val="292929"/>
                </a:solidFill>
              </a:rPr>
              <a:t>Dates and flight IDs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D8426060-DAE8-435C-A091-5D98C764338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271838" y="2343150"/>
            <a:ext cx="247650" cy="219075"/>
          </a:xfrm>
          <a:prstGeom xmlns:a="http://schemas.openxmlformats.org/drawingml/2006/main" prst="rightArrow">
            <a:avLst/>
          </a:prstGeom>
          <a:solidFill xmlns:a="http://schemas.openxmlformats.org/drawingml/2006/main">
            <a:srgbClr val="0B49CB"/>
          </a:solidFill>
          <a:ln xmlns:a="http://schemas.openxmlformats.org/drawingml/2006/main" w="0">
            <a:noFill/>
          </a:ln>
        </p:spPr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7759618E-868E-4FFA-955A-23B0F27D043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557588" y="1809750"/>
            <a:ext cx="2376488" cy="13811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1F5FC"/>
          </a:solidFill>
          <a:ln xmlns:a="http://schemas.openxmlformats.org/drawingml/2006/main" w="9525">
            <a:solidFill>
              <a:srgbClr val="0B49CB"/>
            </a:solidFill>
          </a:ln>
        </p:spPr>
        <p:txBody>
          <a:bodyPr xmlns:a="http://schemas.openxmlformats.org/drawingml/2006/main" anchor="ctr"/>
          <a:lstStyle xmlns:a="http://schemas.openxmlformats.org/drawingml/2006/main">
            <a:defPPr algn="ctr">
              <a:defRPr sz="1725">
                <a:solidFill>
                  <a:srgbClr val="292929"/>
                </a:solidFill>
              </a:defRPr>
            </a:defPPr>
          </a:lstStyle>
          <a:p xmlns:a="http://schemas.openxmlformats.org/drawingml/2006/main">
            <a:pPr algn="ctr">
              <a:defRPr sz="1725">
                <a:solidFill>
                  <a:srgbClr val="292929"/>
                </a:solidFill>
              </a:defRPr>
            </a:pPr>
            <a:r>
              <a:rPr sz="1725">
                <a:solidFill>
                  <a:srgbClr val="292929"/>
                </a:solidFill>
              </a:rPr>
              <a:t>Payload mass</a:t>
            </a:r>
          </a:p>
          <a:p xmlns:a="http://schemas.openxmlformats.org/drawingml/2006/main">
            <a:pPr algn="ctr">
              <a:defRPr sz="1725">
                <a:solidFill>
                  <a:srgbClr val="292929"/>
                </a:solidFill>
              </a:defRPr>
            </a:pPr>
            <a:r>
              <a:rPr sz="1725">
                <a:solidFill>
                  <a:srgbClr val="292929"/>
                </a:solidFill>
              </a:rPr>
              <a:t>Mean-imputed input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319038EF-0F13-4A74-91DB-C72B2BEBDCD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72175" y="2343150"/>
            <a:ext cx="247650" cy="219075"/>
          </a:xfrm>
          <a:prstGeom xmlns:a="http://schemas.openxmlformats.org/drawingml/2006/main" prst="rightArrow">
            <a:avLst/>
          </a:prstGeom>
          <a:solidFill xmlns:a="http://schemas.openxmlformats.org/drawingml/2006/main">
            <a:srgbClr val="0B49CB"/>
          </a:solidFill>
          <a:ln xmlns:a="http://schemas.openxmlformats.org/drawingml/2006/main" w="0">
            <a:noFill/>
          </a:ln>
        </p:spPr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A9E6595B-6F76-459A-A297-4110A7FAF2C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57925" y="1809750"/>
            <a:ext cx="2376488" cy="13811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1F5FC"/>
          </a:solidFill>
          <a:ln xmlns:a="http://schemas.openxmlformats.org/drawingml/2006/main" w="9525">
            <a:solidFill>
              <a:srgbClr val="0B49CB"/>
            </a:solidFill>
          </a:ln>
        </p:spPr>
        <p:txBody>
          <a:bodyPr xmlns:a="http://schemas.openxmlformats.org/drawingml/2006/main" anchor="ctr"/>
          <a:lstStyle xmlns:a="http://schemas.openxmlformats.org/drawingml/2006/main">
            <a:defPPr algn="ctr">
              <a:defRPr sz="1725">
                <a:solidFill>
                  <a:srgbClr val="292929"/>
                </a:solidFill>
              </a:defRPr>
            </a:defPPr>
          </a:lstStyle>
          <a:p xmlns:a="http://schemas.openxmlformats.org/drawingml/2006/main">
            <a:pPr algn="ctr">
              <a:defRPr sz="1725">
                <a:solidFill>
                  <a:srgbClr val="292929"/>
                </a:solidFill>
              </a:defRPr>
            </a:pPr>
            <a:r>
              <a:rPr sz="1725">
                <a:solidFill>
                  <a:srgbClr val="292929"/>
                </a:solidFill>
              </a:rPr>
              <a:t>Outcome label</a:t>
            </a:r>
          </a:p>
          <a:p xmlns:a="http://schemas.openxmlformats.org/drawingml/2006/main">
            <a:pPr algn="ctr">
              <a:defRPr sz="1725">
                <a:solidFill>
                  <a:srgbClr val="292929"/>
                </a:solidFill>
              </a:defRPr>
            </a:pPr>
            <a:r>
              <a:rPr sz="1725">
                <a:solidFill>
                  <a:srgbClr val="292929"/>
                </a:solidFill>
              </a:rPr>
              <a:t>60 class 1, 30 class 0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DDDBB688-D228-4717-A9F2-C453CD793B4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672513" y="2343150"/>
            <a:ext cx="247650" cy="219075"/>
          </a:xfrm>
          <a:prstGeom xmlns:a="http://schemas.openxmlformats.org/drawingml/2006/main" prst="rightArrow">
            <a:avLst/>
          </a:prstGeom>
          <a:solidFill xmlns:a="http://schemas.openxmlformats.org/drawingml/2006/main">
            <a:srgbClr val="0B49CB"/>
          </a:solidFill>
          <a:ln xmlns:a="http://schemas.openxmlformats.org/drawingml/2006/main" w="0">
            <a:noFill/>
          </a:ln>
        </p:spPr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3E4CCC75-D32A-449E-A497-0F4D3B16A14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958263" y="1809750"/>
            <a:ext cx="2376488" cy="13811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1F5FC"/>
          </a:solidFill>
          <a:ln xmlns:a="http://schemas.openxmlformats.org/drawingml/2006/main" w="9525">
            <a:solidFill>
              <a:srgbClr val="0B49CB"/>
            </a:solidFill>
          </a:ln>
        </p:spPr>
        <p:txBody>
          <a:bodyPr xmlns:a="http://schemas.openxmlformats.org/drawingml/2006/main" anchor="ctr"/>
          <a:lstStyle xmlns:a="http://schemas.openxmlformats.org/drawingml/2006/main">
            <a:defPPr algn="ctr">
              <a:defRPr sz="1725">
                <a:solidFill>
                  <a:srgbClr val="292929"/>
                </a:solidFill>
              </a:defRPr>
            </a:defPPr>
          </a:lstStyle>
          <a:p xmlns:a="http://schemas.openxmlformats.org/drawingml/2006/main">
            <a:pPr algn="ctr">
              <a:defRPr sz="1725">
                <a:solidFill>
                  <a:srgbClr val="292929"/>
                </a:solidFill>
              </a:defRPr>
            </a:pPr>
            <a:r>
              <a:rPr sz="1725">
                <a:solidFill>
                  <a:srgbClr val="292929"/>
                </a:solidFill>
              </a:rPr>
              <a:t>One-hot encoding</a:t>
            </a:r>
          </a:p>
          <a:p xmlns:a="http://schemas.openxmlformats.org/drawingml/2006/main">
            <a:pPr algn="ctr">
              <a:defRPr sz="1725">
                <a:solidFill>
                  <a:srgbClr val="292929"/>
                </a:solidFill>
              </a:defRPr>
            </a:pPr>
            <a:r>
              <a:rPr sz="1725">
                <a:solidFill>
                  <a:srgbClr val="292929"/>
                </a:solidFill>
              </a:rPr>
              <a:t>83 model features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EEE9B903-1325-48E6-93BA-7662C675743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7250" y="3714750"/>
            <a:ext cx="10477500" cy="16668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/>
          <a:lstStyle xmlns:a="http://schemas.openxmlformats.org/drawingml/2006/main">
            <a:defPPr>
              <a:defRPr sz="2100">
                <a:solidFill>
                  <a:srgbClr val="292929"/>
                </a:solidFill>
              </a:defRPr>
            </a:defPPr>
          </a:lstStyle>
          <a:p xmlns:a="http://schemas.openxmlformats.org/drawingml/2006/main">
            <a:pPr>
              <a:defRPr sz="2100">
                <a:solidFill>
                  <a:srgbClr val="292929"/>
                </a:solidFill>
              </a:defRPr>
            </a:pPr>
            <a:r>
              <a:rPr sz="2100">
                <a:solidFill>
                  <a:srgbClr val="292929"/>
                </a:solidFill>
              </a:rPr>
              <a:t>Class 1 includes True ASDS, True RTLS and True Ocean. Class 0 includes failed, missing and no-attempt outcomes.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pPr>
              <a:defRPr sz="2100">
                <a:solidFill>
                  <a:srgbClr val="292929"/>
                </a:solidFill>
              </a:defRPr>
            </a:pPr>
            <a:r>
              <a:rPr sz="2100">
                <a:solidFill>
                  <a:srgbClr val="292929"/>
                </a:solidFill>
              </a:rPr>
              <a:t>Controlled ocean outcomes do not establish booster recovery. Keep this distinction when interpreting “success.”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0C19E95E-C97C-40C6-BA1B-4A254C16094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7250" y="5505450"/>
            <a:ext cx="10477500" cy="590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/>
          <a:lstStyle xmlns:a="http://schemas.openxmlformats.org/drawingml/2006/main">
            <a:defPPr>
              <a:defRPr sz="1425">
                <a:solidFill>
                  <a:srgbClr val="292929"/>
                </a:solidFill>
              </a:defRPr>
            </a:defPPr>
          </a:lstStyle>
          <a:p xmlns:a="http://schemas.openxmlformats.org/drawingml/2006/main">
            <a:pPr>
              <a:defRPr sz="1425">
                <a:solidFill>
                  <a:srgbClr val="292929"/>
                </a:solidFill>
              </a:defRPr>
            </a:pPr>
            <a:r>
              <a:rPr sz="1425">
                <a:solidFill>
                  <a:srgbClr val="292929"/>
                </a:solidFill>
              </a:rPr>
              <a:t>https://github.com/nicholas-yap/spacex-data-science-capstone/blob/main/</a:t>
            </a:r>
          </a:p>
          <a:p xmlns:a="http://schemas.openxmlformats.org/drawingml/2006/main">
            <a:pPr>
              <a:defRPr sz="1425">
                <a:solidFill>
                  <a:srgbClr val="292929"/>
                </a:solidFill>
              </a:defRPr>
            </a:pPr>
            <a:r>
              <a:rPr sz="1425">
                <a:solidFill>
                  <a:srgbClr val="292929"/>
                </a:solidFill>
              </a:rPr>
              <a:t>notebooks/02-wrangling-eda.ipynb</a:t>
            </a:r>
          </a:p>
        </p:txBody>
      </p:sp>
    </p:spTree>
    <p:extLst>
      <p:ext uri="{BB962C8B-B14F-4D97-AF65-F5344CB8AC3E}">
        <p14:creationId xmlns:p14="http://schemas.microsoft.com/office/powerpoint/2010/main" val="2987552906"/>
      </p:ext>
    </p:extLst>
  </p:cSld>
</p:sld>
</file>

<file path=ppt/slides/slide13.xml><?xml version="1.0" encoding="utf-8"?>
<p:sld xmlns:p="http://schemas.openxmlformats.org/presentationml/2006/main">
  <p:cSld>
    <p:bg>
      <p:bgPr>
        <a:blipFill xmlns:a="http://schemas.openxmlformats.org/drawingml/2006/main">
          <a:blip xmlns:r="http://schemas.openxmlformats.org/officeDocument/2006/relationships" r:embed="Rcaf83f73a8524224"/>
          <a:stretch>
            <a:fillRect l="0" t="0" r="0" b="0"/>
          </a:stretch>
        </a:blip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4" name="Slide Number Placeholder 3">
            <a:extLst xmlns:a="http://schemas.openxmlformats.org/drawingml/2006/main">
              <a:ext uri="{FF2B5EF4-FFF2-40B4-BE49-F238E27FC236}">
                <a16:creationId xmlns:a16="http://schemas.microsoft.com/office/drawing/2014/main" id="{2C4E03D3-761E-7549-A4C6-7E585EBC4F01}"/>
              </a:ext>
            </a:extLst>
          </p:cNvPr>
          <p:cNvSpPr>
            <a:spLocks xmlns:a="http://schemas.openxmlformats.org/drawingml/2006/main" noGrp="1"/>
          </p:cNvSpPr>
          <p:nvPr>
            <p:ph type="sldNum" idx="12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fld id="{2DD23107-4986-8758-3A93-3D74F35908CC}" type="slidenum">
              <a:t>13</a:t>
            </a:fld>
            <a:endParaRPr/>
          </a:p>
        </p:txBody>
      </p:sp>
      <p:sp>
        <p:nvSpPr>
          <p:cNvPr id="3" name="Title 1">
            <a:extLst xmlns:a="http://schemas.openxmlformats.org/drawingml/2006/main">
              <a:ext uri="{FF2B5EF4-FFF2-40B4-BE49-F238E27FC236}">
                <a16:creationId xmlns:a16="http://schemas.microsoft.com/office/drawing/2014/main" id="{D9E97D81-A978-4758-8A93-47C19B10407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70001" y="538639"/>
            <a:ext cx="10572750" cy="9525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vert="horz" lIns="91440" tIns="45720" rIns="91440" bIns="45720" anchor="ctr">
            <a:normAutofit fontScale="100000" lnSpcReduction="20000"/>
          </a:bodyPr>
          <a:lstStyle xmlns:a="http://schemas.openxmlformats.org/drawingml/2006/main">
            <a:defPPr>
              <a:defRPr sz="3720">
                <a:solidFill>
                  <a:srgbClr val="0B49CB"/>
                </a:solidFill>
              </a:defRPr>
            </a:defPPr>
            <a:lvl1pPr algn="l" defTabSz="914400">
              <a:lnSpc>
                <a:spcPct val="90000"/>
              </a:lnSpc>
              <a:spcBef>
                <a:spcPct val="0"/>
              </a:spcBef>
              <a:buNone/>
              <a:defRPr sz="4000" kern="1200">
                <a:solidFill>
                  <a:srgbClr val="005493"/>
                </a:solidFill>
                <a:latin typeface="IBM Plex Mono SemiBold"/>
                <a:ea typeface="IBM Plex Mono SemiBold"/>
                <a:cs typeface="IBM Plex Mono SemiBold"/>
              </a:defRPr>
            </a:lvl1pPr>
          </a:lstStyle>
          <a:p xmlns:a="http://schemas.openxmlformats.org/drawingml/2006/main">
            <a:pPr>
              <a:defRPr sz="3720">
                <a:solidFill>
                  <a:srgbClr val="0B49CB"/>
                </a:solidFill>
              </a:defRPr>
            </a:pPr>
            <a:r>
              <a:rPr sz="3720">
                <a:solidFill>
                  <a:srgbClr val="0B49CB"/>
                </a:solidFill>
                <a:latin typeface="Abadi"/>
                <a:ea typeface="Abadi"/>
                <a:cs typeface="Abadi"/>
              </a:rPr>
              <a:t>EDA with Data Visualization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5C9EBE1D-3DB6-48F9-907D-0818CDB8377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7250" y="1695450"/>
            <a:ext cx="10477500" cy="3810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/>
          <a:lstStyle xmlns:a="http://schemas.openxmlformats.org/drawingml/2006/main">
            <a:defPPr>
              <a:defRPr sz="2200">
                <a:solidFill>
                  <a:srgbClr val="292929"/>
                </a:solidFill>
              </a:defRPr>
            </a:defPPr>
          </a:lstStyle>
          <a:p xmlns:a="http://schemas.openxmlformats.org/drawingml/2006/main">
            <a:pPr>
              <a:defRPr sz="2200">
                <a:solidFill>
                  <a:srgbClr val="292929"/>
                </a:solidFill>
              </a:defRPr>
            </a:pPr>
            <a:r>
              <a:rPr sz="2200">
                <a:solidFill>
                  <a:srgbClr val="292929"/>
                </a:solidFill>
              </a:rPr>
              <a:t>Scatter plots compare flight number and payload with launch site and orbit. Color separates the two outcome classes.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pPr>
              <a:defRPr sz="2200">
                <a:solidFill>
                  <a:srgbClr val="292929"/>
                </a:solidFill>
              </a:defRPr>
            </a:pPr>
            <a:r>
              <a:rPr sz="2200">
                <a:solidFill>
                  <a:srgbClr val="292929"/>
                </a:solidFill>
              </a:rPr>
              <a:t>Orbit success bars show rates with launch counts so small groups remain visible.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pPr>
              <a:defRPr sz="2200">
                <a:solidFill>
                  <a:srgbClr val="292929"/>
                </a:solidFill>
              </a:defRPr>
            </a:pPr>
            <a:r>
              <a:rPr sz="2200">
                <a:solidFill>
                  <a:srgbClr val="292929"/>
                </a:solidFill>
              </a:rPr>
              <a:t>The yearly line chart shows changes in outcome rate, with year-specific denominators.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pPr>
              <a:defRPr sz="2200">
                <a:solidFill>
                  <a:srgbClr val="292929"/>
                </a:solidFill>
              </a:defRPr>
            </a:pPr>
            <a:r>
              <a:rPr sz="2200">
                <a:solidFill>
                  <a:srgbClr val="292929"/>
                </a:solidFill>
              </a:rPr>
              <a:t>Charts describe associations. Site, orbit, payload and technology changed together over time.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EB46050F-A385-45D5-BAB8-01EF364AAC9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7250" y="5505450"/>
            <a:ext cx="10477500" cy="590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/>
          <a:lstStyle xmlns:a="http://schemas.openxmlformats.org/drawingml/2006/main">
            <a:defPPr>
              <a:defRPr sz="1425">
                <a:solidFill>
                  <a:srgbClr val="292929"/>
                </a:solidFill>
              </a:defRPr>
            </a:defPPr>
          </a:lstStyle>
          <a:p xmlns:a="http://schemas.openxmlformats.org/drawingml/2006/main">
            <a:pPr>
              <a:defRPr sz="1425">
                <a:solidFill>
                  <a:srgbClr val="292929"/>
                </a:solidFill>
              </a:defRPr>
            </a:pPr>
            <a:r>
              <a:rPr sz="1425">
                <a:solidFill>
                  <a:srgbClr val="292929"/>
                </a:solidFill>
              </a:rPr>
              <a:t>https://github.com/nicholas-yap/spacex-data-science-capstone/blob/main/</a:t>
            </a:r>
          </a:p>
          <a:p xmlns:a="http://schemas.openxmlformats.org/drawingml/2006/main">
            <a:pPr>
              <a:defRPr sz="1425">
                <a:solidFill>
                  <a:srgbClr val="292929"/>
                </a:solidFill>
              </a:defRPr>
            </a:pPr>
            <a:r>
              <a:rPr sz="1425">
                <a:solidFill>
                  <a:srgbClr val="292929"/>
                </a:solidFill>
              </a:rPr>
              <a:t>notebooks/02-wrangling-eda.ipynb</a:t>
            </a:r>
          </a:p>
        </p:txBody>
      </p:sp>
    </p:spTree>
    <p:extLst>
      <p:ext uri="{BB962C8B-B14F-4D97-AF65-F5344CB8AC3E}">
        <p14:creationId xmlns:p14="http://schemas.microsoft.com/office/powerpoint/2010/main" val="779971636"/>
      </p:ext>
    </p:extLst>
  </p:cSld>
</p:sld>
</file>

<file path=ppt/slides/slide14.xml><?xml version="1.0" encoding="utf-8"?>
<p:sld xmlns:p="http://schemas.openxmlformats.org/presentationml/2006/main">
  <p:cSld>
    <p:bg>
      <p:bgPr>
        <a:blipFill xmlns:a="http://schemas.openxmlformats.org/drawingml/2006/main">
          <a:blip xmlns:r="http://schemas.openxmlformats.org/officeDocument/2006/relationships" r:embed="R913f4533ef0848a2"/>
          <a:stretch>
            <a:fillRect l="0" t="0" r="0" b="0"/>
          </a:stretch>
        </a:blip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4" name="Slide Number Placeholder 3">
            <a:extLst xmlns:a="http://schemas.openxmlformats.org/drawingml/2006/main">
              <a:ext uri="{FF2B5EF4-FFF2-40B4-BE49-F238E27FC236}">
                <a16:creationId xmlns:a16="http://schemas.microsoft.com/office/drawing/2014/main" id="{617B1B70-690D-5945-90C2-196E1304B45D}"/>
              </a:ext>
            </a:extLst>
          </p:cNvPr>
          <p:cNvSpPr>
            <a:spLocks xmlns:a="http://schemas.openxmlformats.org/drawingml/2006/main" noGrp="1"/>
          </p:cNvSpPr>
          <p:nvPr>
            <p:ph type="sldNum" idx="12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fld id="{327921A4-25C4-3DB4-06B1-32693CEE2241}" type="slidenum">
              <a:t>14</a:t>
            </a:fld>
            <a:endParaRPr/>
          </a:p>
        </p:txBody>
      </p:sp>
      <p:sp>
        <p:nvSpPr>
          <p:cNvPr id="3" name="Title 1">
            <a:extLst xmlns:a="http://schemas.openxmlformats.org/drawingml/2006/main">
              <a:ext uri="{FF2B5EF4-FFF2-40B4-BE49-F238E27FC236}">
                <a16:creationId xmlns:a16="http://schemas.microsoft.com/office/drawing/2014/main" id="{32405FDA-CB27-4506-BA80-B7DD00CB25C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70001" y="538639"/>
            <a:ext cx="10572750" cy="9525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vert="horz" lIns="91440" tIns="45720" rIns="91440" bIns="45720" anchor="ctr">
            <a:normAutofit fontScale="100000" lnSpcReduction="20000"/>
          </a:bodyPr>
          <a:lstStyle xmlns:a="http://schemas.openxmlformats.org/drawingml/2006/main">
            <a:defPPr>
              <a:defRPr sz="3720">
                <a:solidFill>
                  <a:srgbClr val="0B49CB"/>
                </a:solidFill>
              </a:defRPr>
            </a:defPPr>
            <a:lvl1pPr algn="l" defTabSz="914400">
              <a:lnSpc>
                <a:spcPct val="90000"/>
              </a:lnSpc>
              <a:spcBef>
                <a:spcPct val="0"/>
              </a:spcBef>
              <a:buNone/>
              <a:defRPr sz="4000" kern="1200">
                <a:solidFill>
                  <a:srgbClr val="005493"/>
                </a:solidFill>
                <a:latin typeface="IBM Plex Mono SemiBold"/>
                <a:ea typeface="IBM Plex Mono SemiBold"/>
                <a:cs typeface="IBM Plex Mono SemiBold"/>
              </a:defRPr>
            </a:lvl1pPr>
          </a:lstStyle>
          <a:p xmlns:a="http://schemas.openxmlformats.org/drawingml/2006/main">
            <a:pPr>
              <a:defRPr sz="3720">
                <a:solidFill>
                  <a:srgbClr val="0B49CB"/>
                </a:solidFill>
              </a:defRPr>
            </a:pPr>
            <a:r>
              <a:rPr sz="3720">
                <a:solidFill>
                  <a:srgbClr val="0B49CB"/>
                </a:solidFill>
                <a:latin typeface="Abadi"/>
                <a:ea typeface="Abadi"/>
                <a:cs typeface="Abadi"/>
              </a:rPr>
              <a:t>EDA with SQL</a:t>
            </a:r>
            <a:endParaRPr>
              <a:solidFill>
                <a:srgbClr val="0B49CB"/>
              </a:solidFill>
            </a:endParaRP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49D4C440-BB80-45EC-ADED-78646FFC5DD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7250" y="1695450"/>
            <a:ext cx="10477500" cy="3810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/>
          <a:lstStyle xmlns:a="http://schemas.openxmlformats.org/drawingml/2006/main">
            <a:defPPr>
              <a:defRPr sz="2200">
                <a:solidFill>
                  <a:srgbClr val="292929"/>
                </a:solidFill>
              </a:defRPr>
            </a:defPPr>
          </a:lstStyle>
          <a:p xmlns:a="http://schemas.openxmlformats.org/drawingml/2006/main">
            <a:pPr>
              <a:defRPr sz="2200">
                <a:solidFill>
                  <a:srgbClr val="292929"/>
                </a:solidFill>
              </a:defRPr>
            </a:pPr>
            <a:r>
              <a:rPr sz="2200">
                <a:solidFill>
                  <a:srgbClr val="292929"/>
                </a:solidFill>
              </a:rPr>
              <a:t>DISTINCT and LIKE identify launch-site labels and the first five CCA records.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pPr>
              <a:defRPr sz="2200">
                <a:solidFill>
                  <a:srgbClr val="292929"/>
                </a:solidFill>
              </a:defRPr>
            </a:pPr>
            <a:r>
              <a:rPr sz="2200">
                <a:solidFill>
                  <a:srgbClr val="292929"/>
                </a:solidFill>
              </a:rPr>
              <a:t>SUM, AVG and MAX summarize payload mass and the boosters carrying the maximum.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pPr>
              <a:defRPr sz="2200">
                <a:solidFill>
                  <a:srgbClr val="292929"/>
                </a:solidFill>
              </a:defRPr>
            </a:pPr>
            <a:r>
              <a:rPr sz="2200">
                <a:solidFill>
                  <a:srgbClr val="292929"/>
                </a:solidFill>
              </a:rPr>
              <a:t>Date and outcome filters identify the first ground landing, drone ship landings and failures in 2015.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pPr>
              <a:defRPr sz="2200">
                <a:solidFill>
                  <a:srgbClr val="292929"/>
                </a:solidFill>
              </a:defRPr>
            </a:pPr>
            <a:r>
              <a:rPr sz="2200">
                <a:solidFill>
                  <a:srgbClr val="292929"/>
                </a:solidFill>
              </a:rPr>
              <a:t>GROUP BY and COUNT summarize mission results and rank landing outcomes for the specified period.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B296C86A-D01C-4942-AD7B-061E4C0932D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7250" y="5505450"/>
            <a:ext cx="10477500" cy="590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/>
          <a:lstStyle xmlns:a="http://schemas.openxmlformats.org/drawingml/2006/main">
            <a:defPPr>
              <a:defRPr sz="1425">
                <a:solidFill>
                  <a:srgbClr val="292929"/>
                </a:solidFill>
              </a:defRPr>
            </a:defPPr>
          </a:lstStyle>
          <a:p xmlns:a="http://schemas.openxmlformats.org/drawingml/2006/main">
            <a:pPr>
              <a:defRPr sz="1425">
                <a:solidFill>
                  <a:srgbClr val="292929"/>
                </a:solidFill>
              </a:defRPr>
            </a:pPr>
            <a:r>
              <a:rPr sz="1425">
                <a:solidFill>
                  <a:srgbClr val="292929"/>
                </a:solidFill>
              </a:rPr>
              <a:t>https://github.com/nicholas-yap/spacex-data-science-capstone/blob/main/</a:t>
            </a:r>
          </a:p>
          <a:p xmlns:a="http://schemas.openxmlformats.org/drawingml/2006/main">
            <a:pPr>
              <a:defRPr sz="1425">
                <a:solidFill>
                  <a:srgbClr val="292929"/>
                </a:solidFill>
              </a:defRPr>
            </a:pPr>
            <a:r>
              <a:rPr sz="1425">
                <a:solidFill>
                  <a:srgbClr val="292929"/>
                </a:solidFill>
              </a:rPr>
              <a:t>notebooks/jupyter-labs-eda-sql-coursera_sqllite.ipynb</a:t>
            </a:r>
          </a:p>
        </p:txBody>
      </p:sp>
    </p:spTree>
    <p:extLst>
      <p:ext uri="{BB962C8B-B14F-4D97-AF65-F5344CB8AC3E}">
        <p14:creationId xmlns:p14="http://schemas.microsoft.com/office/powerpoint/2010/main" val="1578726356"/>
      </p:ext>
    </p:extLst>
  </p:cSld>
</p:sld>
</file>

<file path=ppt/slides/slide15.xml><?xml version="1.0" encoding="utf-8"?>
<p:sld xmlns:p="http://schemas.openxmlformats.org/presentationml/2006/main">
  <p:cSld>
    <p:bg>
      <p:bgPr>
        <a:blipFill xmlns:a="http://schemas.openxmlformats.org/drawingml/2006/main">
          <a:blip xmlns:r="http://schemas.openxmlformats.org/officeDocument/2006/relationships" r:embed="Rb38ff92ba1084eb1"/>
          <a:stretch>
            <a:fillRect l="0" t="0" r="0" b="0"/>
          </a:stretch>
        </a:blip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4" name="Slide Number Placeholder 3">
            <a:extLst xmlns:a="http://schemas.openxmlformats.org/drawingml/2006/main">
              <a:ext uri="{FF2B5EF4-FFF2-40B4-BE49-F238E27FC236}">
                <a16:creationId xmlns:a16="http://schemas.microsoft.com/office/drawing/2014/main" id="{9ADB26FF-76AA-124F-92D8-C93C45D216A8}"/>
              </a:ext>
            </a:extLst>
          </p:cNvPr>
          <p:cNvSpPr>
            <a:spLocks xmlns:a="http://schemas.openxmlformats.org/drawingml/2006/main" noGrp="1"/>
          </p:cNvSpPr>
          <p:nvPr>
            <p:ph type="sldNum" idx="12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fld id="{EA83FA91-883A-0168-8075-96CEB9DCA3C2}" type="slidenum">
              <a:t>15</a:t>
            </a:fld>
            <a:endParaRPr/>
          </a:p>
        </p:txBody>
      </p:sp>
      <p:sp>
        <p:nvSpPr>
          <p:cNvPr id="3" name="Title 1">
            <a:extLst xmlns:a="http://schemas.openxmlformats.org/drawingml/2006/main">
              <a:ext uri="{FF2B5EF4-FFF2-40B4-BE49-F238E27FC236}">
                <a16:creationId xmlns:a16="http://schemas.microsoft.com/office/drawing/2014/main" id="{B28946E4-5BEF-46F0-A56A-E7E85ACA148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70001" y="538639"/>
            <a:ext cx="10572750" cy="9525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vert="horz" lIns="91440" tIns="45720" rIns="91440" bIns="45720" anchor="ctr">
            <a:normAutofit fontScale="100000" lnSpcReduction="20000"/>
          </a:bodyPr>
          <a:lstStyle xmlns:a="http://schemas.openxmlformats.org/drawingml/2006/main">
            <a:defPPr>
              <a:defRPr sz="3720">
                <a:solidFill>
                  <a:srgbClr val="0B49CB"/>
                </a:solidFill>
              </a:defRPr>
            </a:defPPr>
            <a:lvl1pPr algn="l" defTabSz="914400">
              <a:lnSpc>
                <a:spcPct val="90000"/>
              </a:lnSpc>
              <a:spcBef>
                <a:spcPct val="0"/>
              </a:spcBef>
              <a:buNone/>
              <a:defRPr sz="4000" kern="1200">
                <a:solidFill>
                  <a:srgbClr val="005493"/>
                </a:solidFill>
                <a:latin typeface="IBM Plex Mono SemiBold"/>
                <a:ea typeface="IBM Plex Mono SemiBold"/>
                <a:cs typeface="IBM Plex Mono SemiBold"/>
              </a:defRPr>
            </a:lvl1pPr>
          </a:lstStyle>
          <a:p xmlns:a="http://schemas.openxmlformats.org/drawingml/2006/main">
            <a:pPr>
              <a:defRPr sz="3720">
                <a:solidFill>
                  <a:srgbClr val="0B49CB"/>
                </a:solidFill>
              </a:defRPr>
            </a:pPr>
            <a:r>
              <a:rPr sz="3720">
                <a:solidFill>
                  <a:srgbClr val="0B49CB"/>
                </a:solidFill>
                <a:latin typeface="Abadi"/>
                <a:ea typeface="Abadi"/>
                <a:cs typeface="Abadi"/>
              </a:rPr>
              <a:t>Interactive Map with Folium</a:t>
            </a:r>
            <a:endParaRPr>
              <a:solidFill>
                <a:srgbClr val="0B49CB"/>
              </a:solidFill>
            </a:endParaRP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B48B1EFB-857F-4EC6-AF79-00172D43889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7250" y="1695450"/>
            <a:ext cx="10477500" cy="3810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/>
          <a:lstStyle xmlns:a="http://schemas.openxmlformats.org/drawingml/2006/main">
            <a:defPPr>
              <a:defRPr sz="2200">
                <a:solidFill>
                  <a:srgbClr val="292929"/>
                </a:solidFill>
              </a:defRPr>
            </a:defPPr>
          </a:lstStyle>
          <a:p xmlns:a="http://schemas.openxmlformats.org/drawingml/2006/main">
            <a:pPr>
              <a:defRPr sz="2200">
                <a:solidFill>
                  <a:srgbClr val="292929"/>
                </a:solidFill>
              </a:defRPr>
            </a:pPr>
            <a:r>
              <a:rPr sz="2200">
                <a:solidFill>
                  <a:srgbClr val="292929"/>
                </a:solidFill>
              </a:rPr>
              <a:t>Site circles and labels locate the three modeled launch facilities on a continental map.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pPr>
              <a:defRPr sz="2200">
                <a:solidFill>
                  <a:srgbClr val="292929"/>
                </a:solidFill>
              </a:defRPr>
            </a:pPr>
            <a:r>
              <a:rPr sz="2200">
                <a:solidFill>
                  <a:srgbClr val="292929"/>
                </a:solidFill>
              </a:rPr>
              <a:t>A MarkerCluster groups overlapping launches. Green marks Class 1 and red marks Class 0.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pPr>
              <a:defRPr sz="2200">
                <a:solidFill>
                  <a:srgbClr val="292929"/>
                </a:solidFill>
              </a:defRPr>
            </a:pPr>
            <a:r>
              <a:rPr sz="2200">
                <a:solidFill>
                  <a:srgbClr val="292929"/>
                </a:solidFill>
              </a:rPr>
              <a:t>Popup details show flight, date, payload and outcome. Expanding a cluster separates markers for inspection.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pPr>
              <a:defRPr sz="2200">
                <a:solidFill>
                  <a:srgbClr val="292929"/>
                </a:solidFill>
              </a:defRPr>
            </a:pPr>
            <a:r>
              <a:rPr sz="2200">
                <a:solidFill>
                  <a:srgbClr val="292929"/>
                </a:solidFill>
              </a:rPr>
              <a:t>Lines connect CCAFS SLC 40 to selected road, rail and coastline points. Haversine distance gives approximate straight-line separation.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02416966-F589-4466-9D83-3365FD533E1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7250" y="5505450"/>
            <a:ext cx="10477500" cy="590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/>
          <a:lstStyle xmlns:a="http://schemas.openxmlformats.org/drawingml/2006/main">
            <a:defPPr>
              <a:defRPr sz="1425">
                <a:solidFill>
                  <a:srgbClr val="292929"/>
                </a:solidFill>
              </a:defRPr>
            </a:defPPr>
          </a:lstStyle>
          <a:p xmlns:a="http://schemas.openxmlformats.org/drawingml/2006/main">
            <a:pPr>
              <a:defRPr sz="1425">
                <a:solidFill>
                  <a:srgbClr val="292929"/>
                </a:solidFill>
              </a:defRPr>
            </a:pPr>
            <a:r>
              <a:rPr sz="1425">
                <a:solidFill>
                  <a:srgbClr val="292929"/>
                </a:solidFill>
              </a:rPr>
              <a:t>https://github.com/nicholas-yap/spacex-data-science-capstone/blob/main/</a:t>
            </a:r>
          </a:p>
          <a:p xmlns:a="http://schemas.openxmlformats.org/drawingml/2006/main">
            <a:pPr>
              <a:defRPr sz="1425">
                <a:solidFill>
                  <a:srgbClr val="292929"/>
                </a:solidFill>
              </a:defRPr>
            </a:pPr>
            <a:r>
              <a:rPr sz="1425">
                <a:solidFill>
                  <a:srgbClr val="292929"/>
                </a:solidFill>
              </a:rPr>
              <a:t>notebooks/03-interactive-maps.ipynb</a:t>
            </a:r>
          </a:p>
        </p:txBody>
      </p:sp>
    </p:spTree>
    <p:extLst>
      <p:ext uri="{BB962C8B-B14F-4D97-AF65-F5344CB8AC3E}">
        <p14:creationId xmlns:p14="http://schemas.microsoft.com/office/powerpoint/2010/main" val="148114319"/>
      </p:ext>
    </p:extLst>
  </p:cSld>
</p:sld>
</file>

<file path=ppt/slides/slide16.xml><?xml version="1.0" encoding="utf-8"?>
<p:sld xmlns:p="http://schemas.openxmlformats.org/presentationml/2006/main">
  <p:cSld>
    <p:bg>
      <p:bgPr>
        <a:blipFill xmlns:a="http://schemas.openxmlformats.org/drawingml/2006/main">
          <a:blip xmlns:r="http://schemas.openxmlformats.org/officeDocument/2006/relationships" r:embed="Re101a65240a3456c"/>
          <a:stretch>
            <a:fillRect l="0" t="0" r="0" b="0"/>
          </a:stretch>
        </a:blip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4" name="Slide Number Placeholder 3">
            <a:extLst xmlns:a="http://schemas.openxmlformats.org/drawingml/2006/main">
              <a:ext uri="{FF2B5EF4-FFF2-40B4-BE49-F238E27FC236}">
                <a16:creationId xmlns:a16="http://schemas.microsoft.com/office/drawing/2014/main" id="{9ADB26FF-76AA-124F-92D8-C93C45D216A8}"/>
              </a:ext>
            </a:extLst>
          </p:cNvPr>
          <p:cNvSpPr>
            <a:spLocks xmlns:a="http://schemas.openxmlformats.org/drawingml/2006/main" noGrp="1"/>
          </p:cNvSpPr>
          <p:nvPr>
            <p:ph type="sldNum" idx="12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fld id="{DC9C7607-4BA3-B4DC-A00F-2E67A9FCFF7E}" type="slidenum">
              <a:t>16</a:t>
            </a:fld>
            <a:endParaRPr/>
          </a:p>
        </p:txBody>
      </p:sp>
      <p:sp>
        <p:nvSpPr>
          <p:cNvPr id="3" name="Title 1">
            <a:extLst xmlns:a="http://schemas.openxmlformats.org/drawingml/2006/main">
              <a:ext uri="{FF2B5EF4-FFF2-40B4-BE49-F238E27FC236}">
                <a16:creationId xmlns:a16="http://schemas.microsoft.com/office/drawing/2014/main" id="{519FC08B-7D2E-43A5-A528-821DCDCCCC8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70001" y="538639"/>
            <a:ext cx="10572750" cy="9525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vert="horz" lIns="91440" tIns="45720" rIns="91440" bIns="45720" anchor="ctr">
            <a:normAutofit fontScale="100000" lnSpcReduction="20000"/>
          </a:bodyPr>
          <a:lstStyle xmlns:a="http://schemas.openxmlformats.org/drawingml/2006/main">
            <a:defPPr>
              <a:defRPr sz="3720">
                <a:solidFill>
                  <a:srgbClr val="0B49CB"/>
                </a:solidFill>
              </a:defRPr>
            </a:defPPr>
            <a:lvl1pPr algn="l" defTabSz="914400">
              <a:lnSpc>
                <a:spcPct val="90000"/>
              </a:lnSpc>
              <a:spcBef>
                <a:spcPct val="0"/>
              </a:spcBef>
              <a:buNone/>
              <a:defRPr sz="4000" kern="1200">
                <a:solidFill>
                  <a:srgbClr val="005493"/>
                </a:solidFill>
                <a:latin typeface="IBM Plex Mono SemiBold"/>
                <a:ea typeface="IBM Plex Mono SemiBold"/>
                <a:cs typeface="IBM Plex Mono SemiBold"/>
              </a:defRPr>
            </a:lvl1pPr>
          </a:lstStyle>
          <a:p xmlns:a="http://schemas.openxmlformats.org/drawingml/2006/main">
            <a:pPr>
              <a:defRPr sz="3720">
                <a:solidFill>
                  <a:srgbClr val="0B49CB"/>
                </a:solidFill>
              </a:defRPr>
            </a:pPr>
            <a:r>
              <a:rPr sz="3720">
                <a:solidFill>
                  <a:srgbClr val="0B49CB"/>
                </a:solidFill>
                <a:latin typeface="Abadi"/>
                <a:ea typeface="Abadi"/>
                <a:cs typeface="Abadi"/>
              </a:rPr>
              <a:t>Dashboard with Plotly Dash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B4E3C3DE-D86D-412E-85AE-AF71C9BDE47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7250" y="1695450"/>
            <a:ext cx="10477500" cy="3810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/>
          <a:lstStyle xmlns:a="http://schemas.openxmlformats.org/drawingml/2006/main">
            <a:defPPr>
              <a:defRPr sz="2200">
                <a:solidFill>
                  <a:srgbClr val="292929"/>
                </a:solidFill>
              </a:defRPr>
            </a:defPPr>
          </a:lstStyle>
          <a:p xmlns:a="http://schemas.openxmlformats.org/drawingml/2006/main">
            <a:pPr>
              <a:defRPr sz="2200">
                <a:solidFill>
                  <a:srgbClr val="292929"/>
                </a:solidFill>
              </a:defRPr>
            </a:pPr>
            <a:r>
              <a:rPr sz="2200">
                <a:solidFill>
                  <a:srgbClr val="292929"/>
                </a:solidFill>
              </a:rPr>
              <a:t>The site dropdown switches between all launches and a selected facility.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pPr>
              <a:defRPr sz="2200">
                <a:solidFill>
                  <a:srgbClr val="292929"/>
                </a:solidFill>
              </a:defRPr>
            </a:pPr>
            <a:r>
              <a:rPr sz="2200">
                <a:solidFill>
                  <a:srgbClr val="292929"/>
                </a:solidFill>
              </a:rPr>
              <a:t>The all-sites pie chart shows each site’s contribution to successful outcomes. A selected-site pie shows its success ratio.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pPr>
              <a:defRPr sz="2200">
                <a:solidFill>
                  <a:srgbClr val="292929"/>
                </a:solidFill>
              </a:defRPr>
            </a:pPr>
            <a:r>
              <a:rPr sz="2200">
                <a:solidFill>
                  <a:srgbClr val="292929"/>
                </a:solidFill>
              </a:rPr>
              <a:t>The payload range slider filters the outcome scatter plot. Color identifies booster block.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pPr>
              <a:defRPr sz="2200">
                <a:solidFill>
                  <a:srgbClr val="292929"/>
                </a:solidFill>
              </a:defRPr>
            </a:pPr>
            <a:r>
              <a:rPr sz="2200">
                <a:solidFill>
                  <a:srgbClr val="292929"/>
                </a:solidFill>
              </a:rPr>
              <a:t>Hover details reveal launch date, flight number and outcome. The dashboard uses the same 90-row sample as the EDA.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E4232D46-1E1F-4060-81CC-3CDDDEEDE53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7250" y="5505450"/>
            <a:ext cx="10477500" cy="590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/>
          <a:lstStyle xmlns:a="http://schemas.openxmlformats.org/drawingml/2006/main">
            <a:defPPr>
              <a:defRPr sz="1425">
                <a:solidFill>
                  <a:srgbClr val="292929"/>
                </a:solidFill>
              </a:defRPr>
            </a:defPPr>
          </a:lstStyle>
          <a:p xmlns:a="http://schemas.openxmlformats.org/drawingml/2006/main">
            <a:pPr>
              <a:defRPr sz="1425">
                <a:solidFill>
                  <a:srgbClr val="292929"/>
                </a:solidFill>
              </a:defRPr>
            </a:pPr>
            <a:r>
              <a:rPr sz="1425">
                <a:solidFill>
                  <a:srgbClr val="292929"/>
                </a:solidFill>
              </a:rPr>
              <a:t>https://github.com/nicholas-yap/spacex-data-science-capstone/blob/main/</a:t>
            </a:r>
          </a:p>
          <a:p xmlns:a="http://schemas.openxmlformats.org/drawingml/2006/main">
            <a:pPr>
              <a:defRPr sz="1425">
                <a:solidFill>
                  <a:srgbClr val="292929"/>
                </a:solidFill>
              </a:defRPr>
            </a:pPr>
            <a:r>
              <a:rPr sz="1425">
                <a:solidFill>
                  <a:srgbClr val="292929"/>
                </a:solidFill>
              </a:rPr>
              <a:t>spacex_dashboard.py</a:t>
            </a:r>
          </a:p>
        </p:txBody>
      </p:sp>
    </p:spTree>
    <p:extLst>
      <p:ext uri="{BB962C8B-B14F-4D97-AF65-F5344CB8AC3E}">
        <p14:creationId xmlns:p14="http://schemas.microsoft.com/office/powerpoint/2010/main" val="334532777"/>
      </p:ext>
    </p:extLst>
  </p:cSld>
</p:sld>
</file>

<file path=ppt/slides/slide17.xml><?xml version="1.0" encoding="utf-8"?>
<p:sld xmlns:p="http://schemas.openxmlformats.org/presentationml/2006/main">
  <p:cSld>
    <p:bg>
      <p:bgPr>
        <a:blipFill xmlns:a="http://schemas.openxmlformats.org/drawingml/2006/main">
          <a:blip xmlns:r="http://schemas.openxmlformats.org/officeDocument/2006/relationships" r:embed="R03b4fa45f7c34482"/>
          <a:stretch>
            <a:fillRect l="0" t="0" r="0" b="0"/>
          </a:stretch>
        </a:blip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4" name="Slide Number Placeholder 3">
            <a:extLst xmlns:a="http://schemas.openxmlformats.org/drawingml/2006/main">
              <a:ext uri="{FF2B5EF4-FFF2-40B4-BE49-F238E27FC236}">
                <a16:creationId xmlns:a16="http://schemas.microsoft.com/office/drawing/2014/main" id="{8F1B08F2-C4AD-A440-BB78-A0625E28887A}"/>
              </a:ext>
            </a:extLst>
          </p:cNvPr>
          <p:cNvSpPr>
            <a:spLocks xmlns:a="http://schemas.openxmlformats.org/drawingml/2006/main" noGrp="1"/>
          </p:cNvSpPr>
          <p:nvPr>
            <p:ph type="sldNum" idx="12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fld id="{90F7333B-44AC-F7E9-D49D-FE92F45E0477}" type="slidenum">
              <a:t>17</a:t>
            </a:fld>
            <a:endParaRPr/>
          </a:p>
        </p:txBody>
      </p:sp>
      <p:sp>
        <p:nvSpPr>
          <p:cNvPr id="3" name="Title 1">
            <a:extLst xmlns:a="http://schemas.openxmlformats.org/drawingml/2006/main">
              <a:ext uri="{FF2B5EF4-FFF2-40B4-BE49-F238E27FC236}">
                <a16:creationId xmlns:a16="http://schemas.microsoft.com/office/drawing/2014/main" id="{FC857EDD-A3A7-434D-B8D5-401E872498D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70001" y="538639"/>
            <a:ext cx="10572750" cy="9525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vert="horz" lIns="91440" tIns="45720" rIns="91440" bIns="45720" anchor="ctr">
            <a:normAutofit fontScale="100000" lnSpcReduction="20000"/>
          </a:bodyPr>
          <a:lstStyle xmlns:a="http://schemas.openxmlformats.org/drawingml/2006/main">
            <a:defPPr>
              <a:defRPr sz="3720">
                <a:solidFill>
                  <a:srgbClr val="0B49CB"/>
                </a:solidFill>
              </a:defRPr>
            </a:defPPr>
            <a:lvl1pPr algn="l" defTabSz="914400">
              <a:lnSpc>
                <a:spcPct val="90000"/>
              </a:lnSpc>
              <a:spcBef>
                <a:spcPct val="0"/>
              </a:spcBef>
              <a:buNone/>
              <a:defRPr sz="4000" kern="1200">
                <a:solidFill>
                  <a:srgbClr val="005493"/>
                </a:solidFill>
                <a:latin typeface="IBM Plex Mono SemiBold"/>
                <a:ea typeface="IBM Plex Mono SemiBold"/>
                <a:cs typeface="IBM Plex Mono SemiBold"/>
              </a:defRPr>
            </a:lvl1pPr>
          </a:lstStyle>
          <a:p xmlns:a="http://schemas.openxmlformats.org/drawingml/2006/main">
            <a:pPr>
              <a:defRPr sz="3720">
                <a:solidFill>
                  <a:srgbClr val="0B49CB"/>
                </a:solidFill>
              </a:defRPr>
            </a:pPr>
            <a:r>
              <a:rPr sz="3720">
                <a:solidFill>
                  <a:srgbClr val="0B49CB"/>
                </a:solidFill>
                <a:latin typeface="Abadi"/>
                <a:ea typeface="Abadi"/>
                <a:cs typeface="Abadi"/>
              </a:rPr>
              <a:t>Predictive Analysis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C6BE6C6D-CB84-41F7-A40E-B4BBF0B5CFC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7250" y="1809750"/>
            <a:ext cx="2376488" cy="13811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1F5FC"/>
          </a:solidFill>
          <a:ln xmlns:a="http://schemas.openxmlformats.org/drawingml/2006/main" w="9525">
            <a:solidFill>
              <a:srgbClr val="0B49CB"/>
            </a:solidFill>
          </a:ln>
        </p:spPr>
        <p:txBody>
          <a:bodyPr xmlns:a="http://schemas.openxmlformats.org/drawingml/2006/main" anchor="ctr"/>
          <a:lstStyle xmlns:a="http://schemas.openxmlformats.org/drawingml/2006/main">
            <a:defPPr algn="ctr">
              <a:defRPr sz="1725">
                <a:solidFill>
                  <a:srgbClr val="292929"/>
                </a:solidFill>
              </a:defRPr>
            </a:defPPr>
          </a:lstStyle>
          <a:p xmlns:a="http://schemas.openxmlformats.org/drawingml/2006/main">
            <a:pPr algn="ctr">
              <a:defRPr sz="1725">
                <a:solidFill>
                  <a:srgbClr val="292929"/>
                </a:solidFill>
              </a:defRPr>
            </a:pPr>
            <a:r>
              <a:rPr sz="1725">
                <a:solidFill>
                  <a:srgbClr val="292929"/>
                </a:solidFill>
              </a:rPr>
              <a:t>83 input features</a:t>
            </a:r>
          </a:p>
          <a:p xmlns:a="http://schemas.openxmlformats.org/drawingml/2006/main">
            <a:pPr algn="ctr">
              <a:defRPr sz="1725">
                <a:solidFill>
                  <a:srgbClr val="292929"/>
                </a:solidFill>
              </a:defRPr>
            </a:pPr>
            <a:r>
              <a:rPr sz="1725">
                <a:solidFill>
                  <a:srgbClr val="292929"/>
                </a:solidFill>
              </a:rPr>
              <a:t>StandardScaler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38205DD4-F543-47AD-B48B-3CAB785DE3B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271838" y="2343150"/>
            <a:ext cx="247650" cy="219075"/>
          </a:xfrm>
          <a:prstGeom xmlns:a="http://schemas.openxmlformats.org/drawingml/2006/main" prst="rightArrow">
            <a:avLst/>
          </a:prstGeom>
          <a:solidFill xmlns:a="http://schemas.openxmlformats.org/drawingml/2006/main">
            <a:srgbClr val="0B49CB"/>
          </a:solidFill>
          <a:ln xmlns:a="http://schemas.openxmlformats.org/drawingml/2006/main" w="0">
            <a:noFill/>
          </a:ln>
        </p:spPr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10446129-506E-4992-A842-68B5CEEF092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557588" y="1809750"/>
            <a:ext cx="2376488" cy="13811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1F5FC"/>
          </a:solidFill>
          <a:ln xmlns:a="http://schemas.openxmlformats.org/drawingml/2006/main" w="9525">
            <a:solidFill>
              <a:srgbClr val="0B49CB"/>
            </a:solidFill>
          </a:ln>
        </p:spPr>
        <p:txBody>
          <a:bodyPr xmlns:a="http://schemas.openxmlformats.org/drawingml/2006/main" anchor="ctr"/>
          <a:lstStyle xmlns:a="http://schemas.openxmlformats.org/drawingml/2006/main">
            <a:defPPr algn="ctr">
              <a:defRPr sz="1725">
                <a:solidFill>
                  <a:srgbClr val="292929"/>
                </a:solidFill>
              </a:defRPr>
            </a:defPPr>
          </a:lstStyle>
          <a:p xmlns:a="http://schemas.openxmlformats.org/drawingml/2006/main">
            <a:pPr algn="ctr">
              <a:defRPr sz="1725">
                <a:solidFill>
                  <a:srgbClr val="292929"/>
                </a:solidFill>
              </a:defRPr>
            </a:pPr>
            <a:r>
              <a:rPr sz="1725">
                <a:solidFill>
                  <a:srgbClr val="292929"/>
                </a:solidFill>
              </a:rPr>
              <a:t>80/20 split</a:t>
            </a:r>
          </a:p>
          <a:p xmlns:a="http://schemas.openxmlformats.org/drawingml/2006/main">
            <a:pPr algn="ctr">
              <a:defRPr sz="1725">
                <a:solidFill>
                  <a:srgbClr val="292929"/>
                </a:solidFill>
              </a:defRPr>
            </a:pPr>
            <a:r>
              <a:rPr sz="1725">
                <a:solidFill>
                  <a:srgbClr val="292929"/>
                </a:solidFill>
              </a:rPr>
              <a:t>72 train, 18 test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CBABFBC3-B292-4E12-B921-8EF5FB93757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72175" y="2343150"/>
            <a:ext cx="247650" cy="219075"/>
          </a:xfrm>
          <a:prstGeom xmlns:a="http://schemas.openxmlformats.org/drawingml/2006/main" prst="rightArrow">
            <a:avLst/>
          </a:prstGeom>
          <a:solidFill xmlns:a="http://schemas.openxmlformats.org/drawingml/2006/main">
            <a:srgbClr val="0B49CB"/>
          </a:solidFill>
          <a:ln xmlns:a="http://schemas.openxmlformats.org/drawingml/2006/main" w="0">
            <a:noFill/>
          </a:ln>
        </p:spPr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F4D2EEBD-A525-4116-BE0F-68E3D33C253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57925" y="1809750"/>
            <a:ext cx="2376488" cy="13811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1F5FC"/>
          </a:solidFill>
          <a:ln xmlns:a="http://schemas.openxmlformats.org/drawingml/2006/main" w="9525">
            <a:solidFill>
              <a:srgbClr val="0B49CB"/>
            </a:solidFill>
          </a:ln>
        </p:spPr>
        <p:txBody>
          <a:bodyPr xmlns:a="http://schemas.openxmlformats.org/drawingml/2006/main" anchor="ctr"/>
          <a:lstStyle xmlns:a="http://schemas.openxmlformats.org/drawingml/2006/main">
            <a:defPPr algn="ctr">
              <a:defRPr sz="1725">
                <a:solidFill>
                  <a:srgbClr val="292929"/>
                </a:solidFill>
              </a:defRPr>
            </a:defPPr>
          </a:lstStyle>
          <a:p xmlns:a="http://schemas.openxmlformats.org/drawingml/2006/main">
            <a:pPr algn="ctr">
              <a:defRPr sz="1725">
                <a:solidFill>
                  <a:srgbClr val="292929"/>
                </a:solidFill>
              </a:defRPr>
            </a:pPr>
            <a:r>
              <a:rPr sz="1725">
                <a:solidFill>
                  <a:srgbClr val="292929"/>
                </a:solidFill>
              </a:rPr>
              <a:t>GridSearchCV</a:t>
            </a:r>
          </a:p>
          <a:p xmlns:a="http://schemas.openxmlformats.org/drawingml/2006/main">
            <a:pPr algn="ctr">
              <a:defRPr sz="1725">
                <a:solidFill>
                  <a:srgbClr val="292929"/>
                </a:solidFill>
              </a:defRPr>
            </a:pPr>
            <a:r>
              <a:rPr sz="1725">
                <a:solidFill>
                  <a:srgbClr val="292929"/>
                </a:solidFill>
              </a:rPr>
              <a:t>10 folds, accuracy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FB5CC37E-A882-4AF6-8CFF-7418C3B4EFE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672513" y="2343150"/>
            <a:ext cx="247650" cy="219075"/>
          </a:xfrm>
          <a:prstGeom xmlns:a="http://schemas.openxmlformats.org/drawingml/2006/main" prst="rightArrow">
            <a:avLst/>
          </a:prstGeom>
          <a:solidFill xmlns:a="http://schemas.openxmlformats.org/drawingml/2006/main">
            <a:srgbClr val="0B49CB"/>
          </a:solidFill>
          <a:ln xmlns:a="http://schemas.openxmlformats.org/drawingml/2006/main" w="0">
            <a:noFill/>
          </a:ln>
        </p:spPr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FAA0CAAD-788A-42E5-9F8B-ECEF9EE1656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958263" y="1809750"/>
            <a:ext cx="2376488" cy="13811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1F5FC"/>
          </a:solidFill>
          <a:ln xmlns:a="http://schemas.openxmlformats.org/drawingml/2006/main" w="9525">
            <a:solidFill>
              <a:srgbClr val="0B49CB"/>
            </a:solidFill>
          </a:ln>
        </p:spPr>
        <p:txBody>
          <a:bodyPr xmlns:a="http://schemas.openxmlformats.org/drawingml/2006/main" anchor="ctr"/>
          <a:lstStyle xmlns:a="http://schemas.openxmlformats.org/drawingml/2006/main">
            <a:defPPr algn="ctr">
              <a:defRPr sz="1725">
                <a:solidFill>
                  <a:srgbClr val="292929"/>
                </a:solidFill>
              </a:defRPr>
            </a:defPPr>
          </a:lstStyle>
          <a:p xmlns:a="http://schemas.openxmlformats.org/drawingml/2006/main">
            <a:pPr algn="ctr">
              <a:defRPr sz="1725">
                <a:solidFill>
                  <a:srgbClr val="292929"/>
                </a:solidFill>
              </a:defRPr>
            </a:pPr>
            <a:r>
              <a:rPr sz="1725">
                <a:solidFill>
                  <a:srgbClr val="292929"/>
                </a:solidFill>
              </a:rPr>
              <a:t>Four classifiers</a:t>
            </a:r>
          </a:p>
          <a:p xmlns:a="http://schemas.openxmlformats.org/drawingml/2006/main">
            <a:pPr algn="ctr">
              <a:defRPr sz="1725">
                <a:solidFill>
                  <a:srgbClr val="292929"/>
                </a:solidFill>
              </a:defRPr>
            </a:pPr>
            <a:r>
              <a:rPr sz="1725">
                <a:solidFill>
                  <a:srgbClr val="292929"/>
                </a:solidFill>
              </a:rPr>
              <a:t>Score and compare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77F6DB13-D3BF-4208-99F0-3C00A76BAD4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7250" y="3714750"/>
            <a:ext cx="10477500" cy="1714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/>
          <a:lstStyle xmlns:a="http://schemas.openxmlformats.org/drawingml/2006/main">
            <a:defPPr>
              <a:defRPr sz="2025">
                <a:solidFill>
                  <a:srgbClr val="292929"/>
                </a:solidFill>
              </a:defRPr>
            </a:defPPr>
          </a:lstStyle>
          <a:p xmlns:a="http://schemas.openxmlformats.org/drawingml/2006/main">
            <a:pPr>
              <a:defRPr sz="2025">
                <a:solidFill>
                  <a:srgbClr val="292929"/>
                </a:solidFill>
              </a:defRPr>
            </a:pPr>
            <a:r>
              <a:rPr sz="2025">
                <a:solidFill>
                  <a:srgbClr val="292929"/>
                </a:solidFill>
              </a:rPr>
              <a:t>Logistic regression, SVM, decision tree and KNN use the saved lab configuration. random_state=2 fixes the train/test split.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pPr>
              <a:defRPr sz="2025">
                <a:solidFill>
                  <a:srgbClr val="292929"/>
                </a:solidFill>
              </a:defRPr>
            </a:pPr>
            <a:r>
              <a:rPr sz="2025">
                <a:solidFill>
                  <a:srgbClr val="292929"/>
                </a:solidFill>
              </a:rPr>
              <a:t>The lab scales all 90 rows before splitting. Future evaluation should fit preprocessing inside each training fold and use a chronological holdout.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3E7009C9-483C-468D-A8FC-FB6B7FB33A4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7250" y="5505450"/>
            <a:ext cx="10477500" cy="590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/>
          <a:lstStyle xmlns:a="http://schemas.openxmlformats.org/drawingml/2006/main">
            <a:defPPr>
              <a:defRPr sz="1425">
                <a:solidFill>
                  <a:srgbClr val="292929"/>
                </a:solidFill>
              </a:defRPr>
            </a:defPPr>
          </a:lstStyle>
          <a:p xmlns:a="http://schemas.openxmlformats.org/drawingml/2006/main">
            <a:pPr>
              <a:defRPr sz="1425">
                <a:solidFill>
                  <a:srgbClr val="292929"/>
                </a:solidFill>
              </a:defRPr>
            </a:pPr>
            <a:r>
              <a:rPr sz="1425">
                <a:solidFill>
                  <a:srgbClr val="292929"/>
                </a:solidFill>
              </a:rPr>
              <a:t>https://github.com/nicholas-yap/spacex-data-science-capstone/blob/main/</a:t>
            </a:r>
          </a:p>
          <a:p xmlns:a="http://schemas.openxmlformats.org/drawingml/2006/main">
            <a:pPr>
              <a:defRPr sz="1425">
                <a:solidFill>
                  <a:srgbClr val="292929"/>
                </a:solidFill>
              </a:defRPr>
            </a:pPr>
            <a:r>
              <a:rPr sz="1425">
                <a:solidFill>
                  <a:srgbClr val="292929"/>
                </a:solidFill>
              </a:rPr>
              <a:t>notebooks/SpaceX-Machine-Learning-Prediction-Part-5-v1.ipynb</a:t>
            </a:r>
          </a:p>
        </p:txBody>
      </p:sp>
    </p:spTree>
    <p:extLst>
      <p:ext uri="{BB962C8B-B14F-4D97-AF65-F5344CB8AC3E}">
        <p14:creationId xmlns:p14="http://schemas.microsoft.com/office/powerpoint/2010/main" val="1813711241"/>
      </p:ext>
    </p:extLst>
  </p:cSld>
</p:sld>
</file>

<file path=ppt/slides/slide18.xml><?xml version="1.0" encoding="utf-8"?>
<p:sld xmlns:p="http://schemas.openxmlformats.org/presentationml/2006/main">
  <p:cSld>
    <p:bg>
      <p:bgPr>
        <a:blipFill xmlns:a="http://schemas.openxmlformats.org/drawingml/2006/main">
          <a:blip xmlns:r="http://schemas.openxmlformats.org/officeDocument/2006/relationships" r:embed="Raa288e537deb4eea"/>
          <a:stretch>
            <a:fillRect l="0" t="0" r="0" b="0"/>
          </a:stretch>
        </a:blip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5" name="Slide Number Placeholder 4">
            <a:extLst xmlns:a="http://schemas.openxmlformats.org/drawingml/2006/main">
              <a:ext uri="{FF2B5EF4-FFF2-40B4-BE49-F238E27FC236}">
                <a16:creationId xmlns:a16="http://schemas.microsoft.com/office/drawing/2014/main" id="{31BF7889-073A-E045-A3F2-45D63BD0FDC0}"/>
              </a:ext>
            </a:extLst>
          </p:cNvPr>
          <p:cNvSpPr>
            <a:spLocks xmlns:a="http://schemas.openxmlformats.org/drawingml/2006/main" noGrp="1"/>
          </p:cNvSpPr>
          <p:nvPr>
            <p:ph type="sldNum" idx="12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fld id="{B1C6C81E-38B9-7560-621D-5A151A79DF9B}" type="slidenum">
              <a:t>18</a:t>
            </a:fld>
            <a:endParaRPr/>
          </a:p>
        </p:txBody>
      </p:sp>
      <p:sp>
        <p:nvSpPr>
          <p:cNvPr id="4" name="Title 1">
            <a:extLst xmlns:a="http://schemas.openxmlformats.org/drawingml/2006/main">
              <a:ext uri="{FF2B5EF4-FFF2-40B4-BE49-F238E27FC236}">
                <a16:creationId xmlns:a16="http://schemas.microsoft.com/office/drawing/2014/main" id="{54F4FCC5-6E7E-4FF0-BE45-680EEC392C9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70001" y="538639"/>
            <a:ext cx="10572750" cy="9525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vert="horz" lIns="91440" tIns="45720" rIns="91440" bIns="45720" anchor="ctr">
            <a:normAutofit fontScale="100000" lnSpcReduction="20000"/>
          </a:bodyPr>
          <a:lstStyle xmlns:a="http://schemas.openxmlformats.org/drawingml/2006/main">
            <a:defPPr>
              <a:defRPr sz="3720">
                <a:solidFill>
                  <a:srgbClr val="0B49CB"/>
                </a:solidFill>
              </a:defRPr>
            </a:defPPr>
            <a:lvl1pPr algn="l" defTabSz="914400">
              <a:lnSpc>
                <a:spcPct val="90000"/>
              </a:lnSpc>
              <a:spcBef>
                <a:spcPct val="0"/>
              </a:spcBef>
              <a:buNone/>
              <a:defRPr sz="4000" kern="1200">
                <a:solidFill>
                  <a:srgbClr val="005493"/>
                </a:solidFill>
                <a:latin typeface="IBM Plex Mono SemiBold"/>
                <a:ea typeface="IBM Plex Mono SemiBold"/>
                <a:cs typeface="IBM Plex Mono SemiBold"/>
              </a:defRPr>
            </a:lvl1pPr>
          </a:lstStyle>
          <a:p xmlns:a="http://schemas.openxmlformats.org/drawingml/2006/main">
            <a:pPr>
              <a:defRPr sz="3720">
                <a:solidFill>
                  <a:srgbClr val="0B49CB"/>
                </a:solidFill>
              </a:defRPr>
            </a:pPr>
            <a:r>
              <a:rPr sz="3720">
                <a:solidFill>
                  <a:srgbClr val="0B49CB"/>
                </a:solidFill>
                <a:latin typeface="Abadi"/>
                <a:ea typeface="Abadi"/>
                <a:cs typeface="Abadi"/>
              </a:rPr>
              <a:t>Flight Number vs. Launch Site</a:t>
            </a:r>
            <a:endParaRPr>
              <a:solidFill>
                <a:srgbClr val="0B49CB"/>
              </a:solidFill>
            </a:endParaRPr>
          </a:p>
        </p:txBody>
      </p:sp>
      <p:graphicFrame>
        <p:nvGraphicFramePr>
          <p:cNvPr id="6" name="Chart">
            <a:extLst xmlns:a="http://schemas.openxmlformats.org/drawingml/2006/main">
              <a:ext uri="{FF2B5EF4-FFF2-40B4-BE49-F238E27FC236}">
                <a16:creationId xmlns:a16="http://schemas.microsoft.com/office/drawing/2014/main" id="{12351D17-F9D3-4323-A95C-E29D15AB43B2}"/>
              </a:ext>
            </a:extLst>
          </p:cNvPr>
          <p:cNvGraphicFramePr/>
          <p:nvPr/>
        </p:nvGraphicFramePr>
        <p:xfrm>
          <a:off xmlns:a="http://schemas.openxmlformats.org/drawingml/2006/main" x="809625" y="1571625"/>
          <a:ext xmlns:a="http://schemas.openxmlformats.org/drawingml/2006/main" cx="10477500" cy="3524250"/>
        </p:xfrm>
        <a:graphic xmlns:a="http://schemas.openxmlformats.org/drawingml/2006/main">
          <a:graphicData uri="http://schemas.openxmlformats.org/drawingml/2006/chart">
            <c:chart xmlns:r="http://schemas.openxmlformats.org/officeDocument/2006/relationships" xmlns:c="http://schemas.openxmlformats.org/drawingml/2006/chart" r:id="R55f6877a67724d5b"/>
          </a:graphicData>
        </a:graphic>
      </p:graphicFrame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31DE563B-76B9-4426-8500-AD69A5B1E38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04875" y="5076825"/>
            <a:ext cx="10429875" cy="4286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/>
          <a:lstStyle xmlns:a="http://schemas.openxmlformats.org/drawingml/2006/main">
            <a:defPPr>
              <a:defRPr sz="1500">
                <a:solidFill>
                  <a:srgbClr val="0B49CB"/>
                </a:solidFill>
              </a:defRPr>
            </a:defPPr>
          </a:lstStyle>
          <a:p xmlns:a="http://schemas.openxmlformats.org/drawingml/2006/main">
            <a:pPr>
              <a:defRPr sz="1500">
                <a:solidFill>
                  <a:srgbClr val="0B49CB"/>
                </a:solidFill>
              </a:defRPr>
            </a:pPr>
            <a:r>
              <a:rPr sz="1500">
                <a:solidFill>
                  <a:srgbClr val="0B49CB"/>
                </a:solidFill>
              </a:rPr>
              <a:t>1: CCAFS SLC 40   2: KSC LC 39A   3: VAFB SLC 4E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29CDEDD1-533E-46A3-AB69-A69E7C3B103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7250" y="5581650"/>
            <a:ext cx="10477500" cy="619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/>
          <a:lstStyle xmlns:a="http://schemas.openxmlformats.org/drawingml/2006/main">
            <a:defPPr>
              <a:defRPr sz="1800">
                <a:solidFill>
                  <a:srgbClr val="292929"/>
                </a:solidFill>
              </a:defRPr>
            </a:defPPr>
          </a:lstStyle>
          <a:p xmlns:a="http://schemas.openxmlformats.org/drawingml/2006/main">
            <a:pPr>
              <a:defRPr sz="1800">
                <a:solidFill>
                  <a:srgbClr val="292929"/>
                </a:solidFill>
              </a:defRPr>
            </a:pPr>
            <a:r>
              <a:rPr sz="1800">
                <a:solidFill>
                  <a:srgbClr val="292929"/>
                </a:solidFill>
              </a:rPr>
              <a:t>Later launches show more Class 1 outcomes. Site and flight sequence overlap, so the plot cannot isolate a site effect.</a:t>
            </a:r>
          </a:p>
        </p:txBody>
      </p:sp>
    </p:spTree>
    <p:extLst>
      <p:ext uri="{BB962C8B-B14F-4D97-AF65-F5344CB8AC3E}">
        <p14:creationId xmlns:p14="http://schemas.microsoft.com/office/powerpoint/2010/main" val="3865605948"/>
      </p:ext>
    </p:extLst>
  </p:cSld>
</p:sld>
</file>

<file path=ppt/slides/slide19.xml><?xml version="1.0" encoding="utf-8"?>
<p:sld xmlns:p="http://schemas.openxmlformats.org/presentationml/2006/main">
  <p:cSld>
    <p:bg>
      <p:bgPr>
        <a:blipFill xmlns:a="http://schemas.openxmlformats.org/drawingml/2006/main">
          <a:blip xmlns:r="http://schemas.openxmlformats.org/officeDocument/2006/relationships" r:embed="R1edff6f0b41b4604"/>
          <a:stretch>
            <a:fillRect l="0" t="0" r="0" b="0"/>
          </a:stretch>
        </a:blip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5" name="Slide Number Placeholder 4">
            <a:extLst xmlns:a="http://schemas.openxmlformats.org/drawingml/2006/main">
              <a:ext uri="{FF2B5EF4-FFF2-40B4-BE49-F238E27FC236}">
                <a16:creationId xmlns:a16="http://schemas.microsoft.com/office/drawing/2014/main" id="{31BF7889-073A-E045-A3F2-45D63BD0FDC0}"/>
              </a:ext>
            </a:extLst>
          </p:cNvPr>
          <p:cNvSpPr>
            <a:spLocks xmlns:a="http://schemas.openxmlformats.org/drawingml/2006/main" noGrp="1"/>
          </p:cNvSpPr>
          <p:nvPr>
            <p:ph type="sldNum" idx="12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fld id="{CCF91274-D221-1BB4-3BF9-836E3AD31EBE}" type="slidenum">
              <a:t>19</a:t>
            </a:fld>
            <a:endParaRPr/>
          </a:p>
        </p:txBody>
      </p:sp>
      <p:sp>
        <p:nvSpPr>
          <p:cNvPr id="4" name="Title 1">
            <a:extLst xmlns:a="http://schemas.openxmlformats.org/drawingml/2006/main">
              <a:ext uri="{FF2B5EF4-FFF2-40B4-BE49-F238E27FC236}">
                <a16:creationId xmlns:a16="http://schemas.microsoft.com/office/drawing/2014/main" id="{B6CCD949-E788-4375-9B07-478FA5684BC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70001" y="538639"/>
            <a:ext cx="10572750" cy="9525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vert="horz" lIns="91440" tIns="45720" rIns="91440" bIns="45720" anchor="ctr">
            <a:normAutofit fontScale="100000" lnSpcReduction="20000"/>
          </a:bodyPr>
          <a:lstStyle xmlns:a="http://schemas.openxmlformats.org/drawingml/2006/main">
            <a:defPPr>
              <a:defRPr sz="3720">
                <a:solidFill>
                  <a:srgbClr val="0B49CB"/>
                </a:solidFill>
              </a:defRPr>
            </a:defPPr>
            <a:lvl1pPr algn="l" defTabSz="914400">
              <a:lnSpc>
                <a:spcPct val="90000"/>
              </a:lnSpc>
              <a:spcBef>
                <a:spcPct val="0"/>
              </a:spcBef>
              <a:buNone/>
              <a:defRPr sz="4000" kern="1200">
                <a:solidFill>
                  <a:srgbClr val="005493"/>
                </a:solidFill>
                <a:latin typeface="IBM Plex Mono SemiBold"/>
                <a:ea typeface="IBM Plex Mono SemiBold"/>
                <a:cs typeface="IBM Plex Mono SemiBold"/>
              </a:defRPr>
            </a:lvl1pPr>
          </a:lstStyle>
          <a:p xmlns:a="http://schemas.openxmlformats.org/drawingml/2006/main">
            <a:pPr>
              <a:defRPr sz="3720">
                <a:solidFill>
                  <a:srgbClr val="0B49CB"/>
                </a:solidFill>
              </a:defRPr>
            </a:pPr>
            <a:r>
              <a:rPr sz="3720">
                <a:solidFill>
                  <a:srgbClr val="0B49CB"/>
                </a:solidFill>
                <a:latin typeface="Abadi"/>
                <a:ea typeface="Abadi"/>
                <a:cs typeface="Abadi"/>
              </a:rPr>
              <a:t>Payload vs. Launch Site</a:t>
            </a:r>
          </a:p>
        </p:txBody>
      </p:sp>
      <p:graphicFrame>
        <p:nvGraphicFramePr>
          <p:cNvPr id="6" name="Chart">
            <a:extLst xmlns:a="http://schemas.openxmlformats.org/drawingml/2006/main">
              <a:ext uri="{FF2B5EF4-FFF2-40B4-BE49-F238E27FC236}">
                <a16:creationId xmlns:a16="http://schemas.microsoft.com/office/drawing/2014/main" id="{D20B8DD4-8103-430E-AE94-90872F9F58F3}"/>
              </a:ext>
            </a:extLst>
          </p:cNvPr>
          <p:cNvGraphicFramePr/>
          <p:nvPr/>
        </p:nvGraphicFramePr>
        <p:xfrm>
          <a:off xmlns:a="http://schemas.openxmlformats.org/drawingml/2006/main" x="809625" y="1571625"/>
          <a:ext xmlns:a="http://schemas.openxmlformats.org/drawingml/2006/main" cx="10477500" cy="3524250"/>
        </p:xfrm>
        <a:graphic xmlns:a="http://schemas.openxmlformats.org/drawingml/2006/main">
          <a:graphicData uri="http://schemas.openxmlformats.org/drawingml/2006/chart">
            <c:chart xmlns:r="http://schemas.openxmlformats.org/officeDocument/2006/relationships" xmlns:c="http://schemas.openxmlformats.org/drawingml/2006/chart" r:id="R593c1c4731e64a04"/>
          </a:graphicData>
        </a:graphic>
      </p:graphicFrame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BD66A0CD-0B16-47F5-95B2-93073901605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04875" y="5076825"/>
            <a:ext cx="10429875" cy="4286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/>
          <a:lstStyle xmlns:a="http://schemas.openxmlformats.org/drawingml/2006/main">
            <a:defPPr>
              <a:defRPr sz="1500">
                <a:solidFill>
                  <a:srgbClr val="0B49CB"/>
                </a:solidFill>
              </a:defRPr>
            </a:defPPr>
          </a:lstStyle>
          <a:p xmlns:a="http://schemas.openxmlformats.org/drawingml/2006/main">
            <a:pPr>
              <a:defRPr sz="1500">
                <a:solidFill>
                  <a:srgbClr val="0B49CB"/>
                </a:solidFill>
              </a:defRPr>
            </a:pPr>
            <a:r>
              <a:rPr sz="1500">
                <a:solidFill>
                  <a:srgbClr val="0B49CB"/>
                </a:solidFill>
              </a:rPr>
              <a:t>1: CCAFS SLC 40   2: KSC LC 39A   3: VAFB SLC 4E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71AA25E3-9D2A-40A3-A895-D49F15BF643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7250" y="5581650"/>
            <a:ext cx="10477500" cy="619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/>
          <a:lstStyle xmlns:a="http://schemas.openxmlformats.org/drawingml/2006/main">
            <a:defPPr>
              <a:defRPr sz="1800">
                <a:solidFill>
                  <a:srgbClr val="292929"/>
                </a:solidFill>
              </a:defRPr>
            </a:defPPr>
          </a:lstStyle>
          <a:p xmlns:a="http://schemas.openxmlformats.org/drawingml/2006/main">
            <a:pPr>
              <a:defRPr sz="1800">
                <a:solidFill>
                  <a:srgbClr val="292929"/>
                </a:solidFill>
              </a:defRPr>
            </a:pPr>
            <a:r>
              <a:rPr sz="1800">
                <a:solidFill>
                  <a:srgbClr val="292929"/>
                </a:solidFill>
              </a:rPr>
              <a:t>CCAFS SLC 40 covers the broadest history. Both outcome classes occur across payload ranges, and some payload values are mean-imputed.</a:t>
            </a:r>
          </a:p>
        </p:txBody>
      </p:sp>
    </p:spTree>
    <p:extLst>
      <p:ext uri="{BB962C8B-B14F-4D97-AF65-F5344CB8AC3E}">
        <p14:creationId xmlns:p14="http://schemas.microsoft.com/office/powerpoint/2010/main" val="3869789237"/>
      </p:ext>
    </p:extLst>
  </p:cSld>
</p:sld>
</file>

<file path=ppt/slides/slide20.xml><?xml version="1.0" encoding="utf-8"?>
<p:sld xmlns:p="http://schemas.openxmlformats.org/presentationml/2006/main">
  <p:cSld>
    <p:bg>
      <p:bgPr>
        <a:blipFill xmlns:a="http://schemas.openxmlformats.org/drawingml/2006/main">
          <a:blip xmlns:r="http://schemas.openxmlformats.org/officeDocument/2006/relationships" r:embed="R60883dff221f4647"/>
          <a:stretch>
            <a:fillRect l="0" t="0" r="0" b="0"/>
          </a:stretch>
        </a:blip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5" name="Slide Number Placeholder 4">
            <a:extLst xmlns:a="http://schemas.openxmlformats.org/drawingml/2006/main">
              <a:ext uri="{FF2B5EF4-FFF2-40B4-BE49-F238E27FC236}">
                <a16:creationId xmlns:a16="http://schemas.microsoft.com/office/drawing/2014/main" id="{31BF7889-073A-E045-A3F2-45D63BD0FDC0}"/>
              </a:ext>
            </a:extLst>
          </p:cNvPr>
          <p:cNvSpPr>
            <a:spLocks xmlns:a="http://schemas.openxmlformats.org/drawingml/2006/main" noGrp="1"/>
          </p:cNvSpPr>
          <p:nvPr>
            <p:ph type="sldNum" idx="12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fld id="{844E025A-983C-6D44-79C6-4612AACD43FC}" type="slidenum">
              <a:t>20</a:t>
            </a:fld>
            <a:endParaRPr/>
          </a:p>
        </p:txBody>
      </p:sp>
      <p:sp>
        <p:nvSpPr>
          <p:cNvPr id="4" name="Title 1">
            <a:extLst xmlns:a="http://schemas.openxmlformats.org/drawingml/2006/main">
              <a:ext uri="{FF2B5EF4-FFF2-40B4-BE49-F238E27FC236}">
                <a16:creationId xmlns:a16="http://schemas.microsoft.com/office/drawing/2014/main" id="{D4811A61-F7FB-4B19-9ED1-E0E2554A5BE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70001" y="538639"/>
            <a:ext cx="10572750" cy="9525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vert="horz" lIns="91440" tIns="45720" rIns="91440" bIns="45720" anchor="ctr">
            <a:normAutofit fontScale="100000" lnSpcReduction="20000"/>
          </a:bodyPr>
          <a:lstStyle xmlns:a="http://schemas.openxmlformats.org/drawingml/2006/main">
            <a:defPPr>
              <a:defRPr sz="3720">
                <a:solidFill>
                  <a:srgbClr val="0B49CB"/>
                </a:solidFill>
              </a:defRPr>
            </a:defPPr>
            <a:lvl1pPr algn="l" defTabSz="914400">
              <a:lnSpc>
                <a:spcPct val="90000"/>
              </a:lnSpc>
              <a:spcBef>
                <a:spcPct val="0"/>
              </a:spcBef>
              <a:buNone/>
              <a:defRPr sz="4000" kern="1200">
                <a:solidFill>
                  <a:srgbClr val="005493"/>
                </a:solidFill>
                <a:latin typeface="IBM Plex Mono SemiBold"/>
                <a:ea typeface="IBM Plex Mono SemiBold"/>
                <a:cs typeface="IBM Plex Mono SemiBold"/>
              </a:defRPr>
            </a:lvl1pPr>
          </a:lstStyle>
          <a:p xmlns:a="http://schemas.openxmlformats.org/drawingml/2006/main">
            <a:pPr>
              <a:defRPr sz="3720">
                <a:solidFill>
                  <a:srgbClr val="0B49CB"/>
                </a:solidFill>
              </a:defRPr>
            </a:pPr>
            <a:r>
              <a:rPr sz="3720">
                <a:solidFill>
                  <a:srgbClr val="0B49CB"/>
                </a:solidFill>
                <a:latin typeface="Abadi"/>
                <a:ea typeface="Abadi"/>
                <a:cs typeface="Abadi"/>
              </a:rPr>
              <a:t>Success Rate vs. Orbit Type</a:t>
            </a:r>
            <a:endParaRPr>
              <a:solidFill>
                <a:srgbClr val="0B49CB"/>
              </a:solidFill>
            </a:endParaRPr>
          </a:p>
        </p:txBody>
      </p:sp>
      <p:graphicFrame>
        <p:nvGraphicFramePr>
          <p:cNvPr id="6" name="Chart">
            <a:extLst xmlns:a="http://schemas.openxmlformats.org/drawingml/2006/main">
              <a:ext uri="{FF2B5EF4-FFF2-40B4-BE49-F238E27FC236}">
                <a16:creationId xmlns:a16="http://schemas.microsoft.com/office/drawing/2014/main" id="{ED68B132-F4C7-4388-B691-368EA9A44D7F}"/>
              </a:ext>
            </a:extLst>
          </p:cNvPr>
          <p:cNvGraphicFramePr/>
          <p:nvPr/>
        </p:nvGraphicFramePr>
        <p:xfrm>
          <a:off xmlns:a="http://schemas.openxmlformats.org/drawingml/2006/main" x="809625" y="1571625"/>
          <a:ext xmlns:a="http://schemas.openxmlformats.org/drawingml/2006/main" cx="10477500" cy="3524250"/>
        </p:xfrm>
        <a:graphic xmlns:a="http://schemas.openxmlformats.org/drawingml/2006/main">
          <a:graphicData uri="http://schemas.openxmlformats.org/drawingml/2006/chart">
            <c:chart xmlns:r="http://schemas.openxmlformats.org/officeDocument/2006/relationships" xmlns:c="http://schemas.openxmlformats.org/drawingml/2006/chart" r:id="R3dd3db4260744d60"/>
          </a:graphicData>
        </a:graphic>
      </p:graphicFrame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7277AF67-7085-4C35-9974-5530AEB8EC0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7250" y="5257800"/>
            <a:ext cx="1047750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/>
          <a:lstStyle xmlns:a="http://schemas.openxmlformats.org/drawingml/2006/main">
            <a:defPPr>
              <a:defRPr sz="1800">
                <a:solidFill>
                  <a:srgbClr val="292929"/>
                </a:solidFill>
              </a:defRPr>
            </a:defPPr>
          </a:lstStyle>
          <a:p xmlns:a="http://schemas.openxmlformats.org/drawingml/2006/main">
            <a:pPr>
              <a:defRPr sz="1800">
                <a:solidFill>
                  <a:srgbClr val="292929"/>
                </a:solidFill>
              </a:defRPr>
            </a:pPr>
            <a:r>
              <a:rPr sz="1800">
                <a:solidFill>
                  <a:srgbClr val="292929"/>
                </a:solidFill>
              </a:rPr>
              <a:t>SSO records 5/5 successes. GEO, HEO and ES-L1 each have only one launch, so their 100% rates provide little evidence.</a:t>
            </a:r>
          </a:p>
        </p:txBody>
      </p:sp>
    </p:spTree>
    <p:extLst>
      <p:ext uri="{BB962C8B-B14F-4D97-AF65-F5344CB8AC3E}">
        <p14:creationId xmlns:p14="http://schemas.microsoft.com/office/powerpoint/2010/main" val="80090182"/>
      </p:ext>
    </p:extLst>
  </p:cSld>
</p:sld>
</file>

<file path=ppt/slides/slide21.xml><?xml version="1.0" encoding="utf-8"?>
<p:sld xmlns:p="http://schemas.openxmlformats.org/presentationml/2006/main">
  <p:cSld>
    <p:bg>
      <p:bgPr>
        <a:blipFill xmlns:a="http://schemas.openxmlformats.org/drawingml/2006/main">
          <a:blip xmlns:r="http://schemas.openxmlformats.org/officeDocument/2006/relationships" r:embed="Rbc7dca1dc75d4a95"/>
          <a:stretch>
            <a:fillRect l="0" t="0" r="0" b="0"/>
          </a:stretch>
        </a:blip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5" name="Slide Number Placeholder 4">
            <a:extLst xmlns:a="http://schemas.openxmlformats.org/drawingml/2006/main">
              <a:ext uri="{FF2B5EF4-FFF2-40B4-BE49-F238E27FC236}">
                <a16:creationId xmlns:a16="http://schemas.microsoft.com/office/drawing/2014/main" id="{31BF7889-073A-E045-A3F2-45D63BD0FDC0}"/>
              </a:ext>
            </a:extLst>
          </p:cNvPr>
          <p:cNvSpPr>
            <a:spLocks xmlns:a="http://schemas.openxmlformats.org/drawingml/2006/main" noGrp="1"/>
          </p:cNvSpPr>
          <p:nvPr>
            <p:ph type="sldNum" idx="12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fld id="{F6DF2BE2-2DFA-1C03-677D-BDC2260D6D92}" type="slidenum">
              <a:t>21</a:t>
            </a:fld>
            <a:endParaRPr/>
          </a:p>
        </p:txBody>
      </p:sp>
      <p:sp>
        <p:nvSpPr>
          <p:cNvPr id="4" name="Title 1">
            <a:extLst xmlns:a="http://schemas.openxmlformats.org/drawingml/2006/main">
              <a:ext uri="{FF2B5EF4-FFF2-40B4-BE49-F238E27FC236}">
                <a16:creationId xmlns:a16="http://schemas.microsoft.com/office/drawing/2014/main" id="{021C109C-C017-4D19-928F-AED25AC3012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70001" y="538639"/>
            <a:ext cx="10572750" cy="9525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vert="horz" lIns="91440" tIns="45720" rIns="91440" bIns="45720" anchor="ctr">
            <a:normAutofit fontScale="100000" lnSpcReduction="20000"/>
          </a:bodyPr>
          <a:lstStyle xmlns:a="http://schemas.openxmlformats.org/drawingml/2006/main">
            <a:defPPr>
              <a:defRPr sz="3720">
                <a:solidFill>
                  <a:srgbClr val="0B49CB"/>
                </a:solidFill>
              </a:defRPr>
            </a:defPPr>
            <a:lvl1pPr algn="l" defTabSz="914400">
              <a:lnSpc>
                <a:spcPct val="90000"/>
              </a:lnSpc>
              <a:spcBef>
                <a:spcPct val="0"/>
              </a:spcBef>
              <a:buNone/>
              <a:defRPr sz="4000" kern="1200">
                <a:solidFill>
                  <a:srgbClr val="005493"/>
                </a:solidFill>
                <a:latin typeface="IBM Plex Mono SemiBold"/>
                <a:ea typeface="IBM Plex Mono SemiBold"/>
                <a:cs typeface="IBM Plex Mono SemiBold"/>
              </a:defRPr>
            </a:lvl1pPr>
          </a:lstStyle>
          <a:p xmlns:a="http://schemas.openxmlformats.org/drawingml/2006/main">
            <a:pPr>
              <a:defRPr sz="3720">
                <a:solidFill>
                  <a:srgbClr val="0B49CB"/>
                </a:solidFill>
              </a:defRPr>
            </a:pPr>
            <a:r>
              <a:rPr sz="3720">
                <a:solidFill>
                  <a:srgbClr val="0B49CB"/>
                </a:solidFill>
                <a:latin typeface="Abadi"/>
                <a:ea typeface="Abadi"/>
                <a:cs typeface="Abadi"/>
              </a:rPr>
              <a:t>Flight Number vs. Orbit Type</a:t>
            </a:r>
            <a:endParaRPr>
              <a:solidFill>
                <a:srgbClr val="0B49CB"/>
              </a:solidFill>
            </a:endParaRPr>
          </a:p>
        </p:txBody>
      </p:sp>
      <p:graphicFrame>
        <p:nvGraphicFramePr>
          <p:cNvPr id="6" name="Chart">
            <a:extLst xmlns:a="http://schemas.openxmlformats.org/drawingml/2006/main">
              <a:ext uri="{FF2B5EF4-FFF2-40B4-BE49-F238E27FC236}">
                <a16:creationId xmlns:a16="http://schemas.microsoft.com/office/drawing/2014/main" id="{04CAD094-CC86-4E23-9D44-6AB3246C9C57}"/>
              </a:ext>
            </a:extLst>
          </p:cNvPr>
          <p:cNvGraphicFramePr/>
          <p:nvPr/>
        </p:nvGraphicFramePr>
        <p:xfrm>
          <a:off xmlns:a="http://schemas.openxmlformats.org/drawingml/2006/main" x="809625" y="1571625"/>
          <a:ext xmlns:a="http://schemas.openxmlformats.org/drawingml/2006/main" cx="10477500" cy="3524250"/>
        </p:xfrm>
        <a:graphic xmlns:a="http://schemas.openxmlformats.org/drawingml/2006/main">
          <a:graphicData uri="http://schemas.openxmlformats.org/drawingml/2006/chart">
            <c:chart xmlns:r="http://schemas.openxmlformats.org/officeDocument/2006/relationships" xmlns:c="http://schemas.openxmlformats.org/drawingml/2006/chart" r:id="Rd868c07a1eaa48cb"/>
          </a:graphicData>
        </a:graphic>
      </p:graphicFrame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ACBED4BB-190D-40D1-ABB5-F6CB5074F9C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04875" y="5076825"/>
            <a:ext cx="10429875" cy="4286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/>
          <a:lstStyle xmlns:a="http://schemas.openxmlformats.org/drawingml/2006/main">
            <a:defPPr>
              <a:defRPr sz="1275">
                <a:solidFill>
                  <a:srgbClr val="0B49CB"/>
                </a:solidFill>
              </a:defRPr>
            </a:defPPr>
          </a:lstStyle>
          <a:p xmlns:a="http://schemas.openxmlformats.org/drawingml/2006/main">
            <a:pPr>
              <a:defRPr sz="1275">
                <a:solidFill>
                  <a:srgbClr val="0B49CB"/>
                </a:solidFill>
              </a:defRPr>
            </a:pPr>
            <a:r>
              <a:rPr sz="1275">
                <a:solidFill>
                  <a:srgbClr val="0B49CB"/>
                </a:solidFill>
              </a:rPr>
              <a:t>1: ES-L1   2: GEO   3: GTO   4: HEO   5: ISS   6: LEO   7: MEO   8: PO   9: SO   10: SSO   11: VLEO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4DF76367-CBC1-48FE-BAF0-3448B6FF80A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7250" y="5581650"/>
            <a:ext cx="10477500" cy="619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/>
          <a:lstStyle xmlns:a="http://schemas.openxmlformats.org/drawingml/2006/main">
            <a:defPPr>
              <a:defRPr sz="1800">
                <a:solidFill>
                  <a:srgbClr val="292929"/>
                </a:solidFill>
              </a:defRPr>
            </a:defPPr>
          </a:lstStyle>
          <a:p xmlns:a="http://schemas.openxmlformats.org/drawingml/2006/main">
            <a:pPr>
              <a:defRPr sz="1800">
                <a:solidFill>
                  <a:srgbClr val="292929"/>
                </a:solidFill>
              </a:defRPr>
            </a:pPr>
            <a:r>
              <a:rPr sz="1800">
                <a:solidFill>
                  <a:srgbClr val="292929"/>
                </a:solidFill>
              </a:rPr>
              <a:t>VLEO launches cluster late in the sample. Differences by orbit may partly reflect changes in booster technology and experience.</a:t>
            </a:r>
          </a:p>
        </p:txBody>
      </p:sp>
    </p:spTree>
    <p:extLst>
      <p:ext uri="{BB962C8B-B14F-4D97-AF65-F5344CB8AC3E}">
        <p14:creationId xmlns:p14="http://schemas.microsoft.com/office/powerpoint/2010/main" val="1106727586"/>
      </p:ext>
    </p:extLst>
  </p:cSld>
</p:sld>
</file>

<file path=ppt/slides/slide22.xml><?xml version="1.0" encoding="utf-8"?>
<p:sld xmlns:p="http://schemas.openxmlformats.org/presentationml/2006/main">
  <p:cSld>
    <p:bg>
      <p:bgPr>
        <a:blipFill xmlns:a="http://schemas.openxmlformats.org/drawingml/2006/main">
          <a:blip xmlns:r="http://schemas.openxmlformats.org/officeDocument/2006/relationships" r:embed="Rfe5550351e0b4223"/>
          <a:stretch>
            <a:fillRect l="0" t="0" r="0" b="0"/>
          </a:stretch>
        </a:blip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5" name="Slide Number Placeholder 4">
            <a:extLst xmlns:a="http://schemas.openxmlformats.org/drawingml/2006/main">
              <a:ext uri="{FF2B5EF4-FFF2-40B4-BE49-F238E27FC236}">
                <a16:creationId xmlns:a16="http://schemas.microsoft.com/office/drawing/2014/main" id="{31BF7889-073A-E045-A3F2-45D63BD0FDC0}"/>
              </a:ext>
            </a:extLst>
          </p:cNvPr>
          <p:cNvSpPr>
            <a:spLocks xmlns:a="http://schemas.openxmlformats.org/drawingml/2006/main" noGrp="1"/>
          </p:cNvSpPr>
          <p:nvPr>
            <p:ph type="sldNum" idx="12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fld id="{0BB18BA8-60F4-C50D-CD9B-1BB87D3E8506}" type="slidenum">
              <a:t>22</a:t>
            </a:fld>
            <a:endParaRPr/>
          </a:p>
        </p:txBody>
      </p:sp>
      <p:sp>
        <p:nvSpPr>
          <p:cNvPr id="4" name="Title 1">
            <a:extLst xmlns:a="http://schemas.openxmlformats.org/drawingml/2006/main">
              <a:ext uri="{FF2B5EF4-FFF2-40B4-BE49-F238E27FC236}">
                <a16:creationId xmlns:a16="http://schemas.microsoft.com/office/drawing/2014/main" id="{AFE7D9E4-306D-49E3-9AC4-15D566FC72A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70001" y="538639"/>
            <a:ext cx="10572750" cy="9525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vert="horz" lIns="91440" tIns="45720" rIns="91440" bIns="45720" anchor="ctr">
            <a:normAutofit fontScale="100000" lnSpcReduction="20000"/>
          </a:bodyPr>
          <a:lstStyle xmlns:a="http://schemas.openxmlformats.org/drawingml/2006/main">
            <a:defPPr>
              <a:defRPr sz="3720">
                <a:solidFill>
                  <a:srgbClr val="0B49CB"/>
                </a:solidFill>
              </a:defRPr>
            </a:defPPr>
            <a:lvl1pPr algn="l" defTabSz="914400">
              <a:lnSpc>
                <a:spcPct val="90000"/>
              </a:lnSpc>
              <a:spcBef>
                <a:spcPct val="0"/>
              </a:spcBef>
              <a:buNone/>
              <a:defRPr sz="4000" kern="1200">
                <a:solidFill>
                  <a:srgbClr val="005493"/>
                </a:solidFill>
                <a:latin typeface="IBM Plex Mono SemiBold"/>
                <a:ea typeface="IBM Plex Mono SemiBold"/>
                <a:cs typeface="IBM Plex Mono SemiBold"/>
              </a:defRPr>
            </a:lvl1pPr>
          </a:lstStyle>
          <a:p xmlns:a="http://schemas.openxmlformats.org/drawingml/2006/main">
            <a:pPr>
              <a:defRPr sz="3720">
                <a:solidFill>
                  <a:srgbClr val="0B49CB"/>
                </a:solidFill>
              </a:defRPr>
            </a:pPr>
            <a:r>
              <a:rPr sz="3720">
                <a:solidFill>
                  <a:srgbClr val="0B49CB"/>
                </a:solidFill>
                <a:latin typeface="Abadi"/>
                <a:ea typeface="Abadi"/>
                <a:cs typeface="Abadi"/>
              </a:rPr>
              <a:t>Payload vs. Orbit Type</a:t>
            </a:r>
            <a:endParaRPr>
              <a:solidFill>
                <a:srgbClr val="0B49CB"/>
              </a:solidFill>
            </a:endParaRPr>
          </a:p>
        </p:txBody>
      </p:sp>
      <p:graphicFrame>
        <p:nvGraphicFramePr>
          <p:cNvPr id="6" name="Chart">
            <a:extLst xmlns:a="http://schemas.openxmlformats.org/drawingml/2006/main">
              <a:ext uri="{FF2B5EF4-FFF2-40B4-BE49-F238E27FC236}">
                <a16:creationId xmlns:a16="http://schemas.microsoft.com/office/drawing/2014/main" id="{688603A5-8497-483F-8153-39356D5181DC}"/>
              </a:ext>
            </a:extLst>
          </p:cNvPr>
          <p:cNvGraphicFramePr/>
          <p:nvPr/>
        </p:nvGraphicFramePr>
        <p:xfrm>
          <a:off xmlns:a="http://schemas.openxmlformats.org/drawingml/2006/main" x="809625" y="1571625"/>
          <a:ext xmlns:a="http://schemas.openxmlformats.org/drawingml/2006/main" cx="10477500" cy="3524250"/>
        </p:xfrm>
        <a:graphic xmlns:a="http://schemas.openxmlformats.org/drawingml/2006/main">
          <a:graphicData uri="http://schemas.openxmlformats.org/drawingml/2006/chart">
            <c:chart xmlns:r="http://schemas.openxmlformats.org/officeDocument/2006/relationships" xmlns:c="http://schemas.openxmlformats.org/drawingml/2006/chart" r:id="Rce28e1974e504545"/>
          </a:graphicData>
        </a:graphic>
      </p:graphicFrame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4534655A-6A15-4CF1-9B77-67666A116C5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04875" y="5076825"/>
            <a:ext cx="10429875" cy="4286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/>
          <a:lstStyle xmlns:a="http://schemas.openxmlformats.org/drawingml/2006/main">
            <a:defPPr>
              <a:defRPr sz="1275">
                <a:solidFill>
                  <a:srgbClr val="0B49CB"/>
                </a:solidFill>
              </a:defRPr>
            </a:defPPr>
          </a:lstStyle>
          <a:p xmlns:a="http://schemas.openxmlformats.org/drawingml/2006/main">
            <a:pPr>
              <a:defRPr sz="1275">
                <a:solidFill>
                  <a:srgbClr val="0B49CB"/>
                </a:solidFill>
              </a:defRPr>
            </a:pPr>
            <a:r>
              <a:rPr sz="1275">
                <a:solidFill>
                  <a:srgbClr val="0B49CB"/>
                </a:solidFill>
              </a:rPr>
              <a:t>1: ES-L1   2: GEO   3: GTO   4: HEO   5: ISS   6: LEO   7: MEO   8: PO   9: SO   10: SSO   11: VLEO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7E674D63-B54D-4D64-AE9D-6012297F981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7250" y="5581650"/>
            <a:ext cx="10477500" cy="619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/>
          <a:lstStyle xmlns:a="http://schemas.openxmlformats.org/drawingml/2006/main">
            <a:defPPr>
              <a:defRPr sz="1800">
                <a:solidFill>
                  <a:srgbClr val="292929"/>
                </a:solidFill>
              </a:defRPr>
            </a:defPPr>
          </a:lstStyle>
          <a:p xmlns:a="http://schemas.openxmlformats.org/drawingml/2006/main">
            <a:pPr>
              <a:defRPr sz="1800">
                <a:solidFill>
                  <a:srgbClr val="292929"/>
                </a:solidFill>
              </a:defRPr>
            </a:pPr>
            <a:r>
              <a:rPr sz="1800">
                <a:solidFill>
                  <a:srgbClr val="292929"/>
                </a:solidFill>
              </a:rPr>
              <a:t>GTO has 14/27 Class 1 outcomes (51.9%). VLEO has 12/14 (85.7%). Payload alone does not explain the difference.</a:t>
            </a:r>
          </a:p>
        </p:txBody>
      </p:sp>
    </p:spTree>
    <p:extLst>
      <p:ext uri="{BB962C8B-B14F-4D97-AF65-F5344CB8AC3E}">
        <p14:creationId xmlns:p14="http://schemas.microsoft.com/office/powerpoint/2010/main" val="3145340593"/>
      </p:ext>
    </p:extLst>
  </p:cSld>
</p:sld>
</file>

<file path=ppt/slides/slide23.xml><?xml version="1.0" encoding="utf-8"?>
<p:sld xmlns:p="http://schemas.openxmlformats.org/presentationml/2006/main">
  <p:cSld>
    <p:bg>
      <p:bgPr>
        <a:blipFill xmlns:a="http://schemas.openxmlformats.org/drawingml/2006/main">
          <a:blip xmlns:r="http://schemas.openxmlformats.org/officeDocument/2006/relationships" r:embed="Rce535a9eab23457d"/>
          <a:stretch>
            <a:fillRect l="0" t="0" r="0" b="0"/>
          </a:stretch>
        </a:blip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5" name="Slide Number Placeholder 4">
            <a:extLst xmlns:a="http://schemas.openxmlformats.org/drawingml/2006/main">
              <a:ext uri="{FF2B5EF4-FFF2-40B4-BE49-F238E27FC236}">
                <a16:creationId xmlns:a16="http://schemas.microsoft.com/office/drawing/2014/main" id="{31BF7889-073A-E045-A3F2-45D63BD0FDC0}"/>
              </a:ext>
            </a:extLst>
          </p:cNvPr>
          <p:cNvSpPr>
            <a:spLocks xmlns:a="http://schemas.openxmlformats.org/drawingml/2006/main" noGrp="1"/>
          </p:cNvSpPr>
          <p:nvPr>
            <p:ph type="sldNum" idx="12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fld id="{A4E99CEF-AF55-BA3C-ADF8-4E52E186DD8F}" type="slidenum">
              <a:t>23</a:t>
            </a:fld>
            <a:endParaRPr/>
          </a:p>
        </p:txBody>
      </p:sp>
      <p:sp>
        <p:nvSpPr>
          <p:cNvPr id="4" name="Title 1">
            <a:extLst xmlns:a="http://schemas.openxmlformats.org/drawingml/2006/main">
              <a:ext uri="{FF2B5EF4-FFF2-40B4-BE49-F238E27FC236}">
                <a16:creationId xmlns:a16="http://schemas.microsoft.com/office/drawing/2014/main" id="{6D35FD2D-1BD2-45D7-B015-1A96C241520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70001" y="538639"/>
            <a:ext cx="10572750" cy="9525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vert="horz" lIns="91440" tIns="45720" rIns="91440" bIns="45720" anchor="ctr">
            <a:normAutofit fontScale="100000" lnSpcReduction="20000"/>
          </a:bodyPr>
          <a:lstStyle xmlns:a="http://schemas.openxmlformats.org/drawingml/2006/main">
            <a:defPPr>
              <a:defRPr sz="3720">
                <a:solidFill>
                  <a:srgbClr val="0B49CB"/>
                </a:solidFill>
              </a:defRPr>
            </a:defPPr>
            <a:lvl1pPr algn="l" defTabSz="914400">
              <a:lnSpc>
                <a:spcPct val="90000"/>
              </a:lnSpc>
              <a:spcBef>
                <a:spcPct val="0"/>
              </a:spcBef>
              <a:buNone/>
              <a:defRPr sz="4000" kern="1200">
                <a:solidFill>
                  <a:srgbClr val="005493"/>
                </a:solidFill>
                <a:latin typeface="IBM Plex Mono SemiBold"/>
                <a:ea typeface="IBM Plex Mono SemiBold"/>
                <a:cs typeface="IBM Plex Mono SemiBold"/>
              </a:defRPr>
            </a:lvl1pPr>
          </a:lstStyle>
          <a:p xmlns:a="http://schemas.openxmlformats.org/drawingml/2006/main">
            <a:pPr>
              <a:defRPr sz="3720">
                <a:solidFill>
                  <a:srgbClr val="0B49CB"/>
                </a:solidFill>
              </a:defRPr>
            </a:pPr>
            <a:r>
              <a:rPr sz="3720">
                <a:solidFill>
                  <a:srgbClr val="0B49CB"/>
                </a:solidFill>
                <a:latin typeface="Abadi"/>
                <a:ea typeface="Abadi"/>
                <a:cs typeface="Abadi"/>
              </a:rPr>
              <a:t>Yearly Outcome Trend</a:t>
            </a:r>
          </a:p>
        </p:txBody>
      </p:sp>
      <p:graphicFrame>
        <p:nvGraphicFramePr>
          <p:cNvPr id="6" name="Chart">
            <a:extLst xmlns:a="http://schemas.openxmlformats.org/drawingml/2006/main">
              <a:ext uri="{FF2B5EF4-FFF2-40B4-BE49-F238E27FC236}">
                <a16:creationId xmlns:a16="http://schemas.microsoft.com/office/drawing/2014/main" id="{CFFF6B94-878D-4D7E-A7F3-287A61F08726}"/>
              </a:ext>
            </a:extLst>
          </p:cNvPr>
          <p:cNvGraphicFramePr/>
          <p:nvPr/>
        </p:nvGraphicFramePr>
        <p:xfrm>
          <a:off xmlns:a="http://schemas.openxmlformats.org/drawingml/2006/main" x="809625" y="1571625"/>
          <a:ext xmlns:a="http://schemas.openxmlformats.org/drawingml/2006/main" cx="10477500" cy="3524250"/>
        </p:xfrm>
        <a:graphic xmlns:a="http://schemas.openxmlformats.org/drawingml/2006/main">
          <a:graphicData uri="http://schemas.openxmlformats.org/drawingml/2006/chart">
            <c:chart xmlns:r="http://schemas.openxmlformats.org/officeDocument/2006/relationships" xmlns:c="http://schemas.openxmlformats.org/drawingml/2006/chart" r:id="R435e2f3450c649f2"/>
          </a:graphicData>
        </a:graphic>
      </p:graphicFrame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762F673E-ADB5-47C9-89C6-D80DBCCE111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7250" y="5257800"/>
            <a:ext cx="1047750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/>
          <a:lstStyle xmlns:a="http://schemas.openxmlformats.org/drawingml/2006/main">
            <a:defPPr>
              <a:defRPr sz="1800">
                <a:solidFill>
                  <a:srgbClr val="292929"/>
                </a:solidFill>
              </a:defRPr>
            </a:defPPr>
          </a:lstStyle>
          <a:p xmlns:a="http://schemas.openxmlformats.org/drawingml/2006/main">
            <a:pPr>
              <a:defRPr sz="1800">
                <a:solidFill>
                  <a:srgbClr val="292929"/>
                </a:solidFill>
              </a:defRPr>
            </a:pPr>
            <a:r>
              <a:rPr sz="1800">
                <a:solidFill>
                  <a:srgbClr val="292929"/>
                </a:solidFill>
              </a:rPr>
              <a:t>The rate rises from 0% in early years to 84.2% in 2020, with a dip in 2018. The sample contains no 2011 launch.</a:t>
            </a:r>
          </a:p>
        </p:txBody>
      </p:sp>
    </p:spTree>
    <p:extLst>
      <p:ext uri="{BB962C8B-B14F-4D97-AF65-F5344CB8AC3E}">
        <p14:creationId xmlns:p14="http://schemas.microsoft.com/office/powerpoint/2010/main" val="706594483"/>
      </p:ext>
    </p:extLst>
  </p:cSld>
</p:sld>
</file>

<file path=ppt/slides/slide24.xml><?xml version="1.0" encoding="utf-8"?>
<p:sld xmlns:p="http://schemas.openxmlformats.org/presentationml/2006/main">
  <p:cSld>
    <p:bg>
      <p:bgPr>
        <a:blipFill xmlns:a="http://schemas.openxmlformats.org/drawingml/2006/main">
          <a:blip xmlns:r="http://schemas.openxmlformats.org/officeDocument/2006/relationships" r:embed="R2e992038e3684749"/>
          <a:stretch>
            <a:fillRect l="0" t="0" r="0" b="0"/>
          </a:stretch>
        </a:blip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4" name="Slide Number Placeholder 3">
            <a:extLst xmlns:a="http://schemas.openxmlformats.org/drawingml/2006/main">
              <a:ext uri="{FF2B5EF4-FFF2-40B4-BE49-F238E27FC236}">
                <a16:creationId xmlns:a16="http://schemas.microsoft.com/office/drawing/2014/main" id="{D528596A-0847-664A-9D47-5096383E5E09}"/>
              </a:ext>
            </a:extLst>
          </p:cNvPr>
          <p:cNvSpPr>
            <a:spLocks xmlns:a="http://schemas.openxmlformats.org/drawingml/2006/main" noGrp="1"/>
          </p:cNvSpPr>
          <p:nvPr>
            <p:ph type="sldNum" idx="12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fld id="{4A59AF09-D197-0193-A7DE-FAAF0B691058}" type="slidenum">
              <a:t>24</a:t>
            </a:fld>
            <a:endParaRPr/>
          </a:p>
        </p:txBody>
      </p:sp>
      <p:sp>
        <p:nvSpPr>
          <p:cNvPr id="3" name="Title 1">
            <a:extLst xmlns:a="http://schemas.openxmlformats.org/drawingml/2006/main">
              <a:ext uri="{FF2B5EF4-FFF2-40B4-BE49-F238E27FC236}">
                <a16:creationId xmlns:a16="http://schemas.microsoft.com/office/drawing/2014/main" id="{86E60219-AE1B-47B6-9A1D-F2865D04BE5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70001" y="538639"/>
            <a:ext cx="10572750" cy="9525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vert="horz" lIns="91440" tIns="45720" rIns="91440" bIns="45720" anchor="ctr">
            <a:normAutofit fontScale="100000" lnSpcReduction="20000"/>
          </a:bodyPr>
          <a:lstStyle xmlns:a="http://schemas.openxmlformats.org/drawingml/2006/main">
            <a:defPPr>
              <a:defRPr sz="3720">
                <a:solidFill>
                  <a:srgbClr val="0B49CB"/>
                </a:solidFill>
              </a:defRPr>
            </a:defPPr>
            <a:lvl1pPr algn="l" defTabSz="914400">
              <a:lnSpc>
                <a:spcPct val="90000"/>
              </a:lnSpc>
              <a:spcBef>
                <a:spcPct val="0"/>
              </a:spcBef>
              <a:buNone/>
              <a:defRPr sz="4000" kern="1200">
                <a:solidFill>
                  <a:srgbClr val="005493"/>
                </a:solidFill>
                <a:latin typeface="IBM Plex Mono SemiBold"/>
                <a:ea typeface="IBM Plex Mono SemiBold"/>
                <a:cs typeface="IBM Plex Mono SemiBold"/>
              </a:defRPr>
            </a:lvl1pPr>
          </a:lstStyle>
          <a:p xmlns:a="http://schemas.openxmlformats.org/drawingml/2006/main">
            <a:pPr>
              <a:defRPr sz="3720">
                <a:solidFill>
                  <a:srgbClr val="0B49CB"/>
                </a:solidFill>
              </a:defRPr>
            </a:pPr>
            <a:r>
              <a:rPr sz="3720">
                <a:solidFill>
                  <a:srgbClr val="0B49CB"/>
                </a:solidFill>
                <a:latin typeface="Abadi"/>
                <a:ea typeface="Abadi"/>
                <a:cs typeface="Abadi"/>
              </a:rPr>
              <a:t>All Launch Site Names</a:t>
            </a:r>
          </a:p>
        </p:txBody>
      </p:sp>
      <p:graphicFrame>
        <p:nvGraphicFrame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955AD570-5BA6-44D0-A372-59A5FC01D06B}"/>
              </a:ext>
            </a:extLst>
          </p:cNvPr>
          <p:cNvGraphicFramePr/>
          <p:nvPr/>
        </p:nvGraphicFramePr>
        <p:xfrm>
          <a:off xmlns:a="http://schemas.openxmlformats.org/drawingml/2006/main" x="857250" y="1809750"/>
          <a:ext xmlns:a="http://schemas.openxmlformats.org/drawingml/2006/main" cx="10477500" cy="2762250"/>
        </p:xfrm>
        <a:graphic xmlns:a="http://schemas.openxmlformats.org/drawingml/2006/main">
          <a:graphicData uri="http://schemas.openxmlformats.org/drawingml/2006/table">
            <a:tbl>
              <a:tblPr/>
              <a:tblGrid>
                <a:gridCol w="10477500"/>
              </a:tblGrid>
              <a:tr h="552450">
                <a:tc>
                  <a:txBody>
                    <a:bodyPr/>
                    <a:lstStyle/>
                    <a:p>
                      <a:r>
                        <a:rPr sz="1725" b="1">
                          <a:solidFill>
                            <a:srgbClr val="FFFFFF"/>
                          </a:solidFill>
                        </a:rPr>
                        <a:t>Launch site</a:t>
                      </a:r>
                    </a:p>
                  </a:txBody>
                  <a:tcPr marL="91440" marR="91440" marT="45720" marB="45720">
                    <a:solidFill>
                      <a:srgbClr val="0B49CB"/>
                    </a:solidFill>
                  </a:tcPr>
                </a:tc>
              </a:tr>
              <a:tr h="552450">
                <a:tc>
                  <a:txBody>
                    <a:bodyPr/>
                    <a:lstStyle/>
                    <a:p>
                      <a:r>
                        <a:rPr sz="1725" b="0">
                          <a:solidFill>
                            <a:srgbClr val="292929"/>
                          </a:solidFill>
                        </a:rPr>
                        <a:t>CCAFS LC-40</a:t>
                      </a:r>
                    </a:p>
                  </a:txBody>
                  <a:tcPr marL="91440" marR="91440" marT="45720" marB="45720">
                    <a:solidFill>
                      <a:srgbClr val="F1F5FC"/>
                    </a:solidFill>
                  </a:tcPr>
                </a:tc>
              </a:tr>
              <a:tr h="552450">
                <a:tc>
                  <a:txBody>
                    <a:bodyPr/>
                    <a:lstStyle/>
                    <a:p>
                      <a:r>
                        <a:rPr sz="1725" b="0">
                          <a:solidFill>
                            <a:srgbClr val="292929"/>
                          </a:solidFill>
                        </a:rPr>
                        <a:t>CCAFS SLC-40</a:t>
                      </a:r>
                    </a:p>
                  </a:txBody>
                  <a:tcPr marL="91440" marR="91440" marT="45720" marB="45720">
                    <a:solidFill>
                      <a:srgbClr val="FFFFFF"/>
                    </a:solidFill>
                  </a:tcPr>
                </a:tc>
              </a:tr>
              <a:tr h="552450">
                <a:tc>
                  <a:txBody>
                    <a:bodyPr/>
                    <a:lstStyle/>
                    <a:p>
                      <a:r>
                        <a:rPr sz="1725" b="0">
                          <a:solidFill>
                            <a:srgbClr val="292929"/>
                          </a:solidFill>
                        </a:rPr>
                        <a:t>KSC LC-39A</a:t>
                      </a:r>
                    </a:p>
                  </a:txBody>
                  <a:tcPr marL="91440" marR="91440" marT="45720" marB="45720">
                    <a:solidFill>
                      <a:srgbClr val="F1F5FC"/>
                    </a:solidFill>
                  </a:tcPr>
                </a:tc>
              </a:tr>
              <a:tr h="552450">
                <a:tc>
                  <a:txBody>
                    <a:bodyPr/>
                    <a:lstStyle/>
                    <a:p>
                      <a:r>
                        <a:rPr sz="1725" b="0">
                          <a:solidFill>
                            <a:srgbClr val="292929"/>
                          </a:solidFill>
                        </a:rPr>
                        <a:t>VAFB SLC-4E</a:t>
                      </a:r>
                    </a:p>
                  </a:txBody>
                  <a:tcPr marL="91440" marR="91440" marT="45720" marB="45720"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00159583-5443-4488-BFEB-CA7EDA1C261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7250" y="5257800"/>
            <a:ext cx="1047750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/>
          <a:lstStyle xmlns:a="http://schemas.openxmlformats.org/drawingml/2006/main">
            <a:defPPr>
              <a:defRPr sz="1800">
                <a:solidFill>
                  <a:srgbClr val="292929"/>
                </a:solidFill>
              </a:defRPr>
            </a:defPPr>
          </a:lstStyle>
          <a:p xmlns:a="http://schemas.openxmlformats.org/drawingml/2006/main">
            <a:pPr>
              <a:defRPr sz="1800">
                <a:solidFill>
                  <a:srgbClr val="292929"/>
                </a:solidFill>
              </a:defRPr>
            </a:pPr>
            <a:r>
              <a:rPr sz="1800">
                <a:solidFill>
                  <a:srgbClr val="292929"/>
                </a:solidFill>
              </a:rPr>
              <a:t>The SQL source contains four labels. CCAFS LC-40 and CCAFS SLC-40 appear separately in this snapshot.</a:t>
            </a:r>
          </a:p>
        </p:txBody>
      </p:sp>
    </p:spTree>
    <p:extLst>
      <p:ext uri="{BB962C8B-B14F-4D97-AF65-F5344CB8AC3E}">
        <p14:creationId xmlns:p14="http://schemas.microsoft.com/office/powerpoint/2010/main" val="2727850971"/>
      </p:ext>
    </p:extLst>
  </p:cSld>
</p:sld>
</file>

<file path=ppt/slides/slide25.xml><?xml version="1.0" encoding="utf-8"?>
<p:sld xmlns:p="http://schemas.openxmlformats.org/presentationml/2006/main">
  <p:cSld>
    <p:bg>
      <p:bgPr>
        <a:blipFill xmlns:a="http://schemas.openxmlformats.org/drawingml/2006/main">
          <a:blip xmlns:r="http://schemas.openxmlformats.org/officeDocument/2006/relationships" r:embed="R2c8da11d16ec4ce1"/>
          <a:stretch>
            <a:fillRect l="0" t="0" r="0" b="0"/>
          </a:stretch>
        </a:blip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4" name="Slide Number Placeholder 3">
            <a:extLst xmlns:a="http://schemas.openxmlformats.org/drawingml/2006/main">
              <a:ext uri="{FF2B5EF4-FFF2-40B4-BE49-F238E27FC236}">
                <a16:creationId xmlns:a16="http://schemas.microsoft.com/office/drawing/2014/main" id="{D528596A-0847-664A-9D47-5096383E5E09}"/>
              </a:ext>
            </a:extLst>
          </p:cNvPr>
          <p:cNvSpPr>
            <a:spLocks xmlns:a="http://schemas.openxmlformats.org/drawingml/2006/main" noGrp="1"/>
          </p:cNvSpPr>
          <p:nvPr>
            <p:ph type="sldNum" idx="12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fld id="{F3AE1AE4-D79E-94D6-E825-3FC6C21A77D2}" type="slidenum">
              <a:t>25</a:t>
            </a:fld>
            <a:endParaRPr/>
          </a:p>
        </p:txBody>
      </p:sp>
      <p:sp>
        <p:nvSpPr>
          <p:cNvPr id="3" name="Title 1">
            <a:extLst xmlns:a="http://schemas.openxmlformats.org/drawingml/2006/main">
              <a:ext uri="{FF2B5EF4-FFF2-40B4-BE49-F238E27FC236}">
                <a16:creationId xmlns:a16="http://schemas.microsoft.com/office/drawing/2014/main" id="{557C8CBA-1A0E-4CDF-A451-7AAA44D3983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70001" y="538639"/>
            <a:ext cx="10572750" cy="9525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vert="horz" lIns="91440" tIns="45720" rIns="91440" bIns="45720" anchor="ctr">
            <a:normAutofit fontScale="100000" lnSpcReduction="20000"/>
          </a:bodyPr>
          <a:lstStyle xmlns:a="http://schemas.openxmlformats.org/drawingml/2006/main">
            <a:defPPr>
              <a:defRPr sz="3720">
                <a:solidFill>
                  <a:srgbClr val="0B49CB"/>
                </a:solidFill>
              </a:defRPr>
            </a:defPPr>
            <a:lvl1pPr algn="l" defTabSz="914400">
              <a:lnSpc>
                <a:spcPct val="90000"/>
              </a:lnSpc>
              <a:spcBef>
                <a:spcPct val="0"/>
              </a:spcBef>
              <a:buNone/>
              <a:defRPr sz="4000" kern="1200">
                <a:solidFill>
                  <a:srgbClr val="005493"/>
                </a:solidFill>
                <a:latin typeface="IBM Plex Mono SemiBold"/>
                <a:ea typeface="IBM Plex Mono SemiBold"/>
                <a:cs typeface="IBM Plex Mono SemiBold"/>
              </a:defRPr>
            </a:lvl1pPr>
          </a:lstStyle>
          <a:p xmlns:a="http://schemas.openxmlformats.org/drawingml/2006/main">
            <a:pPr>
              <a:defRPr sz="3720">
                <a:solidFill>
                  <a:srgbClr val="0B49CB"/>
                </a:solidFill>
              </a:defRPr>
            </a:pPr>
            <a:r>
              <a:rPr sz="3720">
                <a:solidFill>
                  <a:srgbClr val="0B49CB"/>
                </a:solidFill>
                <a:latin typeface="Abadi"/>
                <a:ea typeface="Abadi"/>
                <a:cs typeface="Abadi"/>
              </a:rPr>
              <a:t>Launch Sites Beginning with ‘CCA’</a:t>
            </a:r>
          </a:p>
        </p:txBody>
      </p:sp>
      <p:graphicFrame>
        <p:nvGraphicFrame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9B0BC01B-DFFA-4716-A42A-F0AC67C8F767}"/>
              </a:ext>
            </a:extLst>
          </p:cNvPr>
          <p:cNvGraphicFramePr/>
          <p:nvPr/>
        </p:nvGraphicFramePr>
        <p:xfrm>
          <a:off xmlns:a="http://schemas.openxmlformats.org/drawingml/2006/main" x="857250" y="1809750"/>
          <a:ext xmlns:a="http://schemas.openxmlformats.org/drawingml/2006/main" cx="10477500" cy="3048000"/>
        </p:xfrm>
        <a:graphic xmlns:a="http://schemas.openxmlformats.org/drawingml/2006/main">
          <a:graphicData uri="http://schemas.openxmlformats.org/drawingml/2006/table">
            <a:tbl>
              <a:tblPr/>
              <a:tblGrid>
                <a:gridCol w="2619375"/>
                <a:gridCol w="2619375"/>
                <a:gridCol w="2619375"/>
                <a:gridCol w="2619375"/>
              </a:tblGrid>
              <a:tr h="508000">
                <a:tc>
                  <a:txBody>
                    <a:bodyPr/>
                    <a:lstStyle/>
                    <a:p>
                      <a:r>
                        <a:rPr sz="1725" b="1">
                          <a:solidFill>
                            <a:srgbClr val="FFFFFF"/>
                          </a:solidFill>
                        </a:rPr>
                        <a:t>Date</a:t>
                      </a:r>
                    </a:p>
                  </a:txBody>
                  <a:tcPr marL="91440" marR="91440" marT="45720" marB="45720">
                    <a:solidFill>
                      <a:srgbClr val="0B49CB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725" b="1">
                          <a:solidFill>
                            <a:srgbClr val="FFFFFF"/>
                          </a:solidFill>
                        </a:rPr>
                        <a:t>Booster version</a:t>
                      </a:r>
                    </a:p>
                  </a:txBody>
                  <a:tcPr marL="91440" marR="91440" marT="45720" marB="45720">
                    <a:solidFill>
                      <a:srgbClr val="0B49CB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725" b="1">
                          <a:solidFill>
                            <a:srgbClr val="FFFFFF"/>
                          </a:solidFill>
                        </a:rPr>
                        <a:t>Payload (kg)</a:t>
                      </a:r>
                    </a:p>
                  </a:txBody>
                  <a:tcPr marL="91440" marR="91440" marT="45720" marB="45720">
                    <a:solidFill>
                      <a:srgbClr val="0B49CB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725" b="1">
                          <a:solidFill>
                            <a:srgbClr val="FFFFFF"/>
                          </a:solidFill>
                        </a:rPr>
                        <a:t>Site</a:t>
                      </a:r>
                    </a:p>
                  </a:txBody>
                  <a:tcPr marL="91440" marR="91440" marT="45720" marB="45720">
                    <a:solidFill>
                      <a:srgbClr val="0B49CB"/>
                    </a:solidFill>
                  </a:tcPr>
                </a:tc>
              </a:tr>
              <a:tr h="508000">
                <a:tc>
                  <a:txBody>
                    <a:bodyPr/>
                    <a:lstStyle/>
                    <a:p>
                      <a:r>
                        <a:rPr sz="1725" b="0">
                          <a:solidFill>
                            <a:srgbClr val="292929"/>
                          </a:solidFill>
                        </a:rPr>
                        <a:t>2010-06-04</a:t>
                      </a:r>
                    </a:p>
                  </a:txBody>
                  <a:tcPr marL="91440" marR="91440" marT="45720" marB="45720">
                    <a:solidFill>
                      <a:srgbClr val="F1F5FC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725" b="0">
                          <a:solidFill>
                            <a:srgbClr val="292929"/>
                          </a:solidFill>
                        </a:rPr>
                        <a:t>F9 v1.0  B0003</a:t>
                      </a:r>
                    </a:p>
                  </a:txBody>
                  <a:tcPr marL="91440" marR="91440" marT="45720" marB="45720">
                    <a:solidFill>
                      <a:srgbClr val="F1F5FC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725" b="0">
                          <a:solidFill>
                            <a:srgbClr val="292929"/>
                          </a:solidFill>
                        </a:rPr>
                        <a:t>0</a:t>
                      </a:r>
                    </a:p>
                  </a:txBody>
                  <a:tcPr marL="91440" marR="91440" marT="45720" marB="45720">
                    <a:solidFill>
                      <a:srgbClr val="F1F5FC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725" b="0">
                          <a:solidFill>
                            <a:srgbClr val="292929"/>
                          </a:solidFill>
                        </a:rPr>
                        <a:t>CCAFS LC-40</a:t>
                      </a:r>
                    </a:p>
                  </a:txBody>
                  <a:tcPr marL="91440" marR="91440" marT="45720" marB="45720">
                    <a:solidFill>
                      <a:srgbClr val="F1F5FC"/>
                    </a:solidFill>
                  </a:tcPr>
                </a:tc>
              </a:tr>
              <a:tr h="508000">
                <a:tc>
                  <a:txBody>
                    <a:bodyPr/>
                    <a:lstStyle/>
                    <a:p>
                      <a:r>
                        <a:rPr sz="1725" b="0">
                          <a:solidFill>
                            <a:srgbClr val="292929"/>
                          </a:solidFill>
                        </a:rPr>
                        <a:t>2010-12-08</a:t>
                      </a:r>
                    </a:p>
                  </a:txBody>
                  <a:tcPr marL="91440" marR="91440" marT="45720" marB="4572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725" b="0">
                          <a:solidFill>
                            <a:srgbClr val="292929"/>
                          </a:solidFill>
                        </a:rPr>
                        <a:t>F9 v1.0  B0004</a:t>
                      </a:r>
                    </a:p>
                  </a:txBody>
                  <a:tcPr marL="91440" marR="91440" marT="45720" marB="4572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725" b="0">
                          <a:solidFill>
                            <a:srgbClr val="292929"/>
                          </a:solidFill>
                        </a:rPr>
                        <a:t>0</a:t>
                      </a:r>
                    </a:p>
                  </a:txBody>
                  <a:tcPr marL="91440" marR="91440" marT="45720" marB="4572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725" b="0">
                          <a:solidFill>
                            <a:srgbClr val="292929"/>
                          </a:solidFill>
                        </a:rPr>
                        <a:t>CCAFS LC-40</a:t>
                      </a:r>
                    </a:p>
                  </a:txBody>
                  <a:tcPr marL="91440" marR="91440" marT="45720" marB="45720">
                    <a:solidFill>
                      <a:srgbClr val="FFFFFF"/>
                    </a:solidFill>
                  </a:tcPr>
                </a:tc>
              </a:tr>
              <a:tr h="508000">
                <a:tc>
                  <a:txBody>
                    <a:bodyPr/>
                    <a:lstStyle/>
                    <a:p>
                      <a:r>
                        <a:rPr sz="1725" b="0">
                          <a:solidFill>
                            <a:srgbClr val="292929"/>
                          </a:solidFill>
                        </a:rPr>
                        <a:t>2012-05-22</a:t>
                      </a:r>
                    </a:p>
                  </a:txBody>
                  <a:tcPr marL="91440" marR="91440" marT="45720" marB="45720">
                    <a:solidFill>
                      <a:srgbClr val="F1F5FC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725" b="0">
                          <a:solidFill>
                            <a:srgbClr val="292929"/>
                          </a:solidFill>
                        </a:rPr>
                        <a:t>F9 v1.0  B0005</a:t>
                      </a:r>
                    </a:p>
                  </a:txBody>
                  <a:tcPr marL="91440" marR="91440" marT="45720" marB="45720">
                    <a:solidFill>
                      <a:srgbClr val="F1F5FC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725" b="0">
                          <a:solidFill>
                            <a:srgbClr val="292929"/>
                          </a:solidFill>
                        </a:rPr>
                        <a:t>525</a:t>
                      </a:r>
                    </a:p>
                  </a:txBody>
                  <a:tcPr marL="91440" marR="91440" marT="45720" marB="45720">
                    <a:solidFill>
                      <a:srgbClr val="F1F5FC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725" b="0">
                          <a:solidFill>
                            <a:srgbClr val="292929"/>
                          </a:solidFill>
                        </a:rPr>
                        <a:t>CCAFS LC-40</a:t>
                      </a:r>
                    </a:p>
                  </a:txBody>
                  <a:tcPr marL="91440" marR="91440" marT="45720" marB="45720">
                    <a:solidFill>
                      <a:srgbClr val="F1F5FC"/>
                    </a:solidFill>
                  </a:tcPr>
                </a:tc>
              </a:tr>
              <a:tr h="508000">
                <a:tc>
                  <a:txBody>
                    <a:bodyPr/>
                    <a:lstStyle/>
                    <a:p>
                      <a:r>
                        <a:rPr sz="1725" b="0">
                          <a:solidFill>
                            <a:srgbClr val="292929"/>
                          </a:solidFill>
                        </a:rPr>
                        <a:t>2012-10-08</a:t>
                      </a:r>
                    </a:p>
                  </a:txBody>
                  <a:tcPr marL="91440" marR="91440" marT="45720" marB="4572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725" b="0">
                          <a:solidFill>
                            <a:srgbClr val="292929"/>
                          </a:solidFill>
                        </a:rPr>
                        <a:t>F9 v1.0  B0006</a:t>
                      </a:r>
                    </a:p>
                  </a:txBody>
                  <a:tcPr marL="91440" marR="91440" marT="45720" marB="4572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725" b="0">
                          <a:solidFill>
                            <a:srgbClr val="292929"/>
                          </a:solidFill>
                        </a:rPr>
                        <a:t>500</a:t>
                      </a:r>
                    </a:p>
                  </a:txBody>
                  <a:tcPr marL="91440" marR="91440" marT="45720" marB="4572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725" b="0">
                          <a:solidFill>
                            <a:srgbClr val="292929"/>
                          </a:solidFill>
                        </a:rPr>
                        <a:t>CCAFS LC-40</a:t>
                      </a:r>
                    </a:p>
                  </a:txBody>
                  <a:tcPr marL="91440" marR="91440" marT="45720" marB="45720">
                    <a:solidFill>
                      <a:srgbClr val="FFFFFF"/>
                    </a:solidFill>
                  </a:tcPr>
                </a:tc>
              </a:tr>
              <a:tr h="508000">
                <a:tc>
                  <a:txBody>
                    <a:bodyPr/>
                    <a:lstStyle/>
                    <a:p>
                      <a:r>
                        <a:rPr sz="1725" b="0">
                          <a:solidFill>
                            <a:srgbClr val="292929"/>
                          </a:solidFill>
                        </a:rPr>
                        <a:t>2013-03-01</a:t>
                      </a:r>
                    </a:p>
                  </a:txBody>
                  <a:tcPr marL="91440" marR="91440" marT="45720" marB="45720">
                    <a:solidFill>
                      <a:srgbClr val="F1F5FC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725" b="0">
                          <a:solidFill>
                            <a:srgbClr val="292929"/>
                          </a:solidFill>
                        </a:rPr>
                        <a:t>F9 v1.0  B0007</a:t>
                      </a:r>
                    </a:p>
                  </a:txBody>
                  <a:tcPr marL="91440" marR="91440" marT="45720" marB="45720">
                    <a:solidFill>
                      <a:srgbClr val="F1F5FC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725" b="0">
                          <a:solidFill>
                            <a:srgbClr val="292929"/>
                          </a:solidFill>
                        </a:rPr>
                        <a:t>677</a:t>
                      </a:r>
                    </a:p>
                  </a:txBody>
                  <a:tcPr marL="91440" marR="91440" marT="45720" marB="45720">
                    <a:solidFill>
                      <a:srgbClr val="F1F5FC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725" b="0">
                          <a:solidFill>
                            <a:srgbClr val="292929"/>
                          </a:solidFill>
                        </a:rPr>
                        <a:t>CCAFS LC-40</a:t>
                      </a:r>
                    </a:p>
                  </a:txBody>
                  <a:tcPr marL="91440" marR="91440" marT="45720" marB="45720">
                    <a:solidFill>
                      <a:srgbClr val="F1F5FC"/>
                    </a:solidFill>
                  </a:tcPr>
                </a:tc>
              </a:tr>
            </a:tbl>
          </a:graphicData>
        </a:graphic>
      </p:graphicFrame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8F340CE6-438F-4BFD-A5D8-7B02EAED087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7250" y="5257800"/>
            <a:ext cx="1047750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/>
          <a:lstStyle xmlns:a="http://schemas.openxmlformats.org/drawingml/2006/main">
            <a:defPPr>
              <a:defRPr sz="1800">
                <a:solidFill>
                  <a:srgbClr val="292929"/>
                </a:solidFill>
              </a:defRPr>
            </a:defPPr>
          </a:lstStyle>
          <a:p xmlns:a="http://schemas.openxmlformats.org/drawingml/2006/main">
            <a:pPr>
              <a:defRPr sz="1800">
                <a:solidFill>
                  <a:srgbClr val="292929"/>
                </a:solidFill>
              </a:defRPr>
            </a:pPr>
            <a:r>
              <a:rPr sz="1800">
                <a:solidFill>
                  <a:srgbClr val="292929"/>
                </a:solidFill>
              </a:rPr>
              <a:t>The earliest five CCA records span June 2010 to March 2013. The query orders by date and UTC time before LIMIT 5.</a:t>
            </a:r>
          </a:p>
        </p:txBody>
      </p:sp>
    </p:spTree>
    <p:extLst>
      <p:ext uri="{BB962C8B-B14F-4D97-AF65-F5344CB8AC3E}">
        <p14:creationId xmlns:p14="http://schemas.microsoft.com/office/powerpoint/2010/main" val="1794738657"/>
      </p:ext>
    </p:extLst>
  </p:cSld>
</p:sld>
</file>

<file path=ppt/slides/slide26.xml><?xml version="1.0" encoding="utf-8"?>
<p:sld xmlns:p="http://schemas.openxmlformats.org/presentationml/2006/main">
  <p:cSld>
    <p:bg>
      <p:bgPr>
        <a:blipFill xmlns:a="http://schemas.openxmlformats.org/drawingml/2006/main">
          <a:blip xmlns:r="http://schemas.openxmlformats.org/officeDocument/2006/relationships" r:embed="R605b7f5210b64fc0"/>
          <a:stretch>
            <a:fillRect l="0" t="0" r="0" b="0"/>
          </a:stretch>
        </a:blip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4" name="Slide Number Placeholder 3">
            <a:extLst xmlns:a="http://schemas.openxmlformats.org/drawingml/2006/main">
              <a:ext uri="{FF2B5EF4-FFF2-40B4-BE49-F238E27FC236}">
                <a16:creationId xmlns:a16="http://schemas.microsoft.com/office/drawing/2014/main" id="{D528596A-0847-664A-9D47-5096383E5E09}"/>
              </a:ext>
            </a:extLst>
          </p:cNvPr>
          <p:cNvSpPr>
            <a:spLocks xmlns:a="http://schemas.openxmlformats.org/drawingml/2006/main" noGrp="1"/>
          </p:cNvSpPr>
          <p:nvPr>
            <p:ph type="sldNum" idx="12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fld id="{5AB55966-FA28-BC73-EA9E-53DF014DF033}" type="slidenum">
              <a:t>26</a:t>
            </a:fld>
            <a:endParaRPr/>
          </a:p>
        </p:txBody>
      </p:sp>
      <p:sp>
        <p:nvSpPr>
          <p:cNvPr id="3" name="Title 1">
            <a:extLst xmlns:a="http://schemas.openxmlformats.org/drawingml/2006/main">
              <a:ext uri="{FF2B5EF4-FFF2-40B4-BE49-F238E27FC236}">
                <a16:creationId xmlns:a16="http://schemas.microsoft.com/office/drawing/2014/main" id="{FD161C47-0660-416F-B4C2-25E4D35D69F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70001" y="538639"/>
            <a:ext cx="10572750" cy="9525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vert="horz" lIns="91440" tIns="45720" rIns="91440" bIns="45720" anchor="ctr">
            <a:normAutofit fontScale="100000" lnSpcReduction="20000"/>
          </a:bodyPr>
          <a:lstStyle xmlns:a="http://schemas.openxmlformats.org/drawingml/2006/main">
            <a:defPPr>
              <a:defRPr sz="3720">
                <a:solidFill>
                  <a:srgbClr val="0B49CB"/>
                </a:solidFill>
              </a:defRPr>
            </a:defPPr>
            <a:lvl1pPr algn="l" defTabSz="914400">
              <a:lnSpc>
                <a:spcPct val="90000"/>
              </a:lnSpc>
              <a:spcBef>
                <a:spcPct val="0"/>
              </a:spcBef>
              <a:buNone/>
              <a:defRPr sz="4000" kern="1200">
                <a:solidFill>
                  <a:srgbClr val="005493"/>
                </a:solidFill>
                <a:latin typeface="IBM Plex Mono SemiBold"/>
                <a:ea typeface="IBM Plex Mono SemiBold"/>
                <a:cs typeface="IBM Plex Mono SemiBold"/>
              </a:defRPr>
            </a:lvl1pPr>
          </a:lstStyle>
          <a:p xmlns:a="http://schemas.openxmlformats.org/drawingml/2006/main">
            <a:pPr>
              <a:defRPr sz="3720">
                <a:solidFill>
                  <a:srgbClr val="0B49CB"/>
                </a:solidFill>
              </a:defRPr>
            </a:pPr>
            <a:r>
              <a:rPr sz="3720">
                <a:solidFill>
                  <a:srgbClr val="0B49CB"/>
                </a:solidFill>
                <a:latin typeface="Abadi"/>
                <a:ea typeface="Abadi"/>
                <a:cs typeface="Abadi"/>
              </a:rPr>
              <a:t>Total NASA (CRS) Payload Mass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FA79576C-0A51-4E1E-93B3-99A4A27EBF2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7250" y="1905000"/>
            <a:ext cx="10477500" cy="952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/>
          <a:lstStyle xmlns:a="http://schemas.openxmlformats.org/drawingml/2006/main">
            <a:defPPr>
              <a:defRPr sz="5400">
                <a:solidFill>
                  <a:srgbClr val="0B49CB"/>
                </a:solidFill>
              </a:defRPr>
            </a:defPPr>
          </a:lstStyle>
          <a:p xmlns:a="http://schemas.openxmlformats.org/drawingml/2006/main">
            <a:pPr>
              <a:defRPr sz="5400">
                <a:solidFill>
                  <a:srgbClr val="0B49CB"/>
                </a:solidFill>
              </a:defRPr>
            </a:pPr>
            <a:r>
              <a:rPr sz="5400">
                <a:solidFill>
                  <a:srgbClr val="0B49CB"/>
                </a:solidFill>
              </a:rPr>
              <a:t>45,596 kg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860F11E3-927F-4211-91E6-F5881453BF8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7250" y="3333750"/>
            <a:ext cx="10477500" cy="952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/>
          <a:lstStyle xmlns:a="http://schemas.openxmlformats.org/drawingml/2006/main">
            <a:defPPr>
              <a:defRPr sz="2250">
                <a:solidFill>
                  <a:srgbClr val="292929"/>
                </a:solidFill>
              </a:defRPr>
            </a:defPPr>
          </a:lstStyle>
          <a:p xmlns:a="http://schemas.openxmlformats.org/drawingml/2006/main">
            <a:pPr>
              <a:defRPr sz="2250">
                <a:solidFill>
                  <a:srgbClr val="292929"/>
                </a:solidFill>
              </a:defRPr>
            </a:pPr>
            <a:r>
              <a:rPr sz="2250">
                <a:solidFill>
                  <a:srgbClr val="292929"/>
                </a:solidFill>
              </a:rPr>
              <a:t>SUM(PAYLOAD_MASS__KG_)</a:t>
            </a:r>
          </a:p>
          <a:p xmlns:a="http://schemas.openxmlformats.org/drawingml/2006/main">
            <a:pPr>
              <a:defRPr sz="2250">
                <a:solidFill>
                  <a:srgbClr val="292929"/>
                </a:solidFill>
              </a:defRPr>
            </a:pPr>
            <a:r>
              <a:rPr sz="2250">
                <a:solidFill>
                  <a:srgbClr val="292929"/>
                </a:solidFill>
              </a:rPr>
              <a:t>WHERE Customer = 'NASA (CRS)'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51A39AD3-8A98-4897-BD5B-5EC655684EC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7250" y="5257800"/>
            <a:ext cx="1047750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/>
          <a:lstStyle xmlns:a="http://schemas.openxmlformats.org/drawingml/2006/main">
            <a:defPPr>
              <a:defRPr sz="1800">
                <a:solidFill>
                  <a:srgbClr val="292929"/>
                </a:solidFill>
              </a:defRPr>
            </a:defPPr>
          </a:lstStyle>
          <a:p xmlns:a="http://schemas.openxmlformats.org/drawingml/2006/main">
            <a:pPr>
              <a:defRPr sz="1800">
                <a:solidFill>
                  <a:srgbClr val="292929"/>
                </a:solidFill>
              </a:defRPr>
            </a:pPr>
            <a:r>
              <a:rPr sz="1800">
                <a:solidFill>
                  <a:srgbClr val="292929"/>
                </a:solidFill>
              </a:rPr>
              <a:t>This is the NASA Commercial Resupply Services subset. It does not include every customer label containing NASA.</a:t>
            </a:r>
          </a:p>
        </p:txBody>
      </p:sp>
    </p:spTree>
    <p:extLst>
      <p:ext uri="{BB962C8B-B14F-4D97-AF65-F5344CB8AC3E}">
        <p14:creationId xmlns:p14="http://schemas.microsoft.com/office/powerpoint/2010/main" val="4010014743"/>
      </p:ext>
    </p:extLst>
  </p:cSld>
</p:sld>
</file>

<file path=ppt/slides/slide27.xml><?xml version="1.0" encoding="utf-8"?>
<p:sld xmlns:p="http://schemas.openxmlformats.org/presentationml/2006/main">
  <p:cSld>
    <p:bg>
      <p:bgPr>
        <a:blipFill xmlns:a="http://schemas.openxmlformats.org/drawingml/2006/main">
          <a:blip xmlns:r="http://schemas.openxmlformats.org/officeDocument/2006/relationships" r:embed="R996ef832138d4479"/>
          <a:stretch>
            <a:fillRect l="0" t="0" r="0" b="0"/>
          </a:stretch>
        </a:blip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4" name="Slide Number Placeholder 3">
            <a:extLst xmlns:a="http://schemas.openxmlformats.org/drawingml/2006/main">
              <a:ext uri="{FF2B5EF4-FFF2-40B4-BE49-F238E27FC236}">
                <a16:creationId xmlns:a16="http://schemas.microsoft.com/office/drawing/2014/main" id="{D528596A-0847-664A-9D47-5096383E5E09}"/>
              </a:ext>
            </a:extLst>
          </p:cNvPr>
          <p:cNvSpPr>
            <a:spLocks xmlns:a="http://schemas.openxmlformats.org/drawingml/2006/main" noGrp="1"/>
          </p:cNvSpPr>
          <p:nvPr>
            <p:ph type="sldNum" idx="12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fld id="{02F15020-66A7-620A-7B7A-C05C4312DEAE}" type="slidenum">
              <a:t>27</a:t>
            </a:fld>
            <a:endParaRPr/>
          </a:p>
        </p:txBody>
      </p:sp>
      <p:sp>
        <p:nvSpPr>
          <p:cNvPr id="3" name="Title 1">
            <a:extLst xmlns:a="http://schemas.openxmlformats.org/drawingml/2006/main">
              <a:ext uri="{FF2B5EF4-FFF2-40B4-BE49-F238E27FC236}">
                <a16:creationId xmlns:a16="http://schemas.microsoft.com/office/drawing/2014/main" id="{AFD52E17-48CB-4D60-BD56-71D197A29B3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70001" y="538639"/>
            <a:ext cx="10572750" cy="9525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vert="horz" lIns="91440" tIns="45720" rIns="91440" bIns="45720" anchor="ctr">
            <a:normAutofit fontScale="100000" lnSpcReduction="20000"/>
          </a:bodyPr>
          <a:lstStyle xmlns:a="http://schemas.openxmlformats.org/drawingml/2006/main">
            <a:defPPr>
              <a:defRPr sz="3720">
                <a:solidFill>
                  <a:srgbClr val="0B49CB"/>
                </a:solidFill>
              </a:defRPr>
            </a:defPPr>
            <a:lvl1pPr algn="l" defTabSz="914400">
              <a:lnSpc>
                <a:spcPct val="90000"/>
              </a:lnSpc>
              <a:spcBef>
                <a:spcPct val="0"/>
              </a:spcBef>
              <a:buNone/>
              <a:defRPr sz="4000" kern="1200">
                <a:solidFill>
                  <a:srgbClr val="005493"/>
                </a:solidFill>
                <a:latin typeface="IBM Plex Mono SemiBold"/>
                <a:ea typeface="IBM Plex Mono SemiBold"/>
                <a:cs typeface="IBM Plex Mono SemiBold"/>
              </a:defRPr>
            </a:lvl1pPr>
          </a:lstStyle>
          <a:p xmlns:a="http://schemas.openxmlformats.org/drawingml/2006/main">
            <a:pPr>
              <a:defRPr sz="3720">
                <a:solidFill>
                  <a:srgbClr val="0B49CB"/>
                </a:solidFill>
              </a:defRPr>
            </a:pPr>
            <a:r>
              <a:rPr sz="3720">
                <a:solidFill>
                  <a:srgbClr val="0B49CB"/>
                </a:solidFill>
                <a:latin typeface="Abadi"/>
                <a:ea typeface="Abadi"/>
                <a:cs typeface="Abadi"/>
              </a:rPr>
              <a:t>Average Payload Mass for F9 v1.1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F03CC823-41A9-4BD0-8676-FC01AA7940E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7250" y="1905000"/>
            <a:ext cx="10477500" cy="952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/>
          <a:lstStyle xmlns:a="http://schemas.openxmlformats.org/drawingml/2006/main">
            <a:defPPr>
              <a:defRPr sz="5400">
                <a:solidFill>
                  <a:srgbClr val="0B49CB"/>
                </a:solidFill>
              </a:defRPr>
            </a:defPPr>
          </a:lstStyle>
          <a:p xmlns:a="http://schemas.openxmlformats.org/drawingml/2006/main">
            <a:pPr>
              <a:defRPr sz="5400">
                <a:solidFill>
                  <a:srgbClr val="0B49CB"/>
                </a:solidFill>
              </a:defRPr>
            </a:pPr>
            <a:r>
              <a:rPr sz="5400">
                <a:solidFill>
                  <a:srgbClr val="0B49CB"/>
                </a:solidFill>
              </a:rPr>
              <a:t>2,928.4 kg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4B2BF971-FD6F-4142-8F7C-769F115E36F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7250" y="3333750"/>
            <a:ext cx="10477500" cy="952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/>
          <a:lstStyle xmlns:a="http://schemas.openxmlformats.org/drawingml/2006/main">
            <a:defPPr>
              <a:defRPr sz="2250">
                <a:solidFill>
                  <a:srgbClr val="292929"/>
                </a:solidFill>
              </a:defRPr>
            </a:defPPr>
          </a:lstStyle>
          <a:p xmlns:a="http://schemas.openxmlformats.org/drawingml/2006/main">
            <a:pPr>
              <a:defRPr sz="2250">
                <a:solidFill>
                  <a:srgbClr val="292929"/>
                </a:solidFill>
              </a:defRPr>
            </a:pPr>
            <a:r>
              <a:rPr sz="2250">
                <a:solidFill>
                  <a:srgbClr val="292929"/>
                </a:solidFill>
              </a:rPr>
              <a:t>AVG(PAYLOAD_MASS__KG_)</a:t>
            </a:r>
          </a:p>
          <a:p xmlns:a="http://schemas.openxmlformats.org/drawingml/2006/main">
            <a:pPr>
              <a:defRPr sz="2250">
                <a:solidFill>
                  <a:srgbClr val="292929"/>
                </a:solidFill>
              </a:defRPr>
            </a:pPr>
            <a:r>
              <a:rPr sz="2250">
                <a:solidFill>
                  <a:srgbClr val="292929"/>
                </a:solidFill>
              </a:rPr>
              <a:t>WHERE Booster_Version = 'F9 v1.1'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77DB3ED5-274C-4C92-9FC8-5A9EB4B940C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7250" y="5257800"/>
            <a:ext cx="1047750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/>
          <a:lstStyle xmlns:a="http://schemas.openxmlformats.org/drawingml/2006/main">
            <a:defPPr>
              <a:defRPr sz="1800">
                <a:solidFill>
                  <a:srgbClr val="292929"/>
                </a:solidFill>
              </a:defRPr>
            </a:defPPr>
          </a:lstStyle>
          <a:p xmlns:a="http://schemas.openxmlformats.org/drawingml/2006/main">
            <a:pPr>
              <a:defRPr sz="1800">
                <a:solidFill>
                  <a:srgbClr val="292929"/>
                </a:solidFill>
              </a:defRPr>
            </a:pPr>
            <a:r>
              <a:rPr sz="1800">
                <a:solidFill>
                  <a:srgbClr val="292929"/>
                </a:solidFill>
              </a:rPr>
              <a:t>The exact version label matches five rows. Including every label beginning with F9 v1.1 would answer a different query.</a:t>
            </a:r>
          </a:p>
        </p:txBody>
      </p:sp>
    </p:spTree>
    <p:extLst>
      <p:ext uri="{BB962C8B-B14F-4D97-AF65-F5344CB8AC3E}">
        <p14:creationId xmlns:p14="http://schemas.microsoft.com/office/powerpoint/2010/main" val="2735560525"/>
      </p:ext>
    </p:extLst>
  </p:cSld>
</p:sld>
</file>

<file path=ppt/slides/slide28.xml><?xml version="1.0" encoding="utf-8"?>
<p:sld xmlns:p="http://schemas.openxmlformats.org/presentationml/2006/main">
  <p:cSld>
    <p:bg>
      <p:bgPr>
        <a:blipFill xmlns:a="http://schemas.openxmlformats.org/drawingml/2006/main">
          <a:blip xmlns:r="http://schemas.openxmlformats.org/officeDocument/2006/relationships" r:embed="R1f28a4fb493e4ca7"/>
          <a:stretch>
            <a:fillRect l="0" t="0" r="0" b="0"/>
          </a:stretch>
        </a:blip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4" name="Slide Number Placeholder 3">
            <a:extLst xmlns:a="http://schemas.openxmlformats.org/drawingml/2006/main">
              <a:ext uri="{FF2B5EF4-FFF2-40B4-BE49-F238E27FC236}">
                <a16:creationId xmlns:a16="http://schemas.microsoft.com/office/drawing/2014/main" id="{D528596A-0847-664A-9D47-5096383E5E09}"/>
              </a:ext>
            </a:extLst>
          </p:cNvPr>
          <p:cNvSpPr>
            <a:spLocks xmlns:a="http://schemas.openxmlformats.org/drawingml/2006/main" noGrp="1"/>
          </p:cNvSpPr>
          <p:nvPr>
            <p:ph type="sldNum" idx="12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fld id="{68AD4375-9F50-F53A-6F9F-DD8473067C05}" type="slidenum">
              <a:t>28</a:t>
            </a:fld>
            <a:endParaRPr/>
          </a:p>
        </p:txBody>
      </p:sp>
      <p:sp>
        <p:nvSpPr>
          <p:cNvPr id="3" name="Title 1">
            <a:extLst xmlns:a="http://schemas.openxmlformats.org/drawingml/2006/main">
              <a:ext uri="{FF2B5EF4-FFF2-40B4-BE49-F238E27FC236}">
                <a16:creationId xmlns:a16="http://schemas.microsoft.com/office/drawing/2014/main" id="{7F12CD3C-55B3-4129-817A-84D0B28F713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70001" y="538639"/>
            <a:ext cx="10572750" cy="9525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vert="horz" lIns="91440" tIns="45720" rIns="91440" bIns="45720" anchor="ctr">
            <a:normAutofit fontScale="100000" lnSpcReduction="20000"/>
          </a:bodyPr>
          <a:lstStyle xmlns:a="http://schemas.openxmlformats.org/drawingml/2006/main">
            <a:defPPr>
              <a:defRPr sz="3720">
                <a:solidFill>
                  <a:srgbClr val="0B49CB"/>
                </a:solidFill>
              </a:defRPr>
            </a:defPPr>
            <a:lvl1pPr algn="l" defTabSz="914400">
              <a:lnSpc>
                <a:spcPct val="90000"/>
              </a:lnSpc>
              <a:spcBef>
                <a:spcPct val="0"/>
              </a:spcBef>
              <a:buNone/>
              <a:defRPr sz="4000" kern="1200">
                <a:solidFill>
                  <a:srgbClr val="005493"/>
                </a:solidFill>
                <a:latin typeface="IBM Plex Mono SemiBold"/>
                <a:ea typeface="IBM Plex Mono SemiBold"/>
                <a:cs typeface="IBM Plex Mono SemiBold"/>
              </a:defRPr>
            </a:lvl1pPr>
          </a:lstStyle>
          <a:p xmlns:a="http://schemas.openxmlformats.org/drawingml/2006/main">
            <a:pPr>
              <a:defRPr sz="3720">
                <a:solidFill>
                  <a:srgbClr val="0B49CB"/>
                </a:solidFill>
              </a:defRPr>
            </a:pPr>
            <a:r>
              <a:rPr sz="3720">
                <a:solidFill>
                  <a:srgbClr val="0B49CB"/>
                </a:solidFill>
                <a:latin typeface="Abadi"/>
                <a:ea typeface="Abadi"/>
                <a:cs typeface="Abadi"/>
              </a:rPr>
              <a:t>First Successful Ground Landing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68D141D1-87B7-4CEB-8728-D5E35F33622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7250" y="1952625"/>
            <a:ext cx="10477500" cy="952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/>
          <a:lstStyle xmlns:a="http://schemas.openxmlformats.org/drawingml/2006/main">
            <a:defPPr>
              <a:defRPr sz="4875">
                <a:solidFill>
                  <a:srgbClr val="0B49CB"/>
                </a:solidFill>
              </a:defRPr>
            </a:defPPr>
          </a:lstStyle>
          <a:p xmlns:a="http://schemas.openxmlformats.org/drawingml/2006/main">
            <a:pPr>
              <a:defRPr sz="4875">
                <a:solidFill>
                  <a:srgbClr val="0B49CB"/>
                </a:solidFill>
              </a:defRPr>
            </a:pPr>
            <a:r>
              <a:rPr sz="4875">
                <a:solidFill>
                  <a:srgbClr val="0B49CB"/>
                </a:solidFill>
              </a:rPr>
              <a:t>22 December 2015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23DEA028-4FC9-4827-8EB2-3D922AFD6D9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7250" y="3333750"/>
            <a:ext cx="10477500" cy="1143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/>
          <a:lstStyle xmlns:a="http://schemas.openxmlformats.org/drawingml/2006/main">
            <a:defPPr>
              <a:defRPr sz="2100">
                <a:solidFill>
                  <a:srgbClr val="292929"/>
                </a:solidFill>
              </a:defRPr>
            </a:defPPr>
          </a:lstStyle>
          <a:p xmlns:a="http://schemas.openxmlformats.org/drawingml/2006/main">
            <a:pPr>
              <a:defRPr sz="2100">
                <a:solidFill>
                  <a:srgbClr val="292929"/>
                </a:solidFill>
              </a:defRPr>
            </a:pPr>
            <a:r>
              <a:rPr sz="2100">
                <a:solidFill>
                  <a:srgbClr val="292929"/>
                </a:solidFill>
              </a:rPr>
              <a:t>MIN(Date)</a:t>
            </a:r>
          </a:p>
          <a:p xmlns:a="http://schemas.openxmlformats.org/drawingml/2006/main">
            <a:pPr>
              <a:defRPr sz="2100">
                <a:solidFill>
                  <a:srgbClr val="292929"/>
                </a:solidFill>
              </a:defRPr>
            </a:pPr>
            <a:r>
              <a:rPr sz="2100">
                <a:solidFill>
                  <a:srgbClr val="292929"/>
                </a:solidFill>
              </a:rPr>
              <a:t>WHERE TRIM(Landing_Outcome) = 'Success (ground pad)'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B817C344-72E0-4268-B8AD-1AC36204268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7250" y="5257800"/>
            <a:ext cx="1047750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/>
          <a:lstStyle xmlns:a="http://schemas.openxmlformats.org/drawingml/2006/main">
            <a:defPPr>
              <a:defRPr sz="1800">
                <a:solidFill>
                  <a:srgbClr val="292929"/>
                </a:solidFill>
              </a:defRPr>
            </a:defPPr>
          </a:lstStyle>
          <a:p xmlns:a="http://schemas.openxmlformats.org/drawingml/2006/main">
            <a:pPr>
              <a:defRPr sz="1800">
                <a:solidFill>
                  <a:srgbClr val="292929"/>
                </a:solidFill>
              </a:defRPr>
            </a:pPr>
            <a:r>
              <a:rPr sz="1800">
                <a:solidFill>
                  <a:srgbClr val="292929"/>
                </a:solidFill>
              </a:rPr>
              <a:t>This is the earliest successful ground-pad landing recorded in the SQL snapshot.</a:t>
            </a:r>
          </a:p>
        </p:txBody>
      </p:sp>
    </p:spTree>
    <p:extLst>
      <p:ext uri="{BB962C8B-B14F-4D97-AF65-F5344CB8AC3E}">
        <p14:creationId xmlns:p14="http://schemas.microsoft.com/office/powerpoint/2010/main" val="1434679925"/>
      </p:ext>
    </p:extLst>
  </p:cSld>
</p:sld>
</file>

<file path=ppt/slides/slide29.xml><?xml version="1.0" encoding="utf-8"?>
<p:sld xmlns:p="http://schemas.openxmlformats.org/presentationml/2006/main">
  <p:cSld>
    <p:bg>
      <p:bgPr>
        <a:blipFill xmlns:a="http://schemas.openxmlformats.org/drawingml/2006/main">
          <a:blip xmlns:r="http://schemas.openxmlformats.org/officeDocument/2006/relationships" r:embed="Rc732ad6087434192"/>
          <a:stretch>
            <a:fillRect l="0" t="0" r="0" b="0"/>
          </a:stretch>
        </a:blip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4" name="Slide Number Placeholder 3">
            <a:extLst xmlns:a="http://schemas.openxmlformats.org/drawingml/2006/main">
              <a:ext uri="{FF2B5EF4-FFF2-40B4-BE49-F238E27FC236}">
                <a16:creationId xmlns:a16="http://schemas.microsoft.com/office/drawing/2014/main" id="{D528596A-0847-664A-9D47-5096383E5E09}"/>
              </a:ext>
            </a:extLst>
          </p:cNvPr>
          <p:cNvSpPr>
            <a:spLocks xmlns:a="http://schemas.openxmlformats.org/drawingml/2006/main" noGrp="1"/>
          </p:cNvSpPr>
          <p:nvPr>
            <p:ph type="sldNum" idx="12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fld id="{41680313-6E64-04FF-399A-57B7CADE95A9}" type="slidenum">
              <a:t>29</a:t>
            </a:fld>
            <a:endParaRPr/>
          </a:p>
        </p:txBody>
      </p:sp>
      <p:sp>
        <p:nvSpPr>
          <p:cNvPr id="8" name="Title 1">
            <a:extLst xmlns:a="http://schemas.openxmlformats.org/drawingml/2006/main">
              <a:ext uri="{FF2B5EF4-FFF2-40B4-BE49-F238E27FC236}">
                <a16:creationId xmlns:a16="http://schemas.microsoft.com/office/drawing/2014/main" id="{952C2E9C-C6BE-40BD-A406-CFB441363CB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70001" y="538639"/>
            <a:ext cx="10572750" cy="9525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vert="horz" lIns="91440" tIns="45720" rIns="91440" bIns="45720" anchor="ctr">
            <a:normAutofit fontScale="100000" lnSpcReduction="20000"/>
          </a:bodyPr>
          <a:lstStyle xmlns:a="http://schemas.openxmlformats.org/drawingml/2006/main">
            <a:defPPr>
              <a:defRPr sz="3720">
                <a:solidFill>
                  <a:srgbClr val="0B49CB"/>
                </a:solidFill>
              </a:defRPr>
            </a:defPPr>
            <a:lvl1pPr algn="l" defTabSz="914400">
              <a:lnSpc>
                <a:spcPct val="90000"/>
              </a:lnSpc>
              <a:spcBef>
                <a:spcPct val="0"/>
              </a:spcBef>
              <a:buNone/>
              <a:defRPr sz="4000" kern="1200">
                <a:solidFill>
                  <a:srgbClr val="005493"/>
                </a:solidFill>
                <a:latin typeface="IBM Plex Mono SemiBold"/>
                <a:ea typeface="IBM Plex Mono SemiBold"/>
                <a:cs typeface="IBM Plex Mono SemiBold"/>
              </a:defRPr>
            </a:lvl1pPr>
          </a:lstStyle>
          <a:p xmlns:a="http://schemas.openxmlformats.org/drawingml/2006/main">
            <a:pPr>
              <a:defRPr sz="3720">
                <a:solidFill>
                  <a:srgbClr val="0B49CB"/>
                </a:solidFill>
              </a:defRPr>
            </a:pPr>
            <a:r>
              <a:rPr sz="3720">
                <a:solidFill>
                  <a:srgbClr val="0B49CB"/>
                </a:solidFill>
                <a:latin typeface="Abadi"/>
                <a:ea typeface="Abadi"/>
                <a:cs typeface="Abadi"/>
              </a:rPr>
              <a:t>Drone Ship Landings at 4,000–6,000 kg</a:t>
            </a:r>
          </a:p>
        </p:txBody>
      </p:sp>
      <p:graphicFrame>
        <p:nvGraphicFrame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672E2435-58CD-4005-B405-294B2F3EE862}"/>
              </a:ext>
            </a:extLst>
          </p:cNvPr>
          <p:cNvGraphicFramePr/>
          <p:nvPr/>
        </p:nvGraphicFramePr>
        <p:xfrm>
          <a:off xmlns:a="http://schemas.openxmlformats.org/drawingml/2006/main" x="857250" y="1809750"/>
          <a:ext xmlns:a="http://schemas.openxmlformats.org/drawingml/2006/main" cx="10477500" cy="2762250"/>
        </p:xfrm>
        <a:graphic xmlns:a="http://schemas.openxmlformats.org/drawingml/2006/main">
          <a:graphicData uri="http://schemas.openxmlformats.org/drawingml/2006/table">
            <a:tbl>
              <a:tblPr/>
              <a:tblGrid>
                <a:gridCol w="10477500"/>
              </a:tblGrid>
              <a:tr h="552450">
                <a:tc>
                  <a:txBody>
                    <a:bodyPr/>
                    <a:lstStyle/>
                    <a:p>
                      <a:r>
                        <a:rPr sz="1725" b="1">
                          <a:solidFill>
                            <a:srgbClr val="FFFFFF"/>
                          </a:solidFill>
                        </a:rPr>
                        <a:t>Booster version</a:t>
                      </a:r>
                    </a:p>
                  </a:txBody>
                  <a:tcPr marL="91440" marR="91440" marT="45720" marB="45720">
                    <a:solidFill>
                      <a:srgbClr val="0B49CB"/>
                    </a:solidFill>
                  </a:tcPr>
                </a:tc>
              </a:tr>
              <a:tr h="552450">
                <a:tc>
                  <a:txBody>
                    <a:bodyPr/>
                    <a:lstStyle/>
                    <a:p>
                      <a:r>
                        <a:rPr sz="1725" b="0">
                          <a:solidFill>
                            <a:srgbClr val="292929"/>
                          </a:solidFill>
                        </a:rPr>
                        <a:t>F9 FT  B1021.2</a:t>
                      </a:r>
                    </a:p>
                  </a:txBody>
                  <a:tcPr marL="91440" marR="91440" marT="45720" marB="45720">
                    <a:solidFill>
                      <a:srgbClr val="F1F5FC"/>
                    </a:solidFill>
                  </a:tcPr>
                </a:tc>
              </a:tr>
              <a:tr h="552450">
                <a:tc>
                  <a:txBody>
                    <a:bodyPr/>
                    <a:lstStyle/>
                    <a:p>
                      <a:r>
                        <a:rPr sz="1725" b="0">
                          <a:solidFill>
                            <a:srgbClr val="292929"/>
                          </a:solidFill>
                        </a:rPr>
                        <a:t>F9 FT  B1031.2</a:t>
                      </a:r>
                    </a:p>
                  </a:txBody>
                  <a:tcPr marL="91440" marR="91440" marT="45720" marB="45720">
                    <a:solidFill>
                      <a:srgbClr val="FFFFFF"/>
                    </a:solidFill>
                  </a:tcPr>
                </a:tc>
              </a:tr>
              <a:tr h="552450">
                <a:tc>
                  <a:txBody>
                    <a:bodyPr/>
                    <a:lstStyle/>
                    <a:p>
                      <a:r>
                        <a:rPr sz="1725" b="0">
                          <a:solidFill>
                            <a:srgbClr val="292929"/>
                          </a:solidFill>
                        </a:rPr>
                        <a:t>F9 FT B1022</a:t>
                      </a:r>
                    </a:p>
                  </a:txBody>
                  <a:tcPr marL="91440" marR="91440" marT="45720" marB="45720">
                    <a:solidFill>
                      <a:srgbClr val="F1F5FC"/>
                    </a:solidFill>
                  </a:tcPr>
                </a:tc>
              </a:tr>
              <a:tr h="552450">
                <a:tc>
                  <a:txBody>
                    <a:bodyPr/>
                    <a:lstStyle/>
                    <a:p>
                      <a:r>
                        <a:rPr sz="1725" b="0">
                          <a:solidFill>
                            <a:srgbClr val="292929"/>
                          </a:solidFill>
                        </a:rPr>
                        <a:t>F9 FT B1026</a:t>
                      </a:r>
                    </a:p>
                  </a:txBody>
                  <a:tcPr marL="91440" marR="91440" marT="45720" marB="45720"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400C608B-A7B9-4347-AD16-13E77AC9320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7250" y="5257800"/>
            <a:ext cx="1047750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/>
          <a:lstStyle xmlns:a="http://schemas.openxmlformats.org/drawingml/2006/main">
            <a:defPPr>
              <a:defRPr sz="1800">
                <a:solidFill>
                  <a:srgbClr val="292929"/>
                </a:solidFill>
              </a:defRPr>
            </a:defPPr>
          </a:lstStyle>
          <a:p xmlns:a="http://schemas.openxmlformats.org/drawingml/2006/main">
            <a:pPr>
              <a:defRPr sz="1800">
                <a:solidFill>
                  <a:srgbClr val="292929"/>
                </a:solidFill>
              </a:defRPr>
            </a:pPr>
            <a:r>
              <a:rPr sz="1800">
                <a:solidFill>
                  <a:srgbClr val="292929"/>
                </a:solidFill>
              </a:rPr>
              <a:t>Four boosters meet both conditions: successful drone ship landing and payload strictly above 4,000 kg and below 6,000 kg.</a:t>
            </a:r>
          </a:p>
        </p:txBody>
      </p:sp>
    </p:spTree>
    <p:extLst>
      <p:ext uri="{BB962C8B-B14F-4D97-AF65-F5344CB8AC3E}">
        <p14:creationId xmlns:p14="http://schemas.microsoft.com/office/powerpoint/2010/main" val="639399535"/>
      </p:ext>
    </p:extLst>
  </p:cSld>
</p:sld>
</file>

<file path=ppt/slides/slide30.xml><?xml version="1.0" encoding="utf-8"?>
<p:sld xmlns:p="http://schemas.openxmlformats.org/presentationml/2006/main">
  <p:cSld>
    <p:bg>
      <p:bgPr>
        <a:blipFill xmlns:a="http://schemas.openxmlformats.org/drawingml/2006/main">
          <a:blip xmlns:r="http://schemas.openxmlformats.org/officeDocument/2006/relationships" r:embed="Rb25b4d2be2584142"/>
          <a:stretch>
            <a:fillRect l="0" t="0" r="0" b="0"/>
          </a:stretch>
        </a:blip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4" name="Slide Number Placeholder 3">
            <a:extLst xmlns:a="http://schemas.openxmlformats.org/drawingml/2006/main">
              <a:ext uri="{FF2B5EF4-FFF2-40B4-BE49-F238E27FC236}">
                <a16:creationId xmlns:a16="http://schemas.microsoft.com/office/drawing/2014/main" id="{D528596A-0847-664A-9D47-5096383E5E09}"/>
              </a:ext>
            </a:extLst>
          </p:cNvPr>
          <p:cNvSpPr>
            <a:spLocks xmlns:a="http://schemas.openxmlformats.org/drawingml/2006/main" noGrp="1"/>
          </p:cNvSpPr>
          <p:nvPr>
            <p:ph type="sldNum" idx="12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fld id="{5FEBBBCE-9E16-527A-0EE3-E5839422D847}" type="slidenum">
              <a:t>30</a:t>
            </a:fld>
            <a:endParaRPr/>
          </a:p>
        </p:txBody>
      </p:sp>
      <p:sp>
        <p:nvSpPr>
          <p:cNvPr id="3" name="Title 1">
            <a:extLst xmlns:a="http://schemas.openxmlformats.org/drawingml/2006/main">
              <a:ext uri="{FF2B5EF4-FFF2-40B4-BE49-F238E27FC236}">
                <a16:creationId xmlns:a16="http://schemas.microsoft.com/office/drawing/2014/main" id="{79B32320-42D4-49FA-8047-C080B444B3A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70001" y="538639"/>
            <a:ext cx="10572750" cy="9525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vert="horz" lIns="91440" tIns="45720" rIns="91440" bIns="45720" anchor="ctr">
            <a:normAutofit fontScale="100000" lnSpcReduction="20000"/>
          </a:bodyPr>
          <a:lstStyle xmlns:a="http://schemas.openxmlformats.org/drawingml/2006/main">
            <a:defPPr>
              <a:defRPr sz="3720">
                <a:solidFill>
                  <a:srgbClr val="0B49CB"/>
                </a:solidFill>
              </a:defRPr>
            </a:defPPr>
            <a:lvl1pPr algn="l" defTabSz="914400">
              <a:lnSpc>
                <a:spcPct val="90000"/>
              </a:lnSpc>
              <a:spcBef>
                <a:spcPct val="0"/>
              </a:spcBef>
              <a:buNone/>
              <a:defRPr sz="4000" kern="1200">
                <a:solidFill>
                  <a:srgbClr val="005493"/>
                </a:solidFill>
                <a:latin typeface="IBM Plex Mono SemiBold"/>
                <a:ea typeface="IBM Plex Mono SemiBold"/>
                <a:cs typeface="IBM Plex Mono SemiBold"/>
              </a:defRPr>
            </a:lvl1pPr>
          </a:lstStyle>
          <a:p xmlns:a="http://schemas.openxmlformats.org/drawingml/2006/main">
            <a:pPr>
              <a:defRPr sz="3720">
                <a:solidFill>
                  <a:srgbClr val="0B49CB"/>
                </a:solidFill>
              </a:defRPr>
            </a:pPr>
            <a:r>
              <a:rPr sz="3720">
                <a:solidFill>
                  <a:srgbClr val="0B49CB"/>
                </a:solidFill>
                <a:latin typeface="Abadi"/>
                <a:ea typeface="Abadi"/>
                <a:cs typeface="Abadi"/>
              </a:rPr>
              <a:t>Mission Outcomes</a:t>
            </a:r>
          </a:p>
        </p:txBody>
      </p:sp>
      <p:graphicFrame>
        <p:nvGraphicFrame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EB731D84-C0A5-4A3B-8B15-7867F4B878E8}"/>
              </a:ext>
            </a:extLst>
          </p:cNvPr>
          <p:cNvGraphicFramePr/>
          <p:nvPr/>
        </p:nvGraphicFramePr>
        <p:xfrm>
          <a:off xmlns:a="http://schemas.openxmlformats.org/drawingml/2006/main" x="857250" y="1905000"/>
          <a:ext xmlns:a="http://schemas.openxmlformats.org/drawingml/2006/main" cx="10477500" cy="1809750"/>
        </p:xfrm>
        <a:graphic xmlns:a="http://schemas.openxmlformats.org/drawingml/2006/main">
          <a:graphicData uri="http://schemas.openxmlformats.org/drawingml/2006/table">
            <a:tbl>
              <a:tblPr/>
              <a:tblGrid>
                <a:gridCol w="7620000"/>
                <a:gridCol w="2857500"/>
              </a:tblGrid>
              <a:tr h="603250">
                <a:tc>
                  <a:txBody>
                    <a:bodyPr/>
                    <a:lstStyle/>
                    <a:p>
                      <a:r>
                        <a:rPr sz="1725" b="1">
                          <a:solidFill>
                            <a:srgbClr val="FFFFFF"/>
                          </a:solidFill>
                        </a:rPr>
                        <a:t>Mission result</a:t>
                      </a:r>
                    </a:p>
                  </a:txBody>
                  <a:tcPr marL="91440" marR="91440" marT="45720" marB="45720">
                    <a:solidFill>
                      <a:srgbClr val="0B49CB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725" b="1">
                          <a:solidFill>
                            <a:srgbClr val="FFFFFF"/>
                          </a:solidFill>
                        </a:rPr>
                        <a:t>Missions</a:t>
                      </a:r>
                    </a:p>
                  </a:txBody>
                  <a:tcPr marL="91440" marR="91440" marT="45720" marB="45720">
                    <a:solidFill>
                      <a:srgbClr val="0B49CB"/>
                    </a:solidFill>
                  </a:tcPr>
                </a:tc>
              </a:tr>
              <a:tr h="603250">
                <a:tc>
                  <a:txBody>
                    <a:bodyPr/>
                    <a:lstStyle/>
                    <a:p>
                      <a:r>
                        <a:rPr sz="1725" b="0">
                          <a:solidFill>
                            <a:srgbClr val="292929"/>
                          </a:solidFill>
                        </a:rPr>
                        <a:t>Success</a:t>
                      </a:r>
                    </a:p>
                  </a:txBody>
                  <a:tcPr marL="91440" marR="91440" marT="45720" marB="45720">
                    <a:solidFill>
                      <a:srgbClr val="F1F5FC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725" b="0">
                          <a:solidFill>
                            <a:srgbClr val="292929"/>
                          </a:solidFill>
                        </a:rPr>
                        <a:t>100</a:t>
                      </a:r>
                    </a:p>
                  </a:txBody>
                  <a:tcPr marL="91440" marR="91440" marT="45720" marB="45720">
                    <a:solidFill>
                      <a:srgbClr val="F1F5FC"/>
                    </a:solidFill>
                  </a:tcPr>
                </a:tc>
              </a:tr>
              <a:tr h="603250">
                <a:tc>
                  <a:txBody>
                    <a:bodyPr/>
                    <a:lstStyle/>
                    <a:p>
                      <a:r>
                        <a:rPr sz="1725" b="0">
                          <a:solidFill>
                            <a:srgbClr val="292929"/>
                          </a:solidFill>
                        </a:rPr>
                        <a:t>Failure</a:t>
                      </a:r>
                    </a:p>
                  </a:txBody>
                  <a:tcPr marL="91440" marR="91440" marT="45720" marB="4572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725" b="0">
                          <a:solidFill>
                            <a:srgbClr val="292929"/>
                          </a:solidFill>
                        </a:rPr>
                        <a:t>1</a:t>
                      </a:r>
                    </a:p>
                  </a:txBody>
                  <a:tcPr marL="91440" marR="91440" marT="45720" marB="45720"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77182BAD-2EA6-4094-9514-26AB0F2E5C8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7250" y="5257800"/>
            <a:ext cx="1047750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/>
          <a:lstStyle xmlns:a="http://schemas.openxmlformats.org/drawingml/2006/main">
            <a:defPPr>
              <a:defRPr sz="1800">
                <a:solidFill>
                  <a:srgbClr val="292929"/>
                </a:solidFill>
              </a:defRPr>
            </a:defPPr>
          </a:lstStyle>
          <a:p xmlns:a="http://schemas.openxmlformats.org/drawingml/2006/main">
            <a:pPr>
              <a:defRPr sz="1800">
                <a:solidFill>
                  <a:srgbClr val="292929"/>
                </a:solidFill>
              </a:defRPr>
            </a:pPr>
            <a:r>
              <a:rPr sz="1800">
                <a:solidFill>
                  <a:srgbClr val="292929"/>
                </a:solidFill>
              </a:rPr>
              <a:t>100/101 missions count as successful. “Success (payload status unclear)” is included. Mission results differ from landing outcomes.</a:t>
            </a:r>
          </a:p>
        </p:txBody>
      </p:sp>
    </p:spTree>
    <p:extLst>
      <p:ext uri="{BB962C8B-B14F-4D97-AF65-F5344CB8AC3E}">
        <p14:creationId xmlns:p14="http://schemas.microsoft.com/office/powerpoint/2010/main" val="1756972646"/>
      </p:ext>
    </p:extLst>
  </p:cSld>
</p:sld>
</file>

<file path=ppt/slides/slide31.xml><?xml version="1.0" encoding="utf-8"?>
<p:sld xmlns:p="http://schemas.openxmlformats.org/presentationml/2006/main">
  <p:cSld>
    <p:bg>
      <p:bgPr>
        <a:blipFill xmlns:a="http://schemas.openxmlformats.org/drawingml/2006/main">
          <a:blip xmlns:r="http://schemas.openxmlformats.org/officeDocument/2006/relationships" r:embed="Rc965f975c5934263"/>
          <a:stretch>
            <a:fillRect l="0" t="0" r="0" b="0"/>
          </a:stretch>
        </a:blip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4" name="Slide Number Placeholder 3">
            <a:extLst xmlns:a="http://schemas.openxmlformats.org/drawingml/2006/main">
              <a:ext uri="{FF2B5EF4-FFF2-40B4-BE49-F238E27FC236}">
                <a16:creationId xmlns:a16="http://schemas.microsoft.com/office/drawing/2014/main" id="{D528596A-0847-664A-9D47-5096383E5E09}"/>
              </a:ext>
            </a:extLst>
          </p:cNvPr>
          <p:cNvSpPr>
            <a:spLocks xmlns:a="http://schemas.openxmlformats.org/drawingml/2006/main" noGrp="1"/>
          </p:cNvSpPr>
          <p:nvPr>
            <p:ph type="sldNum" idx="12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fld id="{D172A7C5-A0CC-7B36-F236-345181E6AD72}" type="slidenum">
              <a:t>31</a:t>
            </a:fld>
            <a:endParaRPr/>
          </a:p>
        </p:txBody>
      </p:sp>
      <p:sp>
        <p:nvSpPr>
          <p:cNvPr id="3" name="Title 1">
            <a:extLst xmlns:a="http://schemas.openxmlformats.org/drawingml/2006/main">
              <a:ext uri="{FF2B5EF4-FFF2-40B4-BE49-F238E27FC236}">
                <a16:creationId xmlns:a16="http://schemas.microsoft.com/office/drawing/2014/main" id="{2A7EB98F-A25F-4357-9775-478FC17F7F8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70001" y="538639"/>
            <a:ext cx="10572750" cy="9525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vert="horz" lIns="91440" tIns="45720" rIns="91440" bIns="45720" anchor="ctr">
            <a:normAutofit fontScale="100000" lnSpcReduction="20000"/>
          </a:bodyPr>
          <a:lstStyle xmlns:a="http://schemas.openxmlformats.org/drawingml/2006/main">
            <a:defPPr>
              <a:defRPr sz="3720">
                <a:solidFill>
                  <a:srgbClr val="0B49CB"/>
                </a:solidFill>
              </a:defRPr>
            </a:defPPr>
            <a:lvl1pPr algn="l" defTabSz="914400">
              <a:lnSpc>
                <a:spcPct val="90000"/>
              </a:lnSpc>
              <a:spcBef>
                <a:spcPct val="0"/>
              </a:spcBef>
              <a:buNone/>
              <a:defRPr sz="4000" kern="1200">
                <a:solidFill>
                  <a:srgbClr val="005493"/>
                </a:solidFill>
                <a:latin typeface="IBM Plex Mono SemiBold"/>
                <a:ea typeface="IBM Plex Mono SemiBold"/>
                <a:cs typeface="IBM Plex Mono SemiBold"/>
              </a:defRPr>
            </a:lvl1pPr>
          </a:lstStyle>
          <a:p xmlns:a="http://schemas.openxmlformats.org/drawingml/2006/main">
            <a:pPr>
              <a:defRPr sz="3720">
                <a:solidFill>
                  <a:srgbClr val="0B49CB"/>
                </a:solidFill>
              </a:defRPr>
            </a:pPr>
            <a:r>
              <a:rPr sz="3720">
                <a:solidFill>
                  <a:srgbClr val="0B49CB"/>
                </a:solidFill>
                <a:latin typeface="Abadi"/>
                <a:ea typeface="Abadi"/>
                <a:cs typeface="Abadi"/>
              </a:rPr>
              <a:t>Boosters Carrying the Maximum Payload</a:t>
            </a:r>
          </a:p>
        </p:txBody>
      </p:sp>
      <p:graphicFrame>
        <p:nvGraphicFrame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86343ECD-00C3-44D4-ADE8-4086F77292D8}"/>
              </a:ext>
            </a:extLst>
          </p:cNvPr>
          <p:cNvGraphicFramePr/>
          <p:nvPr/>
        </p:nvGraphicFramePr>
        <p:xfrm>
          <a:off xmlns:a="http://schemas.openxmlformats.org/drawingml/2006/main" x="857250" y="1809750"/>
          <a:ext xmlns:a="http://schemas.openxmlformats.org/drawingml/2006/main" cx="10477500" cy="3333750"/>
        </p:xfrm>
        <a:graphic xmlns:a="http://schemas.openxmlformats.org/drawingml/2006/main">
          <a:graphicData uri="http://schemas.openxmlformats.org/drawingml/2006/table">
            <a:tbl>
              <a:tblPr/>
              <a:tblGrid>
                <a:gridCol w="3333750"/>
                <a:gridCol w="1905000"/>
                <a:gridCol w="3333750"/>
                <a:gridCol w="1905000"/>
              </a:tblGrid>
              <a:tr h="476250">
                <a:tc>
                  <a:txBody>
                    <a:bodyPr/>
                    <a:lstStyle/>
                    <a:p>
                      <a:r>
                        <a:rPr sz="1725" b="1">
                          <a:solidFill>
                            <a:srgbClr val="FFFFFF"/>
                          </a:solidFill>
                        </a:rPr>
                        <a:t>Booster</a:t>
                      </a:r>
                    </a:p>
                  </a:txBody>
                  <a:tcPr marL="91440" marR="91440" marT="45720" marB="45720">
                    <a:solidFill>
                      <a:srgbClr val="0B49CB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725" b="1">
                          <a:solidFill>
                            <a:srgbClr val="FFFFFF"/>
                          </a:solidFill>
                        </a:rPr>
                        <a:t>Payload (kg)</a:t>
                      </a:r>
                    </a:p>
                  </a:txBody>
                  <a:tcPr marL="91440" marR="91440" marT="45720" marB="45720">
                    <a:solidFill>
                      <a:srgbClr val="0B49CB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725" b="1">
                          <a:solidFill>
                            <a:srgbClr val="FFFFFF"/>
                          </a:solidFill>
                        </a:rPr>
                        <a:t>Booster</a:t>
                      </a:r>
                    </a:p>
                  </a:txBody>
                  <a:tcPr marL="91440" marR="91440" marT="45720" marB="45720">
                    <a:solidFill>
                      <a:srgbClr val="0B49CB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725" b="1">
                          <a:solidFill>
                            <a:srgbClr val="FFFFFF"/>
                          </a:solidFill>
                        </a:rPr>
                        <a:t>Payload (kg)</a:t>
                      </a:r>
                    </a:p>
                  </a:txBody>
                  <a:tcPr marL="91440" marR="91440" marT="45720" marB="45720">
                    <a:solidFill>
                      <a:srgbClr val="0B49CB"/>
                    </a:solidFill>
                  </a:tcPr>
                </a:tc>
              </a:tr>
              <a:tr h="476250">
                <a:tc>
                  <a:txBody>
                    <a:bodyPr/>
                    <a:lstStyle/>
                    <a:p>
                      <a:r>
                        <a:rPr sz="1725" b="0">
                          <a:solidFill>
                            <a:srgbClr val="292929"/>
                          </a:solidFill>
                        </a:rPr>
                        <a:t>F9 B5 B1048.4</a:t>
                      </a:r>
                    </a:p>
                  </a:txBody>
                  <a:tcPr marL="91440" marR="91440" marT="45720" marB="45720">
                    <a:solidFill>
                      <a:srgbClr val="F1F5FC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725" b="0">
                          <a:solidFill>
                            <a:srgbClr val="292929"/>
                          </a:solidFill>
                        </a:rPr>
                        <a:t>15600</a:t>
                      </a:r>
                    </a:p>
                  </a:txBody>
                  <a:tcPr marL="91440" marR="91440" marT="45720" marB="45720">
                    <a:solidFill>
                      <a:srgbClr val="F1F5FC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725" b="0">
                          <a:solidFill>
                            <a:srgbClr val="292929"/>
                          </a:solidFill>
                        </a:rPr>
                        <a:t>F9 B5 B1051.4</a:t>
                      </a:r>
                    </a:p>
                  </a:txBody>
                  <a:tcPr marL="91440" marR="91440" marT="45720" marB="45720">
                    <a:solidFill>
                      <a:srgbClr val="F1F5FC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725" b="0">
                          <a:solidFill>
                            <a:srgbClr val="292929"/>
                          </a:solidFill>
                        </a:rPr>
                        <a:t>15600</a:t>
                      </a:r>
                    </a:p>
                  </a:txBody>
                  <a:tcPr marL="91440" marR="91440" marT="45720" marB="45720">
                    <a:solidFill>
                      <a:srgbClr val="F1F5FC"/>
                    </a:solidFill>
                  </a:tcPr>
                </a:tc>
              </a:tr>
              <a:tr h="476250">
                <a:tc>
                  <a:txBody>
                    <a:bodyPr/>
                    <a:lstStyle/>
                    <a:p>
                      <a:r>
                        <a:rPr sz="1725" b="0">
                          <a:solidFill>
                            <a:srgbClr val="292929"/>
                          </a:solidFill>
                        </a:rPr>
                        <a:t>F9 B5 B1048.5</a:t>
                      </a:r>
                    </a:p>
                  </a:txBody>
                  <a:tcPr marL="91440" marR="91440" marT="45720" marB="4572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725" b="0">
                          <a:solidFill>
                            <a:srgbClr val="292929"/>
                          </a:solidFill>
                        </a:rPr>
                        <a:t>15600</a:t>
                      </a:r>
                    </a:p>
                  </a:txBody>
                  <a:tcPr marL="91440" marR="91440" marT="45720" marB="4572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725" b="0">
                          <a:solidFill>
                            <a:srgbClr val="292929"/>
                          </a:solidFill>
                        </a:rPr>
                        <a:t>F9 B5 B1051.6</a:t>
                      </a:r>
                    </a:p>
                  </a:txBody>
                  <a:tcPr marL="91440" marR="91440" marT="45720" marB="4572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725" b="0">
                          <a:solidFill>
                            <a:srgbClr val="292929"/>
                          </a:solidFill>
                        </a:rPr>
                        <a:t>15600</a:t>
                      </a:r>
                    </a:p>
                  </a:txBody>
                  <a:tcPr marL="91440" marR="91440" marT="45720" marB="45720">
                    <a:solidFill>
                      <a:srgbClr val="FFFFFF"/>
                    </a:solidFill>
                  </a:tcPr>
                </a:tc>
              </a:tr>
              <a:tr h="476250">
                <a:tc>
                  <a:txBody>
                    <a:bodyPr/>
                    <a:lstStyle/>
                    <a:p>
                      <a:r>
                        <a:rPr sz="1725" b="0">
                          <a:solidFill>
                            <a:srgbClr val="292929"/>
                          </a:solidFill>
                        </a:rPr>
                        <a:t>F9 B5 B1049.4</a:t>
                      </a:r>
                    </a:p>
                  </a:txBody>
                  <a:tcPr marL="91440" marR="91440" marT="45720" marB="45720">
                    <a:solidFill>
                      <a:srgbClr val="F1F5FC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725" b="0">
                          <a:solidFill>
                            <a:srgbClr val="292929"/>
                          </a:solidFill>
                        </a:rPr>
                        <a:t>15600</a:t>
                      </a:r>
                    </a:p>
                  </a:txBody>
                  <a:tcPr marL="91440" marR="91440" marT="45720" marB="45720">
                    <a:solidFill>
                      <a:srgbClr val="F1F5FC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725" b="0">
                          <a:solidFill>
                            <a:srgbClr val="292929"/>
                          </a:solidFill>
                        </a:rPr>
                        <a:t>F9 B5 B1056.4</a:t>
                      </a:r>
                    </a:p>
                  </a:txBody>
                  <a:tcPr marL="91440" marR="91440" marT="45720" marB="45720">
                    <a:solidFill>
                      <a:srgbClr val="F1F5FC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725" b="0">
                          <a:solidFill>
                            <a:srgbClr val="292929"/>
                          </a:solidFill>
                        </a:rPr>
                        <a:t>15600</a:t>
                      </a:r>
                    </a:p>
                  </a:txBody>
                  <a:tcPr marL="91440" marR="91440" marT="45720" marB="45720">
                    <a:solidFill>
                      <a:srgbClr val="F1F5FC"/>
                    </a:solidFill>
                  </a:tcPr>
                </a:tc>
              </a:tr>
              <a:tr h="476250">
                <a:tc>
                  <a:txBody>
                    <a:bodyPr/>
                    <a:lstStyle/>
                    <a:p>
                      <a:r>
                        <a:rPr sz="1725" b="0">
                          <a:solidFill>
                            <a:srgbClr val="292929"/>
                          </a:solidFill>
                        </a:rPr>
                        <a:t>F9 B5 B1049.5</a:t>
                      </a:r>
                    </a:p>
                  </a:txBody>
                  <a:tcPr marL="91440" marR="91440" marT="45720" marB="4572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725" b="0">
                          <a:solidFill>
                            <a:srgbClr val="292929"/>
                          </a:solidFill>
                        </a:rPr>
                        <a:t>15600</a:t>
                      </a:r>
                    </a:p>
                  </a:txBody>
                  <a:tcPr marL="91440" marR="91440" marT="45720" marB="4572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725" b="0">
                          <a:solidFill>
                            <a:srgbClr val="292929"/>
                          </a:solidFill>
                        </a:rPr>
                        <a:t>F9 B5 B1058.3</a:t>
                      </a:r>
                    </a:p>
                  </a:txBody>
                  <a:tcPr marL="91440" marR="91440" marT="45720" marB="4572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725" b="0">
                          <a:solidFill>
                            <a:srgbClr val="292929"/>
                          </a:solidFill>
                        </a:rPr>
                        <a:t>15600</a:t>
                      </a:r>
                    </a:p>
                  </a:txBody>
                  <a:tcPr marL="91440" marR="91440" marT="45720" marB="45720">
                    <a:solidFill>
                      <a:srgbClr val="FFFFFF"/>
                    </a:solidFill>
                  </a:tcPr>
                </a:tc>
              </a:tr>
              <a:tr h="476250">
                <a:tc>
                  <a:txBody>
                    <a:bodyPr/>
                    <a:lstStyle/>
                    <a:p>
                      <a:r>
                        <a:rPr sz="1725" b="0">
                          <a:solidFill>
                            <a:srgbClr val="292929"/>
                          </a:solidFill>
                        </a:rPr>
                        <a:t>F9 B5 B1049.7</a:t>
                      </a:r>
                    </a:p>
                  </a:txBody>
                  <a:tcPr marL="91440" marR="91440" marT="45720" marB="45720">
                    <a:solidFill>
                      <a:srgbClr val="F1F5FC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725" b="0">
                          <a:solidFill>
                            <a:srgbClr val="292929"/>
                          </a:solidFill>
                        </a:rPr>
                        <a:t>15600</a:t>
                      </a:r>
                    </a:p>
                  </a:txBody>
                  <a:tcPr marL="91440" marR="91440" marT="45720" marB="45720">
                    <a:solidFill>
                      <a:srgbClr val="F1F5FC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725" b="0">
                          <a:solidFill>
                            <a:srgbClr val="292929"/>
                          </a:solidFill>
                        </a:rPr>
                        <a:t>F9 B5 B1060.2</a:t>
                      </a:r>
                    </a:p>
                  </a:txBody>
                  <a:tcPr marL="91440" marR="91440" marT="45720" marB="45720">
                    <a:solidFill>
                      <a:srgbClr val="F1F5FC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725" b="0">
                          <a:solidFill>
                            <a:srgbClr val="292929"/>
                          </a:solidFill>
                        </a:rPr>
                        <a:t>15600</a:t>
                      </a:r>
                    </a:p>
                  </a:txBody>
                  <a:tcPr marL="91440" marR="91440" marT="45720" marB="45720">
                    <a:solidFill>
                      <a:srgbClr val="F1F5FC"/>
                    </a:solidFill>
                  </a:tcPr>
                </a:tc>
              </a:tr>
              <a:tr h="476250">
                <a:tc>
                  <a:txBody>
                    <a:bodyPr/>
                    <a:lstStyle/>
                    <a:p>
                      <a:r>
                        <a:rPr sz="1725" b="0">
                          <a:solidFill>
                            <a:srgbClr val="292929"/>
                          </a:solidFill>
                        </a:rPr>
                        <a:t>F9 B5 B1051.3</a:t>
                      </a:r>
                    </a:p>
                  </a:txBody>
                  <a:tcPr marL="91440" marR="91440" marT="45720" marB="4572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725" b="0">
                          <a:solidFill>
                            <a:srgbClr val="292929"/>
                          </a:solidFill>
                        </a:rPr>
                        <a:t>15600</a:t>
                      </a:r>
                    </a:p>
                  </a:txBody>
                  <a:tcPr marL="91440" marR="91440" marT="45720" marB="4572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725" b="0">
                          <a:solidFill>
                            <a:srgbClr val="292929"/>
                          </a:solidFill>
                        </a:rPr>
                        <a:t>F9 B5 B1060.3</a:t>
                      </a:r>
                    </a:p>
                  </a:txBody>
                  <a:tcPr marL="91440" marR="91440" marT="45720" marB="4572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725" b="0">
                          <a:solidFill>
                            <a:srgbClr val="292929"/>
                          </a:solidFill>
                        </a:rPr>
                        <a:t>15600</a:t>
                      </a:r>
                    </a:p>
                  </a:txBody>
                  <a:tcPr marL="91440" marR="91440" marT="45720" marB="45720"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3C0FC738-6AE1-4693-BB35-C7E73BF473F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7250" y="5257800"/>
            <a:ext cx="1047750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/>
          <a:lstStyle xmlns:a="http://schemas.openxmlformats.org/drawingml/2006/main">
            <a:defPPr>
              <a:defRPr sz="1800">
                <a:solidFill>
                  <a:srgbClr val="292929"/>
                </a:solidFill>
              </a:defRPr>
            </a:defPPr>
          </a:lstStyle>
          <a:p xmlns:a="http://schemas.openxmlformats.org/drawingml/2006/main">
            <a:pPr>
              <a:defRPr sz="1800">
                <a:solidFill>
                  <a:srgbClr val="292929"/>
                </a:solidFill>
              </a:defRPr>
            </a:pPr>
            <a:r>
              <a:rPr sz="1800">
                <a:solidFill>
                  <a:srgbClr val="292929"/>
                </a:solidFill>
              </a:rPr>
              <a:t>Twelve booster-flight labels share the maximum payload of 15,600 kg in this snapshot.</a:t>
            </a:r>
          </a:p>
        </p:txBody>
      </p:sp>
    </p:spTree>
    <p:extLst>
      <p:ext uri="{BB962C8B-B14F-4D97-AF65-F5344CB8AC3E}">
        <p14:creationId xmlns:p14="http://schemas.microsoft.com/office/powerpoint/2010/main" val="3566646398"/>
      </p:ext>
    </p:extLst>
  </p:cSld>
</p:sld>
</file>

<file path=ppt/slides/slide32.xml><?xml version="1.0" encoding="utf-8"?>
<p:sld xmlns:p="http://schemas.openxmlformats.org/presentationml/2006/main">
  <p:cSld>
    <p:bg>
      <p:bgPr>
        <a:blipFill xmlns:a="http://schemas.openxmlformats.org/drawingml/2006/main">
          <a:blip xmlns:r="http://schemas.openxmlformats.org/officeDocument/2006/relationships" r:embed="R6cb44b2531c449b6"/>
          <a:stretch>
            <a:fillRect l="0" t="0" r="0" b="0"/>
          </a:stretch>
        </a:blip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4" name="Slide Number Placeholder 3">
            <a:extLst xmlns:a="http://schemas.openxmlformats.org/drawingml/2006/main">
              <a:ext uri="{FF2B5EF4-FFF2-40B4-BE49-F238E27FC236}">
                <a16:creationId xmlns:a16="http://schemas.microsoft.com/office/drawing/2014/main" id="{D528596A-0847-664A-9D47-5096383E5E09}"/>
              </a:ext>
            </a:extLst>
          </p:cNvPr>
          <p:cNvSpPr>
            <a:spLocks xmlns:a="http://schemas.openxmlformats.org/drawingml/2006/main" noGrp="1"/>
          </p:cNvSpPr>
          <p:nvPr>
            <p:ph type="sldNum" idx="12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fld id="{66C3428B-053E-6B4E-39FF-75B44F3F33F6}" type="slidenum">
              <a:t>32</a:t>
            </a:fld>
            <a:endParaRPr/>
          </a:p>
        </p:txBody>
      </p:sp>
      <p:sp>
        <p:nvSpPr>
          <p:cNvPr id="3" name="Title 1">
            <a:extLst xmlns:a="http://schemas.openxmlformats.org/drawingml/2006/main">
              <a:ext uri="{FF2B5EF4-FFF2-40B4-BE49-F238E27FC236}">
                <a16:creationId xmlns:a16="http://schemas.microsoft.com/office/drawing/2014/main" id="{964DA114-677C-40D8-8FFA-43531834CFB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70001" y="538639"/>
            <a:ext cx="10572750" cy="9525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vert="horz" lIns="91440" tIns="45720" rIns="91440" bIns="45720" anchor="ctr">
            <a:normAutofit fontScale="100000" lnSpcReduction="20000"/>
          </a:bodyPr>
          <a:lstStyle xmlns:a="http://schemas.openxmlformats.org/drawingml/2006/main">
            <a:defPPr>
              <a:defRPr sz="3720">
                <a:solidFill>
                  <a:srgbClr val="0B49CB"/>
                </a:solidFill>
              </a:defRPr>
            </a:defPPr>
            <a:lvl1pPr algn="l" defTabSz="914400">
              <a:lnSpc>
                <a:spcPct val="90000"/>
              </a:lnSpc>
              <a:spcBef>
                <a:spcPct val="0"/>
              </a:spcBef>
              <a:buNone/>
              <a:defRPr sz="4000" kern="1200">
                <a:solidFill>
                  <a:srgbClr val="005493"/>
                </a:solidFill>
                <a:latin typeface="IBM Plex Mono SemiBold"/>
                <a:ea typeface="IBM Plex Mono SemiBold"/>
                <a:cs typeface="IBM Plex Mono SemiBold"/>
              </a:defRPr>
            </a:lvl1pPr>
          </a:lstStyle>
          <a:p xmlns:a="http://schemas.openxmlformats.org/drawingml/2006/main">
            <a:pPr>
              <a:defRPr sz="3720">
                <a:solidFill>
                  <a:srgbClr val="0B49CB"/>
                </a:solidFill>
              </a:defRPr>
            </a:pPr>
            <a:r>
              <a:rPr sz="3720">
                <a:solidFill>
                  <a:srgbClr val="0B49CB"/>
                </a:solidFill>
                <a:latin typeface="Abadi"/>
                <a:ea typeface="Abadi"/>
                <a:cs typeface="Abadi"/>
              </a:rPr>
              <a:t>Drone Ship Landing Failures in 2015</a:t>
            </a:r>
          </a:p>
        </p:txBody>
      </p:sp>
      <p:graphicFrame>
        <p:nvGraphicFrame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3B91F0F9-234E-429E-BCF9-F5FFA4EA9DAA}"/>
              </a:ext>
            </a:extLst>
          </p:cNvPr>
          <p:cNvGraphicFramePr/>
          <p:nvPr/>
        </p:nvGraphicFramePr>
        <p:xfrm>
          <a:off xmlns:a="http://schemas.openxmlformats.org/drawingml/2006/main" x="857250" y="1952625"/>
          <a:ext xmlns:a="http://schemas.openxmlformats.org/drawingml/2006/main" cx="10477500" cy="2000250"/>
        </p:xfrm>
        <a:graphic xmlns:a="http://schemas.openxmlformats.org/drawingml/2006/main">
          <a:graphicData uri="http://schemas.openxmlformats.org/drawingml/2006/table">
            <a:tbl>
              <a:tblPr/>
              <a:tblGrid>
                <a:gridCol w="1524000"/>
                <a:gridCol w="3143250"/>
                <a:gridCol w="2857500"/>
                <a:gridCol w="2952750"/>
              </a:tblGrid>
              <a:tr h="666750">
                <a:tc>
                  <a:txBody>
                    <a:bodyPr/>
                    <a:lstStyle/>
                    <a:p>
                      <a:r>
                        <a:rPr sz="1725" b="1">
                          <a:solidFill>
                            <a:srgbClr val="FFFFFF"/>
                          </a:solidFill>
                        </a:rPr>
                        <a:t>Month</a:t>
                      </a:r>
                    </a:p>
                  </a:txBody>
                  <a:tcPr marL="91440" marR="91440" marT="45720" marB="45720">
                    <a:solidFill>
                      <a:srgbClr val="0B49CB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725" b="1">
                          <a:solidFill>
                            <a:srgbClr val="FFFFFF"/>
                          </a:solidFill>
                        </a:rPr>
                        <a:t>Landing outcome</a:t>
                      </a:r>
                    </a:p>
                  </a:txBody>
                  <a:tcPr marL="91440" marR="91440" marT="45720" marB="45720">
                    <a:solidFill>
                      <a:srgbClr val="0B49CB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725" b="1">
                          <a:solidFill>
                            <a:srgbClr val="FFFFFF"/>
                          </a:solidFill>
                        </a:rPr>
                        <a:t>Booster</a:t>
                      </a:r>
                    </a:p>
                  </a:txBody>
                  <a:tcPr marL="91440" marR="91440" marT="45720" marB="45720">
                    <a:solidFill>
                      <a:srgbClr val="0B49CB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725" b="1">
                          <a:solidFill>
                            <a:srgbClr val="FFFFFF"/>
                          </a:solidFill>
                        </a:rPr>
                        <a:t>Site</a:t>
                      </a:r>
                    </a:p>
                  </a:txBody>
                  <a:tcPr marL="91440" marR="91440" marT="45720" marB="45720">
                    <a:solidFill>
                      <a:srgbClr val="0B49CB"/>
                    </a:solidFill>
                  </a:tcPr>
                </a:tc>
              </a:tr>
              <a:tr h="666750">
                <a:tc>
                  <a:txBody>
                    <a:bodyPr/>
                    <a:lstStyle/>
                    <a:p>
                      <a:r>
                        <a:rPr sz="1725" b="0">
                          <a:solidFill>
                            <a:srgbClr val="292929"/>
                          </a:solidFill>
                        </a:rPr>
                        <a:t>January</a:t>
                      </a:r>
                    </a:p>
                  </a:txBody>
                  <a:tcPr marL="91440" marR="91440" marT="45720" marB="45720">
                    <a:solidFill>
                      <a:srgbClr val="F1F5FC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725" b="0">
                          <a:solidFill>
                            <a:srgbClr val="292929"/>
                          </a:solidFill>
                        </a:rPr>
                        <a:t>Failure (drone ship)</a:t>
                      </a:r>
                    </a:p>
                  </a:txBody>
                  <a:tcPr marL="91440" marR="91440" marT="45720" marB="45720">
                    <a:solidFill>
                      <a:srgbClr val="F1F5FC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725" b="0">
                          <a:solidFill>
                            <a:srgbClr val="292929"/>
                          </a:solidFill>
                        </a:rPr>
                        <a:t>F9 v1.1 B1012</a:t>
                      </a:r>
                    </a:p>
                  </a:txBody>
                  <a:tcPr marL="91440" marR="91440" marT="45720" marB="45720">
                    <a:solidFill>
                      <a:srgbClr val="F1F5FC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725" b="0">
                          <a:solidFill>
                            <a:srgbClr val="292929"/>
                          </a:solidFill>
                        </a:rPr>
                        <a:t>CCAFS LC-40</a:t>
                      </a:r>
                    </a:p>
                  </a:txBody>
                  <a:tcPr marL="91440" marR="91440" marT="45720" marB="45720">
                    <a:solidFill>
                      <a:srgbClr val="F1F5FC"/>
                    </a:solidFill>
                  </a:tcPr>
                </a:tc>
              </a:tr>
              <a:tr h="666750">
                <a:tc>
                  <a:txBody>
                    <a:bodyPr/>
                    <a:lstStyle/>
                    <a:p>
                      <a:r>
                        <a:rPr sz="1725" b="0">
                          <a:solidFill>
                            <a:srgbClr val="292929"/>
                          </a:solidFill>
                        </a:rPr>
                        <a:t>April</a:t>
                      </a:r>
                    </a:p>
                  </a:txBody>
                  <a:tcPr marL="91440" marR="91440" marT="45720" marB="4572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725" b="0">
                          <a:solidFill>
                            <a:srgbClr val="292929"/>
                          </a:solidFill>
                        </a:rPr>
                        <a:t>Failure (drone ship)</a:t>
                      </a:r>
                    </a:p>
                  </a:txBody>
                  <a:tcPr marL="91440" marR="91440" marT="45720" marB="4572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725" b="0">
                          <a:solidFill>
                            <a:srgbClr val="292929"/>
                          </a:solidFill>
                        </a:rPr>
                        <a:t>F9 v1.1 B1015</a:t>
                      </a:r>
                    </a:p>
                  </a:txBody>
                  <a:tcPr marL="91440" marR="91440" marT="45720" marB="4572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725" b="0">
                          <a:solidFill>
                            <a:srgbClr val="292929"/>
                          </a:solidFill>
                        </a:rPr>
                        <a:t>CCAFS LC-40</a:t>
                      </a:r>
                    </a:p>
                  </a:txBody>
                  <a:tcPr marL="91440" marR="91440" marT="45720" marB="45720"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4ED8849D-9117-434F-B1C3-E8F989CEBD3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7250" y="5257800"/>
            <a:ext cx="1047750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/>
          <a:lstStyle xmlns:a="http://schemas.openxmlformats.org/drawingml/2006/main">
            <a:defPPr>
              <a:defRPr sz="1800">
                <a:solidFill>
                  <a:srgbClr val="292929"/>
                </a:solidFill>
              </a:defRPr>
            </a:defPPr>
          </a:lstStyle>
          <a:p xmlns:a="http://schemas.openxmlformats.org/drawingml/2006/main">
            <a:pPr>
              <a:defRPr sz="1800">
                <a:solidFill>
                  <a:srgbClr val="292929"/>
                </a:solidFill>
              </a:defRPr>
            </a:pPr>
            <a:r>
              <a:rPr sz="1800">
                <a:solidFill>
                  <a:srgbClr val="292929"/>
                </a:solidFill>
              </a:rPr>
              <a:t>Two 2015 records show failed drone ship landings: January (B1012) and April (B1015), both at CCAFS LC-40.</a:t>
            </a:r>
          </a:p>
        </p:txBody>
      </p:sp>
    </p:spTree>
    <p:extLst>
      <p:ext uri="{BB962C8B-B14F-4D97-AF65-F5344CB8AC3E}">
        <p14:creationId xmlns:p14="http://schemas.microsoft.com/office/powerpoint/2010/main" val="1398439132"/>
      </p:ext>
    </p:extLst>
  </p:cSld>
</p:sld>
</file>

<file path=ppt/slides/slide33.xml><?xml version="1.0" encoding="utf-8"?>
<p:sld xmlns:p="http://schemas.openxmlformats.org/presentationml/2006/main">
  <p:cSld>
    <p:bg>
      <p:bgPr>
        <a:blipFill xmlns:a="http://schemas.openxmlformats.org/drawingml/2006/main">
          <a:blip xmlns:r="http://schemas.openxmlformats.org/officeDocument/2006/relationships" r:embed="R0b60b856ef894889"/>
          <a:stretch>
            <a:fillRect l="0" t="0" r="0" b="0"/>
          </a:stretch>
        </a:blip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4" name="Slide Number Placeholder 3">
            <a:extLst xmlns:a="http://schemas.openxmlformats.org/drawingml/2006/main">
              <a:ext uri="{FF2B5EF4-FFF2-40B4-BE49-F238E27FC236}">
                <a16:creationId xmlns:a16="http://schemas.microsoft.com/office/drawing/2014/main" id="{D528596A-0847-664A-9D47-5096383E5E09}"/>
              </a:ext>
            </a:extLst>
          </p:cNvPr>
          <p:cNvSpPr>
            <a:spLocks xmlns:a="http://schemas.openxmlformats.org/drawingml/2006/main" noGrp="1"/>
          </p:cNvSpPr>
          <p:nvPr>
            <p:ph type="sldNum" idx="12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fld id="{59F9B2FD-F323-2D0A-D581-D6E61055F9A8}" type="slidenum">
              <a:t>33</a:t>
            </a:fld>
            <a:endParaRPr/>
          </a:p>
        </p:txBody>
      </p:sp>
      <p:sp>
        <p:nvSpPr>
          <p:cNvPr id="3" name="Title 1">
            <a:extLst xmlns:a="http://schemas.openxmlformats.org/drawingml/2006/main">
              <a:ext uri="{FF2B5EF4-FFF2-40B4-BE49-F238E27FC236}">
                <a16:creationId xmlns:a16="http://schemas.microsoft.com/office/drawing/2014/main" id="{04523243-E4D6-45EC-97C8-D44398FB741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70001" y="538639"/>
            <a:ext cx="10572750" cy="9525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vert="horz" lIns="91440" tIns="45720" rIns="91440" bIns="45720" anchor="ctr">
            <a:normAutofit fontScale="100000" lnSpcReduction="20000"/>
          </a:bodyPr>
          <a:lstStyle xmlns:a="http://schemas.openxmlformats.org/drawingml/2006/main">
            <a:defPPr>
              <a:defRPr sz="3720">
                <a:solidFill>
                  <a:srgbClr val="0B49CB"/>
                </a:solidFill>
              </a:defRPr>
            </a:defPPr>
            <a:lvl1pPr algn="l" defTabSz="914400">
              <a:lnSpc>
                <a:spcPct val="90000"/>
              </a:lnSpc>
              <a:spcBef>
                <a:spcPct val="0"/>
              </a:spcBef>
              <a:buNone/>
              <a:defRPr sz="4000" kern="1200">
                <a:solidFill>
                  <a:srgbClr val="005493"/>
                </a:solidFill>
                <a:latin typeface="IBM Plex Mono SemiBold"/>
                <a:ea typeface="IBM Plex Mono SemiBold"/>
                <a:cs typeface="IBM Plex Mono SemiBold"/>
              </a:defRPr>
            </a:lvl1pPr>
          </a:lstStyle>
          <a:p xmlns:a="http://schemas.openxmlformats.org/drawingml/2006/main">
            <a:pPr>
              <a:defRPr sz="3720">
                <a:solidFill>
                  <a:srgbClr val="0B49CB"/>
                </a:solidFill>
              </a:defRPr>
            </a:pPr>
            <a:r>
              <a:rPr sz="3720">
                <a:solidFill>
                  <a:srgbClr val="0B49CB"/>
                </a:solidFill>
                <a:latin typeface="Abadi"/>
                <a:ea typeface="Abadi"/>
                <a:cs typeface="Abadi"/>
              </a:rPr>
              <a:t>Landing Outcome Ranking, 2010–2017</a:t>
            </a:r>
          </a:p>
        </p:txBody>
      </p:sp>
      <p:graphicFrame>
        <p:nvGraphicFrame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C5083094-B8D9-4212-B68C-BB4C4D6C8841}"/>
              </a:ext>
            </a:extLst>
          </p:cNvPr>
          <p:cNvGraphicFramePr/>
          <p:nvPr/>
        </p:nvGraphicFramePr>
        <p:xfrm>
          <a:off xmlns:a="http://schemas.openxmlformats.org/drawingml/2006/main" x="857250" y="1666875"/>
          <a:ext xmlns:a="http://schemas.openxmlformats.org/drawingml/2006/main" cx="10477500" cy="3476625"/>
        </p:xfrm>
        <a:graphic xmlns:a="http://schemas.openxmlformats.org/drawingml/2006/main">
          <a:graphicData uri="http://schemas.openxmlformats.org/drawingml/2006/table">
            <a:tbl>
              <a:tblPr/>
              <a:tblGrid>
                <a:gridCol w="8096250"/>
                <a:gridCol w="2381250"/>
              </a:tblGrid>
              <a:tr h="386292">
                <a:tc>
                  <a:txBody>
                    <a:bodyPr/>
                    <a:lstStyle/>
                    <a:p>
                      <a:r>
                        <a:rPr sz="1725" b="1">
                          <a:solidFill>
                            <a:srgbClr val="FFFFFF"/>
                          </a:solidFill>
                        </a:rPr>
                        <a:t>Landing outcome</a:t>
                      </a:r>
                    </a:p>
                  </a:txBody>
                  <a:tcPr marL="91440" marR="91440" marT="45720" marB="45720">
                    <a:solidFill>
                      <a:srgbClr val="0B49CB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725" b="1">
                          <a:solidFill>
                            <a:srgbClr val="FFFFFF"/>
                          </a:solidFill>
                        </a:rPr>
                        <a:t>Count</a:t>
                      </a:r>
                    </a:p>
                  </a:txBody>
                  <a:tcPr marL="91440" marR="91440" marT="45720" marB="45720">
                    <a:solidFill>
                      <a:srgbClr val="0B49CB"/>
                    </a:solidFill>
                  </a:tcPr>
                </a:tc>
              </a:tr>
              <a:tr h="386292">
                <a:tc>
                  <a:txBody>
                    <a:bodyPr/>
                    <a:lstStyle/>
                    <a:p>
                      <a:r>
                        <a:rPr sz="1725" b="0">
                          <a:solidFill>
                            <a:srgbClr val="292929"/>
                          </a:solidFill>
                        </a:rPr>
                        <a:t>No attempt</a:t>
                      </a:r>
                    </a:p>
                  </a:txBody>
                  <a:tcPr marL="91440" marR="91440" marT="45720" marB="45720">
                    <a:solidFill>
                      <a:srgbClr val="F1F5FC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725" b="0">
                          <a:solidFill>
                            <a:srgbClr val="292929"/>
                          </a:solidFill>
                        </a:rPr>
                        <a:t>10</a:t>
                      </a:r>
                    </a:p>
                  </a:txBody>
                  <a:tcPr marL="91440" marR="91440" marT="45720" marB="45720">
                    <a:solidFill>
                      <a:srgbClr val="F1F5FC"/>
                    </a:solidFill>
                  </a:tcPr>
                </a:tc>
              </a:tr>
              <a:tr h="386292">
                <a:tc>
                  <a:txBody>
                    <a:bodyPr/>
                    <a:lstStyle/>
                    <a:p>
                      <a:r>
                        <a:rPr sz="1725" b="0">
                          <a:solidFill>
                            <a:srgbClr val="292929"/>
                          </a:solidFill>
                        </a:rPr>
                        <a:t>Failure (drone ship)</a:t>
                      </a:r>
                    </a:p>
                  </a:txBody>
                  <a:tcPr marL="91440" marR="91440" marT="45720" marB="4572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725" b="0">
                          <a:solidFill>
                            <a:srgbClr val="292929"/>
                          </a:solidFill>
                        </a:rPr>
                        <a:t>5</a:t>
                      </a:r>
                    </a:p>
                  </a:txBody>
                  <a:tcPr marL="91440" marR="91440" marT="45720" marB="45720">
                    <a:solidFill>
                      <a:srgbClr val="FFFFFF"/>
                    </a:solidFill>
                  </a:tcPr>
                </a:tc>
              </a:tr>
              <a:tr h="386292">
                <a:tc>
                  <a:txBody>
                    <a:bodyPr/>
                    <a:lstStyle/>
                    <a:p>
                      <a:r>
                        <a:rPr sz="1725" b="0">
                          <a:solidFill>
                            <a:srgbClr val="292929"/>
                          </a:solidFill>
                        </a:rPr>
                        <a:t>Success (drone ship)</a:t>
                      </a:r>
                    </a:p>
                  </a:txBody>
                  <a:tcPr marL="91440" marR="91440" marT="45720" marB="45720">
                    <a:solidFill>
                      <a:srgbClr val="F1F5FC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725" b="0">
                          <a:solidFill>
                            <a:srgbClr val="292929"/>
                          </a:solidFill>
                        </a:rPr>
                        <a:t>5</a:t>
                      </a:r>
                    </a:p>
                  </a:txBody>
                  <a:tcPr marL="91440" marR="91440" marT="45720" marB="45720">
                    <a:solidFill>
                      <a:srgbClr val="F1F5FC"/>
                    </a:solidFill>
                  </a:tcPr>
                </a:tc>
              </a:tr>
              <a:tr h="386292">
                <a:tc>
                  <a:txBody>
                    <a:bodyPr/>
                    <a:lstStyle/>
                    <a:p>
                      <a:r>
                        <a:rPr sz="1725" b="0">
                          <a:solidFill>
                            <a:srgbClr val="292929"/>
                          </a:solidFill>
                        </a:rPr>
                        <a:t>Controlled (ocean)</a:t>
                      </a:r>
                    </a:p>
                  </a:txBody>
                  <a:tcPr marL="91440" marR="91440" marT="45720" marB="4572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725" b="0">
                          <a:solidFill>
                            <a:srgbClr val="292929"/>
                          </a:solidFill>
                        </a:rPr>
                        <a:t>3</a:t>
                      </a:r>
                    </a:p>
                  </a:txBody>
                  <a:tcPr marL="91440" marR="91440" marT="45720" marB="45720">
                    <a:solidFill>
                      <a:srgbClr val="FFFFFF"/>
                    </a:solidFill>
                  </a:tcPr>
                </a:tc>
              </a:tr>
              <a:tr h="386292">
                <a:tc>
                  <a:txBody>
                    <a:bodyPr/>
                    <a:lstStyle/>
                    <a:p>
                      <a:r>
                        <a:rPr sz="1725" b="0">
                          <a:solidFill>
                            <a:srgbClr val="292929"/>
                          </a:solidFill>
                        </a:rPr>
                        <a:t>Success (ground pad)</a:t>
                      </a:r>
                    </a:p>
                  </a:txBody>
                  <a:tcPr marL="91440" marR="91440" marT="45720" marB="45720">
                    <a:solidFill>
                      <a:srgbClr val="F1F5FC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725" b="0">
                          <a:solidFill>
                            <a:srgbClr val="292929"/>
                          </a:solidFill>
                        </a:rPr>
                        <a:t>3</a:t>
                      </a:r>
                    </a:p>
                  </a:txBody>
                  <a:tcPr marL="91440" marR="91440" marT="45720" marB="45720">
                    <a:solidFill>
                      <a:srgbClr val="F1F5FC"/>
                    </a:solidFill>
                  </a:tcPr>
                </a:tc>
              </a:tr>
              <a:tr h="386292">
                <a:tc>
                  <a:txBody>
                    <a:bodyPr/>
                    <a:lstStyle/>
                    <a:p>
                      <a:r>
                        <a:rPr sz="1725" b="0">
                          <a:solidFill>
                            <a:srgbClr val="292929"/>
                          </a:solidFill>
                        </a:rPr>
                        <a:t>Failure (parachute)</a:t>
                      </a:r>
                    </a:p>
                  </a:txBody>
                  <a:tcPr marL="91440" marR="91440" marT="45720" marB="4572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725" b="0">
                          <a:solidFill>
                            <a:srgbClr val="292929"/>
                          </a:solidFill>
                        </a:rPr>
                        <a:t>2</a:t>
                      </a:r>
                    </a:p>
                  </a:txBody>
                  <a:tcPr marL="91440" marR="91440" marT="45720" marB="45720">
                    <a:solidFill>
                      <a:srgbClr val="FFFFFF"/>
                    </a:solidFill>
                  </a:tcPr>
                </a:tc>
              </a:tr>
              <a:tr h="386292">
                <a:tc>
                  <a:txBody>
                    <a:bodyPr/>
                    <a:lstStyle/>
                    <a:p>
                      <a:r>
                        <a:rPr sz="1725" b="0">
                          <a:solidFill>
                            <a:srgbClr val="292929"/>
                          </a:solidFill>
                        </a:rPr>
                        <a:t>Uncontrolled (ocean)</a:t>
                      </a:r>
                    </a:p>
                  </a:txBody>
                  <a:tcPr marL="91440" marR="91440" marT="45720" marB="45720">
                    <a:solidFill>
                      <a:srgbClr val="F1F5FC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725" b="0">
                          <a:solidFill>
                            <a:srgbClr val="292929"/>
                          </a:solidFill>
                        </a:rPr>
                        <a:t>2</a:t>
                      </a:r>
                    </a:p>
                  </a:txBody>
                  <a:tcPr marL="91440" marR="91440" marT="45720" marB="45720">
                    <a:solidFill>
                      <a:srgbClr val="F1F5FC"/>
                    </a:solidFill>
                  </a:tcPr>
                </a:tc>
              </a:tr>
              <a:tr h="386292">
                <a:tc>
                  <a:txBody>
                    <a:bodyPr/>
                    <a:lstStyle/>
                    <a:p>
                      <a:r>
                        <a:rPr sz="1725" b="0">
                          <a:solidFill>
                            <a:srgbClr val="292929"/>
                          </a:solidFill>
                        </a:rPr>
                        <a:t>Precluded (drone ship)</a:t>
                      </a:r>
                    </a:p>
                  </a:txBody>
                  <a:tcPr marL="91440" marR="91440" marT="45720" marB="4572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725" b="0">
                          <a:solidFill>
                            <a:srgbClr val="292929"/>
                          </a:solidFill>
                        </a:rPr>
                        <a:t>1</a:t>
                      </a:r>
                    </a:p>
                  </a:txBody>
                  <a:tcPr marL="91440" marR="91440" marT="45720" marB="45720"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308BC6D0-B90A-45BA-809E-B58DD361A78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7250" y="5257800"/>
            <a:ext cx="1047750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/>
          <a:lstStyle xmlns:a="http://schemas.openxmlformats.org/drawingml/2006/main">
            <a:defPPr>
              <a:defRPr sz="1800">
                <a:solidFill>
                  <a:srgbClr val="292929"/>
                </a:solidFill>
              </a:defRPr>
            </a:defPPr>
          </a:lstStyle>
          <a:p xmlns:a="http://schemas.openxmlformats.org/drawingml/2006/main">
            <a:pPr>
              <a:defRPr sz="1800">
                <a:solidFill>
                  <a:srgbClr val="292929"/>
                </a:solidFill>
              </a:defRPr>
            </a:pPr>
            <a:r>
              <a:rPr sz="1800">
                <a:solidFill>
                  <a:srgbClr val="292929"/>
                </a:solidFill>
              </a:rPr>
              <a:t>Inclusive period: 4 June 2010 to 20 March 2017. No attempt is most frequent (10). Drone ship successes and failures tie at five.</a:t>
            </a:r>
          </a:p>
        </p:txBody>
      </p:sp>
    </p:spTree>
    <p:extLst>
      <p:ext uri="{BB962C8B-B14F-4D97-AF65-F5344CB8AC3E}">
        <p14:creationId xmlns:p14="http://schemas.microsoft.com/office/powerpoint/2010/main" val="3975168428"/>
      </p:ext>
    </p:extLst>
  </p:cSld>
</p:sld>
</file>

<file path=ppt/slides/slide34.xml><?xml version="1.0" encoding="utf-8"?>
<p:sld xmlns:p="http://schemas.openxmlformats.org/presentationml/2006/main">
  <p:cSld>
    <p:bg>
      <p:bgPr>
        <a:blipFill xmlns:a="http://schemas.openxmlformats.org/drawingml/2006/main">
          <a:blip xmlns:r="http://schemas.openxmlformats.org/officeDocument/2006/relationships" r:embed="Raf4ed027d9914da7"/>
          <a:stretch>
            <a:fillRect l="0" t="0" r="0" b="0"/>
          </a:stretch>
        </a:blip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3" name="Slide Number Placeholder 2">
            <a:extLst xmlns:a="http://schemas.openxmlformats.org/drawingml/2006/main">
              <a:ext uri="{FF2B5EF4-FFF2-40B4-BE49-F238E27FC236}">
                <a16:creationId xmlns:a16="http://schemas.microsoft.com/office/drawing/2014/main" id="{8C82F32A-22A5-0046-9FAC-5295E4FA5A12}"/>
              </a:ext>
            </a:extLst>
          </p:cNvPr>
          <p:cNvSpPr>
            <a:spLocks xmlns:a="http://schemas.openxmlformats.org/drawingml/2006/main" noGrp="1"/>
          </p:cNvSpPr>
          <p:nvPr>
            <p:ph type="sldNum" idx="12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fld id="{D6C2EC43-E3B9-C9B0-67FF-5447EB7F3925}" type="slidenum">
              <a:t>34</a:t>
            </a:fld>
            <a:endParaRPr/>
          </a:p>
        </p:txBody>
      </p:sp>
      <p:sp>
        <p:nvSpPr>
          <p:cNvPr id="2" name="Title 1">
            <a:extLst xmlns:a="http://schemas.openxmlformats.org/drawingml/2006/main">
              <a:ext uri="{FF2B5EF4-FFF2-40B4-BE49-F238E27FC236}">
                <a16:creationId xmlns:a16="http://schemas.microsoft.com/office/drawing/2014/main" id="{54176327-8CC4-4356-8BBB-DC4965CE985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70001" y="538639"/>
            <a:ext cx="10572750" cy="9525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vert="horz" lIns="91440" tIns="45720" rIns="91440" bIns="45720" anchor="ctr">
            <a:normAutofit fontScale="100000" lnSpcReduction="20000"/>
          </a:bodyPr>
          <a:lstStyle xmlns:a="http://schemas.openxmlformats.org/drawingml/2006/main">
            <a:defPPr>
              <a:defRPr sz="3720">
                <a:solidFill>
                  <a:srgbClr val="0B49CB"/>
                </a:solidFill>
              </a:defRPr>
            </a:defPPr>
            <a:lvl1pPr algn="l" defTabSz="914400">
              <a:lnSpc>
                <a:spcPct val="90000"/>
              </a:lnSpc>
              <a:spcBef>
                <a:spcPct val="0"/>
              </a:spcBef>
              <a:buNone/>
              <a:defRPr sz="4000" kern="1200">
                <a:solidFill>
                  <a:srgbClr val="005493"/>
                </a:solidFill>
                <a:latin typeface="IBM Plex Mono SemiBold"/>
                <a:ea typeface="IBM Plex Mono SemiBold"/>
                <a:cs typeface="IBM Plex Mono SemiBold"/>
              </a:defRPr>
            </a:lvl1pPr>
          </a:lstStyle>
          <a:p xmlns:a="http://schemas.openxmlformats.org/drawingml/2006/main">
            <a:pPr>
              <a:defRPr sz="3720">
                <a:solidFill>
                  <a:srgbClr val="0B49CB"/>
                </a:solidFill>
              </a:defRPr>
            </a:pPr>
            <a:r>
              <a:rPr sz="3720">
                <a:solidFill>
                  <a:srgbClr val="0B49CB"/>
                </a:solidFill>
                <a:latin typeface="Abadi"/>
                <a:ea typeface="Abadi"/>
                <a:cs typeface="Abadi"/>
              </a:rPr>
              <a:t>Launch Sites on the US Coasts</a:t>
            </a:r>
          </a:p>
        </p:txBody>
      </p:sp>
      <p:pic>
        <p:nvPic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0F231E44-373F-4D5D-8505-502DDDD56F48}"/>
              </a:ext>
            </a:extLst>
          </p:cNvPr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273dbd8162ca46b0"/>
          <a:stretch xmlns:a="http://schemas.openxmlformats.org/drawingml/2006/main"/>
        </p:blipFill>
        <p:spPr>
          <a:xfrm xmlns:a="http://schemas.openxmlformats.org/drawingml/2006/main">
            <a:off x="1325563" y="1524000"/>
            <a:ext cx="7112000" cy="4000500"/>
          </a:xfrm>
          <a:prstGeom xmlns:a="http://schemas.openxmlformats.org/drawingml/2006/main" prst="rect">
            <a:avLst/>
          </a:prstGeom>
        </p:spPr>
      </p:pic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5D59DDE0-FE47-4F7B-A463-97E108D3FD4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91625" y="1952625"/>
            <a:ext cx="2190750" cy="2857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/>
          <a:lstStyle xmlns:a="http://schemas.openxmlformats.org/drawingml/2006/main">
            <a:defPPr>
              <a:defRPr sz="1875">
                <a:solidFill>
                  <a:srgbClr val="292929"/>
                </a:solidFill>
              </a:defRPr>
            </a:defPPr>
          </a:lstStyle>
          <a:p xmlns:a="http://schemas.openxmlformats.org/drawingml/2006/main">
            <a:pPr>
              <a:defRPr sz="1875">
                <a:solidFill>
                  <a:srgbClr val="292929"/>
                </a:solidFill>
              </a:defRPr>
            </a:pPr>
            <a:r>
              <a:rPr sz="1875">
                <a:solidFill>
                  <a:srgbClr val="292929"/>
                </a:solidFill>
              </a:rPr>
              <a:t>Florida</a:t>
            </a:r>
          </a:p>
          <a:p xmlns:a="http://schemas.openxmlformats.org/drawingml/2006/main">
            <a:pPr>
              <a:defRPr sz="1875">
                <a:solidFill>
                  <a:srgbClr val="292929"/>
                </a:solidFill>
              </a:defRPr>
            </a:pPr>
            <a:r>
              <a:rPr sz="1875">
                <a:solidFill>
                  <a:srgbClr val="292929"/>
                </a:solidFill>
              </a:rPr>
              <a:t>CCAFS SLC 40</a:t>
            </a:r>
          </a:p>
          <a:p xmlns:a="http://schemas.openxmlformats.org/drawingml/2006/main">
            <a:pPr>
              <a:defRPr sz="1875">
                <a:solidFill>
                  <a:srgbClr val="292929"/>
                </a:solidFill>
              </a:defRPr>
            </a:pPr>
            <a:r>
              <a:rPr sz="1875">
                <a:solidFill>
                  <a:srgbClr val="292929"/>
                </a:solidFill>
              </a:rPr>
              <a:t>KSC LC 39A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pPr>
              <a:defRPr sz="1875">
                <a:solidFill>
                  <a:srgbClr val="292929"/>
                </a:solidFill>
              </a:defRPr>
            </a:pPr>
            <a:r>
              <a:rPr sz="1875">
                <a:solidFill>
                  <a:srgbClr val="292929"/>
                </a:solidFill>
              </a:rPr>
              <a:t>California</a:t>
            </a:r>
          </a:p>
          <a:p xmlns:a="http://schemas.openxmlformats.org/drawingml/2006/main">
            <a:pPr>
              <a:defRPr sz="1875">
                <a:solidFill>
                  <a:srgbClr val="292929"/>
                </a:solidFill>
              </a:defRPr>
            </a:pPr>
            <a:r>
              <a:rPr sz="1875">
                <a:solidFill>
                  <a:srgbClr val="292929"/>
                </a:solidFill>
              </a:rPr>
              <a:t>VAFB SLC 4E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A54C236B-BDE2-4A4F-87BA-1C75A9E42F0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7250" y="5581650"/>
            <a:ext cx="1047750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/>
          <a:lstStyle xmlns:a="http://schemas.openxmlformats.org/drawingml/2006/main">
            <a:defPPr>
              <a:defRPr sz="1800">
                <a:solidFill>
                  <a:srgbClr val="292929"/>
                </a:solidFill>
              </a:defRPr>
            </a:defPPr>
          </a:lstStyle>
          <a:p xmlns:a="http://schemas.openxmlformats.org/drawingml/2006/main">
            <a:pPr>
              <a:defRPr sz="1800">
                <a:solidFill>
                  <a:srgbClr val="292929"/>
                </a:solidFill>
              </a:defRPr>
            </a:pPr>
            <a:r>
              <a:rPr sz="1800">
                <a:solidFill>
                  <a:srgbClr val="292929"/>
                </a:solidFill>
              </a:rPr>
              <a:t>All three facilities are coastal. The two Florida pads lie close together. Location alone does not explain landing performance.</a:t>
            </a:r>
          </a:p>
        </p:txBody>
      </p:sp>
    </p:spTree>
    <p:extLst>
      <p:ext uri="{BB962C8B-B14F-4D97-AF65-F5344CB8AC3E}">
        <p14:creationId xmlns:p14="http://schemas.microsoft.com/office/powerpoint/2010/main" val="981671777"/>
      </p:ext>
    </p:extLst>
  </p:cSld>
</p:sld>
</file>

<file path=ppt/slides/slide35.xml><?xml version="1.0" encoding="utf-8"?>
<p:sld xmlns:p="http://schemas.openxmlformats.org/presentationml/2006/main">
  <p:cSld>
    <p:bg>
      <p:bgPr>
        <a:blipFill xmlns:a="http://schemas.openxmlformats.org/drawingml/2006/main">
          <a:blip xmlns:r="http://schemas.openxmlformats.org/officeDocument/2006/relationships" r:embed="Ra383c7dd65b3470d"/>
          <a:stretch>
            <a:fillRect l="0" t="0" r="0" b="0"/>
          </a:stretch>
        </a:blip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3" name="Slide Number Placeholder 2">
            <a:extLst xmlns:a="http://schemas.openxmlformats.org/drawingml/2006/main">
              <a:ext uri="{FF2B5EF4-FFF2-40B4-BE49-F238E27FC236}">
                <a16:creationId xmlns:a16="http://schemas.microsoft.com/office/drawing/2014/main" id="{8C82F32A-22A5-0046-9FAC-5295E4FA5A12}"/>
              </a:ext>
            </a:extLst>
          </p:cNvPr>
          <p:cNvSpPr>
            <a:spLocks xmlns:a="http://schemas.openxmlformats.org/drawingml/2006/main" noGrp="1"/>
          </p:cNvSpPr>
          <p:nvPr>
            <p:ph type="sldNum" idx="12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fld id="{4A4FA566-8B12-6DD2-DDB5-FA6393938FB6}" type="slidenum">
              <a:t>35</a:t>
            </a:fld>
            <a:endParaRPr/>
          </a:p>
        </p:txBody>
      </p:sp>
      <p:sp>
        <p:nvSpPr>
          <p:cNvPr id="8" name="Title 1">
            <a:extLst xmlns:a="http://schemas.openxmlformats.org/drawingml/2006/main">
              <a:ext uri="{FF2B5EF4-FFF2-40B4-BE49-F238E27FC236}">
                <a16:creationId xmlns:a16="http://schemas.microsoft.com/office/drawing/2014/main" id="{2E0ECA32-E146-40DA-85CD-9677244BC3E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70001" y="538639"/>
            <a:ext cx="10572750" cy="9525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vert="horz" lIns="91440" tIns="45720" rIns="91440" bIns="45720" anchor="ctr">
            <a:normAutofit fontScale="100000" lnSpcReduction="20000"/>
          </a:bodyPr>
          <a:lstStyle xmlns:a="http://schemas.openxmlformats.org/drawingml/2006/main">
            <a:defPPr>
              <a:defRPr sz="3720">
                <a:solidFill>
                  <a:srgbClr val="0B49CB"/>
                </a:solidFill>
              </a:defRPr>
            </a:defPPr>
            <a:lvl1pPr algn="l" defTabSz="914400">
              <a:lnSpc>
                <a:spcPct val="90000"/>
              </a:lnSpc>
              <a:spcBef>
                <a:spcPct val="0"/>
              </a:spcBef>
              <a:buNone/>
              <a:defRPr sz="4000" kern="1200">
                <a:solidFill>
                  <a:srgbClr val="005493"/>
                </a:solidFill>
                <a:latin typeface="IBM Plex Mono SemiBold"/>
                <a:ea typeface="IBM Plex Mono SemiBold"/>
                <a:cs typeface="IBM Plex Mono SemiBold"/>
              </a:defRPr>
            </a:lvl1pPr>
          </a:lstStyle>
          <a:p xmlns:a="http://schemas.openxmlformats.org/drawingml/2006/main">
            <a:pPr>
              <a:defRPr sz="3720">
                <a:solidFill>
                  <a:srgbClr val="0B49CB"/>
                </a:solidFill>
              </a:defRPr>
            </a:pPr>
            <a:r>
              <a:rPr sz="3720">
                <a:solidFill>
                  <a:srgbClr val="0B49CB"/>
                </a:solidFill>
                <a:latin typeface="Abadi"/>
                <a:ea typeface="Abadi"/>
                <a:cs typeface="Abadi"/>
              </a:rPr>
              <a:t>Launch Outcomes at CCAFS SLC 40</a:t>
            </a:r>
          </a:p>
        </p:txBody>
      </p:sp>
      <p:pic>
        <p:nvPic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19BDE5E0-1ECF-4AFF-B7BA-6101279B390D}"/>
              </a:ext>
            </a:extLst>
          </p:cNvPr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4e3863fdbce248bf"/>
          <a:stretch xmlns:a="http://schemas.openxmlformats.org/drawingml/2006/main"/>
        </p:blipFill>
        <p:spPr>
          <a:xfrm xmlns:a="http://schemas.openxmlformats.org/drawingml/2006/main">
            <a:off x="1325563" y="1524000"/>
            <a:ext cx="7112000" cy="4000500"/>
          </a:xfrm>
          <a:prstGeom xmlns:a="http://schemas.openxmlformats.org/drawingml/2006/main" prst="rect">
            <a:avLst/>
          </a:prstGeom>
        </p:spPr>
      </p:pic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9FE41ABB-88A0-4B1B-B718-9DA9061E368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91625" y="1905000"/>
            <a:ext cx="2190750" cy="2857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/>
          <a:lstStyle xmlns:a="http://schemas.openxmlformats.org/drawingml/2006/main">
            <a:defPPr>
              <a:defRPr sz="2025">
                <a:solidFill>
                  <a:srgbClr val="292929"/>
                </a:solidFill>
              </a:defRPr>
            </a:defPPr>
          </a:lstStyle>
          <a:p xmlns:a="http://schemas.openxmlformats.org/drawingml/2006/main">
            <a:pPr>
              <a:defRPr sz="2025">
                <a:solidFill>
                  <a:srgbClr val="292929"/>
                </a:solidFill>
              </a:defRPr>
            </a:pPr>
            <a:r>
              <a:rPr sz="2025">
                <a:solidFill>
                  <a:srgbClr val="292929"/>
                </a:solidFill>
              </a:rPr>
              <a:t>55 launches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pPr>
              <a:defRPr sz="2025">
                <a:solidFill>
                  <a:srgbClr val="292929"/>
                </a:solidFill>
              </a:defRPr>
            </a:pPr>
            <a:r>
              <a:rPr sz="2025">
                <a:solidFill>
                  <a:srgbClr val="292929"/>
                </a:solidFill>
              </a:rPr>
              <a:t>33 Class 1</a:t>
            </a:r>
          </a:p>
          <a:p xmlns:a="http://schemas.openxmlformats.org/drawingml/2006/main">
            <a:pPr>
              <a:defRPr sz="2025">
                <a:solidFill>
                  <a:srgbClr val="292929"/>
                </a:solidFill>
              </a:defRPr>
            </a:pPr>
            <a:r>
              <a:rPr sz="2025">
                <a:solidFill>
                  <a:srgbClr val="292929"/>
                </a:solidFill>
              </a:rPr>
              <a:t>22 Class 0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pPr>
              <a:defRPr sz="2025">
                <a:solidFill>
                  <a:srgbClr val="292929"/>
                </a:solidFill>
              </a:defRPr>
            </a:pPr>
            <a:r>
              <a:rPr sz="2025">
                <a:solidFill>
                  <a:srgbClr val="292929"/>
                </a:solidFill>
              </a:rPr>
              <a:t>60.0% success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3002F51F-19D7-4C8B-B787-DD71A4CA508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7250" y="5581650"/>
            <a:ext cx="1047750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/>
          <a:lstStyle xmlns:a="http://schemas.openxmlformats.org/drawingml/2006/main">
            <a:defPPr>
              <a:defRPr sz="1800">
                <a:solidFill>
                  <a:srgbClr val="292929"/>
                </a:solidFill>
              </a:defRPr>
            </a:defPPr>
          </a:lstStyle>
          <a:p xmlns:a="http://schemas.openxmlformats.org/drawingml/2006/main">
            <a:pPr>
              <a:defRPr sz="1800">
                <a:solidFill>
                  <a:srgbClr val="292929"/>
                </a:solidFill>
              </a:defRPr>
            </a:pPr>
            <a:r>
              <a:rPr sz="1800">
                <a:solidFill>
                  <a:srgbClr val="292929"/>
                </a:solidFill>
              </a:rPr>
              <a:t>Expanded markers separate overlapping records around the same launch site. Their displayed offsets are not actual launch locations.</a:t>
            </a:r>
          </a:p>
        </p:txBody>
      </p:sp>
    </p:spTree>
    <p:extLst>
      <p:ext uri="{BB962C8B-B14F-4D97-AF65-F5344CB8AC3E}">
        <p14:creationId xmlns:p14="http://schemas.microsoft.com/office/powerpoint/2010/main" val="239597884"/>
      </p:ext>
    </p:extLst>
  </p:cSld>
</p:sld>
</file>

<file path=ppt/slides/slide36.xml><?xml version="1.0" encoding="utf-8"?>
<p:sld xmlns:p="http://schemas.openxmlformats.org/presentationml/2006/main">
  <p:cSld>
    <p:bg>
      <p:bgPr>
        <a:blipFill xmlns:a="http://schemas.openxmlformats.org/drawingml/2006/main">
          <a:blip xmlns:r="http://schemas.openxmlformats.org/officeDocument/2006/relationships" r:embed="Rcf8fba942e3c4328"/>
          <a:stretch>
            <a:fillRect l="0" t="0" r="0" b="0"/>
          </a:stretch>
        </a:blip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3" name="Slide Number Placeholder 2">
            <a:extLst xmlns:a="http://schemas.openxmlformats.org/drawingml/2006/main">
              <a:ext uri="{FF2B5EF4-FFF2-40B4-BE49-F238E27FC236}">
                <a16:creationId xmlns:a16="http://schemas.microsoft.com/office/drawing/2014/main" id="{8C82F32A-22A5-0046-9FAC-5295E4FA5A12}"/>
              </a:ext>
            </a:extLst>
          </p:cNvPr>
          <p:cNvSpPr>
            <a:spLocks xmlns:a="http://schemas.openxmlformats.org/drawingml/2006/main" noGrp="1"/>
          </p:cNvSpPr>
          <p:nvPr>
            <p:ph type="sldNum" idx="12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fld id="{E39A338D-B192-3127-EB9A-53A2665A0BB7}" type="slidenum">
              <a:t>36</a:t>
            </a:fld>
            <a:endParaRPr/>
          </a:p>
        </p:txBody>
      </p:sp>
      <p:sp>
        <p:nvSpPr>
          <p:cNvPr id="8" name="Title 1">
            <a:extLst xmlns:a="http://schemas.openxmlformats.org/drawingml/2006/main">
              <a:ext uri="{FF2B5EF4-FFF2-40B4-BE49-F238E27FC236}">
                <a16:creationId xmlns:a16="http://schemas.microsoft.com/office/drawing/2014/main" id="{34C97452-C78A-4701-B8AB-ABFE63D5BED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70001" y="538639"/>
            <a:ext cx="10572750" cy="9525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vert="horz" lIns="91440" tIns="45720" rIns="91440" bIns="45720" anchor="ctr">
            <a:normAutofit fontScale="100000" lnSpcReduction="20000"/>
          </a:bodyPr>
          <a:lstStyle xmlns:a="http://schemas.openxmlformats.org/drawingml/2006/main">
            <a:defPPr>
              <a:defRPr sz="3720">
                <a:solidFill>
                  <a:srgbClr val="0B49CB"/>
                </a:solidFill>
              </a:defRPr>
            </a:defPPr>
            <a:lvl1pPr algn="l" defTabSz="914400">
              <a:lnSpc>
                <a:spcPct val="90000"/>
              </a:lnSpc>
              <a:spcBef>
                <a:spcPct val="0"/>
              </a:spcBef>
              <a:buNone/>
              <a:defRPr sz="4000" kern="1200">
                <a:solidFill>
                  <a:srgbClr val="005493"/>
                </a:solidFill>
                <a:latin typeface="IBM Plex Mono SemiBold"/>
                <a:ea typeface="IBM Plex Mono SemiBold"/>
                <a:cs typeface="IBM Plex Mono SemiBold"/>
              </a:defRPr>
            </a:lvl1pPr>
          </a:lstStyle>
          <a:p xmlns:a="http://schemas.openxmlformats.org/drawingml/2006/main">
            <a:pPr>
              <a:defRPr sz="3720">
                <a:solidFill>
                  <a:srgbClr val="0B49CB"/>
                </a:solidFill>
              </a:defRPr>
            </a:pPr>
            <a:r>
              <a:rPr sz="3720">
                <a:solidFill>
                  <a:srgbClr val="0B49CB"/>
                </a:solidFill>
                <a:latin typeface="Abadi"/>
                <a:ea typeface="Abadi"/>
                <a:cs typeface="Abadi"/>
              </a:rPr>
              <a:t>CCAFS SLC 40 and Nearby Features</a:t>
            </a:r>
          </a:p>
        </p:txBody>
      </p:sp>
      <p:pic>
        <p:nvPic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3FA9C947-9BF9-4E6F-BA72-B701E1084922}"/>
              </a:ext>
            </a:extLst>
          </p:cNvPr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68295788c0ae4efc"/>
          <a:stretch xmlns:a="http://schemas.openxmlformats.org/drawingml/2006/main"/>
        </p:blipFill>
        <p:spPr>
          <a:xfrm xmlns:a="http://schemas.openxmlformats.org/drawingml/2006/main">
            <a:off x="1325563" y="1524000"/>
            <a:ext cx="7112000" cy="4000500"/>
          </a:xfrm>
          <a:prstGeom xmlns:a="http://schemas.openxmlformats.org/drawingml/2006/main" prst="rect">
            <a:avLst/>
          </a:prstGeom>
        </p:spPr>
      </p:pic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EC77517B-0825-4770-9D0E-3AF533592CE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91625" y="1905000"/>
            <a:ext cx="2190750" cy="2857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/>
          <a:lstStyle xmlns:a="http://schemas.openxmlformats.org/drawingml/2006/main">
            <a:defPPr>
              <a:defRPr sz="1875">
                <a:solidFill>
                  <a:srgbClr val="292929"/>
                </a:solidFill>
              </a:defRPr>
            </a:defPPr>
          </a:lstStyle>
          <a:p xmlns:a="http://schemas.openxmlformats.org/drawingml/2006/main">
            <a:pPr>
              <a:defRPr sz="1875">
                <a:solidFill>
                  <a:srgbClr val="292929"/>
                </a:solidFill>
              </a:defRPr>
            </a:pPr>
            <a:r>
              <a:rPr sz="1875">
                <a:solidFill>
                  <a:srgbClr val="292929"/>
                </a:solidFill>
              </a:rPr>
              <a:t>Selected points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pPr>
              <a:defRPr sz="1875">
                <a:solidFill>
                  <a:srgbClr val="292929"/>
                </a:solidFill>
              </a:defRPr>
            </a:pPr>
            <a:r>
              <a:rPr sz="1875">
                <a:solidFill>
                  <a:srgbClr val="292929"/>
                </a:solidFill>
              </a:rPr>
              <a:t>Coast: 0.97 km</a:t>
            </a:r>
          </a:p>
          <a:p xmlns:a="http://schemas.openxmlformats.org/drawingml/2006/main">
            <a:pPr>
              <a:defRPr sz="1875">
                <a:solidFill>
                  <a:srgbClr val="292929"/>
                </a:solidFill>
              </a:defRPr>
            </a:pPr>
            <a:r>
              <a:rPr sz="1875">
                <a:solidFill>
                  <a:srgbClr val="292929"/>
                </a:solidFill>
              </a:rPr>
              <a:t>Road: 0.56 km</a:t>
            </a:r>
          </a:p>
          <a:p xmlns:a="http://schemas.openxmlformats.org/drawingml/2006/main">
            <a:pPr>
              <a:defRPr sz="1875">
                <a:solidFill>
                  <a:srgbClr val="292929"/>
                </a:solidFill>
              </a:defRPr>
            </a:pPr>
            <a:r>
              <a:rPr sz="1875">
                <a:solidFill>
                  <a:srgbClr val="292929"/>
                </a:solidFill>
              </a:rPr>
              <a:t>Rail: 1.38 km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7F90051F-9120-403B-97E1-6AEE9CB6672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7250" y="5581650"/>
            <a:ext cx="1047750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/>
          <a:lstStyle xmlns:a="http://schemas.openxmlformats.org/drawingml/2006/main">
            <a:defPPr>
              <a:defRPr sz="1800">
                <a:solidFill>
                  <a:srgbClr val="292929"/>
                </a:solidFill>
              </a:defRPr>
            </a:defPPr>
          </a:lstStyle>
          <a:p xmlns:a="http://schemas.openxmlformats.org/drawingml/2006/main">
            <a:pPr>
              <a:defRPr sz="1800">
                <a:solidFill>
                  <a:srgbClr val="292929"/>
                </a:solidFill>
              </a:defRPr>
            </a:pPr>
            <a:r>
              <a:rPr sz="1800">
                <a:solidFill>
                  <a:srgbClr val="292929"/>
                </a:solidFill>
              </a:rPr>
              <a:t>Approximate straight-line distances to selected map points. These are not surveyed minimum distances or safety clearances.</a:t>
            </a:r>
          </a:p>
        </p:txBody>
      </p:sp>
    </p:spTree>
    <p:extLst>
      <p:ext uri="{BB962C8B-B14F-4D97-AF65-F5344CB8AC3E}">
        <p14:creationId xmlns:p14="http://schemas.microsoft.com/office/powerpoint/2010/main" val="232499080"/>
      </p:ext>
    </p:extLst>
  </p:cSld>
</p:sld>
</file>

<file path=ppt/slides/slide37.xml><?xml version="1.0" encoding="utf-8"?>
<p:sld xmlns:p="http://schemas.openxmlformats.org/presentationml/2006/main">
  <p:cSld>
    <p:bg>
      <p:bgPr>
        <a:blipFill xmlns:a="http://schemas.openxmlformats.org/drawingml/2006/main">
          <a:blip xmlns:r="http://schemas.openxmlformats.org/officeDocument/2006/relationships" r:embed="R89717ccd1f3c43ca"/>
          <a:stretch>
            <a:fillRect l="0" t="0" r="0" b="0"/>
          </a:stretch>
        </a:blip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3" name="Slide Number Placeholder 2">
            <a:extLst xmlns:a="http://schemas.openxmlformats.org/drawingml/2006/main">
              <a:ext uri="{FF2B5EF4-FFF2-40B4-BE49-F238E27FC236}">
                <a16:creationId xmlns:a16="http://schemas.microsoft.com/office/drawing/2014/main" id="{8C82F32A-22A5-0046-9FAC-5295E4FA5A12}"/>
              </a:ext>
            </a:extLst>
          </p:cNvPr>
          <p:cNvSpPr>
            <a:spLocks xmlns:a="http://schemas.openxmlformats.org/drawingml/2006/main" noGrp="1"/>
          </p:cNvSpPr>
          <p:nvPr>
            <p:ph type="sldNum" idx="12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fld id="{8D334276-4C85-190E-BA41-5CA1CBB04E4E}" type="slidenum">
              <a:t>37</a:t>
            </a:fld>
            <a:endParaRPr/>
          </a:p>
        </p:txBody>
      </p:sp>
      <p:sp>
        <p:nvSpPr>
          <p:cNvPr id="8" name="Title 1">
            <a:extLst xmlns:a="http://schemas.openxmlformats.org/drawingml/2006/main">
              <a:ext uri="{FF2B5EF4-FFF2-40B4-BE49-F238E27FC236}">
                <a16:creationId xmlns:a16="http://schemas.microsoft.com/office/drawing/2014/main" id="{9456A072-47A6-4424-9ABE-F398119040D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70001" y="538639"/>
            <a:ext cx="10572750" cy="9525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vert="horz" lIns="91440" tIns="45720" rIns="91440" bIns="45720" anchor="ctr">
            <a:normAutofit fontScale="100000" lnSpcReduction="20000"/>
          </a:bodyPr>
          <a:lstStyle xmlns:a="http://schemas.openxmlformats.org/drawingml/2006/main">
            <a:defPPr>
              <a:defRPr sz="3720">
                <a:solidFill>
                  <a:srgbClr val="0B49CB"/>
                </a:solidFill>
              </a:defRPr>
            </a:defPPr>
            <a:lvl1pPr algn="l" defTabSz="914400">
              <a:lnSpc>
                <a:spcPct val="90000"/>
              </a:lnSpc>
              <a:spcBef>
                <a:spcPct val="0"/>
              </a:spcBef>
              <a:buNone/>
              <a:defRPr sz="4000" kern="1200">
                <a:solidFill>
                  <a:srgbClr val="005493"/>
                </a:solidFill>
                <a:latin typeface="IBM Plex Mono SemiBold"/>
                <a:ea typeface="IBM Plex Mono SemiBold"/>
                <a:cs typeface="IBM Plex Mono SemiBold"/>
              </a:defRPr>
            </a:lvl1pPr>
          </a:lstStyle>
          <a:p xmlns:a="http://schemas.openxmlformats.org/drawingml/2006/main">
            <a:pPr>
              <a:defRPr sz="3720">
                <a:solidFill>
                  <a:srgbClr val="0B49CB"/>
                </a:solidFill>
              </a:defRPr>
            </a:pPr>
            <a:r>
              <a:rPr sz="3720">
                <a:solidFill>
                  <a:srgbClr val="0B49CB"/>
                </a:solidFill>
                <a:latin typeface="Abadi"/>
                <a:ea typeface="Abadi"/>
                <a:cs typeface="Abadi"/>
              </a:rPr>
              <a:t>Dashboard: Successful Outcomes by Site</a:t>
            </a:r>
          </a:p>
        </p:txBody>
      </p:sp>
      <p:pic>
        <p:nvPic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A52E374C-0BCB-4B2C-A16B-86AC43CB5F06}"/>
              </a:ext>
            </a:extLst>
          </p:cNvPr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c6866f63eca8442c"/>
          <a:srcRect xmlns:a="http://schemas.openxmlformats.org/drawingml/2006/main" l="5500" t="6000" r="5500" b="45500"/>
          <a:stretch xmlns:a="http://schemas.openxmlformats.org/drawingml/2006/main"/>
        </p:blipFill>
        <p:spPr>
          <a:xfrm xmlns:a="http://schemas.openxmlformats.org/drawingml/2006/main">
            <a:off x="809625" y="1476375"/>
            <a:ext cx="7810500" cy="4095750"/>
          </a:xfrm>
          <a:prstGeom xmlns:a="http://schemas.openxmlformats.org/drawingml/2006/main" prst="rect">
            <a:avLst/>
          </a:prstGeom>
        </p:spPr>
      </p:pic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B8BB173C-97C5-42F2-A513-1A8F20275E9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858250" y="1714500"/>
            <a:ext cx="2571750" cy="3238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/>
          <a:lstStyle xmlns:a="http://schemas.openxmlformats.org/drawingml/2006/main">
            <a:defPPr>
              <a:defRPr sz="1950">
                <a:solidFill>
                  <a:srgbClr val="292929"/>
                </a:solidFill>
              </a:defRPr>
            </a:defPPr>
          </a:lstStyle>
          <a:p xmlns:a="http://schemas.openxmlformats.org/drawingml/2006/main">
            <a:pPr>
              <a:defRPr sz="1950">
                <a:solidFill>
                  <a:srgbClr val="292929"/>
                </a:solidFill>
              </a:defRPr>
            </a:pPr>
            <a:r>
              <a:rPr sz="1950">
                <a:solidFill>
                  <a:srgbClr val="292929"/>
                </a:solidFill>
              </a:rPr>
              <a:t>60 successes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pPr>
              <a:defRPr sz="1950">
                <a:solidFill>
                  <a:srgbClr val="292929"/>
                </a:solidFill>
              </a:defRPr>
            </a:pPr>
            <a:r>
              <a:rPr sz="1950">
                <a:solidFill>
                  <a:srgbClr val="292929"/>
                </a:solidFill>
              </a:rPr>
              <a:t>CCAFS: 33</a:t>
            </a:r>
          </a:p>
          <a:p xmlns:a="http://schemas.openxmlformats.org/drawingml/2006/main">
            <a:pPr>
              <a:defRPr sz="1950">
                <a:solidFill>
                  <a:srgbClr val="292929"/>
                </a:solidFill>
              </a:defRPr>
            </a:pPr>
            <a:r>
              <a:rPr sz="1950">
                <a:solidFill>
                  <a:srgbClr val="292929"/>
                </a:solidFill>
              </a:rPr>
              <a:t>KSC: 17</a:t>
            </a:r>
          </a:p>
          <a:p xmlns:a="http://schemas.openxmlformats.org/drawingml/2006/main">
            <a:pPr>
              <a:defRPr sz="1950">
                <a:solidFill>
                  <a:srgbClr val="292929"/>
                </a:solidFill>
              </a:defRPr>
            </a:pPr>
            <a:r>
              <a:rPr sz="1950">
                <a:solidFill>
                  <a:srgbClr val="292929"/>
                </a:solidFill>
              </a:rPr>
              <a:t>VAFB: 10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pPr>
              <a:defRPr sz="1950">
                <a:solidFill>
                  <a:srgbClr val="292929"/>
                </a:solidFill>
              </a:defRPr>
            </a:pPr>
            <a:r>
              <a:rPr sz="1950">
                <a:solidFill>
                  <a:srgbClr val="292929"/>
                </a:solidFill>
              </a:rPr>
              <a:t>CCAFS contributes 55% of successes.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381FF603-B30D-4926-83DC-88EDADDF32B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7250" y="5610225"/>
            <a:ext cx="1047750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/>
          <a:lstStyle xmlns:a="http://schemas.openxmlformats.org/drawingml/2006/main">
            <a:defPPr>
              <a:defRPr sz="1800">
                <a:solidFill>
                  <a:srgbClr val="292929"/>
                </a:solidFill>
              </a:defRPr>
            </a:defPPr>
          </a:lstStyle>
          <a:p xmlns:a="http://schemas.openxmlformats.org/drawingml/2006/main">
            <a:pPr>
              <a:defRPr sz="1800">
                <a:solidFill>
                  <a:srgbClr val="292929"/>
                </a:solidFill>
              </a:defRPr>
            </a:pPr>
            <a:r>
              <a:rPr sz="1800">
                <a:solidFill>
                  <a:srgbClr val="292929"/>
                </a:solidFill>
              </a:rPr>
              <a:t>The pie compares successful-outcome counts. A larger slice does not imply a higher success rate.</a:t>
            </a:r>
          </a:p>
        </p:txBody>
      </p:sp>
    </p:spTree>
    <p:extLst>
      <p:ext uri="{BB962C8B-B14F-4D97-AF65-F5344CB8AC3E}">
        <p14:creationId xmlns:p14="http://schemas.microsoft.com/office/powerpoint/2010/main" val="700132931"/>
      </p:ext>
    </p:extLst>
  </p:cSld>
</p:sld>
</file>

<file path=ppt/slides/slide38.xml><?xml version="1.0" encoding="utf-8"?>
<p:sld xmlns:p="http://schemas.openxmlformats.org/presentationml/2006/main">
  <p:cSld>
    <p:bg>
      <p:bgPr>
        <a:blipFill xmlns:a="http://schemas.openxmlformats.org/drawingml/2006/main">
          <a:blip xmlns:r="http://schemas.openxmlformats.org/officeDocument/2006/relationships" r:embed="R631469b823d94674"/>
          <a:stretch>
            <a:fillRect l="0" t="0" r="0" b="0"/>
          </a:stretch>
        </a:blip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3" name="Slide Number Placeholder 2">
            <a:extLst xmlns:a="http://schemas.openxmlformats.org/drawingml/2006/main">
              <a:ext uri="{FF2B5EF4-FFF2-40B4-BE49-F238E27FC236}">
                <a16:creationId xmlns:a16="http://schemas.microsoft.com/office/drawing/2014/main" id="{8C82F32A-22A5-0046-9FAC-5295E4FA5A12}"/>
              </a:ext>
            </a:extLst>
          </p:cNvPr>
          <p:cNvSpPr>
            <a:spLocks xmlns:a="http://schemas.openxmlformats.org/drawingml/2006/main" noGrp="1"/>
          </p:cNvSpPr>
          <p:nvPr>
            <p:ph type="sldNum" idx="12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fld id="{855A7F00-3259-A23D-D734-A322A9F9DD63}" type="slidenum">
              <a:t>38</a:t>
            </a:fld>
            <a:endParaRPr/>
          </a:p>
        </p:txBody>
      </p:sp>
      <p:sp>
        <p:nvSpPr>
          <p:cNvPr id="8" name="Title 1">
            <a:extLst xmlns:a="http://schemas.openxmlformats.org/drawingml/2006/main">
              <a:ext uri="{FF2B5EF4-FFF2-40B4-BE49-F238E27FC236}">
                <a16:creationId xmlns:a16="http://schemas.microsoft.com/office/drawing/2014/main" id="{4EF94599-779E-457E-B57B-6063EBF7A84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70001" y="538639"/>
            <a:ext cx="10572750" cy="9525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vert="horz" lIns="91440" tIns="45720" rIns="91440" bIns="45720" anchor="ctr">
            <a:normAutofit fontScale="100000" lnSpcReduction="20000"/>
          </a:bodyPr>
          <a:lstStyle xmlns:a="http://schemas.openxmlformats.org/drawingml/2006/main">
            <a:defPPr>
              <a:defRPr sz="3720">
                <a:solidFill>
                  <a:srgbClr val="0B49CB"/>
                </a:solidFill>
              </a:defRPr>
            </a:defPPr>
            <a:lvl1pPr algn="l" defTabSz="914400">
              <a:lnSpc>
                <a:spcPct val="90000"/>
              </a:lnSpc>
              <a:spcBef>
                <a:spcPct val="0"/>
              </a:spcBef>
              <a:buNone/>
              <a:defRPr sz="4000" kern="1200">
                <a:solidFill>
                  <a:srgbClr val="005493"/>
                </a:solidFill>
                <a:latin typeface="IBM Plex Mono SemiBold"/>
                <a:ea typeface="IBM Plex Mono SemiBold"/>
                <a:cs typeface="IBM Plex Mono SemiBold"/>
              </a:defRPr>
            </a:lvl1pPr>
          </a:lstStyle>
          <a:p xmlns:a="http://schemas.openxmlformats.org/drawingml/2006/main">
            <a:pPr>
              <a:defRPr sz="3720">
                <a:solidFill>
                  <a:srgbClr val="0B49CB"/>
                </a:solidFill>
              </a:defRPr>
            </a:pPr>
            <a:r>
              <a:rPr sz="3720">
                <a:solidFill>
                  <a:srgbClr val="0B49CB"/>
                </a:solidFill>
                <a:latin typeface="Abadi"/>
                <a:ea typeface="Abadi"/>
                <a:cs typeface="Abadi"/>
              </a:rPr>
              <a:t>Dashboard: Highest Observed Site Rate</a:t>
            </a:r>
          </a:p>
        </p:txBody>
      </p:sp>
      <p:pic>
        <p:nvPic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9C8C3EBC-C8EA-4B77-B00B-BDFB4D7BFC0D}"/>
              </a:ext>
            </a:extLst>
          </p:cNvPr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6847f3c195f6414a"/>
          <a:srcRect xmlns:a="http://schemas.openxmlformats.org/drawingml/2006/main" l="5500" t="6000" r="5500" b="45500"/>
          <a:stretch xmlns:a="http://schemas.openxmlformats.org/drawingml/2006/main"/>
        </p:blipFill>
        <p:spPr>
          <a:xfrm xmlns:a="http://schemas.openxmlformats.org/drawingml/2006/main">
            <a:off x="809625" y="1476375"/>
            <a:ext cx="7810500" cy="4095750"/>
          </a:xfrm>
          <a:prstGeom xmlns:a="http://schemas.openxmlformats.org/drawingml/2006/main" prst="rect">
            <a:avLst/>
          </a:prstGeom>
        </p:spPr>
      </p:pic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064087DD-8AF1-4F1A-80D3-707D19C7AE1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858250" y="1714500"/>
            <a:ext cx="2571750" cy="3238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/>
          <a:lstStyle xmlns:a="http://schemas.openxmlformats.org/drawingml/2006/main">
            <a:defPPr>
              <a:defRPr sz="2025">
                <a:solidFill>
                  <a:srgbClr val="292929"/>
                </a:solidFill>
              </a:defRPr>
            </a:defPPr>
          </a:lstStyle>
          <a:p xmlns:a="http://schemas.openxmlformats.org/drawingml/2006/main">
            <a:pPr>
              <a:defRPr sz="2025">
                <a:solidFill>
                  <a:srgbClr val="292929"/>
                </a:solidFill>
              </a:defRPr>
            </a:pPr>
            <a:r>
              <a:rPr sz="2025">
                <a:solidFill>
                  <a:srgbClr val="292929"/>
                </a:solidFill>
              </a:rPr>
              <a:t>KSC LC 39A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pPr>
              <a:defRPr sz="2025">
                <a:solidFill>
                  <a:srgbClr val="292929"/>
                </a:solidFill>
              </a:defRPr>
            </a:pPr>
            <a:r>
              <a:rPr sz="2025">
                <a:solidFill>
                  <a:srgbClr val="292929"/>
                </a:solidFill>
              </a:rPr>
              <a:t>17 successes</a:t>
            </a:r>
          </a:p>
          <a:p xmlns:a="http://schemas.openxmlformats.org/drawingml/2006/main">
            <a:pPr>
              <a:defRPr sz="2025">
                <a:solidFill>
                  <a:srgbClr val="292929"/>
                </a:solidFill>
              </a:defRPr>
            </a:pPr>
            <a:r>
              <a:rPr sz="2025">
                <a:solidFill>
                  <a:srgbClr val="292929"/>
                </a:solidFill>
              </a:rPr>
              <a:t>5 class 0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pPr>
              <a:defRPr sz="2025">
                <a:solidFill>
                  <a:srgbClr val="292929"/>
                </a:solidFill>
              </a:defRPr>
            </a:pPr>
            <a:r>
              <a:rPr sz="2025">
                <a:solidFill>
                  <a:srgbClr val="292929"/>
                </a:solidFill>
              </a:rPr>
              <a:t>77.3% success</a:t>
            </a:r>
          </a:p>
          <a:p xmlns:a="http://schemas.openxmlformats.org/drawingml/2006/main">
            <a:pPr>
              <a:defRPr sz="2025">
                <a:solidFill>
                  <a:srgbClr val="292929"/>
                </a:solidFill>
              </a:defRPr>
            </a:pPr>
            <a:r>
              <a:rPr sz="2025">
                <a:solidFill>
                  <a:srgbClr val="292929"/>
                </a:solidFill>
              </a:rPr>
              <a:t>22 launches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CBD5A9D9-4AB8-4BF9-83FE-FDF00EEC1FB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7250" y="5610225"/>
            <a:ext cx="1047750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/>
          <a:lstStyle xmlns:a="http://schemas.openxmlformats.org/drawingml/2006/main">
            <a:defPPr>
              <a:defRPr sz="1800">
                <a:solidFill>
                  <a:srgbClr val="292929"/>
                </a:solidFill>
              </a:defRPr>
            </a:defPPr>
          </a:lstStyle>
          <a:p xmlns:a="http://schemas.openxmlformats.org/drawingml/2006/main">
            <a:pPr>
              <a:defRPr sz="1800">
                <a:solidFill>
                  <a:srgbClr val="292929"/>
                </a:solidFill>
              </a:defRPr>
            </a:pPr>
            <a:r>
              <a:rPr sz="1800">
                <a:solidFill>
                  <a:srgbClr val="292929"/>
                </a:solidFill>
              </a:rPr>
              <a:t>KSC narrowly exceeds VAFB’s 76.9% (10/13). These small samples do not establish a reliable ranking of site quality.</a:t>
            </a:r>
          </a:p>
        </p:txBody>
      </p:sp>
    </p:spTree>
    <p:extLst>
      <p:ext uri="{BB962C8B-B14F-4D97-AF65-F5344CB8AC3E}">
        <p14:creationId xmlns:p14="http://schemas.microsoft.com/office/powerpoint/2010/main" val="1866160706"/>
      </p:ext>
    </p:extLst>
  </p:cSld>
</p:sld>
</file>

<file path=ppt/slides/slide39.xml><?xml version="1.0" encoding="utf-8"?>
<p:sld xmlns:p="http://schemas.openxmlformats.org/presentationml/2006/main">
  <p:cSld>
    <p:bg>
      <p:bgPr>
        <a:blipFill xmlns:a="http://schemas.openxmlformats.org/drawingml/2006/main">
          <a:blip xmlns:r="http://schemas.openxmlformats.org/officeDocument/2006/relationships" r:embed="R61125e069b4e4591"/>
          <a:stretch>
            <a:fillRect l="0" t="0" r="0" b="0"/>
          </a:stretch>
        </a:blip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3" name="Slide Number Placeholder 2">
            <a:extLst xmlns:a="http://schemas.openxmlformats.org/drawingml/2006/main">
              <a:ext uri="{FF2B5EF4-FFF2-40B4-BE49-F238E27FC236}">
                <a16:creationId xmlns:a16="http://schemas.microsoft.com/office/drawing/2014/main" id="{8C82F32A-22A5-0046-9FAC-5295E4FA5A12}"/>
              </a:ext>
            </a:extLst>
          </p:cNvPr>
          <p:cNvSpPr>
            <a:spLocks xmlns:a="http://schemas.openxmlformats.org/drawingml/2006/main" noGrp="1"/>
          </p:cNvSpPr>
          <p:nvPr>
            <p:ph type="sldNum" idx="12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fld id="{6166C477-A387-35CF-F492-F54B4FA4FEC9}" type="slidenum">
              <a:t>39</a:t>
            </a:fld>
            <a:endParaRPr/>
          </a:p>
        </p:txBody>
      </p:sp>
      <p:sp>
        <p:nvSpPr>
          <p:cNvPr id="12" name="Title 1">
            <a:extLst xmlns:a="http://schemas.openxmlformats.org/drawingml/2006/main">
              <a:ext uri="{FF2B5EF4-FFF2-40B4-BE49-F238E27FC236}">
                <a16:creationId xmlns:a16="http://schemas.microsoft.com/office/drawing/2014/main" id="{4D271BF5-BAA1-4CEB-A575-76A097FABBB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70001" y="538639"/>
            <a:ext cx="10572750" cy="9525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vert="horz" lIns="91440" tIns="45720" rIns="91440" bIns="45720" anchor="ctr">
            <a:normAutofit fontScale="100000" lnSpcReduction="20000"/>
          </a:bodyPr>
          <a:lstStyle xmlns:a="http://schemas.openxmlformats.org/drawingml/2006/main">
            <a:defPPr>
              <a:defRPr sz="3720">
                <a:solidFill>
                  <a:srgbClr val="0B49CB"/>
                </a:solidFill>
              </a:defRPr>
            </a:defPPr>
            <a:lvl1pPr algn="l" defTabSz="914400">
              <a:lnSpc>
                <a:spcPct val="90000"/>
              </a:lnSpc>
              <a:spcBef>
                <a:spcPct val="0"/>
              </a:spcBef>
              <a:buNone/>
              <a:defRPr sz="4000" kern="1200">
                <a:solidFill>
                  <a:srgbClr val="005493"/>
                </a:solidFill>
                <a:latin typeface="IBM Plex Mono SemiBold"/>
                <a:ea typeface="IBM Plex Mono SemiBold"/>
                <a:cs typeface="IBM Plex Mono SemiBold"/>
              </a:defRPr>
            </a:lvl1pPr>
          </a:lstStyle>
          <a:p xmlns:a="http://schemas.openxmlformats.org/drawingml/2006/main">
            <a:pPr>
              <a:defRPr sz="3720">
                <a:solidFill>
                  <a:srgbClr val="0B49CB"/>
                </a:solidFill>
              </a:defRPr>
            </a:pPr>
            <a:r>
              <a:rPr sz="3720">
                <a:solidFill>
                  <a:srgbClr val="0B49CB"/>
                </a:solidFill>
                <a:latin typeface="Abadi"/>
                <a:ea typeface="Abadi"/>
                <a:cs typeface="Abadi"/>
              </a:rPr>
              <a:t>Dashboard: Payload Range Filters</a:t>
            </a:r>
          </a:p>
        </p:txBody>
      </p:sp>
      <p:pic>
        <p:nvPic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B3F79FD8-D83A-432C-B66E-4AD978986DE3}"/>
              </a:ext>
            </a:extLst>
          </p:cNvPr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53d1a6f91d2d4d19"/>
          <a:srcRect xmlns:a="http://schemas.openxmlformats.org/drawingml/2006/main" l="5500" t="54500" r="5500" b="4500"/>
          <a:stretch xmlns:a="http://schemas.openxmlformats.org/drawingml/2006/main"/>
        </p:blipFill>
        <p:spPr>
          <a:xfrm xmlns:a="http://schemas.openxmlformats.org/drawingml/2006/main">
            <a:off x="809625" y="1571625"/>
            <a:ext cx="5238750" cy="3476625"/>
          </a:xfrm>
          <a:prstGeom xmlns:a="http://schemas.openxmlformats.org/drawingml/2006/main" prst="rect">
            <a:avLst/>
          </a:prstGeom>
        </p:spPr>
      </p:pic>
      <p:pic>
        <p:nvPic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25BAA22E-AED8-4E32-A54F-E664B7E9F22A}"/>
              </a:ext>
            </a:extLst>
          </p:cNvPr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a28605ff9f9f481d"/>
          <a:srcRect xmlns:a="http://schemas.openxmlformats.org/drawingml/2006/main" l="5500" t="54500" r="5500" b="4500"/>
          <a:stretch xmlns:a="http://schemas.openxmlformats.org/drawingml/2006/main"/>
        </p:blipFill>
        <p:spPr>
          <a:xfrm xmlns:a="http://schemas.openxmlformats.org/drawingml/2006/main">
            <a:off x="6191250" y="1571625"/>
            <a:ext cx="5238750" cy="3476625"/>
          </a:xfrm>
          <a:prstGeom xmlns:a="http://schemas.openxmlformats.org/drawingml/2006/main" prst="rect">
            <a:avLst/>
          </a:prstGeom>
        </p:spPr>
      </p:pic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8A7DE61C-5116-48CA-9902-9D42DC1E065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7250" y="5267325"/>
            <a:ext cx="10477500" cy="742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/>
          <a:lstStyle xmlns:a="http://schemas.openxmlformats.org/drawingml/2006/main">
            <a:defPPr>
              <a:defRPr sz="1800">
                <a:solidFill>
                  <a:srgbClr val="292929"/>
                </a:solidFill>
              </a:defRPr>
            </a:defPPr>
          </a:lstStyle>
          <a:p xmlns:a="http://schemas.openxmlformats.org/drawingml/2006/main">
            <a:pPr>
              <a:defRPr sz="1800">
                <a:solidFill>
                  <a:srgbClr val="292929"/>
                </a:solidFill>
              </a:defRPr>
            </a:pPr>
            <a:r>
              <a:rPr sz="1800">
                <a:solidFill>
                  <a:srgbClr val="292929"/>
                </a:solidFill>
              </a:rPr>
              <a:t>Two slider selections isolate different payload bands. Booster block and flight date also vary, so a payload association is not a causal effect.</a:t>
            </a:r>
          </a:p>
        </p:txBody>
      </p:sp>
    </p:spTree>
    <p:extLst>
      <p:ext uri="{BB962C8B-B14F-4D97-AF65-F5344CB8AC3E}">
        <p14:creationId xmlns:p14="http://schemas.microsoft.com/office/powerpoint/2010/main" val="252359608"/>
      </p:ext>
    </p:extLst>
  </p:cSld>
</p:sld>
</file>

<file path=ppt/slides/slide40.xml><?xml version="1.0" encoding="utf-8"?>
<p:sld xmlns:p="http://schemas.openxmlformats.org/presentationml/2006/main">
  <p:cSld>
    <p:bg>
      <p:bgPr>
        <a:blipFill xmlns:a="http://schemas.openxmlformats.org/drawingml/2006/main">
          <a:blip xmlns:r="http://schemas.openxmlformats.org/officeDocument/2006/relationships" r:embed="R9ab7734c5d2e431c"/>
          <a:stretch>
            <a:fillRect l="0" t="0" r="0" b="0"/>
          </a:stretch>
        </a:blip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6" name="Slide Number Placeholder 5">
            <a:extLst xmlns:a="http://schemas.openxmlformats.org/drawingml/2006/main">
              <a:ext uri="{FF2B5EF4-FFF2-40B4-BE49-F238E27FC236}">
                <a16:creationId xmlns:a16="http://schemas.microsoft.com/office/drawing/2014/main" id="{E7525D5A-386D-C541-9D42-BBDEA82289E4}"/>
              </a:ext>
            </a:extLst>
          </p:cNvPr>
          <p:cNvSpPr>
            <a:spLocks xmlns:a="http://schemas.openxmlformats.org/drawingml/2006/main" noGrp="1"/>
          </p:cNvSpPr>
          <p:nvPr>
            <p:ph type="sldNum" idx="12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fld id="{C0C89EF0-BE71-8D92-BDDF-FF7D05F0AC04}" type="slidenum">
              <a:t>40</a:t>
            </a:fld>
            <a:endParaRPr/>
          </a:p>
        </p:txBody>
      </p:sp>
      <p:sp>
        <p:nvSpPr>
          <p:cNvPr id="11" name="Title 1">
            <a:extLst xmlns:a="http://schemas.openxmlformats.org/drawingml/2006/main">
              <a:ext uri="{FF2B5EF4-FFF2-40B4-BE49-F238E27FC236}">
                <a16:creationId xmlns:a16="http://schemas.microsoft.com/office/drawing/2014/main" id="{60F8A56C-5EE1-4DBF-842D-C2A130AA680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70001" y="538639"/>
            <a:ext cx="10572750" cy="9525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vert="horz" lIns="91440" tIns="45720" rIns="91440" bIns="45720" anchor="ctr">
            <a:normAutofit fontScale="100000" lnSpcReduction="20000"/>
          </a:bodyPr>
          <a:lstStyle xmlns:a="http://schemas.openxmlformats.org/drawingml/2006/main">
            <a:defPPr>
              <a:defRPr sz="3720">
                <a:solidFill>
                  <a:srgbClr val="0B49CB"/>
                </a:solidFill>
              </a:defRPr>
            </a:defPPr>
            <a:lvl1pPr algn="l" defTabSz="914400">
              <a:lnSpc>
                <a:spcPct val="90000"/>
              </a:lnSpc>
              <a:spcBef>
                <a:spcPct val="0"/>
              </a:spcBef>
              <a:buNone/>
              <a:defRPr sz="4000" kern="1200">
                <a:solidFill>
                  <a:srgbClr val="005493"/>
                </a:solidFill>
                <a:latin typeface="IBM Plex Mono SemiBold"/>
                <a:ea typeface="IBM Plex Mono SemiBold"/>
                <a:cs typeface="IBM Plex Mono SemiBold"/>
              </a:defRPr>
            </a:lvl1pPr>
          </a:lstStyle>
          <a:p xmlns:a="http://schemas.openxmlformats.org/drawingml/2006/main">
            <a:pPr>
              <a:defRPr sz="3720">
                <a:solidFill>
                  <a:srgbClr val="0B49CB"/>
                </a:solidFill>
              </a:defRPr>
            </a:pPr>
            <a:r>
              <a:rPr sz="3720">
                <a:solidFill>
                  <a:srgbClr val="0B49CB"/>
                </a:solidFill>
                <a:latin typeface="Abadi"/>
                <a:ea typeface="Abadi"/>
                <a:cs typeface="Abadi"/>
              </a:rPr>
              <a:t>Appendix and Reproducible Sources</a:t>
            </a:r>
            <a:endParaRPr>
              <a:solidFill>
                <a:srgbClr val="0B49CB"/>
              </a:solidFill>
            </a:endParaRP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A64F2159-0EB6-4F85-A070-AF55EC33052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7250" y="1714500"/>
            <a:ext cx="10477500" cy="4286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/>
          <a:lstStyle xmlns:a="http://schemas.openxmlformats.org/drawingml/2006/main">
            <a:defPPr>
              <a:defRPr sz="2400">
                <a:solidFill>
                  <a:srgbClr val="0B49CB"/>
                </a:solidFill>
              </a:defRPr>
            </a:defPPr>
          </a:lstStyle>
          <a:p xmlns:a="http://schemas.openxmlformats.org/drawingml/2006/main">
            <a:pPr>
              <a:defRPr sz="2400">
                <a:solidFill>
                  <a:srgbClr val="0B49CB"/>
                </a:solidFill>
              </a:defRPr>
            </a:pPr>
            <a:r>
              <a:rPr sz="2400">
                <a:solidFill>
                  <a:srgbClr val="0B49CB"/>
                </a:solidFill>
              </a:rPr>
              <a:t>Public repository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74B2FE4A-615C-4740-9F7D-111A67B3ACB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7250" y="2266950"/>
            <a:ext cx="10477500" cy="571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/>
          <a:lstStyle xmlns:a="http://schemas.openxmlformats.org/drawingml/2006/main">
            <a:defPPr>
              <a:defRPr sz="1875">
                <a:solidFill>
                  <a:srgbClr val="0B49CB"/>
                </a:solidFill>
              </a:defRPr>
            </a:defPPr>
          </a:lstStyle>
          <a:p xmlns:a="http://schemas.openxmlformats.org/drawingml/2006/main">
            <a:pPr>
              <a:defRPr sz="1875">
                <a:solidFill>
                  <a:srgbClr val="0B49CB"/>
                </a:solidFill>
              </a:defRPr>
            </a:pPr>
            <a:r>
              <a:rPr sz="1875">
                <a:solidFill>
                  <a:srgbClr val="0B49CB"/>
                </a:solidFill>
              </a:rPr>
              <a:t>https://github.com/nicholas-yap/spacex-data-science-capstone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1B1A4558-51D0-4DD1-8B0B-4D1580DF5C2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7250" y="3048000"/>
            <a:ext cx="10477500" cy="2524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/>
          <a:lstStyle xmlns:a="http://schemas.openxmlformats.org/drawingml/2006/main">
            <a:defPPr>
              <a:defRPr sz="1875">
                <a:solidFill>
                  <a:srgbClr val="292929"/>
                </a:solidFill>
              </a:defRPr>
            </a:defPPr>
          </a:lstStyle>
          <a:p xmlns:a="http://schemas.openxmlformats.org/drawingml/2006/main">
            <a:pPr>
              <a:defRPr sz="1875">
                <a:solidFill>
                  <a:srgbClr val="292929"/>
                </a:solidFill>
              </a:defRPr>
            </a:pPr>
            <a:r>
              <a:rPr sz="1875">
                <a:solidFill>
                  <a:srgbClr val="292929"/>
                </a:solidFill>
              </a:rPr>
              <a:t>notebooks/    Collection, scraping, wrangling, EDA, SQL, maps and classification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pPr>
              <a:defRPr sz="1875">
                <a:solidFill>
                  <a:srgbClr val="292929"/>
                </a:solidFill>
              </a:defRPr>
            </a:pPr>
            <a:r>
              <a:rPr sz="1875">
                <a:solidFill>
                  <a:srgbClr val="292929"/>
                </a:solidFill>
              </a:rPr>
              <a:t>data/             Historical course snapshots and scraped records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pPr>
              <a:defRPr sz="1875">
                <a:solidFill>
                  <a:srgbClr val="292929"/>
                </a:solidFill>
              </a:defRPr>
            </a:pPr>
            <a:r>
              <a:rPr sz="1875">
                <a:solidFill>
                  <a:srgbClr val="292929"/>
                </a:solidFill>
              </a:rPr>
              <a:t>maps/           Interactive HTML maps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pPr>
              <a:defRPr sz="1875">
                <a:solidFill>
                  <a:srgbClr val="292929"/>
                </a:solidFill>
              </a:defRPr>
            </a:pPr>
            <a:r>
              <a:rPr sz="1875">
                <a:solidFill>
                  <a:srgbClr val="292929"/>
                </a:solidFill>
              </a:rPr>
              <a:t>spacex_dashboard.py    Runnable dashboard on port 8051</a:t>
            </a:r>
          </a:p>
        </p:txBody>
      </p:sp>
    </p:spTree>
    <p:extLst>
      <p:ext uri="{BB962C8B-B14F-4D97-AF65-F5344CB8AC3E}">
        <p14:creationId xmlns:p14="http://schemas.microsoft.com/office/powerpoint/2010/main" val="3410008520"/>
      </p:ext>
    </p:extLst>
  </p:cSld>
</p:sld>
</file>

<file path=ppt/theme/theme1.xml><?xml version="1.0" encoding="utf-8"?>
<a:theme xmlns:a="http://schemas.openxmlformats.org/drawingml/2006/main" name="Custom Design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6350">
          <a:solidFill>
            <a:schemeClr val="phClr"/>
          </a:solidFill>
          <a:prstDash val="solid"/>
        </a:ln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docProps/app.xml><?xml version="1.0" encoding="utf-8"?>
<ap:Properties xmlns:ap="http://schemas.openxmlformats.org/officeDocument/2006/extended-properties">
  <ap:Application>Walnut Exporter</ap:Application>
  <ap:PresentationFormat>Converted Presentation</ap:PresentationFormat>
  <ap:Slides>0</ap:Slides>
  <ap:Notes>0</ap:Notes>
  <ap:HiddenSlides>0</ap:HiddenSlides>
  <ap:SharedDoc>false</ap:SharedDoc>
  <ap:DocSecurity>0</ap:DocSecurity>
</ap:Properties>
</file>

<file path=docProps/core.xml><?xml version="1.0" encoding="utf-8"?>
<coreProperties xmlns:dc="http://purl.org/dc/elements/1.1/" xmlns:dcterms="http://purl.org/dc/terms/" xmlns:xsi="http://www.w3.org/2001/XMLSchema-instance" xmlns="http://schemas.openxmlformats.org/package/2006/metadata/core-properties">
  <dc:creator>Walnut Exporter</dc:creator>
  <lastModifiedBy>Walnut Exporter</lastModifiedBy>
  <dc:title>Presentation</dc:title>
  <dcterms:created xsi:type="dcterms:W3CDTF">2026-10-13T08:22:43.1120000Z</dcterms:created>
  <dcterms:modified xsi:type="dcterms:W3CDTF">2026-10-13T08:22:43.1120000Z</dcterms:modified>
</coreProperties>
</file>